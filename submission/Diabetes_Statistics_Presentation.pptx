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slides/charts/chart1.xml" ContentType="application/vnd.openxmlformats-officedocument.drawingml.chart+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2.xml" ContentType="application/vnd.openxmlformats-officedocument.drawingml.chart+xml"/>
  <Override PartName="/ppt/slides/charts/chart3.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4.xml" ContentType="application/vnd.openxmlformats-officedocument.drawingml.chart+xml"/>
  <Override PartName="/ppt/slides/charts/chart5.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6.xml" ContentType="application/vnd.openxmlformats-officedocument.drawingml.chart+xml"/>
  <Override PartName="/ppt/slides/charts/chart7.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8.xml" ContentType="application/vnd.openxmlformats-officedocument.drawingml.chart+xml"/>
  <Override PartName="/ppt/slides/charts/chart9.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slides/charts/chart10.xml" ContentType="application/vnd.openxmlformats-officedocument.drawingml.chart+xml"/>
  <Override PartName="/ppt/slides/charts/chart11.xml" ContentType="application/vnd.openxmlformats-officedocument.drawingml.chart+xml"/>
  <Override PartName="/ppt/notesSlides/notesSlide11.xml" ContentType="application/vnd.openxmlformats-officedocument.presentationml.notesSlide+xml"/>
  <Override PartName="/ppt/slides/slide12.xml" ContentType="application/vnd.openxmlformats-officedocument.presentationml.slide+xml"/>
  <Override PartName="/ppt/slides/charts/chart12.xml" ContentType="application/vnd.openxmlformats-officedocument.drawingml.chart+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fa902514cf3048bc" /><Relationship Type="http://schemas.openxmlformats.org/officeDocument/2006/relationships/extended-properties" Target="/docProps/app.xml" Id="R315b25c84c3a473f" /><Relationship Type="http://schemas.openxmlformats.org/officeDocument/2006/relationships/officeDocument" Target="/ppt/presentation.xml" Id="R0c15716c784640f3" /></Relationships>
</file>

<file path=ppt/presentation.xml><?xml version="1.0" encoding="utf-8"?>
<p:presentation xmlns:p="http://schemas.openxmlformats.org/presentationml/2006/main">
  <p:sldMasterIdLst>
    <p:sldMasterId xmlns:r="http://schemas.openxmlformats.org/officeDocument/2006/relationships" id="2147483648" r:id="R5dfdd3ee8284462f"/>
  </p:sldMasterIdLst>
  <p:notesMasterIdLst>
    <p:notesMasterId xmlns:r="http://schemas.openxmlformats.org/officeDocument/2006/relationships" r:id="Rab66ff16346a4e09"/>
  </p:notesMasterIdLst>
  <p:sldIdLst>
    <p:sldId xmlns:r="http://schemas.openxmlformats.org/officeDocument/2006/relationships" id="256" r:id="Rff0e763b924e4e5c"/>
    <p:sldId xmlns:r="http://schemas.openxmlformats.org/officeDocument/2006/relationships" id="257" r:id="Ra55840b4b39e4c5b"/>
    <p:sldId xmlns:r="http://schemas.openxmlformats.org/officeDocument/2006/relationships" id="258" r:id="R295f3effca124dda"/>
    <p:sldId xmlns:r="http://schemas.openxmlformats.org/officeDocument/2006/relationships" id="259" r:id="R38498b8238bb47aa"/>
    <p:sldId xmlns:r="http://schemas.openxmlformats.org/officeDocument/2006/relationships" id="260" r:id="Rf662ea2871894291"/>
    <p:sldId xmlns:r="http://schemas.openxmlformats.org/officeDocument/2006/relationships" id="261" r:id="Re354156334e14b77"/>
    <p:sldId xmlns:r="http://schemas.openxmlformats.org/officeDocument/2006/relationships" id="262" r:id="R950982e6afd34152"/>
    <p:sldId xmlns:r="http://schemas.openxmlformats.org/officeDocument/2006/relationships" id="263" r:id="Re74ab520fb9b4e30"/>
    <p:sldId xmlns:r="http://schemas.openxmlformats.org/officeDocument/2006/relationships" id="264" r:id="R6840e570c5f44f5f"/>
    <p:sldId xmlns:r="http://schemas.openxmlformats.org/officeDocument/2006/relationships" id="265" r:id="R6d0579074657446c"/>
    <p:sldId xmlns:r="http://schemas.openxmlformats.org/officeDocument/2006/relationships" id="266" r:id="Rf4124247a42a46e1"/>
    <p:sldId xmlns:r="http://schemas.openxmlformats.org/officeDocument/2006/relationships" id="267" r:id="R670690ead42f4cbf"/>
    <p:sldId xmlns:r="http://schemas.openxmlformats.org/officeDocument/2006/relationships" id="268" r:id="Rc6c08d708a9b4a9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db6024e96e0454d" /><Relationship Type="http://schemas.openxmlformats.org/officeDocument/2006/relationships/slideMaster" Target="/ppt/slideMasters/slideMaster1.xml" Id="R5dfdd3ee8284462f" /><Relationship Type="http://schemas.openxmlformats.org/officeDocument/2006/relationships/notesMaster" Target="/ppt/notesMasters/notesMaster1.xml" Id="Rab66ff16346a4e09" /><Relationship Type="http://schemas.openxmlformats.org/officeDocument/2006/relationships/presProps" Target="/ppt/presProps.xml" Id="Rca45035054f04743" /><Relationship Type="http://schemas.openxmlformats.org/officeDocument/2006/relationships/tableStyles" Target="/ppt/tableStyles.xml" Id="R85150047e25d49b6" /><Relationship Type="http://schemas.openxmlformats.org/officeDocument/2006/relationships/slide" Target="/ppt/slides/slide1.xml" Id="Rff0e763b924e4e5c" /><Relationship Type="http://schemas.openxmlformats.org/officeDocument/2006/relationships/slide" Target="/ppt/slides/slide2.xml" Id="Ra55840b4b39e4c5b" /><Relationship Type="http://schemas.openxmlformats.org/officeDocument/2006/relationships/slide" Target="/ppt/slides/slide3.xml" Id="R295f3effca124dda" /><Relationship Type="http://schemas.openxmlformats.org/officeDocument/2006/relationships/slide" Target="/ppt/slides/slide4.xml" Id="R38498b8238bb47aa" /><Relationship Type="http://schemas.openxmlformats.org/officeDocument/2006/relationships/slide" Target="/ppt/slides/slide5.xml" Id="Rf662ea2871894291" /><Relationship Type="http://schemas.openxmlformats.org/officeDocument/2006/relationships/slide" Target="/ppt/slides/slide6.xml" Id="Re354156334e14b77" /><Relationship Type="http://schemas.openxmlformats.org/officeDocument/2006/relationships/slide" Target="/ppt/slides/slide7.xml" Id="R950982e6afd34152" /><Relationship Type="http://schemas.openxmlformats.org/officeDocument/2006/relationships/slide" Target="/ppt/slides/slide8.xml" Id="Re74ab520fb9b4e30" /><Relationship Type="http://schemas.openxmlformats.org/officeDocument/2006/relationships/slide" Target="/ppt/slides/slide9.xml" Id="R6840e570c5f44f5f" /><Relationship Type="http://schemas.openxmlformats.org/officeDocument/2006/relationships/slide" Target="/ppt/slides/slide10.xml" Id="R6d0579074657446c" /><Relationship Type="http://schemas.openxmlformats.org/officeDocument/2006/relationships/slide" Target="/ppt/slides/slide11.xml" Id="Rf4124247a42a46e1" /><Relationship Type="http://schemas.openxmlformats.org/officeDocument/2006/relationships/slide" Target="/ppt/slides/slide12.xml" Id="R670690ead42f4cbf" /><Relationship Type="http://schemas.openxmlformats.org/officeDocument/2006/relationships/slide" Target="/ppt/slides/slide13.xml" Id="Rc6c08d708a9b4a9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2bdb167b4a04b5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cb04a79c7bf43e1" /><Relationship Type="http://schemas.openxmlformats.org/officeDocument/2006/relationships/notesMaster" Target="/ppt/notesMasters/notesMaster1.xml" Id="Rc162f7f692c240d5" /></Relationships>
</file>

<file path=ppt/notesSlides/_rels/notesSlide2.xml.rels>&#65279;<?xml version="1.0" encoding="utf-8"?><Relationships xmlns="http://schemas.openxmlformats.org/package/2006/relationships"><Relationship Type="http://schemas.openxmlformats.org/officeDocument/2006/relationships/slide" Target="/ppt/slides/slide2.xml" Id="Ree1b5bc550434f2d" /><Relationship Type="http://schemas.openxmlformats.org/officeDocument/2006/relationships/notesMaster" Target="/ppt/notesMasters/notesMaster1.xml" Id="R56674cd96fbd4156" /></Relationships>
</file>

<file path=ppt/notesSlides/_rels/notesSlide3.xml.rels>&#65279;<?xml version="1.0" encoding="utf-8"?><Relationships xmlns="http://schemas.openxmlformats.org/package/2006/relationships"><Relationship Type="http://schemas.openxmlformats.org/officeDocument/2006/relationships/slide" Target="/ppt/slides/slide3.xml" Id="R342a139dca4b4839" /><Relationship Type="http://schemas.openxmlformats.org/officeDocument/2006/relationships/notesMaster" Target="/ppt/notesMasters/notesMaster1.xml" Id="Rf4a8c7c7f3d04189" /></Relationships>
</file>

<file path=ppt/notesSlides/_rels/notesSlide4.xml.rels>&#65279;<?xml version="1.0" encoding="utf-8"?><Relationships xmlns="http://schemas.openxmlformats.org/package/2006/relationships"><Relationship Type="http://schemas.openxmlformats.org/officeDocument/2006/relationships/slide" Target="/ppt/slides/slide4.xml" Id="R3dbfeef7714642ff" /><Relationship Type="http://schemas.openxmlformats.org/officeDocument/2006/relationships/notesMaster" Target="/ppt/notesMasters/notesMaster1.xml" Id="Re86769dee6eb45ac" /></Relationships>
</file>

<file path=ppt/notesSlides/_rels/notesSlide5.xml.rels>&#65279;<?xml version="1.0" encoding="utf-8"?><Relationships xmlns="http://schemas.openxmlformats.org/package/2006/relationships"><Relationship Type="http://schemas.openxmlformats.org/officeDocument/2006/relationships/slide" Target="/ppt/slides/slide5.xml" Id="Rf58e93b65bf047ee" /><Relationship Type="http://schemas.openxmlformats.org/officeDocument/2006/relationships/notesMaster" Target="/ppt/notesMasters/notesMaster1.xml" Id="Rfeec07f4c3f945c0" /></Relationships>
</file>

<file path=ppt/notesSlides/_rels/notesSlide6.xml.rels>&#65279;<?xml version="1.0" encoding="utf-8"?><Relationships xmlns="http://schemas.openxmlformats.org/package/2006/relationships"><Relationship Type="http://schemas.openxmlformats.org/officeDocument/2006/relationships/slide" Target="/ppt/slides/slide6.xml" Id="R11dc9eb2c05245d7" /><Relationship Type="http://schemas.openxmlformats.org/officeDocument/2006/relationships/notesMaster" Target="/ppt/notesMasters/notesMaster1.xml" Id="R8cef24d146154800" /></Relationships>
</file>

<file path=ppt/notesSlides/_rels/notesSlide7.xml.rels>&#65279;<?xml version="1.0" encoding="utf-8"?><Relationships xmlns="http://schemas.openxmlformats.org/package/2006/relationships"><Relationship Type="http://schemas.openxmlformats.org/officeDocument/2006/relationships/slide" Target="/ppt/slides/slide7.xml" Id="R8482d1c170124a3a" /><Relationship Type="http://schemas.openxmlformats.org/officeDocument/2006/relationships/notesMaster" Target="/ppt/notesMasters/notesMaster1.xml" Id="Rd93e0533aa594334" /></Relationships>
</file>

<file path=ppt/notesSlides/_rels/notesSlide8.xml.rels>&#65279;<?xml version="1.0" encoding="utf-8"?><Relationships xmlns="http://schemas.openxmlformats.org/package/2006/relationships"><Relationship Type="http://schemas.openxmlformats.org/officeDocument/2006/relationships/slide" Target="/ppt/slides/slide8.xml" Id="R456f197ad2b24262" /><Relationship Type="http://schemas.openxmlformats.org/officeDocument/2006/relationships/notesMaster" Target="/ppt/notesMasters/notesMaster1.xml" Id="Ra400e195d73e427e" /></Relationships>
</file>

<file path=ppt/notesSlides/_rels/notesSlide9.xml.rels>&#65279;<?xml version="1.0" encoding="utf-8"?><Relationships xmlns="http://schemas.openxmlformats.org/package/2006/relationships"><Relationship Type="http://schemas.openxmlformats.org/officeDocument/2006/relationships/slide" Target="/ppt/slides/slide9.xml" Id="Ra8092c6f3292482d" /><Relationship Type="http://schemas.openxmlformats.org/officeDocument/2006/relationships/notesMaster" Target="/ppt/notesMasters/notesMaster1.xml" Id="Rbad72ef3ef2c4dc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c22f4837b6c42e6" /><Relationship Type="http://schemas.openxmlformats.org/officeDocument/2006/relationships/notesMaster" Target="/ppt/notesMasters/notesMaster1.xml" Id="Rcf9716fbe94446a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adb25ad43904685" /><Relationship Type="http://schemas.openxmlformats.org/officeDocument/2006/relationships/notesMaster" Target="/ppt/notesMasters/notesMaster1.xml" Id="Rb82465bcadf94ec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d775664f8a294904" /><Relationship Type="http://schemas.openxmlformats.org/officeDocument/2006/relationships/notesMaster" Target="/ppt/notesMasters/notesMaster1.xml" Id="R266be80c5a604ce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0f260423eaa74ee8" /><Relationship Type="http://schemas.openxmlformats.org/officeDocument/2006/relationships/notesMaster" Target="/ppt/notesMasters/notesMaster1.xml" Id="R66c42e7ecb29499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the project and four team members. The main dataset is the processed CDC BRFSS 2015 derivative. Experimental datasets supplement the methods that require genuine pairing or randomized designs. Suggested time: 20 seconds.</a:t>
            </a:r>
          </a:p>
          <a:p xmlns:a="http://schemas.openxmlformats.org/drawingml/2006/main">
            <a:r>
              <a:t/>
            </a:r>
          </a:p>
          <a:p xmlns:a="http://schemas.openxmlformats.org/drawingml/2006/main">
            <a:r>
              <a:t>Sources:</a:t>
            </a:r>
          </a:p>
          <a:p xmlns:a="http://schemas.openxmlformats.org/drawingml/2006/main">
            <a:r>
              <a:t>https://www.cdc.gov/brfss/annual_data/annual_2015.html</a:t>
            </a:r>
          </a:p>
          <a:p xmlns:a="http://schemas.openxmlformats.org/drawingml/2006/main">
            <a:r>
              <a:t>https://www.kaggle.com/datasets/alexteboul/diabetes-health-indicators-dataset</a:t>
            </a:r>
          </a:p>
          <a:p xmlns:a="http://schemas.openxmlformats.org/drawingml/2006/main">
            <a:r>
              <a:t>https://archive.ics.uci.edu/dataset/891/cdc+diabetes+health+indicators</a:t>
            </a:r>
          </a:p>
          <a:p xmlns:a="http://schemas.openxmlformats.org/drawingml/2006/main">
            <a:r>
              <a:t>https://stat.ethz.ch/R-manual/R-devel/library/MASS/html/anorexia.html</a:t>
            </a:r>
          </a:p>
          <a:p xmlns:a="http://schemas.openxmlformats.org/drawingml/2006/main">
            <a:r>
              <a:t>https://kwstat.github.io/agridat/reference/cochran.crd.html</a:t>
            </a:r>
          </a:p>
          <a:p xmlns:a="http://schemas.openxmlformats.org/drawingml/2006/main">
            <a:r>
              <a:t>https://kwstat.github.io/agridat/reference/gomez.seedrate.html</a:t>
            </a:r>
          </a:p>
          <a:p xmlns:a="http://schemas.openxmlformats.org/drawingml/2006/main">
            <a:r>
              <a:t>https://kwstat.github.io/agridat/reference/goulden.latin.html</a:t>
            </a:r>
          </a:p>
          <a:p xmlns:a="http://schemas.openxmlformats.org/drawingml/2006/main">
            <a:r>
              <a:t>https://www.itl.nist.gov/div898/handbook/eda/section3/eda35f.htm</a:t>
            </a:r>
          </a:p>
          <a:p xmlns:a="http://schemas.openxmlformats.org/drawingml/2006/main">
            <a:r>
              <a:t>Calculations: matching saved R lab outputs. All29 original figures remain in the complete atlas.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Secondary data collection: CDC BRFSS 2015, processed by Alex Teboul on Kaggle. Exact derivative: 253680 rows, 22 raw columns (21 predictors plus target). Random sample without replacement, seed101. Combined positive status includes prediabetes OR diabetes:469/3000=15.633%. Original CDC survey441456 records. The derivative omits survey-design weights, so the study supports sample associations rather than national prevalence. Explain source, relevance, size and variables. Suggested time: 60 seconds.</a:t>
            </a:r>
          </a:p>
          <a:p xmlns:a="http://schemas.openxmlformats.org/drawingml/2006/main">
            <a:r>
              <a:t/>
            </a:r>
          </a:p>
          <a:p xmlns:a="http://schemas.openxmlformats.org/drawingml/2006/main">
            <a:r>
              <a:t>Sources:</a:t>
            </a:r>
          </a:p>
          <a:p xmlns:a="http://schemas.openxmlformats.org/drawingml/2006/main">
            <a:r>
              <a:t>https://www.cdc.gov/brfss/annual_data/annual_2015.html</a:t>
            </a:r>
          </a:p>
          <a:p xmlns:a="http://schemas.openxmlformats.org/drawingml/2006/main">
            <a:r>
              <a:t>https://www.kaggle.com/datasets/alexteboul/diabetes-health-indicators-dataset</a:t>
            </a:r>
          </a:p>
          <a:p xmlns:a="http://schemas.openxmlformats.org/drawingml/2006/main">
            <a:r>
              <a:t>https://archive.ics.uci.edu/dataset/891/cdc+diabetes+health+indicators</a:t>
            </a:r>
          </a:p>
          <a:p xmlns:a="http://schemas.openxmlformats.org/drawingml/2006/main">
            <a:r>
              <a:t>https://stat.ethz.ch/R-manual/R-devel/library/MASS/html/anorexia.html</a:t>
            </a:r>
          </a:p>
          <a:p xmlns:a="http://schemas.openxmlformats.org/drawingml/2006/main">
            <a:r>
              <a:t>https://kwstat.github.io/agridat/reference/cochran.crd.html</a:t>
            </a:r>
          </a:p>
          <a:p xmlns:a="http://schemas.openxmlformats.org/drawingml/2006/main">
            <a:r>
              <a:t>https://kwstat.github.io/agridat/reference/gomez.seedrate.html</a:t>
            </a:r>
          </a:p>
          <a:p xmlns:a="http://schemas.openxmlformats.org/drawingml/2006/main">
            <a:r>
              <a:t>https://kwstat.github.io/agridat/reference/goulden.latin.html</a:t>
            </a:r>
          </a:p>
          <a:p xmlns:a="http://schemas.openxmlformats.org/drawingml/2006/main">
            <a:r>
              <a:t>https://www.itl.nist.gov/div898/handbook/eda/section3/eda35f.htm</a:t>
            </a:r>
          </a:p>
          <a:p xmlns:a="http://schemas.openxmlformats.org/drawingml/2006/main">
            <a:r>
              <a:t>Calculations: matching saved R lab outputs. All29 original figures remain in the complete atlas.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Course Experiment1: types, import/export. Labs00/01. We read CSV, select3000 with seed101, inspect schema, missingness and allowed codes/ranges, and convert categories to readable factors. Missing cells0, invalid records0. The sample has13 repeated feature profiles, which do not establish duplicated people. RDS preserves factor levels and CSV provides portable output. Scripts retain source-row lineage. BMI/health days remain numeric, age/income/education are ordered bands but regression uses category contrasts. Suggested time: 45 seconds.</a:t>
            </a:r>
          </a:p>
          <a:p xmlns:a="http://schemas.openxmlformats.org/drawingml/2006/main">
            <a:r>
              <a:t/>
            </a:r>
          </a:p>
          <a:p xmlns:a="http://schemas.openxmlformats.org/drawingml/2006/main">
            <a:r>
              <a:t>Sources:</a:t>
            </a:r>
          </a:p>
          <a:p xmlns:a="http://schemas.openxmlformats.org/drawingml/2006/main">
            <a:r>
              <a:t>https://www.cdc.gov/brfss/annual_data/annual_2015.html</a:t>
            </a:r>
          </a:p>
          <a:p xmlns:a="http://schemas.openxmlformats.org/drawingml/2006/main">
            <a:r>
              <a:t>https://www.kaggle.com/datasets/alexteboul/diabetes-health-indicators-dataset</a:t>
            </a:r>
          </a:p>
          <a:p xmlns:a="http://schemas.openxmlformats.org/drawingml/2006/main">
            <a:r>
              <a:t>https://archive.ics.uci.edu/dataset/891/cdc+diabetes+health+indicators</a:t>
            </a:r>
          </a:p>
          <a:p xmlns:a="http://schemas.openxmlformats.org/drawingml/2006/main">
            <a:r>
              <a:t>https://stat.ethz.ch/R-manual/R-devel/library/MASS/html/anorexia.html</a:t>
            </a:r>
          </a:p>
          <a:p xmlns:a="http://schemas.openxmlformats.org/drawingml/2006/main">
            <a:r>
              <a:t>https://kwstat.github.io/agridat/reference/cochran.crd.html</a:t>
            </a:r>
          </a:p>
          <a:p xmlns:a="http://schemas.openxmlformats.org/drawingml/2006/main">
            <a:r>
              <a:t>https://kwstat.github.io/agridat/reference/gomez.seedrate.html</a:t>
            </a:r>
          </a:p>
          <a:p xmlns:a="http://schemas.openxmlformats.org/drawingml/2006/main">
            <a:r>
              <a:t>https://kwstat.github.io/agridat/reference/goulden.latin.html</a:t>
            </a:r>
          </a:p>
          <a:p xmlns:a="http://schemas.openxmlformats.org/drawingml/2006/main">
            <a:r>
              <a:t>https://www.itl.nist.gov/div898/handbook/eda/section3/eda35f.htm</a:t>
            </a:r>
          </a:p>
          <a:p xmlns:a="http://schemas.openxmlformats.org/drawingml/2006/main">
            <a:r>
              <a:t>Calculations: matching saved R lab outputs. All29 original figures remain in the complete atlas.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Lab01B, additional presentation requirement. Fences are Q1−1.5IQR and Q3+1.5IQR.114 observations (3.8%) are high-side flags. The source-row ledger records their BMI/status. Demonstrate actual removal with the2886-row sensitivity dataset and compare mean, variance and status composition. Valid extreme BMI values stay in the primary analysis because being unusual does not establish error. The removal comparison is explicitly a different analysis sample. Suggested time: 75 seconds.</a:t>
            </a:r>
          </a:p>
          <a:p xmlns:a="http://schemas.openxmlformats.org/drawingml/2006/main">
            <a:r>
              <a:t/>
            </a:r>
          </a:p>
          <a:p xmlns:a="http://schemas.openxmlformats.org/drawingml/2006/main">
            <a:r>
              <a:t>Sources:</a:t>
            </a:r>
          </a:p>
          <a:p xmlns:a="http://schemas.openxmlformats.org/drawingml/2006/main">
            <a:r>
              <a:t>https://www.cdc.gov/brfss/annual_data/annual_2015.html</a:t>
            </a:r>
          </a:p>
          <a:p xmlns:a="http://schemas.openxmlformats.org/drawingml/2006/main">
            <a:r>
              <a:t>https://www.kaggle.com/datasets/alexteboul/diabetes-health-indicators-dataset</a:t>
            </a:r>
          </a:p>
          <a:p xmlns:a="http://schemas.openxmlformats.org/drawingml/2006/main">
            <a:r>
              <a:t>https://archive.ics.uci.edu/dataset/891/cdc+diabetes+health+indicators</a:t>
            </a:r>
          </a:p>
          <a:p xmlns:a="http://schemas.openxmlformats.org/drawingml/2006/main">
            <a:r>
              <a:t>https://stat.ethz.ch/R-manual/R-devel/library/MASS/html/anorexia.html</a:t>
            </a:r>
          </a:p>
          <a:p xmlns:a="http://schemas.openxmlformats.org/drawingml/2006/main">
            <a:r>
              <a:t>https://kwstat.github.io/agridat/reference/cochran.crd.html</a:t>
            </a:r>
          </a:p>
          <a:p xmlns:a="http://schemas.openxmlformats.org/drawingml/2006/main">
            <a:r>
              <a:t>https://kwstat.github.io/agridat/reference/gomez.seedrate.html</a:t>
            </a:r>
          </a:p>
          <a:p xmlns:a="http://schemas.openxmlformats.org/drawingml/2006/main">
            <a:r>
              <a:t>https://kwstat.github.io/agridat/reference/goulden.latin.html</a:t>
            </a:r>
          </a:p>
          <a:p xmlns:a="http://schemas.openxmlformats.org/drawingml/2006/main">
            <a:r>
              <a:t>https://www.itl.nist.gov/div898/handbook/eda/section3/eda35f.htm</a:t>
            </a:r>
          </a:p>
          <a:p xmlns:a="http://schemas.openxmlformats.org/drawingml/2006/main">
            <a:r>
              <a:t>Calculations: matching saved R lab outputs. All29 original figures remain in the complete atlas.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Course Experiment2, Lab02. The numeric summary uses sample SD/variance (n−1). BMI units kg/m²; variance squared units. Mental/physical days have median0, while means3.256 and4.152 indicate right-skewness. Graphs demonstrate histogram, boxplot, density, education bar and sex pie; physical-day bar and all29 original drawings are in the atlas. The no-school group has2 respondents. Explain bar comparison, pie proportions and the density right tail. Suggested time: 75 seconds.</a:t>
            </a:r>
          </a:p>
          <a:p xmlns:a="http://schemas.openxmlformats.org/drawingml/2006/main">
            <a:r>
              <a:t/>
            </a:r>
          </a:p>
          <a:p xmlns:a="http://schemas.openxmlformats.org/drawingml/2006/main">
            <a:r>
              <a:t>Sources:</a:t>
            </a:r>
          </a:p>
          <a:p xmlns:a="http://schemas.openxmlformats.org/drawingml/2006/main">
            <a:r>
              <a:t>https://www.cdc.gov/brfss/annual_data/annual_2015.html</a:t>
            </a:r>
          </a:p>
          <a:p xmlns:a="http://schemas.openxmlformats.org/drawingml/2006/main">
            <a:r>
              <a:t>https://www.kaggle.com/datasets/alexteboul/diabetes-health-indicators-dataset</a:t>
            </a:r>
          </a:p>
          <a:p xmlns:a="http://schemas.openxmlformats.org/drawingml/2006/main">
            <a:r>
              <a:t>https://archive.ics.uci.edu/dataset/891/cdc+diabetes+health+indicators</a:t>
            </a:r>
          </a:p>
          <a:p xmlns:a="http://schemas.openxmlformats.org/drawingml/2006/main">
            <a:r>
              <a:t>https://stat.ethz.ch/R-manual/R-devel/library/MASS/html/anorexia.html</a:t>
            </a:r>
          </a:p>
          <a:p xmlns:a="http://schemas.openxmlformats.org/drawingml/2006/main">
            <a:r>
              <a:t>https://kwstat.github.io/agridat/reference/cochran.crd.html</a:t>
            </a:r>
          </a:p>
          <a:p xmlns:a="http://schemas.openxmlformats.org/drawingml/2006/main">
            <a:r>
              <a:t>https://kwstat.github.io/agridat/reference/gomez.seedrate.html</a:t>
            </a:r>
          </a:p>
          <a:p xmlns:a="http://schemas.openxmlformats.org/drawingml/2006/main">
            <a:r>
              <a:t>https://kwstat.github.io/agridat/reference/goulden.latin.html</a:t>
            </a:r>
          </a:p>
          <a:p xmlns:a="http://schemas.openxmlformats.org/drawingml/2006/main">
            <a:r>
              <a:t>https://www.itl.nist.gov/div898/handbook/eda/section3/eda35f.htm</a:t>
            </a:r>
          </a:p>
          <a:p xmlns:a="http://schemas.openxmlformats.org/drawingml/2006/main">
            <a:r>
              <a:t>Calculations: matching saved R lab outputs. All29 original figures remain in the complete atlas.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Course Experiment3, Lab03. Pearsonr .101606,95%CI .06606–.13689,p&lt;.001; Spearman .107897. Slope .074898,95%CI .048637–.101159. Covariance5.56044 BMI×days measures shared variation; correlation scales it. R² .0103238. A one-day increase is associated with0.075BMI units in the fitted line. Boxplots and means show higher average BMI in prediabetes/diabetes, with overlapping distributions. Prediabetesn48 limits precision. The model estimates BMI associations rather than causal effects. Suggested time: 85 seconds.</a:t>
            </a:r>
          </a:p>
          <a:p xmlns:a="http://schemas.openxmlformats.org/drawingml/2006/main">
            <a:r>
              <a:t/>
            </a:r>
          </a:p>
          <a:p xmlns:a="http://schemas.openxmlformats.org/drawingml/2006/main">
            <a:r>
              <a:t>Sources:</a:t>
            </a:r>
          </a:p>
          <a:p xmlns:a="http://schemas.openxmlformats.org/drawingml/2006/main">
            <a:r>
              <a:t>https://www.cdc.gov/brfss/annual_data/annual_2015.html</a:t>
            </a:r>
          </a:p>
          <a:p xmlns:a="http://schemas.openxmlformats.org/drawingml/2006/main">
            <a:r>
              <a:t>https://www.kaggle.com/datasets/alexteboul/diabetes-health-indicators-dataset</a:t>
            </a:r>
          </a:p>
          <a:p xmlns:a="http://schemas.openxmlformats.org/drawingml/2006/main">
            <a:r>
              <a:t>https://archive.ics.uci.edu/dataset/891/cdc+diabetes+health+indicators</a:t>
            </a:r>
          </a:p>
          <a:p xmlns:a="http://schemas.openxmlformats.org/drawingml/2006/main">
            <a:r>
              <a:t>https://stat.ethz.ch/R-manual/R-devel/library/MASS/html/anorexia.html</a:t>
            </a:r>
          </a:p>
          <a:p xmlns:a="http://schemas.openxmlformats.org/drawingml/2006/main">
            <a:r>
              <a:t>https://kwstat.github.io/agridat/reference/cochran.crd.html</a:t>
            </a:r>
          </a:p>
          <a:p xmlns:a="http://schemas.openxmlformats.org/drawingml/2006/main">
            <a:r>
              <a:t>https://kwstat.github.io/agridat/reference/gomez.seedrate.html</a:t>
            </a:r>
          </a:p>
          <a:p xmlns:a="http://schemas.openxmlformats.org/drawingml/2006/main">
            <a:r>
              <a:t>https://kwstat.github.io/agridat/reference/goulden.latin.html</a:t>
            </a:r>
          </a:p>
          <a:p xmlns:a="http://schemas.openxmlformats.org/drawingml/2006/main">
            <a:r>
              <a:t>https://www.itl.nist.gov/div898/handbook/eda/section3/eda35f.htm</a:t>
            </a:r>
          </a:p>
          <a:p xmlns:a="http://schemas.openxmlformats.org/drawingml/2006/main">
            <a:r>
              <a:t>Calculations: matching saved R lab outputs. All29 original figures remain in the complete atlas.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Course Experiment4, Lab04. BMI response with factor Age/Income/Education, activity and ever100-cigarettes indicator. References age50–54, income35–50k, high school, inactive, never100. R² .068067,adjusted .059917. Joint partialF tests account for other predictors. Smoking BMI coefficient−.0633,CI−.5206 to .3940,p.786. The right-skewed residuals and uneven spread limit the approximation. Cook4/n flags140 for review. Filtering yields adjustedR²4.89%. Full coefficients, confidence intervals and VIFs remain in the report/CSV. No diabetes classification accuracy is claimed. Suggested time: 85 seconds.</a:t>
            </a:r>
          </a:p>
          <a:p xmlns:a="http://schemas.openxmlformats.org/drawingml/2006/main">
            <a:r>
              <a:t/>
            </a:r>
          </a:p>
          <a:p xmlns:a="http://schemas.openxmlformats.org/drawingml/2006/main">
            <a:r>
              <a:t>Sources:</a:t>
            </a:r>
          </a:p>
          <a:p xmlns:a="http://schemas.openxmlformats.org/drawingml/2006/main">
            <a:r>
              <a:t>https://www.cdc.gov/brfss/annual_data/annual_2015.html</a:t>
            </a:r>
          </a:p>
          <a:p xmlns:a="http://schemas.openxmlformats.org/drawingml/2006/main">
            <a:r>
              <a:t>https://www.kaggle.com/datasets/alexteboul/diabetes-health-indicators-dataset</a:t>
            </a:r>
          </a:p>
          <a:p xmlns:a="http://schemas.openxmlformats.org/drawingml/2006/main">
            <a:r>
              <a:t>https://archive.ics.uci.edu/dataset/891/cdc+diabetes+health+indicators</a:t>
            </a:r>
          </a:p>
          <a:p xmlns:a="http://schemas.openxmlformats.org/drawingml/2006/main">
            <a:r>
              <a:t>https://stat.ethz.ch/R-manual/R-devel/library/MASS/html/anorexia.html</a:t>
            </a:r>
          </a:p>
          <a:p xmlns:a="http://schemas.openxmlformats.org/drawingml/2006/main">
            <a:r>
              <a:t>https://kwstat.github.io/agridat/reference/cochran.crd.html</a:t>
            </a:r>
          </a:p>
          <a:p xmlns:a="http://schemas.openxmlformats.org/drawingml/2006/main">
            <a:r>
              <a:t>https://kwstat.github.io/agridat/reference/gomez.seedrate.html</a:t>
            </a:r>
          </a:p>
          <a:p xmlns:a="http://schemas.openxmlformats.org/drawingml/2006/main">
            <a:r>
              <a:t>https://kwstat.github.io/agridat/reference/goulden.latin.html</a:t>
            </a:r>
          </a:p>
          <a:p xmlns:a="http://schemas.openxmlformats.org/drawingml/2006/main">
            <a:r>
              <a:t>https://www.itl.nist.gov/div898/handbook/eda/section3/eda35f.htm</a:t>
            </a:r>
          </a:p>
          <a:p xmlns:a="http://schemas.openxmlformats.org/drawingml/2006/main">
            <a:r>
              <a:t>Calculations: matching saved R lab outputs. All29 original figures remain in the complete atlas.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Course Experiments5/6, Labs05/06. Binomial:300 artificial groups of10,rawpositivep .156333; pooled MLE .154999,chi .287105,df3,p .962435,expectedmin16.65. Plot aggregates5–10 into5+ for readability. NormalBMI mean28.398,SD6.351,ShapiroW.896929,p&lt;.001. Poisson rawmeanlambda4.151667,var74.240077,dispersion17.88199,zeros62.9%,30days7.4%. Native chart aggregates full support, including&gt;30. Formal pooled test uses grouped MLElambda1.797448,chi41781.676,df6,p&lt;.001,expectedmin7.65. Ordinary overlay uses rawmean; the two estimation procedures are distinguished in the report. Describe why normal/Poisson fail rather than forcing a good fit. Suggested time: 85 seconds.</a:t>
            </a:r>
          </a:p>
          <a:p xmlns:a="http://schemas.openxmlformats.org/drawingml/2006/main">
            <a:r>
              <a:t/>
            </a:r>
          </a:p>
          <a:p xmlns:a="http://schemas.openxmlformats.org/drawingml/2006/main">
            <a:r>
              <a:t>Sources:</a:t>
            </a:r>
          </a:p>
          <a:p xmlns:a="http://schemas.openxmlformats.org/drawingml/2006/main">
            <a:r>
              <a:t>https://www.cdc.gov/brfss/annual_data/annual_2015.html</a:t>
            </a:r>
          </a:p>
          <a:p xmlns:a="http://schemas.openxmlformats.org/drawingml/2006/main">
            <a:r>
              <a:t>https://www.kaggle.com/datasets/alexteboul/diabetes-health-indicators-dataset</a:t>
            </a:r>
          </a:p>
          <a:p xmlns:a="http://schemas.openxmlformats.org/drawingml/2006/main">
            <a:r>
              <a:t>https://archive.ics.uci.edu/dataset/891/cdc+diabetes+health+indicators</a:t>
            </a:r>
          </a:p>
          <a:p xmlns:a="http://schemas.openxmlformats.org/drawingml/2006/main">
            <a:r>
              <a:t>https://stat.ethz.ch/R-manual/R-devel/library/MASS/html/anorexia.html</a:t>
            </a:r>
          </a:p>
          <a:p xmlns:a="http://schemas.openxmlformats.org/drawingml/2006/main">
            <a:r>
              <a:t>https://kwstat.github.io/agridat/reference/cochran.crd.html</a:t>
            </a:r>
          </a:p>
          <a:p xmlns:a="http://schemas.openxmlformats.org/drawingml/2006/main">
            <a:r>
              <a:t>https://kwstat.github.io/agridat/reference/gomez.seedrate.html</a:t>
            </a:r>
          </a:p>
          <a:p xmlns:a="http://schemas.openxmlformats.org/drawingml/2006/main">
            <a:r>
              <a:t>https://kwstat.github.io/agridat/reference/goulden.latin.html</a:t>
            </a:r>
          </a:p>
          <a:p xmlns:a="http://schemas.openxmlformats.org/drawingml/2006/main">
            <a:r>
              <a:t>https://www.itl.nist.gov/div898/handbook/eda/section3/eda35f.htm</a:t>
            </a:r>
          </a:p>
          <a:p xmlns:a="http://schemas.openxmlformats.org/drawingml/2006/main">
            <a:r>
              <a:t>Calculations: matching saved R lab outputs. All29 original figures remain in the complete atlas.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Course Experiments7/8 only. All alternatives are two-sided. One-sample BMI benchmark27 and combined-positive benchmark11% are hypothetical classroom assumptions. MeanBMI28.3983,95%CI28.1710–28.6257,t12.0587,df2999,p&lt;.001. Positive469/3000=.156333,95%CI .143617–.169940,continuity-corrected score-test chi-square65.3124,p&lt;.001. Welch independent BMI comparison: female mean28.1098,male28.7592,differencefemale−male−.649412,CI−1.095818to−.203006,p .004368. Never/ever100-cigarette combined-positive shares223/1583=.140872 versus246/1417=.173606,differencenever−ever−.032734,CI−.059530to−.005939,p .015765 with continuity correction. Counts use the explicit positive event: prediabetes OR diabetes. Charts show observed group means/proportions; captions give confidence intervals for differences, not for individual measurements. All rows use the primary3000 sample. Suggested time: 100 seconds.</a:t>
            </a:r>
          </a:p>
          <a:p xmlns:a="http://schemas.openxmlformats.org/drawingml/2006/main">
            <a:r>
              <a:t/>
            </a:r>
          </a:p>
          <a:p xmlns:a="http://schemas.openxmlformats.org/drawingml/2006/main">
            <a:r>
              <a:t>Sources:</a:t>
            </a:r>
          </a:p>
          <a:p xmlns:a="http://schemas.openxmlformats.org/drawingml/2006/main">
            <a:r>
              <a:t>https://www.cdc.gov/brfss/annual_data/annual_2015.html</a:t>
            </a:r>
          </a:p>
          <a:p xmlns:a="http://schemas.openxmlformats.org/drawingml/2006/main">
            <a:r>
              <a:t>https://www.kaggle.com/datasets/alexteboul/diabetes-health-indicators-dataset</a:t>
            </a:r>
          </a:p>
          <a:p xmlns:a="http://schemas.openxmlformats.org/drawingml/2006/main">
            <a:r>
              <a:t>https://archive.ics.uci.edu/dataset/891/cdc+diabetes+health+indicators</a:t>
            </a:r>
          </a:p>
          <a:p xmlns:a="http://schemas.openxmlformats.org/drawingml/2006/main">
            <a:r>
              <a:t>https://stat.ethz.ch/R-manual/R-devel/library/MASS/html/anorexia.html</a:t>
            </a:r>
          </a:p>
          <a:p xmlns:a="http://schemas.openxmlformats.org/drawingml/2006/main">
            <a:r>
              <a:t>https://kwstat.github.io/agridat/reference/cochran.crd.html</a:t>
            </a:r>
          </a:p>
          <a:p xmlns:a="http://schemas.openxmlformats.org/drawingml/2006/main">
            <a:r>
              <a:t>https://kwstat.github.io/agridat/reference/gomez.seedrate.html</a:t>
            </a:r>
          </a:p>
          <a:p xmlns:a="http://schemas.openxmlformats.org/drawingml/2006/main">
            <a:r>
              <a:t>https://kwstat.github.io/agridat/reference/goulden.latin.html</a:t>
            </a:r>
          </a:p>
          <a:p xmlns:a="http://schemas.openxmlformats.org/drawingml/2006/main">
            <a:r>
              <a:t>https://www.itl.nist.gov/div898/handbook/eda/section3/eda35f.htm</a:t>
            </a:r>
          </a:p>
          <a:p xmlns:a="http://schemas.openxmlformats.org/drawingml/2006/main">
            <a:r>
              <a:t>Calculations: matching saved R lab outputs. All29 original figures remain in the complete atlas.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Course Experiment9 only, with independent and dependent (paired) tests. Independent example: BRFSS female n1667,male n1333; poor physical-health days means4.705459 and3.459115; Welch t3.992741,df2956.428,p .0000669; female−male1.246344days,95%CI .634286to1.858402. Different respondents; the bounded skewed count warrants a cautious mean comparison. Paired example: genuine29CBT patients from MASS anorexia, postminuspre mean3.006897lb,CI .226890to5.786903,t2.215588,df28,p .035023. Blue lines join the same patient, orange line joins means82.6897and85.6966lb. Paired t tests the average within-patient difference against zero. Differences Shapiro p .007945 and signed-rank sensitivity p .064466 qualify the result. Within-group change does not prove therapy caused it. Data sets stay separate; the paired data do not come from BRFSS. Suggested time: 100 seconds.</a:t>
            </a:r>
          </a:p>
          <a:p xmlns:a="http://schemas.openxmlformats.org/drawingml/2006/main">
            <a:r>
              <a:t/>
            </a:r>
          </a:p>
          <a:p xmlns:a="http://schemas.openxmlformats.org/drawingml/2006/main">
            <a:r>
              <a:t>Sources:</a:t>
            </a:r>
          </a:p>
          <a:p xmlns:a="http://schemas.openxmlformats.org/drawingml/2006/main">
            <a:r>
              <a:t>https://www.cdc.gov/brfss/annual_data/annual_2015.html</a:t>
            </a:r>
          </a:p>
          <a:p xmlns:a="http://schemas.openxmlformats.org/drawingml/2006/main">
            <a:r>
              <a:t>https://www.kaggle.com/datasets/alexteboul/diabetes-health-indicators-dataset</a:t>
            </a:r>
          </a:p>
          <a:p xmlns:a="http://schemas.openxmlformats.org/drawingml/2006/main">
            <a:r>
              <a:t>https://archive.ics.uci.edu/dataset/891/cdc+diabetes+health+indicators</a:t>
            </a:r>
          </a:p>
          <a:p xmlns:a="http://schemas.openxmlformats.org/drawingml/2006/main">
            <a:r>
              <a:t>https://stat.ethz.ch/R-manual/R-devel/library/MASS/html/anorexia.html</a:t>
            </a:r>
          </a:p>
          <a:p xmlns:a="http://schemas.openxmlformats.org/drawingml/2006/main">
            <a:r>
              <a:t>https://kwstat.github.io/agridat/reference/cochran.crd.html</a:t>
            </a:r>
          </a:p>
          <a:p xmlns:a="http://schemas.openxmlformats.org/drawingml/2006/main">
            <a:r>
              <a:t>https://kwstat.github.io/agridat/reference/gomez.seedrate.html</a:t>
            </a:r>
          </a:p>
          <a:p xmlns:a="http://schemas.openxmlformats.org/drawingml/2006/main">
            <a:r>
              <a:t>https://kwstat.github.io/agridat/reference/goulden.latin.html</a:t>
            </a:r>
          </a:p>
          <a:p xmlns:a="http://schemas.openxmlformats.org/drawingml/2006/main">
            <a:r>
              <a:t>https://www.itl.nist.gov/div898/handbook/eda/section3/eda35f.htm</a:t>
            </a:r>
          </a:p>
          <a:p xmlns:a="http://schemas.openxmlformats.org/drawingml/2006/main">
            <a:r>
              <a:t>Calculations: matching saved R lab outputs. All29 original figures remain in the complete atlas.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Course Experiment 10. Equal-frequency age GOF is a hypothetical teaching null across 13 unequal-width bands: chi-square 678.1247, df12, p&lt;.001. Status means prediabetes or diabetes. Independence tests use Pearson chi-square without continuity correction: status×HighBP 226.2818, df1, p&lt;.001, Cramer V .27464; status×Smoker 6.0746, df1, p .013714, V .0449985. Expected cells exceed five. No-high-BP positive share 118/1703=6.929%; high-BP 351/1297=27.062%. Never/ever100-cigarette shares 14.087% and17.361%. Compare association magnitudes, not p-values alone. These are observational relationships. Suggested time: 85 seconds.</a:t>
            </a:r>
          </a:p>
          <a:p xmlns:a="http://schemas.openxmlformats.org/drawingml/2006/main">
            <a:r>
              <a:t/>
            </a:r>
          </a:p>
          <a:p xmlns:a="http://schemas.openxmlformats.org/drawingml/2006/main">
            <a:r>
              <a:t>Sources:</a:t>
            </a:r>
          </a:p>
          <a:p xmlns:a="http://schemas.openxmlformats.org/drawingml/2006/main">
            <a:r>
              <a:t>https://www.cdc.gov/brfss/annual_data/annual_2015.html</a:t>
            </a:r>
          </a:p>
          <a:p xmlns:a="http://schemas.openxmlformats.org/drawingml/2006/main">
            <a:r>
              <a:t>https://www.kaggle.com/datasets/alexteboul/diabetes-health-indicators-dataset</a:t>
            </a:r>
          </a:p>
          <a:p xmlns:a="http://schemas.openxmlformats.org/drawingml/2006/main">
            <a:r>
              <a:t>https://archive.ics.uci.edu/dataset/891/cdc+diabetes+health+indicators</a:t>
            </a:r>
          </a:p>
          <a:p xmlns:a="http://schemas.openxmlformats.org/drawingml/2006/main">
            <a:r>
              <a:t>https://stat.ethz.ch/R-manual/R-devel/library/MASS/html/anorexia.html</a:t>
            </a:r>
          </a:p>
          <a:p xmlns:a="http://schemas.openxmlformats.org/drawingml/2006/main">
            <a:r>
              <a:t>https://kwstat.github.io/agridat/reference/cochran.crd.html</a:t>
            </a:r>
          </a:p>
          <a:p xmlns:a="http://schemas.openxmlformats.org/drawingml/2006/main">
            <a:r>
              <a:t>https://kwstat.github.io/agridat/reference/gomez.seedrate.html</a:t>
            </a:r>
          </a:p>
          <a:p xmlns:a="http://schemas.openxmlformats.org/drawingml/2006/main">
            <a:r>
              <a:t>https://kwstat.github.io/agridat/reference/goulden.latin.html</a:t>
            </a:r>
          </a:p>
          <a:p xmlns:a="http://schemas.openxmlformats.org/drawingml/2006/main">
            <a:r>
              <a:t>https://www.itl.nist.gov/div898/handbook/eda/section3/eda35f.htm</a:t>
            </a:r>
          </a:p>
          <a:p xmlns:a="http://schemas.openxmlformats.org/drawingml/2006/main">
            <a:r>
              <a:t>Calculations: matching saved R lab outputs. All29 original figures remain in the complete atlas.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Course Experiment 11 using only observed BRFSS data. CRD-form one-way BMI~Education uses all3000 records and6education groups: F14.4064,df5,2994,p&lt;.001. Education was observed, not randomly assigned. RBD-structure subset uses4age blocks (18-39,40-54,55-69,70+) and4education groups (Some high school,High school,Some college,College graduate),10actualrespondents per age×education cell,n160. Seed10111 selects within eligible cells without examining BMI. Model BMI~age_block+Education, education partial F3.13766,df3,153,p .027183. Latin matched layout uses4age rows and4income columns (&lt;20k,20-35k,35-75k,75k+). Cyclic letters A/B/C/D represent those4education groups, each once in each row/column. Seed10112 selects one actual respondent per required age×income×education cell, n16, no duplicates. Model BMI~age_block+income_block+Education, education F3.28448,df3,6,p .100227. The small Latin example does not reject equal adjusted education means at .05. No BMI values are fabricated; matching/selection uses category membership, not the outcome. Balanced layouts are retrospective illustrations, not randomized experiments or causal estimates. Full-sample Welch ANOVA p .000351; separate-variance Holm comparisons graduate-minus-high-school−2.3097BMI and graduate-minus-some-college−1.4903BMI bothp&lt;.001. These checks concern the full-sample comparison, not the matched subsets. Source-row ledgers and balance checks are saved. Suggested time: 145 seconds.</a:t>
            </a:r>
          </a:p>
          <a:p xmlns:a="http://schemas.openxmlformats.org/drawingml/2006/main">
            <a:r>
              <a:t/>
            </a:r>
          </a:p>
          <a:p xmlns:a="http://schemas.openxmlformats.org/drawingml/2006/main">
            <a:r>
              <a:t>Sources:</a:t>
            </a:r>
          </a:p>
          <a:p xmlns:a="http://schemas.openxmlformats.org/drawingml/2006/main">
            <a:r>
              <a:t>https://www.cdc.gov/brfss/annual_data/annual_2015.html</a:t>
            </a:r>
          </a:p>
          <a:p xmlns:a="http://schemas.openxmlformats.org/drawingml/2006/main">
            <a:r>
              <a:t>https://www.kaggle.com/datasets/alexteboul/diabetes-health-indicators-dataset</a:t>
            </a:r>
          </a:p>
          <a:p xmlns:a="http://schemas.openxmlformats.org/drawingml/2006/main">
            <a:r>
              <a:t>https://archive.ics.uci.edu/dataset/891/cdc+diabetes+health+indicators</a:t>
            </a:r>
          </a:p>
          <a:p xmlns:a="http://schemas.openxmlformats.org/drawingml/2006/main">
            <a:r>
              <a:t>https://stat.ethz.ch/R-manual/R-devel/library/MASS/html/anorexia.html</a:t>
            </a:r>
          </a:p>
          <a:p xmlns:a="http://schemas.openxmlformats.org/drawingml/2006/main">
            <a:r>
              <a:t>https://kwstat.github.io/agridat/reference/cochran.crd.html</a:t>
            </a:r>
          </a:p>
          <a:p xmlns:a="http://schemas.openxmlformats.org/drawingml/2006/main">
            <a:r>
              <a:t>https://kwstat.github.io/agridat/reference/gomez.seedrate.html</a:t>
            </a:r>
          </a:p>
          <a:p xmlns:a="http://schemas.openxmlformats.org/drawingml/2006/main">
            <a:r>
              <a:t>https://kwstat.github.io/agridat/reference/goulden.latin.html</a:t>
            </a:r>
          </a:p>
          <a:p xmlns:a="http://schemas.openxmlformats.org/drawingml/2006/main">
            <a:r>
              <a:t>https://www.itl.nist.gov/div898/handbook/eda/section3/eda35f.htm</a:t>
            </a:r>
          </a:p>
          <a:p xmlns:a="http://schemas.openxmlformats.org/drawingml/2006/main">
            <a:r>
              <a:t>Calculations: matching saved R lab outputs. All29 original figures remain in the complete atlas.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Final review of all course experiments. Mean BMI is higher in prediabetes/diabetes groups with overlapping individual distributions. Pearson r .102 and simple R-square1.03% show a weak association; the different multiple specification explains6.81%, not validated prediction accuracy. Removing114BMI flags changes mean28.40to27.65 and variance40.34to24.59. Binomial grouped fit is adequate to this test; normal and ordinary Poisson descriptions fail. BP status association V .275 exceeds smoking .045. Published paired/design supplements demonstrate the appropriate data structure. Rice blocks reduce residual MSE44.8%; weekly-dusting C has greatest wheat yield mean13.12 with significant adjusted pair comparisons. Limitations:historical,self-report,omitted complex survey design,sparse categories,confounding,model diagnostics and method-sensitive paired result. Next steps:more recent/better data, useful predictors, evaluation on unseen observations, repeat model checks. Explain findings as associations and course demonstrations. Suggested time: 100 seconds.</a:t>
            </a:r>
          </a:p>
          <a:p xmlns:a="http://schemas.openxmlformats.org/drawingml/2006/main">
            <a:r>
              <a:t/>
            </a:r>
          </a:p>
          <a:p xmlns:a="http://schemas.openxmlformats.org/drawingml/2006/main">
            <a:r>
              <a:t>Sources:</a:t>
            </a:r>
          </a:p>
          <a:p xmlns:a="http://schemas.openxmlformats.org/drawingml/2006/main">
            <a:r>
              <a:t>https://www.cdc.gov/brfss/annual_data/annual_2015.html</a:t>
            </a:r>
          </a:p>
          <a:p xmlns:a="http://schemas.openxmlformats.org/drawingml/2006/main">
            <a:r>
              <a:t>https://www.kaggle.com/datasets/alexteboul/diabetes-health-indicators-dataset</a:t>
            </a:r>
          </a:p>
          <a:p xmlns:a="http://schemas.openxmlformats.org/drawingml/2006/main">
            <a:r>
              <a:t>https://archive.ics.uci.edu/dataset/891/cdc+diabetes+health+indicators</a:t>
            </a:r>
          </a:p>
          <a:p xmlns:a="http://schemas.openxmlformats.org/drawingml/2006/main">
            <a:r>
              <a:t>https://stat.ethz.ch/R-manual/R-devel/library/MASS/html/anorexia.html</a:t>
            </a:r>
          </a:p>
          <a:p xmlns:a="http://schemas.openxmlformats.org/drawingml/2006/main">
            <a:r>
              <a:t>https://kwstat.github.io/agridat/reference/cochran.crd.html</a:t>
            </a:r>
          </a:p>
          <a:p xmlns:a="http://schemas.openxmlformats.org/drawingml/2006/main">
            <a:r>
              <a:t>https://kwstat.github.io/agridat/reference/gomez.seedrate.html</a:t>
            </a:r>
          </a:p>
          <a:p xmlns:a="http://schemas.openxmlformats.org/drawingml/2006/main">
            <a:r>
              <a:t>https://kwstat.github.io/agridat/reference/goulden.latin.html</a:t>
            </a:r>
          </a:p>
          <a:p xmlns:a="http://schemas.openxmlformats.org/drawingml/2006/main">
            <a:r>
              <a:t>https://www.itl.nist.gov/div898/handbook/eda/section3/eda35f.htm</a:t>
            </a:r>
          </a:p>
          <a:p xmlns:a="http://schemas.openxmlformats.org/drawingml/2006/main">
            <a:r>
              <a:t>Calculations: matching saved R lab outputs. All29 original figures remain in the complete atlas.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cb2ee656ff643f3"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febb2df5c7e04583"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854295d868aa49e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6358666d40724cfe"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944cc54553d84422"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56ad6696351f49a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79A6725-6014-46AB-BE1D-94129A5C3526}"/>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AA5D385F-6A7B-4574-84CE-A0CCC9E46AD2}"/>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A7E7CFD2-BD02-4B10-BE18-A699CBB1C32D}"/>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C171091-1C91-4EC4-A6F7-B29AEE5AB93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1E0B7EC2-6FA0-482A-A352-65CE8A881C62}"/>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2615CAE9-F407-48AF-A4C0-3DCF29CCE21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1411C9E-DC4D-499C-84A6-2497C8209A0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933D3415-46D5-46A7-8847-4AE145B49510}"/>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A27DD0D-DCFA-4223-BA7F-85A22649930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79A40D1-A21E-4719-ABC4-4EDF1813927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f2e21e4805d43c3" /><Relationship Type="http://schemas.openxmlformats.org/officeDocument/2006/relationships/slideLayout" Target="/ppt/slideLayouts/slideLayout1.xml" Id="R89b80a8aaf314a22" /><Relationship Type="http://schemas.openxmlformats.org/officeDocument/2006/relationships/slideLayout" Target="/ppt/slideLayouts/slideLayout2.xml" Id="Rf6ef98732df34e79" /><Relationship Type="http://schemas.openxmlformats.org/officeDocument/2006/relationships/slideLayout" Target="/ppt/slideLayouts/slideLayout3.xml" Id="R7168afa61ac64bc7" /><Relationship Type="http://schemas.openxmlformats.org/officeDocument/2006/relationships/slideLayout" Target="/ppt/slideLayouts/slideLayout4.xml" Id="Ra0330c0d3da14b16" /><Relationship Type="http://schemas.openxmlformats.org/officeDocument/2006/relationships/slideLayout" Target="/ppt/slideLayouts/slideLayout5.xml" Id="R2ccf59f48dc04a24" /><Relationship Type="http://schemas.openxmlformats.org/officeDocument/2006/relationships/slideLayout" Target="/ppt/slideLayouts/slideLayout6.xml" Id="R7c7f587f463c4f2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9b80a8aaf314a22"/>
    <p:sldLayoutId xmlns:r="http://schemas.openxmlformats.org/officeDocument/2006/relationships" id="2147483650" r:id="Rf6ef98732df34e79"/>
    <p:sldLayoutId xmlns:r="http://schemas.openxmlformats.org/officeDocument/2006/relationships" id="2147483651" r:id="R7168afa61ac64bc7"/>
    <p:sldLayoutId xmlns:r="http://schemas.openxmlformats.org/officeDocument/2006/relationships" id="2147483652" r:id="Ra0330c0d3da14b16"/>
    <p:sldLayoutId xmlns:r="http://schemas.openxmlformats.org/officeDocument/2006/relationships" id="2147483653" r:id="R2ccf59f48dc04a24"/>
    <p:sldLayoutId xmlns:r="http://schemas.openxmlformats.org/officeDocument/2006/relationships" id="2147483654" r:id="R7c7f587f463c4f2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74bd0d172c8c43db" /><Relationship Type="http://schemas.openxmlformats.org/officeDocument/2006/relationships/notesSlide" Target="/ppt/notesSlides/notesSlide1.xml" Id="R59a2fec611764355"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c85fbb65972f41ac" /><Relationship Type="http://schemas.openxmlformats.org/officeDocument/2006/relationships/chart" Target="/ppt/slides/charts/chart1.xml" Id="Rddb8523eb6434e22" /><Relationship Type="http://schemas.openxmlformats.org/officeDocument/2006/relationships/notesSlide" Target="/ppt/notesSlides/notesSlide2.xml" Id="R9c0ea9a2f9af4abf"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c479c1b8126a4187" /><Relationship Type="http://schemas.openxmlformats.org/officeDocument/2006/relationships/notesSlide" Target="/ppt/notesSlides/notesSlide3.xml" Id="R5704ca8cfcf44726"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3d47cddf22fd45f4" /><Relationship Type="http://schemas.openxmlformats.org/officeDocument/2006/relationships/image" Target="/ppt/media/image.png" Id="Rcb84373465d6464a" /><Relationship Type="http://schemas.openxmlformats.org/officeDocument/2006/relationships/image" Target="/ppt/media/image2.png" Id="R0eda1d2c936a462e" /><Relationship Type="http://schemas.openxmlformats.org/officeDocument/2006/relationships/notesSlide" Target="/ppt/notesSlides/notesSlide4.xml" Id="R94b9e418085849ba"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a60885824cdb4b92" /><Relationship Type="http://schemas.openxmlformats.org/officeDocument/2006/relationships/chart" Target="/ppt/slides/charts/chart2.xml" Id="R40b341382b9e4e37" /><Relationship Type="http://schemas.openxmlformats.org/officeDocument/2006/relationships/chart" Target="/ppt/slides/charts/chart3.xml" Id="R7054122269e84168" /><Relationship Type="http://schemas.openxmlformats.org/officeDocument/2006/relationships/image" Target="/ppt/media/image3.png" Id="R8e22f836ca0e45f4" /><Relationship Type="http://schemas.openxmlformats.org/officeDocument/2006/relationships/notesSlide" Target="/ppt/notesSlides/notesSlide5.xml" Id="Re26ce12fdeb74498"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770bd2c7b4a94d7f" /><Relationship Type="http://schemas.openxmlformats.org/officeDocument/2006/relationships/image" Target="/ppt/media/image4.png" Id="R804816767db54f2f" /><Relationship Type="http://schemas.openxmlformats.org/officeDocument/2006/relationships/image" Target="/ppt/media/image5.png" Id="R88987c0d4ae84dad" /><Relationship Type="http://schemas.openxmlformats.org/officeDocument/2006/relationships/notesSlide" Target="/ppt/notesSlides/notesSlide6.xml" Id="Re2c9b668006342d8"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7372deaf7b964109" /><Relationship Type="http://schemas.openxmlformats.org/officeDocument/2006/relationships/image" Target="/ppt/media/image6.png" Id="R80fee833d737424d" /><Relationship Type="http://schemas.openxmlformats.org/officeDocument/2006/relationships/notesSlide" Target="/ppt/notesSlides/notesSlide7.xml" Id="R020df52d290b4021"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213b3a471cec4fb3" /><Relationship Type="http://schemas.openxmlformats.org/officeDocument/2006/relationships/chart" Target="/ppt/slides/charts/chart4.xml" Id="R277e23564b364742" /><Relationship Type="http://schemas.openxmlformats.org/officeDocument/2006/relationships/image" Target="/ppt/media/image7.png" Id="Rcc4cf6ce57b648ee" /><Relationship Type="http://schemas.openxmlformats.org/officeDocument/2006/relationships/chart" Target="/ppt/slides/charts/chart5.xml" Id="Rdaeb00e8f19d4beb" /><Relationship Type="http://schemas.openxmlformats.org/officeDocument/2006/relationships/notesSlide" Target="/ppt/notesSlides/notesSlide8.xml" Id="Rb967be0a264d479b"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3b7c6abdd8794b8f" /><Relationship Type="http://schemas.openxmlformats.org/officeDocument/2006/relationships/chart" Target="/ppt/slides/charts/chart6.xml" Id="R1b041a56ed3c4c78" /><Relationship Type="http://schemas.openxmlformats.org/officeDocument/2006/relationships/chart" Target="/ppt/slides/charts/chart7.xml" Id="R5fb1f737396e4f2b" /><Relationship Type="http://schemas.openxmlformats.org/officeDocument/2006/relationships/notesSlide" Target="/ppt/notesSlides/notesSlide9.xml" Id="Ra9de25c038a7406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3dcd40580f304906" /><Relationship Type="http://schemas.openxmlformats.org/officeDocument/2006/relationships/chart" Target="/ppt/slides/charts/chart8.xml" Id="R5e9bd1732b304e27" /><Relationship Type="http://schemas.openxmlformats.org/officeDocument/2006/relationships/chart" Target="/ppt/slides/charts/chart9.xml" Id="Rbb22eb425ef54c93" /><Relationship Type="http://schemas.openxmlformats.org/officeDocument/2006/relationships/notesSlide" Target="/ppt/notesSlides/notesSlide10.xml" Id="R4651154dc4c74b6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a8cea9c4fa954110" /><Relationship Type="http://schemas.openxmlformats.org/officeDocument/2006/relationships/chart" Target="/ppt/slides/charts/chart10.xml" Id="Rb41f3ec505b74251" /><Relationship Type="http://schemas.openxmlformats.org/officeDocument/2006/relationships/chart" Target="/ppt/slides/charts/chart11.xml" Id="R82ef118aeb77453d" /><Relationship Type="http://schemas.openxmlformats.org/officeDocument/2006/relationships/notesSlide" Target="/ppt/notesSlides/notesSlide11.xml" Id="R3171a6089eca4ef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6a5cb560aa4649a6" /><Relationship Type="http://schemas.openxmlformats.org/officeDocument/2006/relationships/chart" Target="/ppt/slides/charts/chart12.xml" Id="R9f79c71bbdea4082" /><Relationship Type="http://schemas.openxmlformats.org/officeDocument/2006/relationships/notesSlide" Target="/ppt/notesSlides/notesSlide12.xml" Id="R62b36ff053b748b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5b80c30a560c464e" /><Relationship Type="http://schemas.openxmlformats.org/officeDocument/2006/relationships/notesSlide" Target="/ppt/notesSlides/notesSlide13.xml" Id="R30a2756fba9e4e4c"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_rels/chart5.xml.rels><Relationships xmlns="http://schemas.openxmlformats.org/package/2006/relationships"><Relationship Id="rIdChartSnapshot1" Type="http://schemas.openxmlformats.org/officeDocument/2006/relationships/package" Target="../../embeddings/chart-data-snapshot-005.xlsx"/></Relationships>
</file>

<file path=ppt/slides/charts/_rels/chart6.xml.rels><Relationships xmlns="http://schemas.openxmlformats.org/package/2006/relationships"><Relationship Id="rIdChartSnapshot1" Type="http://schemas.openxmlformats.org/officeDocument/2006/relationships/package" Target="../../embeddings/chart-data-snapshot-006.xlsx"/></Relationships>
</file>

<file path=ppt/slides/charts/_rels/chart7.xml.rels><Relationships xmlns="http://schemas.openxmlformats.org/package/2006/relationships"><Relationship Id="rIdChartSnapshot1" Type="http://schemas.openxmlformats.org/officeDocument/2006/relationships/package" Target="../../embeddings/chart-data-snapshot-007.xlsx"/></Relationships>
</file>

<file path=ppt/slides/charts/_rels/chart8.xml.rels><Relationships xmlns="http://schemas.openxmlformats.org/package/2006/relationships"><Relationship Id="rIdChartSnapshot1" Type="http://schemas.openxmlformats.org/officeDocument/2006/relationships/package" Target="../../embeddings/chart-data-snapshot-008.xlsx"/></Relationships>
</file>

<file path=ppt/slides/charts/_rels/chart9.xml.rels><Relationships xmlns="http://schemas.openxmlformats.org/package/2006/relationships"><Relationship Id="rIdChartSnapshot1" Type="http://schemas.openxmlformats.org/officeDocument/2006/relationships/package" Target="../../embeddings/chart-data-snapshot-009.xlsx"/></Relationships>
</file>

<file path=ppt/slides/charts/_rels/chart10.xml.rels><Relationships xmlns="http://schemas.openxmlformats.org/package/2006/relationships"><Relationship Id="rIdChartSnapshot1" Type="http://schemas.openxmlformats.org/officeDocument/2006/relationships/package" Target="../../embeddings/chart-data-snapshot-010.xlsx"/></Relationships>
</file>

<file path=ppt/slides/charts/_rels/chart11.xml.rels><Relationships xmlns="http://schemas.openxmlformats.org/package/2006/relationships"><Relationship Id="rIdChartSnapshot1" Type="http://schemas.openxmlformats.org/officeDocument/2006/relationships/package" Target="../../embeddings/chart-data-snapshot-011.xlsx"/></Relationships>
</file>

<file path=ppt/slides/charts/_rels/chart12.xml.rels><Relationships xmlns="http://schemas.openxmlformats.org/package/2006/relationships"><Relationship Id="rIdChartSnapshot1" Type="http://schemas.openxmlformats.org/officeDocument/2006/relationships/package" Target="../../embeddings/chart-data-snapshot-012.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People</c:v>
          </c:tx>
          <c:spPr>
            <a:solidFill xmlns:a="http://schemas.openxmlformats.org/drawingml/2006/main">
              <a:srgbClr val="176D8C"/>
            </a:solidFill>
          </c:spPr>
          <c:invertIfNegative val="0"/>
          <c:dPt>
            <c:idx val="0"/>
            <c:invertIfNegative val="0"/>
            <c:spPr>
              <a:solidFill xmlns:a="http://schemas.openxmlformats.org/drawingml/2006/main">
                <a:srgbClr val="176D8C"/>
              </a:solidFill>
            </c:spPr>
          </c:dPt>
          <c:dPt>
            <c:idx val="1"/>
            <c:invertIfNegative val="0"/>
            <c:spPr>
              <a:solidFill xmlns:a="http://schemas.openxmlformats.org/drawingml/2006/main">
                <a:srgbClr val="269E91"/>
              </a:solidFill>
            </c:spPr>
          </c:dPt>
          <c:dPt>
            <c:idx val="2"/>
            <c:invertIfNegative val="0"/>
            <c:spPr>
              <a:solidFill xmlns:a="http://schemas.openxmlformats.org/drawingml/2006/main">
                <a:srgbClr val="D87945"/>
              </a:solidFill>
            </c:spPr>
          </c:dPt>
          <c:cat>
            <c:strRef>
              <c:f>'Chart Data'!$A$2:$A$4</c:f>
              <c:strCache>
                <c:ptCount val="3"/>
                <c:pt idx="0">
                  <c:v>No diabetes</c:v>
                </c:pt>
                <c:pt idx="1">
                  <c:v>Prediabetes</c:v>
                </c:pt>
                <c:pt idx="2">
                  <c:v>Diabetes</c:v>
                </c:pt>
              </c:strCache>
            </c:strRef>
          </c:cat>
          <c:val>
            <c:numRef>
              <c:f>'Chart Data'!$B$2:$B$4</c:f>
              <c:numCache>
                <c:formatCode>General</c:formatCode>
                <c:ptCount val="3"/>
                <c:pt idx="0">
                  <c:v>2531</c:v>
                </c:pt>
                <c:pt idx="1">
                  <c:v>48</c:v>
                </c:pt>
                <c:pt idx="2">
                  <c:v>421</c:v>
                </c:pt>
              </c:numCache>
            </c:numRef>
          </c:val>
        </c:ser>
        <c:dLbls>
          <c:txPr>
            <a:bodyPr xmlns:a="http://schemas.openxmlformats.org/drawingml/2006/main" anchorCtr="1"/>
            <a:lstStyle xmlns:a="http://schemas.openxmlformats.org/drawingml/2006/main"/>
            <a:p xmlns:a="http://schemas.openxmlformats.org/drawingml/2006/main">
              <a:pPr>
                <a:defRPr sz="1500">
                  <a:latin typeface="Arial"/>
                  <a:ea typeface="Arial"/>
                  <a:cs typeface="Arial"/>
                </a:defRPr>
              </a:pPr>
            </a:p>
          </c:txPr>
          <c:dLblPos val="outEnd"/>
          <c:showLegendKey val="0"/>
          <c:showVal val="1"/>
          <c:showCatName val="0"/>
          <c:showSerName val="0"/>
          <c:showPercent val="0"/>
          <c:showBubbleSize val="0"/>
          <c:showLeaderLines val="0"/>
        </c:dLbls>
        <c:gapWidth val="6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AABCC6"/>
            </a:solidFill>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Arial"/>
                <a:ea typeface="Arial"/>
                <a:cs typeface="Arial"/>
              </a:defRPr>
            </a:pPr>
          </a:p>
        </c:txPr>
        <c:crossAx val="48672768"/>
      </c:catAx>
      <c:valAx>
        <c:axId val="48672768"/>
        <c:scaling>
          <c:orientation val="minMax"/>
          <c:max val="3000"/>
          <c:min val="0"/>
        </c:scaling>
        <c:delete val="0"/>
        <c:axPos val="l"/>
        <c:majorGridlines>
          <c:spPr>
            <a:ln xmlns:a="http://schemas.openxmlformats.org/drawingml/2006/main" w="9525">
              <a:solidFill>
                <a:srgbClr val="DFE7EB"/>
              </a:solidFill>
            </a:ln>
          </c:spPr>
        </c:majorGridlines>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Arial"/>
                <a:ea typeface="Arial"/>
                <a:cs typeface="Arial"/>
              </a:defRPr>
            </a:pPr>
          </a:p>
        </c:txPr>
        <c:crossAx val="48650112"/>
        <c:crossBetween val="between"/>
        <c:majorUnit val="1000"/>
      </c:valAx>
      <c:spPr>
        <a:solidFill xmlns:a="http://schemas.openxmlformats.org/drawingml/2006/main">
          <a:srgbClr val="FFFFFF"/>
        </a:solidFill>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bar"/>
        <c:varyColors val="0"/>
        <c:ser>
          <c:idx val="0"/>
          <c:order val="0"/>
          <c:tx>
            <c:v>People</c:v>
          </c:tx>
          <c:spPr>
            <a:solidFill xmlns:a="http://schemas.openxmlformats.org/drawingml/2006/main">
              <a:srgbClr val="176D8C"/>
            </a:solidFill>
            <a:ln xmlns:a="http://schemas.openxmlformats.org/drawingml/2006/main" w="19050">
              <a:solidFill>
                <a:srgbClr val="176D8C"/>
              </a:solidFill>
            </a:ln>
          </c:spPr>
          <c:invertIfNegative val="0"/>
          <c:cat>
            <c:strRef>
              <c:f>'Chart Data'!$A$2:$A$7</c:f>
              <c:strCache>
                <c:ptCount val="6"/>
                <c:pt idx="0">
                  <c:v>No school</c:v>
                </c:pt>
                <c:pt idx="1">
                  <c:v>Primary</c:v>
                </c:pt>
                <c:pt idx="2">
                  <c:v>Some high school</c:v>
                </c:pt>
                <c:pt idx="3">
                  <c:v>High school</c:v>
                </c:pt>
                <c:pt idx="4">
                  <c:v>Some college</c:v>
                </c:pt>
                <c:pt idx="5">
                  <c:v>Graduate</c:v>
                </c:pt>
              </c:strCache>
            </c:strRef>
          </c:cat>
          <c:val>
            <c:numRef>
              <c:f>'Chart Data'!$B$2:$B$7</c:f>
              <c:numCache>
                <c:formatCode>General</c:formatCode>
                <c:ptCount val="6"/>
                <c:pt idx="0">
                  <c:v>2</c:v>
                </c:pt>
                <c:pt idx="1">
                  <c:v>49</c:v>
                </c:pt>
                <c:pt idx="2">
                  <c:v>105</c:v>
                </c:pt>
                <c:pt idx="3">
                  <c:v>778</c:v>
                </c:pt>
                <c:pt idx="4">
                  <c:v>834</c:v>
                </c:pt>
                <c:pt idx="5">
                  <c:v>1232</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gapWidth val="50"/>
        <c:axId val="48650112"/>
        <c:axId val="48672768"/>
      </c:barChart>
      <c:catAx>
        <c:axId val="48650112"/>
        <c:scaling>
          <c:orientation val="minMax"/>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Arial"/>
                <a:ea typeface="Arial"/>
                <a:cs typeface="Arial"/>
              </a:defRPr>
            </a:pPr>
          </a:p>
        </c:txPr>
        <c:crossAx val="48672768"/>
      </c:catAx>
      <c:valAx>
        <c:axId val="48672768"/>
        <c:scaling>
          <c:orientation val="minMax"/>
          <c:max val="1500"/>
          <c:min val="0"/>
        </c:scaling>
        <c:delete val="0"/>
        <c:axPos val="b"/>
        <c:majorGridlines>
          <c:spPr>
            <a:ln xmlns:a="http://schemas.openxmlformats.org/drawingml/2006/main" w="9525">
              <a:solidFill>
                <a:srgbClr val="DFE7EB"/>
              </a:solidFill>
            </a:ln>
          </c:spPr>
        </c:majorGridlines>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125">
                <a:solidFill>
                  <a:srgbClr val="666666"/>
                </a:solidFill>
                <a:latin typeface="Arial"/>
                <a:ea typeface="Arial"/>
                <a:cs typeface="Arial"/>
              </a:defRPr>
            </a:pPr>
          </a:p>
        </c:txPr>
        <c:crossAx val="48650112"/>
        <c:crossBetween val="between"/>
        <c:majorUnit val="500"/>
      </c:valAx>
      <c:spPr>
        <a:solidFill xmlns:a="http://schemas.openxmlformats.org/drawingml/2006/main">
          <a:srgbClr val="FFFFFF"/>
        </a:solidFill>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pieChart>
        <c:ser>
          <c:idx val="0"/>
          <c:order val="0"/>
          <c:tx>
            <c:v>Share</c:v>
          </c:tx>
          <c:dPt>
            <c:idx val="0"/>
            <c:spPr>
              <a:solidFill xmlns:a="http://schemas.openxmlformats.org/drawingml/2006/main">
                <a:srgbClr val="176D8C"/>
              </a:solidFill>
            </c:spPr>
          </c:dPt>
          <c:dPt>
            <c:idx val="1"/>
            <c:spPr>
              <a:solidFill xmlns:a="http://schemas.openxmlformats.org/drawingml/2006/main">
                <a:srgbClr val="D87945"/>
              </a:solidFill>
            </c:spPr>
          </c:dPt>
          <c:cat>
            <c:strRef>
              <c:f>'Chart Data'!$A$2:$A$3</c:f>
              <c:strCache>
                <c:ptCount val="2"/>
                <c:pt idx="0">
                  <c:v>Female</c:v>
                </c:pt>
                <c:pt idx="1">
                  <c:v>Male</c:v>
                </c:pt>
              </c:strCache>
            </c:strRef>
          </c:cat>
          <c:val>
            <c:numRef>
              <c:f>'Chart Data'!$B$2:$B$3</c:f>
              <c:numCache>
                <c:formatCode>0</c:formatCode>
                <c:ptCount val="2"/>
                <c:pt idx="0">
                  <c:v>55.5667</c:v>
                </c:pt>
                <c:pt idx="1">
                  <c:v>44.4333</c:v>
                </c:pt>
              </c:numCache>
            </c:numRef>
          </c:val>
        </c:ser>
        <c:dLbls>
          <c:numFmt formatCode="0.0%" sourceLinked="0"/>
          <c:txPr>
            <a:bodyPr xmlns:a="http://schemas.openxmlformats.org/drawingml/2006/main" anchorCtr="1"/>
            <a:lstStyle xmlns:a="http://schemas.openxmlformats.org/drawingml/2006/main"/>
            <a:p xmlns:a="http://schemas.openxmlformats.org/drawingml/2006/main">
              <a:pPr>
                <a:defRPr sz="1425">
                  <a:latin typeface="Arial"/>
                  <a:ea typeface="Arial"/>
                  <a:cs typeface="Arial"/>
                </a:defRPr>
              </a:pPr>
            </a:p>
          </c:txPr>
          <c:dLblPos val="bestFit"/>
          <c:showLegendKey val="0"/>
          <c:showVal val="0"/>
          <c:showCatName val="0"/>
          <c:showSerName val="0"/>
          <c:showPercent val="1"/>
          <c:showBubbleSize val="0"/>
          <c:showLeaderLines val="0"/>
        </c:dLbls>
      </c:pieChart>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120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Observed</c:v>
          </c:tx>
          <c:spPr>
            <a:solidFill xmlns:a="http://schemas.openxmlformats.org/drawingml/2006/main">
              <a:srgbClr val="176D8C"/>
            </a:solidFill>
            <a:ln xmlns:a="http://schemas.openxmlformats.org/drawingml/2006/main" w="19050">
              <a:solidFill>
                <a:srgbClr val="176D8C"/>
              </a:solidFill>
            </a:ln>
          </c:spPr>
          <c:invertIfNegative val="0"/>
          <c:cat>
            <c:strRef>
              <c:f>'Chart Data'!$A$2:$A$7</c:f>
              <c:strCache>
                <c:ptCount val="6"/>
                <c:pt idx="0">
                  <c:v>0</c:v>
                </c:pt>
                <c:pt idx="1">
                  <c:v>1</c:v>
                </c:pt>
                <c:pt idx="2">
                  <c:v>2</c:v>
                </c:pt>
                <c:pt idx="3">
                  <c:v>3</c:v>
                </c:pt>
                <c:pt idx="4">
                  <c:v>4</c:v>
                </c:pt>
                <c:pt idx="5">
                  <c:v>5+</c:v>
                </c:pt>
              </c:strCache>
            </c:strRef>
          </c:cat>
          <c:val>
            <c:numRef>
              <c:f>'Chart Data'!$B$2:$B$7</c:f>
              <c:numCache>
                <c:formatCode>0</c:formatCode>
                <c:ptCount val="6"/>
                <c:pt idx="0">
                  <c:v>58</c:v>
                </c:pt>
                <c:pt idx="1">
                  <c:v>100</c:v>
                </c:pt>
                <c:pt idx="2">
                  <c:v>82</c:v>
                </c:pt>
                <c:pt idx="3">
                  <c:v>43</c:v>
                </c:pt>
                <c:pt idx="4">
                  <c:v>10</c:v>
                </c:pt>
                <c:pt idx="5">
                  <c:v>7</c:v>
                </c:pt>
              </c:numCache>
            </c:numRef>
          </c:val>
        </c:ser>
        <c:ser>
          <c:idx val="1"/>
          <c:order val="1"/>
          <c:tx>
            <c:v>Expected</c:v>
          </c:tx>
          <c:spPr>
            <a:solidFill xmlns:a="http://schemas.openxmlformats.org/drawingml/2006/main">
              <a:srgbClr val="D87945"/>
            </a:solidFill>
            <a:ln xmlns:a="http://schemas.openxmlformats.org/drawingml/2006/main" w="19050">
              <a:solidFill>
                <a:srgbClr val="D87945"/>
              </a:solidFill>
            </a:ln>
          </c:spPr>
          <c:invertIfNegative val="0"/>
          <c:cat>
            <c:strRef>
              <c:f>'Chart Data'!$C$2:$C$7</c:f>
              <c:strCache>
                <c:ptCount val="6"/>
                <c:pt idx="0">
                  <c:v>0</c:v>
                </c:pt>
                <c:pt idx="1">
                  <c:v>1</c:v>
                </c:pt>
                <c:pt idx="2">
                  <c:v>2</c:v>
                </c:pt>
                <c:pt idx="3">
                  <c:v>3</c:v>
                </c:pt>
                <c:pt idx="4">
                  <c:v>4</c:v>
                </c:pt>
                <c:pt idx="5">
                  <c:v>5+</c:v>
                </c:pt>
              </c:strCache>
            </c:strRef>
          </c:cat>
          <c:val>
            <c:numRef>
              <c:f>'Chart Data'!$D$2:$D$7</c:f>
              <c:numCache>
                <c:formatCode>0</c:formatCode>
                <c:ptCount val="6"/>
                <c:pt idx="0">
                  <c:v>54.8063</c:v>
                </c:pt>
                <c:pt idx="1">
                  <c:v>101.5572</c:v>
                </c:pt>
                <c:pt idx="2">
                  <c:v>84.6845</c:v>
                </c:pt>
                <c:pt idx="3">
                  <c:v>41.846</c:v>
                </c:pt>
                <c:pt idx="4">
                  <c:v>13.5698</c:v>
                </c:pt>
                <c:pt idx="5">
                  <c:v>3.5363</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gapWidth val="6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Arial"/>
                <a:ea typeface="Arial"/>
                <a:cs typeface="Arial"/>
              </a:defRPr>
            </a:pPr>
          </a:p>
        </c:txPr>
        <c:crossAx val="48672768"/>
      </c:catAx>
      <c:valAx>
        <c:axId val="48672768"/>
        <c:scaling>
          <c:orientation val="minMax"/>
        </c:scaling>
        <c:delete val="0"/>
        <c:axPos val="l"/>
        <c:majorGridlines>
          <c:spPr>
            <a:ln xmlns:a="http://schemas.openxmlformats.org/drawingml/2006/main" w="9525">
              <a:solidFill>
                <a:srgbClr val="DFE7EB"/>
              </a:solidFill>
            </a:ln>
          </c:spPr>
        </c:majorGridlines>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Arial"/>
                <a:ea typeface="Arial"/>
                <a:cs typeface="Arial"/>
              </a:defRPr>
            </a:pPr>
          </a:p>
        </c:txPr>
        <c:crossAx val="48650112"/>
        <c:crossBetween val="between"/>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120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5.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Observed</c:v>
          </c:tx>
          <c:spPr>
            <a:solidFill xmlns:a="http://schemas.openxmlformats.org/drawingml/2006/main">
              <a:srgbClr val="176D8C"/>
            </a:solidFill>
            <a:ln xmlns:a="http://schemas.openxmlformats.org/drawingml/2006/main" w="19050">
              <a:solidFill>
                <a:srgbClr val="176D8C"/>
              </a:solidFill>
            </a:ln>
          </c:spPr>
          <c:invertIfNegative val="0"/>
          <c:cat>
            <c:strRef>
              <c:f>'Chart Data'!$A$2:$A$8</c:f>
              <c:strCache>
                <c:ptCount val="7"/>
                <c:pt idx="0">
                  <c:v>0</c:v>
                </c:pt>
                <c:pt idx="1">
                  <c:v>1–2</c:v>
                </c:pt>
                <c:pt idx="2">
                  <c:v>3–5</c:v>
                </c:pt>
                <c:pt idx="3">
                  <c:v>6–10</c:v>
                </c:pt>
                <c:pt idx="4">
                  <c:v>11–20</c:v>
                </c:pt>
                <c:pt idx="5">
                  <c:v>21–30</c:v>
                </c:pt>
                <c:pt idx="6">
                  <c:v>&gt;30</c:v>
                </c:pt>
              </c:strCache>
            </c:strRef>
          </c:cat>
          <c:val>
            <c:numRef>
              <c:f>'Chart Data'!$B$2:$B$8</c:f>
              <c:numCache>
                <c:formatCode>0</c:formatCode>
                <c:ptCount val="7"/>
                <c:pt idx="0">
                  <c:v>1887</c:v>
                </c:pt>
                <c:pt idx="1">
                  <c:v>340</c:v>
                </c:pt>
                <c:pt idx="2">
                  <c:v>226</c:v>
                </c:pt>
                <c:pt idx="3">
                  <c:v>151</c:v>
                </c:pt>
                <c:pt idx="4">
                  <c:v>138</c:v>
                </c:pt>
                <c:pt idx="5">
                  <c:v>258</c:v>
                </c:pt>
                <c:pt idx="6">
                  <c:v>0</c:v>
                </c:pt>
              </c:numCache>
            </c:numRef>
          </c:val>
        </c:ser>
        <c:ser>
          <c:idx val="1"/>
          <c:order val="1"/>
          <c:tx>
            <c:v>Expected</c:v>
          </c:tx>
          <c:spPr>
            <a:solidFill xmlns:a="http://schemas.openxmlformats.org/drawingml/2006/main">
              <a:srgbClr val="D87945"/>
            </a:solidFill>
            <a:ln xmlns:a="http://schemas.openxmlformats.org/drawingml/2006/main" w="19050">
              <a:solidFill>
                <a:srgbClr val="D87945"/>
              </a:solidFill>
            </a:ln>
          </c:spPr>
          <c:invertIfNegative val="0"/>
          <c:cat>
            <c:strRef>
              <c:f>'Chart Data'!$C$2:$C$8</c:f>
              <c:strCache>
                <c:ptCount val="7"/>
                <c:pt idx="0">
                  <c:v>0</c:v>
                </c:pt>
                <c:pt idx="1">
                  <c:v>1–2</c:v>
                </c:pt>
                <c:pt idx="2">
                  <c:v>3–5</c:v>
                </c:pt>
                <c:pt idx="3">
                  <c:v>6–10</c:v>
                </c:pt>
                <c:pt idx="4">
                  <c:v>11–20</c:v>
                </c:pt>
                <c:pt idx="5">
                  <c:v>21–30</c:v>
                </c:pt>
                <c:pt idx="6">
                  <c:v>&gt;30</c:v>
                </c:pt>
              </c:strCache>
            </c:strRef>
          </c:cat>
          <c:val>
            <c:numRef>
              <c:f>'Chart Data'!$D$2:$D$8</c:f>
              <c:numCache>
                <c:formatCode>0</c:formatCode>
                <c:ptCount val="7"/>
                <c:pt idx="0">
                  <c:v>47.2145</c:v>
                </c:pt>
                <c:pt idx="1">
                  <c:v>602.9213</c:v>
                </c:pt>
                <c:pt idx="2">
                  <c:v>1632.8624</c:v>
                </c:pt>
                <c:pt idx="3">
                  <c:v>705.7852</c:v>
                </c:pt>
                <c:pt idx="4">
                  <c:v>11.2166</c:v>
                </c:pt>
                <c:pt idx="5">
                  <c:v>0</c:v>
                </c:pt>
                <c:pt idx="6">
                  <c:v>0</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gapWidth val="6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125">
                <a:solidFill>
                  <a:srgbClr val="666666"/>
                </a:solidFill>
                <a:latin typeface="Arial"/>
                <a:ea typeface="Arial"/>
                <a:cs typeface="Arial"/>
              </a:defRPr>
            </a:pPr>
          </a:p>
        </c:txPr>
        <c:crossAx val="48672768"/>
      </c:catAx>
      <c:valAx>
        <c:axId val="48672768"/>
        <c:scaling>
          <c:orientation val="minMax"/>
        </c:scaling>
        <c:delete val="0"/>
        <c:axPos val="l"/>
        <c:majorGridlines>
          <c:spPr>
            <a:ln xmlns:a="http://schemas.openxmlformats.org/drawingml/2006/main" w="9525">
              <a:solidFill>
                <a:srgbClr val="DFE7EB"/>
              </a:solidFill>
            </a:ln>
          </c:spPr>
        </c:majorGridlines>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Arial"/>
                <a:ea typeface="Arial"/>
                <a:cs typeface="Arial"/>
              </a:defRPr>
            </a:pPr>
          </a:p>
        </c:txPr>
        <c:crossAx val="48650112"/>
        <c:crossBetween val="between"/>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1200">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6.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Mean BMI</c:v>
          </c:tx>
          <c:invertIfNegative val="0"/>
          <c:dPt>
            <c:idx val="0"/>
            <c:invertIfNegative val="0"/>
            <c:spPr>
              <a:solidFill xmlns:a="http://schemas.openxmlformats.org/drawingml/2006/main">
                <a:srgbClr val="176D8C"/>
              </a:solidFill>
            </c:spPr>
          </c:dPt>
          <c:dPt>
            <c:idx val="1"/>
            <c:invertIfNegative val="0"/>
            <c:spPr>
              <a:solidFill xmlns:a="http://schemas.openxmlformats.org/drawingml/2006/main">
                <a:srgbClr val="D87945"/>
              </a:solidFill>
            </c:spPr>
          </c:dPt>
          <c:cat>
            <c:strRef>
              <c:f>'Chart Data'!$A$2:$A$3</c:f>
              <c:strCache>
                <c:ptCount val="2"/>
                <c:pt idx="0">
                  <c:v>Female</c:v>
                </c:pt>
                <c:pt idx="1">
                  <c:v>Male</c:v>
                </c:pt>
              </c:strCache>
            </c:strRef>
          </c:cat>
          <c:val>
            <c:numRef>
              <c:f>'Chart Data'!$B$2:$B$3</c:f>
              <c:numCache>
                <c:formatCode>General</c:formatCode>
                <c:ptCount val="2"/>
                <c:pt idx="0">
                  <c:v>28.1098</c:v>
                </c:pt>
                <c:pt idx="1">
                  <c:v>28.7592</c:v>
                </c:pt>
              </c:numCache>
            </c:numRef>
          </c:val>
        </c:ser>
        <c:dLbls>
          <c:numFmt formatCode="0.00" sourceLinked="0"/>
          <c:txPr>
            <a:bodyPr xmlns:a="http://schemas.openxmlformats.org/drawingml/2006/main" anchorCtr="1"/>
            <a:lstStyle xmlns:a="http://schemas.openxmlformats.org/drawingml/2006/main"/>
            <a:p xmlns:a="http://schemas.openxmlformats.org/drawingml/2006/main">
              <a:pPr>
                <a:defRPr sz="1575">
                  <a:latin typeface="Arial"/>
                  <a:ea typeface="Arial"/>
                  <a:cs typeface="Arial"/>
                </a:defRPr>
              </a:pPr>
            </a:p>
          </c:txPr>
          <c:dLblPos val="outEnd"/>
          <c:showLegendKey val="0"/>
          <c:showVal val="1"/>
          <c:showCatName val="0"/>
          <c:showSerName val="0"/>
          <c:showPercent val="0"/>
          <c:showBubbleSize val="0"/>
          <c:showLeaderLines val="0"/>
        </c:dLbls>
        <c:gapWidth val="6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AABCC6"/>
            </a:solidFill>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Arial"/>
                <a:ea typeface="Arial"/>
                <a:cs typeface="Arial"/>
              </a:defRPr>
            </a:pPr>
          </a:p>
        </c:txPr>
        <c:crossAx val="48672768"/>
      </c:catAx>
      <c:valAx>
        <c:axId val="48672768"/>
        <c:scaling>
          <c:orientation val="minMax"/>
          <c:max val="35"/>
          <c:min val="0"/>
        </c:scaling>
        <c:delete val="0"/>
        <c:axPos val="l"/>
        <c:majorGridlines>
          <c:spPr>
            <a:ln xmlns:a="http://schemas.openxmlformats.org/drawingml/2006/main" w="9525">
              <a:solidFill>
                <a:srgbClr val="DFE7EB"/>
              </a:solidFill>
            </a:ln>
          </c:spPr>
        </c:majorGridlines>
        <c:title>
          <c:tx>
            <c:rich>
              <a:bodyPr xmlns:a="http://schemas.openxmlformats.org/drawingml/2006/main"/>
              <a:lstStyle xmlns:a="http://schemas.openxmlformats.org/drawingml/2006/main"/>
              <a:p xmlns:a="http://schemas.openxmlformats.org/drawingml/2006/main">
                <a:r>
                  <a:rPr sz="1275">
                    <a:latin typeface="Arial"/>
                    <a:ea typeface="Arial"/>
                    <a:cs typeface="Arial"/>
                  </a:rPr>
                  <a:t>Mean BMI</a:t>
                </a:r>
              </a:p>
            </c:rich>
          </c:tx>
          <c:overlay val="0"/>
          <c:txPr>
            <a:bodyPr xmlns:a="http://schemas.openxmlformats.org/drawingml/2006/main" anchorCtr="1"/>
            <a:lstStyle xmlns:a="http://schemas.openxmlformats.org/drawingml/2006/main"/>
            <a:p xmlns:a="http://schemas.openxmlformats.org/drawingml/2006/main">
              <a:pPr>
                <a:defRPr sz="1275">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Arial"/>
                <a:ea typeface="Arial"/>
                <a:cs typeface="Arial"/>
              </a:defRPr>
            </a:pPr>
          </a:p>
        </c:txPr>
        <c:crossAx val="48650112"/>
        <c:crossBetween val="between"/>
        <c:majorUnit val="10"/>
      </c:valAx>
      <c:spPr>
        <a:solidFill xmlns:a="http://schemas.openxmlformats.org/drawingml/2006/main">
          <a:srgbClr val="FFFFFF"/>
        </a:solidFill>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7.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Positive status (%)</c:v>
          </c:tx>
          <c:invertIfNegative val="0"/>
          <c:dPt>
            <c:idx val="0"/>
            <c:invertIfNegative val="0"/>
            <c:spPr>
              <a:solidFill xmlns:a="http://schemas.openxmlformats.org/drawingml/2006/main">
                <a:srgbClr val="176D8C"/>
              </a:solidFill>
            </c:spPr>
          </c:dPt>
          <c:dPt>
            <c:idx val="1"/>
            <c:invertIfNegative val="0"/>
            <c:spPr>
              <a:solidFill xmlns:a="http://schemas.openxmlformats.org/drawingml/2006/main">
                <a:srgbClr val="D87945"/>
              </a:solidFill>
            </c:spPr>
          </c:dPt>
          <c:cat>
            <c:strRef>
              <c:f>'Chart Data'!$A$2:$A$3</c:f>
              <c:strCache>
                <c:ptCount val="2"/>
                <c:pt idx="0">
                  <c:v>Never 100 cigarettes</c:v>
                </c:pt>
                <c:pt idx="1">
                  <c:v>Ever 100 cigarettes</c:v>
                </c:pt>
              </c:strCache>
            </c:strRef>
          </c:cat>
          <c:val>
            <c:numRef>
              <c:f>'Chart Data'!$B$2:$B$3</c:f>
              <c:numCache>
                <c:formatCode>General</c:formatCode>
                <c:ptCount val="2"/>
                <c:pt idx="0">
                  <c:v>14.0872</c:v>
                </c:pt>
                <c:pt idx="1">
                  <c:v>17.3606</c:v>
                </c:pt>
              </c:numCache>
            </c:numRef>
          </c:val>
        </c:ser>
        <c:dLbls>
          <c:numFmt formatCode="0.0&quot;%&quot;" sourceLinked="0"/>
          <c:txPr>
            <a:bodyPr xmlns:a="http://schemas.openxmlformats.org/drawingml/2006/main" anchorCtr="1"/>
            <a:lstStyle xmlns:a="http://schemas.openxmlformats.org/drawingml/2006/main"/>
            <a:p xmlns:a="http://schemas.openxmlformats.org/drawingml/2006/main">
              <a:pPr>
                <a:defRPr sz="1575">
                  <a:latin typeface="Arial"/>
                  <a:ea typeface="Arial"/>
                  <a:cs typeface="Arial"/>
                </a:defRPr>
              </a:pPr>
            </a:p>
          </c:txPr>
          <c:dLblPos val="outEnd"/>
          <c:showLegendKey val="0"/>
          <c:showVal val="1"/>
          <c:showCatName val="0"/>
          <c:showSerName val="0"/>
          <c:showPercent val="0"/>
          <c:showBubbleSize val="0"/>
          <c:showLeaderLines val="0"/>
        </c:dLbls>
        <c:gapWidth val="6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AABCC6"/>
            </a:solidFill>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Arial"/>
                <a:ea typeface="Arial"/>
                <a:cs typeface="Arial"/>
              </a:defRPr>
            </a:pPr>
          </a:p>
        </c:txPr>
        <c:crossAx val="48672768"/>
      </c:catAx>
      <c:valAx>
        <c:axId val="48672768"/>
        <c:scaling>
          <c:orientation val="minMax"/>
          <c:max val="25"/>
          <c:min val="0"/>
        </c:scaling>
        <c:delete val="0"/>
        <c:axPos val="l"/>
        <c:majorGridlines>
          <c:spPr>
            <a:ln xmlns:a="http://schemas.openxmlformats.org/drawingml/2006/main" w="9525">
              <a:solidFill>
                <a:srgbClr val="DFE7EB"/>
              </a:solidFill>
            </a:ln>
          </c:spPr>
        </c:majorGridlines>
        <c:title>
          <c:tx>
            <c:rich>
              <a:bodyPr xmlns:a="http://schemas.openxmlformats.org/drawingml/2006/main"/>
              <a:lstStyle xmlns:a="http://schemas.openxmlformats.org/drawingml/2006/main"/>
              <a:p xmlns:a="http://schemas.openxmlformats.org/drawingml/2006/main">
                <a:r>
                  <a:rPr sz="1275">
                    <a:latin typeface="Arial"/>
                    <a:ea typeface="Arial"/>
                    <a:cs typeface="Arial"/>
                  </a:rPr>
                  <a:t>Positive status (%)</a:t>
                </a:r>
              </a:p>
            </c:rich>
          </c:tx>
          <c:overlay val="0"/>
          <c:txPr>
            <a:bodyPr xmlns:a="http://schemas.openxmlformats.org/drawingml/2006/main" anchorCtr="1"/>
            <a:lstStyle xmlns:a="http://schemas.openxmlformats.org/drawingml/2006/main"/>
            <a:p xmlns:a="http://schemas.openxmlformats.org/drawingml/2006/main">
              <a:pPr>
                <a:defRPr sz="1275">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Arial"/>
                <a:ea typeface="Arial"/>
                <a:cs typeface="Arial"/>
              </a:defRPr>
            </a:pPr>
          </a:p>
        </c:txPr>
        <c:crossAx val="48650112"/>
        <c:crossBetween val="between"/>
        <c:majorUnit val="10"/>
      </c:valAx>
      <c:spPr>
        <a:solidFill xmlns:a="http://schemas.openxmlformats.org/drawingml/2006/main">
          <a:srgbClr val="FFFFFF"/>
        </a:solidFill>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8.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Mean physical poor-health days</c:v>
          </c:tx>
          <c:invertIfNegative val="0"/>
          <c:dPt>
            <c:idx val="0"/>
            <c:invertIfNegative val="0"/>
            <c:spPr>
              <a:solidFill xmlns:a="http://schemas.openxmlformats.org/drawingml/2006/main">
                <a:srgbClr val="176D8C"/>
              </a:solidFill>
            </c:spPr>
          </c:dPt>
          <c:dPt>
            <c:idx val="1"/>
            <c:invertIfNegative val="0"/>
            <c:spPr>
              <a:solidFill xmlns:a="http://schemas.openxmlformats.org/drawingml/2006/main">
                <a:srgbClr val="D87945"/>
              </a:solidFill>
            </c:spPr>
          </c:dPt>
          <c:cat>
            <c:strRef>
              <c:f>'Chart Data'!$A$2:$A$3</c:f>
              <c:strCache>
                <c:ptCount val="2"/>
                <c:pt idx="0">
                  <c:v>Female</c:v>
                </c:pt>
                <c:pt idx="1">
                  <c:v>Male</c:v>
                </c:pt>
              </c:strCache>
            </c:strRef>
          </c:cat>
          <c:val>
            <c:numRef>
              <c:f>'Chart Data'!$B$2:$B$3</c:f>
              <c:numCache>
                <c:formatCode>General</c:formatCode>
                <c:ptCount val="2"/>
                <c:pt idx="0">
                  <c:v>4.7055</c:v>
                </c:pt>
                <c:pt idx="1">
                  <c:v>3.4591</c:v>
                </c:pt>
              </c:numCache>
            </c:numRef>
          </c:val>
        </c:ser>
        <c:dLbls>
          <c:numFmt formatCode="0.00" sourceLinked="0"/>
          <c:txPr>
            <a:bodyPr xmlns:a="http://schemas.openxmlformats.org/drawingml/2006/main" anchorCtr="1"/>
            <a:lstStyle xmlns:a="http://schemas.openxmlformats.org/drawingml/2006/main"/>
            <a:p xmlns:a="http://schemas.openxmlformats.org/drawingml/2006/main">
              <a:pPr>
                <a:defRPr sz="1575">
                  <a:latin typeface="Arial"/>
                  <a:ea typeface="Arial"/>
                  <a:cs typeface="Arial"/>
                </a:defRPr>
              </a:pPr>
            </a:p>
          </c:txPr>
          <c:dLblPos val="outEnd"/>
          <c:showLegendKey val="0"/>
          <c:showVal val="1"/>
          <c:showCatName val="0"/>
          <c:showSerName val="0"/>
          <c:showPercent val="0"/>
          <c:showBubbleSize val="0"/>
          <c:showLeaderLines val="0"/>
        </c:dLbls>
        <c:gapWidth val="6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AABCC6"/>
            </a:solidFill>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Arial"/>
                <a:ea typeface="Arial"/>
                <a:cs typeface="Arial"/>
              </a:defRPr>
            </a:pPr>
          </a:p>
        </c:txPr>
        <c:crossAx val="48672768"/>
      </c:catAx>
      <c:valAx>
        <c:axId val="48672768"/>
        <c:scaling>
          <c:orientation val="minMax"/>
          <c:max val="6"/>
          <c:min val="0"/>
        </c:scaling>
        <c:delete val="0"/>
        <c:axPos val="l"/>
        <c:majorGridlines>
          <c:spPr>
            <a:ln xmlns:a="http://schemas.openxmlformats.org/drawingml/2006/main" w="9525">
              <a:solidFill>
                <a:srgbClr val="DFE7EB"/>
              </a:solidFill>
            </a:ln>
          </c:spPr>
        </c:majorGridlines>
        <c:title>
          <c:tx>
            <c:rich>
              <a:bodyPr xmlns:a="http://schemas.openxmlformats.org/drawingml/2006/main"/>
              <a:lstStyle xmlns:a="http://schemas.openxmlformats.org/drawingml/2006/main"/>
              <a:p xmlns:a="http://schemas.openxmlformats.org/drawingml/2006/main">
                <a:r>
                  <a:rPr sz="1200">
                    <a:latin typeface="Arial"/>
                    <a:ea typeface="Arial"/>
                    <a:cs typeface="Arial"/>
                  </a:rPr>
                  <a:t>Mean physical poor-health days</a:t>
                </a:r>
              </a:p>
            </c:rich>
          </c:tx>
          <c:overlay val="0"/>
          <c:txPr>
            <a:bodyPr xmlns:a="http://schemas.openxmlformats.org/drawingml/2006/main" anchorCtr="1"/>
            <a:lstStyle xmlns:a="http://schemas.openxmlformats.org/drawingml/2006/main"/>
            <a:p xmlns:a="http://schemas.openxmlformats.org/drawingml/2006/main">
              <a:pPr>
                <a:defRPr sz="1200">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Arial"/>
                <a:ea typeface="Arial"/>
                <a:cs typeface="Arial"/>
              </a:defRPr>
            </a:pPr>
          </a:p>
        </c:txPr>
        <c:crossAx val="48650112"/>
        <c:crossBetween val="between"/>
        <c:majorUnit val="2"/>
      </c:valAx>
      <c:spPr>
        <a:solidFill xmlns:a="http://schemas.openxmlformats.org/drawingml/2006/main">
          <a:srgbClr val="FFFFFF"/>
        </a:solidFill>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9.xml><?xml version="1.0" encoding="utf-8"?>
<c:chartSpace xmlns:c="http://schemas.openxmlformats.org/drawingml/2006/chart" xmlns:r="http://schemas.openxmlformats.org/officeDocument/2006/relationships">
  <c:lang val="en-US"/>
  <c:chart>
    <c:plotArea>
      <c:lineChart>
        <c:grouping val="standard"/>
        <c:varyColors val="0"/>
        <c:ser>
          <c:idx val="0"/>
          <c:order val="0"/>
          <c:tx>
            <c:v>Patient 1</c:v>
          </c:tx>
          <c:spPr>
            <a:ln xmlns:a="http://schemas.openxmlformats.org/drawingml/2006/main" w="9525">
              <a:solidFill>
                <a:srgbClr val="A0C7D6"/>
              </a:solidFill>
            </a:ln>
          </c:spPr>
          <c:marker>
            <c:symbol val="none"/>
          </c:marker>
          <c:cat>
            <c:strRef>
              <c:f>'Chart Data'!$A$2:$A$3</c:f>
              <c:strCache>
                <c:ptCount val="2"/>
                <c:pt idx="0">
                  <c:v>Before</c:v>
                </c:pt>
                <c:pt idx="1">
                  <c:v>After</c:v>
                </c:pt>
              </c:strCache>
            </c:strRef>
          </c:cat>
          <c:val>
            <c:numRef>
              <c:f>'Chart Data'!$B$2:$B$3</c:f>
              <c:numCache>
                <c:formatCode>General</c:formatCode>
                <c:ptCount val="2"/>
                <c:pt idx="0">
                  <c:v>80.5</c:v>
                </c:pt>
                <c:pt idx="1">
                  <c:v>82.2</c:v>
                </c:pt>
              </c:numCache>
            </c:numRef>
          </c:val>
        </c:ser>
        <c:ser>
          <c:idx val="1"/>
          <c:order val="1"/>
          <c:tx>
            <c:v>Patient 2</c:v>
          </c:tx>
          <c:spPr>
            <a:ln xmlns:a="http://schemas.openxmlformats.org/drawingml/2006/main" w="9525">
              <a:solidFill>
                <a:srgbClr val="A0C7D6"/>
              </a:solidFill>
            </a:ln>
          </c:spPr>
          <c:marker>
            <c:symbol val="none"/>
          </c:marker>
          <c:cat>
            <c:strRef>
              <c:f>'Chart Data'!$C$2:$C$3</c:f>
              <c:strCache>
                <c:ptCount val="2"/>
                <c:pt idx="0">
                  <c:v>Before</c:v>
                </c:pt>
                <c:pt idx="1">
                  <c:v>After</c:v>
                </c:pt>
              </c:strCache>
            </c:strRef>
          </c:cat>
          <c:val>
            <c:numRef>
              <c:f>'Chart Data'!$D$2:$D$3</c:f>
              <c:numCache>
                <c:formatCode>General</c:formatCode>
                <c:ptCount val="2"/>
                <c:pt idx="0">
                  <c:v>84.9</c:v>
                </c:pt>
                <c:pt idx="1">
                  <c:v>85.6</c:v>
                </c:pt>
              </c:numCache>
            </c:numRef>
          </c:val>
        </c:ser>
        <c:ser>
          <c:idx val="2"/>
          <c:order val="2"/>
          <c:tx>
            <c:v>Patient 3</c:v>
          </c:tx>
          <c:spPr>
            <a:ln xmlns:a="http://schemas.openxmlformats.org/drawingml/2006/main" w="9525">
              <a:solidFill>
                <a:srgbClr val="A0C7D6"/>
              </a:solidFill>
            </a:ln>
          </c:spPr>
          <c:marker>
            <c:symbol val="none"/>
          </c:marker>
          <c:cat>
            <c:strRef>
              <c:f>'Chart Data'!$E$2:$E$3</c:f>
              <c:strCache>
                <c:ptCount val="2"/>
                <c:pt idx="0">
                  <c:v>Before</c:v>
                </c:pt>
                <c:pt idx="1">
                  <c:v>After</c:v>
                </c:pt>
              </c:strCache>
            </c:strRef>
          </c:cat>
          <c:val>
            <c:numRef>
              <c:f>'Chart Data'!$F$2:$F$3</c:f>
              <c:numCache>
                <c:formatCode>General</c:formatCode>
                <c:ptCount val="2"/>
                <c:pt idx="0">
                  <c:v>81.5</c:v>
                </c:pt>
                <c:pt idx="1">
                  <c:v>81.4</c:v>
                </c:pt>
              </c:numCache>
            </c:numRef>
          </c:val>
        </c:ser>
        <c:ser>
          <c:idx val="3"/>
          <c:order val="3"/>
          <c:tx>
            <c:v>Patient 4</c:v>
          </c:tx>
          <c:spPr>
            <a:ln xmlns:a="http://schemas.openxmlformats.org/drawingml/2006/main" w="9525">
              <a:solidFill>
                <a:srgbClr val="A0C7D6"/>
              </a:solidFill>
            </a:ln>
          </c:spPr>
          <c:marker>
            <c:symbol val="none"/>
          </c:marker>
          <c:cat>
            <c:strRef>
              <c:f>'Chart Data'!$G$2:$G$3</c:f>
              <c:strCache>
                <c:ptCount val="2"/>
                <c:pt idx="0">
                  <c:v>Before</c:v>
                </c:pt>
                <c:pt idx="1">
                  <c:v>After</c:v>
                </c:pt>
              </c:strCache>
            </c:strRef>
          </c:cat>
          <c:val>
            <c:numRef>
              <c:f>'Chart Data'!$H$2:$H$3</c:f>
              <c:numCache>
                <c:formatCode>General</c:formatCode>
                <c:ptCount val="2"/>
                <c:pt idx="0">
                  <c:v>82.6</c:v>
                </c:pt>
                <c:pt idx="1">
                  <c:v>81.9</c:v>
                </c:pt>
              </c:numCache>
            </c:numRef>
          </c:val>
        </c:ser>
        <c:ser>
          <c:idx val="4"/>
          <c:order val="4"/>
          <c:tx>
            <c:v>Patient 5</c:v>
          </c:tx>
          <c:spPr>
            <a:ln xmlns:a="http://schemas.openxmlformats.org/drawingml/2006/main" w="9525">
              <a:solidFill>
                <a:srgbClr val="A0C7D6"/>
              </a:solidFill>
            </a:ln>
          </c:spPr>
          <c:marker>
            <c:symbol val="none"/>
          </c:marker>
          <c:cat>
            <c:strRef>
              <c:f>'Chart Data'!$I$2:$I$3</c:f>
              <c:strCache>
                <c:ptCount val="2"/>
                <c:pt idx="0">
                  <c:v>Before</c:v>
                </c:pt>
                <c:pt idx="1">
                  <c:v>After</c:v>
                </c:pt>
              </c:strCache>
            </c:strRef>
          </c:cat>
          <c:val>
            <c:numRef>
              <c:f>'Chart Data'!$J$2:$J$3</c:f>
              <c:numCache>
                <c:formatCode>General</c:formatCode>
                <c:ptCount val="2"/>
                <c:pt idx="0">
                  <c:v>79.9</c:v>
                </c:pt>
                <c:pt idx="1">
                  <c:v>76.4</c:v>
                </c:pt>
              </c:numCache>
            </c:numRef>
          </c:val>
        </c:ser>
        <c:ser>
          <c:idx val="5"/>
          <c:order val="5"/>
          <c:tx>
            <c:v>Patient 6</c:v>
          </c:tx>
          <c:spPr>
            <a:ln xmlns:a="http://schemas.openxmlformats.org/drawingml/2006/main" w="9525">
              <a:solidFill>
                <a:srgbClr val="A0C7D6"/>
              </a:solidFill>
            </a:ln>
          </c:spPr>
          <c:marker>
            <c:symbol val="none"/>
          </c:marker>
          <c:cat>
            <c:strRef>
              <c:f>'Chart Data'!$K$2:$K$3</c:f>
              <c:strCache>
                <c:ptCount val="2"/>
                <c:pt idx="0">
                  <c:v>Before</c:v>
                </c:pt>
                <c:pt idx="1">
                  <c:v>After</c:v>
                </c:pt>
              </c:strCache>
            </c:strRef>
          </c:cat>
          <c:val>
            <c:numRef>
              <c:f>'Chart Data'!$L$2:$L$3</c:f>
              <c:numCache>
                <c:formatCode>General</c:formatCode>
                <c:ptCount val="2"/>
                <c:pt idx="0">
                  <c:v>88.7</c:v>
                </c:pt>
                <c:pt idx="1">
                  <c:v>103.6</c:v>
                </c:pt>
              </c:numCache>
            </c:numRef>
          </c:val>
        </c:ser>
        <c:ser>
          <c:idx val="6"/>
          <c:order val="6"/>
          <c:tx>
            <c:v>Patient 7</c:v>
          </c:tx>
          <c:spPr>
            <a:ln xmlns:a="http://schemas.openxmlformats.org/drawingml/2006/main" w="9525">
              <a:solidFill>
                <a:srgbClr val="A0C7D6"/>
              </a:solidFill>
            </a:ln>
          </c:spPr>
          <c:marker>
            <c:symbol val="none"/>
          </c:marker>
          <c:cat>
            <c:strRef>
              <c:f>'Chart Data'!$M$2:$M$3</c:f>
              <c:strCache>
                <c:ptCount val="2"/>
                <c:pt idx="0">
                  <c:v>Before</c:v>
                </c:pt>
                <c:pt idx="1">
                  <c:v>After</c:v>
                </c:pt>
              </c:strCache>
            </c:strRef>
          </c:cat>
          <c:val>
            <c:numRef>
              <c:f>'Chart Data'!$N$2:$N$3</c:f>
              <c:numCache>
                <c:formatCode>General</c:formatCode>
                <c:ptCount val="2"/>
                <c:pt idx="0">
                  <c:v>94.9</c:v>
                </c:pt>
                <c:pt idx="1">
                  <c:v>98.4</c:v>
                </c:pt>
              </c:numCache>
            </c:numRef>
          </c:val>
        </c:ser>
        <c:ser>
          <c:idx val="7"/>
          <c:order val="7"/>
          <c:tx>
            <c:v>Patient 8</c:v>
          </c:tx>
          <c:spPr>
            <a:ln xmlns:a="http://schemas.openxmlformats.org/drawingml/2006/main" w="9525">
              <a:solidFill>
                <a:srgbClr val="A0C7D6"/>
              </a:solidFill>
            </a:ln>
          </c:spPr>
          <c:marker>
            <c:symbol val="none"/>
          </c:marker>
          <c:cat>
            <c:strRef>
              <c:f>'Chart Data'!$O$2:$O$3</c:f>
              <c:strCache>
                <c:ptCount val="2"/>
                <c:pt idx="0">
                  <c:v>Before</c:v>
                </c:pt>
                <c:pt idx="1">
                  <c:v>After</c:v>
                </c:pt>
              </c:strCache>
            </c:strRef>
          </c:cat>
          <c:val>
            <c:numRef>
              <c:f>'Chart Data'!$P$2:$P$3</c:f>
              <c:numCache>
                <c:formatCode>General</c:formatCode>
                <c:ptCount val="2"/>
                <c:pt idx="0">
                  <c:v>76.3</c:v>
                </c:pt>
                <c:pt idx="1">
                  <c:v>93.4</c:v>
                </c:pt>
              </c:numCache>
            </c:numRef>
          </c:val>
        </c:ser>
        <c:ser>
          <c:idx val="8"/>
          <c:order val="8"/>
          <c:tx>
            <c:v>Patient 9</c:v>
          </c:tx>
          <c:spPr>
            <a:ln xmlns:a="http://schemas.openxmlformats.org/drawingml/2006/main" w="9525">
              <a:solidFill>
                <a:srgbClr val="A0C7D6"/>
              </a:solidFill>
            </a:ln>
          </c:spPr>
          <c:marker>
            <c:symbol val="none"/>
          </c:marker>
          <c:cat>
            <c:strRef>
              <c:f>'Chart Data'!$Q$2:$Q$3</c:f>
              <c:strCache>
                <c:ptCount val="2"/>
                <c:pt idx="0">
                  <c:v>Before</c:v>
                </c:pt>
                <c:pt idx="1">
                  <c:v>After</c:v>
                </c:pt>
              </c:strCache>
            </c:strRef>
          </c:cat>
          <c:val>
            <c:numRef>
              <c:f>'Chart Data'!$R$2:$R$3</c:f>
              <c:numCache>
                <c:formatCode>General</c:formatCode>
                <c:ptCount val="2"/>
                <c:pt idx="0">
                  <c:v>81</c:v>
                </c:pt>
                <c:pt idx="1">
                  <c:v>73.4</c:v>
                </c:pt>
              </c:numCache>
            </c:numRef>
          </c:val>
        </c:ser>
        <c:ser>
          <c:idx val="9"/>
          <c:order val="9"/>
          <c:tx>
            <c:v>Patient 10</c:v>
          </c:tx>
          <c:spPr>
            <a:ln xmlns:a="http://schemas.openxmlformats.org/drawingml/2006/main" w="9525">
              <a:solidFill>
                <a:srgbClr val="A0C7D6"/>
              </a:solidFill>
            </a:ln>
          </c:spPr>
          <c:marker>
            <c:symbol val="none"/>
          </c:marker>
          <c:cat>
            <c:strRef>
              <c:f>'Chart Data'!$S$2:$S$3</c:f>
              <c:strCache>
                <c:ptCount val="2"/>
                <c:pt idx="0">
                  <c:v>Before</c:v>
                </c:pt>
                <c:pt idx="1">
                  <c:v>After</c:v>
                </c:pt>
              </c:strCache>
            </c:strRef>
          </c:cat>
          <c:val>
            <c:numRef>
              <c:f>'Chart Data'!$T$2:$T$3</c:f>
              <c:numCache>
                <c:formatCode>General</c:formatCode>
                <c:ptCount val="2"/>
                <c:pt idx="0">
                  <c:v>80.5</c:v>
                </c:pt>
                <c:pt idx="1">
                  <c:v>82.1</c:v>
                </c:pt>
              </c:numCache>
            </c:numRef>
          </c:val>
        </c:ser>
        <c:ser>
          <c:idx val="10"/>
          <c:order val="10"/>
          <c:tx>
            <c:v>Patient 11</c:v>
          </c:tx>
          <c:spPr>
            <a:ln xmlns:a="http://schemas.openxmlformats.org/drawingml/2006/main" w="9525">
              <a:solidFill>
                <a:srgbClr val="A0C7D6"/>
              </a:solidFill>
            </a:ln>
          </c:spPr>
          <c:marker>
            <c:symbol val="none"/>
          </c:marker>
          <c:cat>
            <c:strRef>
              <c:f>'Chart Data'!$U$2:$U$3</c:f>
              <c:strCache>
                <c:ptCount val="2"/>
                <c:pt idx="0">
                  <c:v>Before</c:v>
                </c:pt>
                <c:pt idx="1">
                  <c:v>After</c:v>
                </c:pt>
              </c:strCache>
            </c:strRef>
          </c:cat>
          <c:val>
            <c:numRef>
              <c:f>'Chart Data'!$V$2:$V$3</c:f>
              <c:numCache>
                <c:formatCode>General</c:formatCode>
                <c:ptCount val="2"/>
                <c:pt idx="0">
                  <c:v>85</c:v>
                </c:pt>
                <c:pt idx="1">
                  <c:v>96.7</c:v>
                </c:pt>
              </c:numCache>
            </c:numRef>
          </c:val>
        </c:ser>
        <c:ser>
          <c:idx val="11"/>
          <c:order val="11"/>
          <c:tx>
            <c:v>Patient 12</c:v>
          </c:tx>
          <c:spPr>
            <a:ln xmlns:a="http://schemas.openxmlformats.org/drawingml/2006/main" w="9525">
              <a:solidFill>
                <a:srgbClr val="A0C7D6"/>
              </a:solidFill>
            </a:ln>
          </c:spPr>
          <c:marker>
            <c:symbol val="none"/>
          </c:marker>
          <c:cat>
            <c:strRef>
              <c:f>'Chart Data'!$W$2:$W$3</c:f>
              <c:strCache>
                <c:ptCount val="2"/>
                <c:pt idx="0">
                  <c:v>Before</c:v>
                </c:pt>
                <c:pt idx="1">
                  <c:v>After</c:v>
                </c:pt>
              </c:strCache>
            </c:strRef>
          </c:cat>
          <c:val>
            <c:numRef>
              <c:f>'Chart Data'!$X$2:$X$3</c:f>
              <c:numCache>
                <c:formatCode>General</c:formatCode>
                <c:ptCount val="2"/>
                <c:pt idx="0">
                  <c:v>89.2</c:v>
                </c:pt>
                <c:pt idx="1">
                  <c:v>95.3</c:v>
                </c:pt>
              </c:numCache>
            </c:numRef>
          </c:val>
        </c:ser>
        <c:ser>
          <c:idx val="12"/>
          <c:order val="12"/>
          <c:tx>
            <c:v>Patient 13</c:v>
          </c:tx>
          <c:spPr>
            <a:ln xmlns:a="http://schemas.openxmlformats.org/drawingml/2006/main" w="9525">
              <a:solidFill>
                <a:srgbClr val="A0C7D6"/>
              </a:solidFill>
            </a:ln>
          </c:spPr>
          <c:marker>
            <c:symbol val="none"/>
          </c:marker>
          <c:cat>
            <c:strRef>
              <c:f>'Chart Data'!$Y$2:$Y$3</c:f>
              <c:strCache>
                <c:ptCount val="2"/>
                <c:pt idx="0">
                  <c:v>Before</c:v>
                </c:pt>
                <c:pt idx="1">
                  <c:v>After</c:v>
                </c:pt>
              </c:strCache>
            </c:strRef>
          </c:cat>
          <c:val>
            <c:numRef>
              <c:f>'Chart Data'!$Z$2:$Z$3</c:f>
              <c:numCache>
                <c:formatCode>General</c:formatCode>
                <c:ptCount val="2"/>
                <c:pt idx="0">
                  <c:v>81.3</c:v>
                </c:pt>
                <c:pt idx="1">
                  <c:v>82.4</c:v>
                </c:pt>
              </c:numCache>
            </c:numRef>
          </c:val>
        </c:ser>
        <c:ser>
          <c:idx val="13"/>
          <c:order val="13"/>
          <c:tx>
            <c:v>Patient 14</c:v>
          </c:tx>
          <c:spPr>
            <a:ln xmlns:a="http://schemas.openxmlformats.org/drawingml/2006/main" w="9525">
              <a:solidFill>
                <a:srgbClr val="A0C7D6"/>
              </a:solidFill>
            </a:ln>
          </c:spPr>
          <c:marker>
            <c:symbol val="none"/>
          </c:marker>
          <c:cat>
            <c:strRef>
              <c:f>'Chart Data'!$AA$2:$AA$3</c:f>
              <c:strCache>
                <c:ptCount val="2"/>
                <c:pt idx="0">
                  <c:v>Before</c:v>
                </c:pt>
                <c:pt idx="1">
                  <c:v>After</c:v>
                </c:pt>
              </c:strCache>
            </c:strRef>
          </c:cat>
          <c:val>
            <c:numRef>
              <c:f>'Chart Data'!$AB$2:$AB$3</c:f>
              <c:numCache>
                <c:formatCode>General</c:formatCode>
                <c:ptCount val="2"/>
                <c:pt idx="0">
                  <c:v>76.5</c:v>
                </c:pt>
                <c:pt idx="1">
                  <c:v>72.5</c:v>
                </c:pt>
              </c:numCache>
            </c:numRef>
          </c:val>
        </c:ser>
        <c:ser>
          <c:idx val="14"/>
          <c:order val="14"/>
          <c:tx>
            <c:v>Patient 15</c:v>
          </c:tx>
          <c:spPr>
            <a:ln xmlns:a="http://schemas.openxmlformats.org/drawingml/2006/main" w="9525">
              <a:solidFill>
                <a:srgbClr val="A0C7D6"/>
              </a:solidFill>
            </a:ln>
          </c:spPr>
          <c:marker>
            <c:symbol val="none"/>
          </c:marker>
          <c:cat>
            <c:strRef>
              <c:f>'Chart Data'!$AC$2:$AC$3</c:f>
              <c:strCache>
                <c:ptCount val="2"/>
                <c:pt idx="0">
                  <c:v>Before</c:v>
                </c:pt>
                <c:pt idx="1">
                  <c:v>After</c:v>
                </c:pt>
              </c:strCache>
            </c:strRef>
          </c:cat>
          <c:val>
            <c:numRef>
              <c:f>'Chart Data'!$AD$2:$AD$3</c:f>
              <c:numCache>
                <c:formatCode>General</c:formatCode>
                <c:ptCount val="2"/>
                <c:pt idx="0">
                  <c:v>70</c:v>
                </c:pt>
                <c:pt idx="1">
                  <c:v>90.9</c:v>
                </c:pt>
              </c:numCache>
            </c:numRef>
          </c:val>
        </c:ser>
        <c:ser>
          <c:idx val="15"/>
          <c:order val="15"/>
          <c:tx>
            <c:v>Patient 16</c:v>
          </c:tx>
          <c:spPr>
            <a:ln xmlns:a="http://schemas.openxmlformats.org/drawingml/2006/main" w="9525">
              <a:solidFill>
                <a:srgbClr val="A0C7D6"/>
              </a:solidFill>
            </a:ln>
          </c:spPr>
          <c:marker>
            <c:symbol val="none"/>
          </c:marker>
          <c:cat>
            <c:strRef>
              <c:f>'Chart Data'!$AE$2:$AE$3</c:f>
              <c:strCache>
                <c:ptCount val="2"/>
                <c:pt idx="0">
                  <c:v>Before</c:v>
                </c:pt>
                <c:pt idx="1">
                  <c:v>After</c:v>
                </c:pt>
              </c:strCache>
            </c:strRef>
          </c:cat>
          <c:val>
            <c:numRef>
              <c:f>'Chart Data'!$AF$2:$AF$3</c:f>
              <c:numCache>
                <c:formatCode>General</c:formatCode>
                <c:ptCount val="2"/>
                <c:pt idx="0">
                  <c:v>80.4</c:v>
                </c:pt>
                <c:pt idx="1">
                  <c:v>71.3</c:v>
                </c:pt>
              </c:numCache>
            </c:numRef>
          </c:val>
        </c:ser>
        <c:ser>
          <c:idx val="16"/>
          <c:order val="16"/>
          <c:tx>
            <c:v>Patient 17</c:v>
          </c:tx>
          <c:spPr>
            <a:ln xmlns:a="http://schemas.openxmlformats.org/drawingml/2006/main" w="9525">
              <a:solidFill>
                <a:srgbClr val="A0C7D6"/>
              </a:solidFill>
            </a:ln>
          </c:spPr>
          <c:marker>
            <c:symbol val="none"/>
          </c:marker>
          <c:cat>
            <c:strRef>
              <c:f>'Chart Data'!$AG$2:$AG$3</c:f>
              <c:strCache>
                <c:ptCount val="2"/>
                <c:pt idx="0">
                  <c:v>Before</c:v>
                </c:pt>
                <c:pt idx="1">
                  <c:v>After</c:v>
                </c:pt>
              </c:strCache>
            </c:strRef>
          </c:cat>
          <c:val>
            <c:numRef>
              <c:f>'Chart Data'!$AH$2:$AH$3</c:f>
              <c:numCache>
                <c:formatCode>General</c:formatCode>
                <c:ptCount val="2"/>
                <c:pt idx="0">
                  <c:v>83.3</c:v>
                </c:pt>
                <c:pt idx="1">
                  <c:v>85.4</c:v>
                </c:pt>
              </c:numCache>
            </c:numRef>
          </c:val>
        </c:ser>
        <c:ser>
          <c:idx val="17"/>
          <c:order val="17"/>
          <c:tx>
            <c:v>Patient 18</c:v>
          </c:tx>
          <c:spPr>
            <a:ln xmlns:a="http://schemas.openxmlformats.org/drawingml/2006/main" w="9525">
              <a:solidFill>
                <a:srgbClr val="A0C7D6"/>
              </a:solidFill>
            </a:ln>
          </c:spPr>
          <c:marker>
            <c:symbol val="none"/>
          </c:marker>
          <c:cat>
            <c:strRef>
              <c:f>'Chart Data'!$AI$2:$AI$3</c:f>
              <c:strCache>
                <c:ptCount val="2"/>
                <c:pt idx="0">
                  <c:v>Before</c:v>
                </c:pt>
                <c:pt idx="1">
                  <c:v>After</c:v>
                </c:pt>
              </c:strCache>
            </c:strRef>
          </c:cat>
          <c:val>
            <c:numRef>
              <c:f>'Chart Data'!$AJ$2:$AJ$3</c:f>
              <c:numCache>
                <c:formatCode>General</c:formatCode>
                <c:ptCount val="2"/>
                <c:pt idx="0">
                  <c:v>83</c:v>
                </c:pt>
                <c:pt idx="1">
                  <c:v>81.6</c:v>
                </c:pt>
              </c:numCache>
            </c:numRef>
          </c:val>
        </c:ser>
        <c:ser>
          <c:idx val="18"/>
          <c:order val="18"/>
          <c:tx>
            <c:v>Patient 19</c:v>
          </c:tx>
          <c:spPr>
            <a:ln xmlns:a="http://schemas.openxmlformats.org/drawingml/2006/main" w="9525">
              <a:solidFill>
                <a:srgbClr val="A0C7D6"/>
              </a:solidFill>
            </a:ln>
          </c:spPr>
          <c:marker>
            <c:symbol val="none"/>
          </c:marker>
          <c:cat>
            <c:strRef>
              <c:f>'Chart Data'!$AK$2:$AK$3</c:f>
              <c:strCache>
                <c:ptCount val="2"/>
                <c:pt idx="0">
                  <c:v>Before</c:v>
                </c:pt>
                <c:pt idx="1">
                  <c:v>After</c:v>
                </c:pt>
              </c:strCache>
            </c:strRef>
          </c:cat>
          <c:val>
            <c:numRef>
              <c:f>'Chart Data'!$AL$2:$AL$3</c:f>
              <c:numCache>
                <c:formatCode>General</c:formatCode>
                <c:ptCount val="2"/>
                <c:pt idx="0">
                  <c:v>87.7</c:v>
                </c:pt>
                <c:pt idx="1">
                  <c:v>89.1</c:v>
                </c:pt>
              </c:numCache>
            </c:numRef>
          </c:val>
        </c:ser>
        <c:ser>
          <c:idx val="19"/>
          <c:order val="19"/>
          <c:tx>
            <c:v>Patient 20</c:v>
          </c:tx>
          <c:spPr>
            <a:ln xmlns:a="http://schemas.openxmlformats.org/drawingml/2006/main" w="9525">
              <a:solidFill>
                <a:srgbClr val="A0C7D6"/>
              </a:solidFill>
            </a:ln>
          </c:spPr>
          <c:marker>
            <c:symbol val="none"/>
          </c:marker>
          <c:cat>
            <c:strRef>
              <c:f>'Chart Data'!$AM$2:$AM$3</c:f>
              <c:strCache>
                <c:ptCount val="2"/>
                <c:pt idx="0">
                  <c:v>Before</c:v>
                </c:pt>
                <c:pt idx="1">
                  <c:v>After</c:v>
                </c:pt>
              </c:strCache>
            </c:strRef>
          </c:cat>
          <c:val>
            <c:numRef>
              <c:f>'Chart Data'!$AN$2:$AN$3</c:f>
              <c:numCache>
                <c:formatCode>General</c:formatCode>
                <c:ptCount val="2"/>
                <c:pt idx="0">
                  <c:v>84.2</c:v>
                </c:pt>
                <c:pt idx="1">
                  <c:v>83.9</c:v>
                </c:pt>
              </c:numCache>
            </c:numRef>
          </c:val>
        </c:ser>
        <c:ser>
          <c:idx val="20"/>
          <c:order val="20"/>
          <c:tx>
            <c:v>Patient 21</c:v>
          </c:tx>
          <c:spPr>
            <a:ln xmlns:a="http://schemas.openxmlformats.org/drawingml/2006/main" w="9525">
              <a:solidFill>
                <a:srgbClr val="A0C7D6"/>
              </a:solidFill>
            </a:ln>
          </c:spPr>
          <c:marker>
            <c:symbol val="none"/>
          </c:marker>
          <c:cat>
            <c:strRef>
              <c:f>'Chart Data'!$AO$2:$AO$3</c:f>
              <c:strCache>
                <c:ptCount val="2"/>
                <c:pt idx="0">
                  <c:v>Before</c:v>
                </c:pt>
                <c:pt idx="1">
                  <c:v>After</c:v>
                </c:pt>
              </c:strCache>
            </c:strRef>
          </c:cat>
          <c:val>
            <c:numRef>
              <c:f>'Chart Data'!$AP$2:$AP$3</c:f>
              <c:numCache>
                <c:formatCode>General</c:formatCode>
                <c:ptCount val="2"/>
                <c:pt idx="0">
                  <c:v>86.4</c:v>
                </c:pt>
                <c:pt idx="1">
                  <c:v>82.7</c:v>
                </c:pt>
              </c:numCache>
            </c:numRef>
          </c:val>
        </c:ser>
        <c:ser>
          <c:idx val="21"/>
          <c:order val="21"/>
          <c:tx>
            <c:v>Patient 22</c:v>
          </c:tx>
          <c:spPr>
            <a:ln xmlns:a="http://schemas.openxmlformats.org/drawingml/2006/main" w="9525">
              <a:solidFill>
                <a:srgbClr val="A0C7D6"/>
              </a:solidFill>
            </a:ln>
          </c:spPr>
          <c:marker>
            <c:symbol val="none"/>
          </c:marker>
          <c:cat>
            <c:strRef>
              <c:f>'Chart Data'!$AQ$2:$AQ$3</c:f>
              <c:strCache>
                <c:ptCount val="2"/>
                <c:pt idx="0">
                  <c:v>Before</c:v>
                </c:pt>
                <c:pt idx="1">
                  <c:v>After</c:v>
                </c:pt>
              </c:strCache>
            </c:strRef>
          </c:cat>
          <c:val>
            <c:numRef>
              <c:f>'Chart Data'!$AR$2:$AR$3</c:f>
              <c:numCache>
                <c:formatCode>General</c:formatCode>
                <c:ptCount val="2"/>
                <c:pt idx="0">
                  <c:v>76.5</c:v>
                </c:pt>
                <c:pt idx="1">
                  <c:v>75.7</c:v>
                </c:pt>
              </c:numCache>
            </c:numRef>
          </c:val>
        </c:ser>
        <c:ser>
          <c:idx val="22"/>
          <c:order val="22"/>
          <c:tx>
            <c:v>Patient 23</c:v>
          </c:tx>
          <c:spPr>
            <a:ln xmlns:a="http://schemas.openxmlformats.org/drawingml/2006/main" w="9525">
              <a:solidFill>
                <a:srgbClr val="A0C7D6"/>
              </a:solidFill>
            </a:ln>
          </c:spPr>
          <c:marker>
            <c:symbol val="none"/>
          </c:marker>
          <c:cat>
            <c:strRef>
              <c:f>'Chart Data'!$AS$2:$AS$3</c:f>
              <c:strCache>
                <c:ptCount val="2"/>
                <c:pt idx="0">
                  <c:v>Before</c:v>
                </c:pt>
                <c:pt idx="1">
                  <c:v>After</c:v>
                </c:pt>
              </c:strCache>
            </c:strRef>
          </c:cat>
          <c:val>
            <c:numRef>
              <c:f>'Chart Data'!$AT$2:$AT$3</c:f>
              <c:numCache>
                <c:formatCode>General</c:formatCode>
                <c:ptCount val="2"/>
                <c:pt idx="0">
                  <c:v>80.2</c:v>
                </c:pt>
                <c:pt idx="1">
                  <c:v>82.6</c:v>
                </c:pt>
              </c:numCache>
            </c:numRef>
          </c:val>
        </c:ser>
        <c:ser>
          <c:idx val="23"/>
          <c:order val="23"/>
          <c:tx>
            <c:v>Patient 24</c:v>
          </c:tx>
          <c:spPr>
            <a:ln xmlns:a="http://schemas.openxmlformats.org/drawingml/2006/main" w="9525">
              <a:solidFill>
                <a:srgbClr val="A0C7D6"/>
              </a:solidFill>
            </a:ln>
          </c:spPr>
          <c:marker>
            <c:symbol val="none"/>
          </c:marker>
          <c:cat>
            <c:strRef>
              <c:f>'Chart Data'!$AU$2:$AU$3</c:f>
              <c:strCache>
                <c:ptCount val="2"/>
                <c:pt idx="0">
                  <c:v>Before</c:v>
                </c:pt>
                <c:pt idx="1">
                  <c:v>After</c:v>
                </c:pt>
              </c:strCache>
            </c:strRef>
          </c:cat>
          <c:val>
            <c:numRef>
              <c:f>'Chart Data'!$AV$2:$AV$3</c:f>
              <c:numCache>
                <c:formatCode>General</c:formatCode>
                <c:ptCount val="2"/>
                <c:pt idx="0">
                  <c:v>87.8</c:v>
                </c:pt>
                <c:pt idx="1">
                  <c:v>100.4</c:v>
                </c:pt>
              </c:numCache>
            </c:numRef>
          </c:val>
        </c:ser>
        <c:ser>
          <c:idx val="24"/>
          <c:order val="24"/>
          <c:tx>
            <c:v>Patient 25</c:v>
          </c:tx>
          <c:spPr>
            <a:ln xmlns:a="http://schemas.openxmlformats.org/drawingml/2006/main" w="9525">
              <a:solidFill>
                <a:srgbClr val="A0C7D6"/>
              </a:solidFill>
            </a:ln>
          </c:spPr>
          <c:marker>
            <c:symbol val="none"/>
          </c:marker>
          <c:cat>
            <c:strRef>
              <c:f>'Chart Data'!$AW$2:$AW$3</c:f>
              <c:strCache>
                <c:ptCount val="2"/>
                <c:pt idx="0">
                  <c:v>Before</c:v>
                </c:pt>
                <c:pt idx="1">
                  <c:v>After</c:v>
                </c:pt>
              </c:strCache>
            </c:strRef>
          </c:cat>
          <c:val>
            <c:numRef>
              <c:f>'Chart Data'!$AX$2:$AX$3</c:f>
              <c:numCache>
                <c:formatCode>General</c:formatCode>
                <c:ptCount val="2"/>
                <c:pt idx="0">
                  <c:v>83.3</c:v>
                </c:pt>
                <c:pt idx="1">
                  <c:v>85.2</c:v>
                </c:pt>
              </c:numCache>
            </c:numRef>
          </c:val>
        </c:ser>
        <c:ser>
          <c:idx val="25"/>
          <c:order val="25"/>
          <c:tx>
            <c:v>Patient 26</c:v>
          </c:tx>
          <c:spPr>
            <a:ln xmlns:a="http://schemas.openxmlformats.org/drawingml/2006/main" w="9525">
              <a:solidFill>
                <a:srgbClr val="A0C7D6"/>
              </a:solidFill>
            </a:ln>
          </c:spPr>
          <c:marker>
            <c:symbol val="none"/>
          </c:marker>
          <c:cat>
            <c:strRef>
              <c:f>'Chart Data'!$AY$2:$AY$3</c:f>
              <c:strCache>
                <c:ptCount val="2"/>
                <c:pt idx="0">
                  <c:v>Before</c:v>
                </c:pt>
                <c:pt idx="1">
                  <c:v>After</c:v>
                </c:pt>
              </c:strCache>
            </c:strRef>
          </c:cat>
          <c:val>
            <c:numRef>
              <c:f>'Chart Data'!$AZ$2:$AZ$3</c:f>
              <c:numCache>
                <c:formatCode>General</c:formatCode>
                <c:ptCount val="2"/>
                <c:pt idx="0">
                  <c:v>79.7</c:v>
                </c:pt>
                <c:pt idx="1">
                  <c:v>83.6</c:v>
                </c:pt>
              </c:numCache>
            </c:numRef>
          </c:val>
        </c:ser>
        <c:ser>
          <c:idx val="26"/>
          <c:order val="26"/>
          <c:tx>
            <c:v>Patient 27</c:v>
          </c:tx>
          <c:spPr>
            <a:ln xmlns:a="http://schemas.openxmlformats.org/drawingml/2006/main" w="9525">
              <a:solidFill>
                <a:srgbClr val="A0C7D6"/>
              </a:solidFill>
            </a:ln>
          </c:spPr>
          <c:marker>
            <c:symbol val="none"/>
          </c:marker>
          <c:cat>
            <c:strRef>
              <c:f>'Chart Data'!$BA$2:$BA$3</c:f>
              <c:strCache>
                <c:ptCount val="2"/>
                <c:pt idx="0">
                  <c:v>Before</c:v>
                </c:pt>
                <c:pt idx="1">
                  <c:v>After</c:v>
                </c:pt>
              </c:strCache>
            </c:strRef>
          </c:cat>
          <c:val>
            <c:numRef>
              <c:f>'Chart Data'!$BB$2:$BB$3</c:f>
              <c:numCache>
                <c:formatCode>General</c:formatCode>
                <c:ptCount val="2"/>
                <c:pt idx="0">
                  <c:v>84.5</c:v>
                </c:pt>
                <c:pt idx="1">
                  <c:v>84.6</c:v>
                </c:pt>
              </c:numCache>
            </c:numRef>
          </c:val>
        </c:ser>
        <c:ser>
          <c:idx val="27"/>
          <c:order val="27"/>
          <c:tx>
            <c:v>Patient 28</c:v>
          </c:tx>
          <c:spPr>
            <a:ln xmlns:a="http://schemas.openxmlformats.org/drawingml/2006/main" w="9525">
              <a:solidFill>
                <a:srgbClr val="A0C7D6"/>
              </a:solidFill>
            </a:ln>
          </c:spPr>
          <c:marker>
            <c:symbol val="none"/>
          </c:marker>
          <c:cat>
            <c:strRef>
              <c:f>'Chart Data'!$BC$2:$BC$3</c:f>
              <c:strCache>
                <c:ptCount val="2"/>
                <c:pt idx="0">
                  <c:v>Before</c:v>
                </c:pt>
                <c:pt idx="1">
                  <c:v>After</c:v>
                </c:pt>
              </c:strCache>
            </c:strRef>
          </c:cat>
          <c:val>
            <c:numRef>
              <c:f>'Chart Data'!$BD$2:$BD$3</c:f>
              <c:numCache>
                <c:formatCode>General</c:formatCode>
                <c:ptCount val="2"/>
                <c:pt idx="0">
                  <c:v>80.8</c:v>
                </c:pt>
                <c:pt idx="1">
                  <c:v>96.2</c:v>
                </c:pt>
              </c:numCache>
            </c:numRef>
          </c:val>
        </c:ser>
        <c:ser>
          <c:idx val="28"/>
          <c:order val="28"/>
          <c:tx>
            <c:v>Patient 29</c:v>
          </c:tx>
          <c:spPr>
            <a:ln xmlns:a="http://schemas.openxmlformats.org/drawingml/2006/main" w="9525">
              <a:solidFill>
                <a:srgbClr val="A0C7D6"/>
              </a:solidFill>
            </a:ln>
          </c:spPr>
          <c:marker>
            <c:symbol val="none"/>
          </c:marker>
          <c:cat>
            <c:strRef>
              <c:f>'Chart Data'!$BE$2:$BE$3</c:f>
              <c:strCache>
                <c:ptCount val="2"/>
                <c:pt idx="0">
                  <c:v>Before</c:v>
                </c:pt>
                <c:pt idx="1">
                  <c:v>After</c:v>
                </c:pt>
              </c:strCache>
            </c:strRef>
          </c:cat>
          <c:val>
            <c:numRef>
              <c:f>'Chart Data'!$BF$2:$BF$3</c:f>
              <c:numCache>
                <c:formatCode>General</c:formatCode>
                <c:ptCount val="2"/>
                <c:pt idx="0">
                  <c:v>87.4</c:v>
                </c:pt>
                <c:pt idx="1">
                  <c:v>86.7</c:v>
                </c:pt>
              </c:numCache>
            </c:numRef>
          </c:val>
        </c:ser>
        <c:ser>
          <c:idx val="29"/>
          <c:order val="29"/>
          <c:tx>
            <c:v>Mean</c:v>
          </c:tx>
          <c:spPr>
            <a:ln xmlns:a="http://schemas.openxmlformats.org/drawingml/2006/main" w="28575">
              <a:solidFill>
                <a:srgbClr val="D87945"/>
              </a:solidFill>
            </a:ln>
          </c:spPr>
          <c:marker>
            <c:symbol val="none"/>
          </c:marker>
          <c:cat>
            <c:strRef>
              <c:f>'Chart Data'!$BG$2:$BG$3</c:f>
              <c:strCache>
                <c:ptCount val="2"/>
                <c:pt idx="0">
                  <c:v>Before</c:v>
                </c:pt>
                <c:pt idx="1">
                  <c:v>After</c:v>
                </c:pt>
              </c:strCache>
            </c:strRef>
          </c:cat>
          <c:val>
            <c:numRef>
              <c:f>'Chart Data'!$BH$2:$BH$3</c:f>
              <c:numCache>
                <c:formatCode>General</c:formatCode>
                <c:ptCount val="2"/>
                <c:pt idx="0">
                  <c:v>82.6897</c:v>
                </c:pt>
                <c:pt idx="1">
                  <c:v>85.6966</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AABCC6"/>
            </a:solidFill>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Arial"/>
                <a:ea typeface="Arial"/>
                <a:cs typeface="Arial"/>
              </a:defRPr>
            </a:pPr>
          </a:p>
        </c:txPr>
        <c:crossAx val="48672768"/>
      </c:catAx>
      <c:valAx>
        <c:axId val="48672768"/>
        <c:scaling>
          <c:orientation val="minMax"/>
          <c:max val="110"/>
          <c:min val="65"/>
        </c:scaling>
        <c:delete val="0"/>
        <c:axPos val="l"/>
        <c:majorGridlines>
          <c:spPr>
            <a:ln xmlns:a="http://schemas.openxmlformats.org/drawingml/2006/main" w="9525">
              <a:solidFill>
                <a:srgbClr val="DFE7EB"/>
              </a:solidFill>
            </a:ln>
          </c:spPr>
        </c:majorGridlines>
        <c:title>
          <c:tx>
            <c:rich>
              <a:bodyPr xmlns:a="http://schemas.openxmlformats.org/drawingml/2006/main"/>
              <a:lstStyle xmlns:a="http://schemas.openxmlformats.org/drawingml/2006/main"/>
              <a:p xmlns:a="http://schemas.openxmlformats.org/drawingml/2006/main">
                <a:r>
                  <a:rPr sz="1275">
                    <a:latin typeface="Arial"/>
                    <a:ea typeface="Arial"/>
                    <a:cs typeface="Arial"/>
                  </a:rPr>
                  <a:t>Weight (lb)</a:t>
                </a:r>
              </a:p>
            </c:rich>
          </c:tx>
          <c:overlay val="0"/>
          <c:txPr>
            <a:bodyPr xmlns:a="http://schemas.openxmlformats.org/drawingml/2006/main" anchorCtr="1"/>
            <a:lstStyle xmlns:a="http://schemas.openxmlformats.org/drawingml/2006/main"/>
            <a:p xmlns:a="http://schemas.openxmlformats.org/drawingml/2006/main">
              <a:pPr>
                <a:defRPr sz="1275">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Arial"/>
                <a:ea typeface="Arial"/>
                <a:cs typeface="Arial"/>
              </a:defRPr>
            </a:pPr>
          </a:p>
        </c:txPr>
        <c:crossAx val="48650112"/>
        <c:crossBetween val="between"/>
        <c:majorUnit val="15"/>
      </c:valAx>
      <c:spPr>
        <a:solidFill xmlns:a="http://schemas.openxmlformats.org/drawingml/2006/main">
          <a:srgbClr val="FFFFFF"/>
        </a:solidFill>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10.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Positive status (%)</c:v>
          </c:tx>
          <c:invertIfNegative val="0"/>
          <c:dPt>
            <c:idx val="0"/>
            <c:invertIfNegative val="0"/>
            <c:spPr>
              <a:solidFill xmlns:a="http://schemas.openxmlformats.org/drawingml/2006/main">
                <a:srgbClr val="176D8C"/>
              </a:solidFill>
            </c:spPr>
          </c:dPt>
          <c:dPt>
            <c:idx val="1"/>
            <c:invertIfNegative val="0"/>
            <c:spPr>
              <a:solidFill xmlns:a="http://schemas.openxmlformats.org/drawingml/2006/main">
                <a:srgbClr val="D87945"/>
              </a:solidFill>
            </c:spPr>
          </c:dPt>
          <c:cat>
            <c:strRef>
              <c:f>'Chart Data'!$A$2:$A$3</c:f>
              <c:strCache>
                <c:ptCount val="2"/>
                <c:pt idx="0">
                  <c:v>No high BP</c:v>
                </c:pt>
                <c:pt idx="1">
                  <c:v>High BP</c:v>
                </c:pt>
              </c:strCache>
            </c:strRef>
          </c:cat>
          <c:val>
            <c:numRef>
              <c:f>'Chart Data'!$B$2:$B$3</c:f>
              <c:numCache>
                <c:formatCode>General</c:formatCode>
                <c:ptCount val="2"/>
                <c:pt idx="0">
                  <c:v>6.9289</c:v>
                </c:pt>
                <c:pt idx="1">
                  <c:v>27.0625</c:v>
                </c:pt>
              </c:numCache>
            </c:numRef>
          </c:val>
        </c:ser>
        <c:dLbls>
          <c:numFmt formatCode="0.0&quot;%&quot;" sourceLinked="0"/>
          <c:txPr>
            <a:bodyPr xmlns:a="http://schemas.openxmlformats.org/drawingml/2006/main" anchorCtr="1"/>
            <a:lstStyle xmlns:a="http://schemas.openxmlformats.org/drawingml/2006/main"/>
            <a:p xmlns:a="http://schemas.openxmlformats.org/drawingml/2006/main">
              <a:pPr>
                <a:defRPr sz="1575">
                  <a:latin typeface="Arial"/>
                  <a:ea typeface="Arial"/>
                  <a:cs typeface="Arial"/>
                </a:defRPr>
              </a:pPr>
            </a:p>
          </c:txPr>
          <c:dLblPos val="outEnd"/>
          <c:showLegendKey val="0"/>
          <c:showVal val="1"/>
          <c:showCatName val="0"/>
          <c:showSerName val="0"/>
          <c:showPercent val="0"/>
          <c:showBubbleSize val="0"/>
          <c:showLeaderLines val="0"/>
        </c:dLbls>
        <c:gapWidth val="6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AABCC6"/>
            </a:solidFill>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Arial"/>
                <a:ea typeface="Arial"/>
                <a:cs typeface="Arial"/>
              </a:defRPr>
            </a:pPr>
          </a:p>
        </c:txPr>
        <c:crossAx val="48672768"/>
      </c:catAx>
      <c:valAx>
        <c:axId val="48672768"/>
        <c:scaling>
          <c:orientation val="minMax"/>
          <c:max val="35"/>
          <c:min val="0"/>
        </c:scaling>
        <c:delete val="0"/>
        <c:axPos val="l"/>
        <c:majorGridlines>
          <c:spPr>
            <a:ln xmlns:a="http://schemas.openxmlformats.org/drawingml/2006/main" w="9525">
              <a:solidFill>
                <a:srgbClr val="DFE7EB"/>
              </a:solidFill>
            </a:ln>
          </c:spPr>
        </c:majorGridlines>
        <c:title>
          <c:tx>
            <c:rich>
              <a:bodyPr xmlns:a="http://schemas.openxmlformats.org/drawingml/2006/main"/>
              <a:lstStyle xmlns:a="http://schemas.openxmlformats.org/drawingml/2006/main"/>
              <a:p xmlns:a="http://schemas.openxmlformats.org/drawingml/2006/main">
                <a:r>
                  <a:rPr sz="1275">
                    <a:latin typeface="Arial"/>
                    <a:ea typeface="Arial"/>
                    <a:cs typeface="Arial"/>
                  </a:rPr>
                  <a:t>Positive status (%)</a:t>
                </a:r>
              </a:p>
            </c:rich>
          </c:tx>
          <c:overlay val="0"/>
          <c:txPr>
            <a:bodyPr xmlns:a="http://schemas.openxmlformats.org/drawingml/2006/main" anchorCtr="1"/>
            <a:lstStyle xmlns:a="http://schemas.openxmlformats.org/drawingml/2006/main"/>
            <a:p xmlns:a="http://schemas.openxmlformats.org/drawingml/2006/main">
              <a:pPr>
                <a:defRPr sz="1275">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Arial"/>
                <a:ea typeface="Arial"/>
                <a:cs typeface="Arial"/>
              </a:defRPr>
            </a:pPr>
          </a:p>
        </c:txPr>
        <c:crossAx val="48650112"/>
        <c:crossBetween val="between"/>
        <c:majorUnit val="10"/>
      </c:valAx>
      <c:spPr>
        <a:solidFill xmlns:a="http://schemas.openxmlformats.org/drawingml/2006/main">
          <a:srgbClr val="FFFFFF"/>
        </a:solidFill>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1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Positive status (%)</c:v>
          </c:tx>
          <c:invertIfNegative val="0"/>
          <c:dPt>
            <c:idx val="0"/>
            <c:invertIfNegative val="0"/>
            <c:spPr>
              <a:solidFill xmlns:a="http://schemas.openxmlformats.org/drawingml/2006/main">
                <a:srgbClr val="176D8C"/>
              </a:solidFill>
            </c:spPr>
          </c:dPt>
          <c:dPt>
            <c:idx val="1"/>
            <c:invertIfNegative val="0"/>
            <c:spPr>
              <a:solidFill xmlns:a="http://schemas.openxmlformats.org/drawingml/2006/main">
                <a:srgbClr val="D87945"/>
              </a:solidFill>
            </c:spPr>
          </c:dPt>
          <c:cat>
            <c:strRef>
              <c:f>'Chart Data'!$A$2:$A$3</c:f>
              <c:strCache>
                <c:ptCount val="2"/>
                <c:pt idx="0">
                  <c:v>Never 100 cigarettes</c:v>
                </c:pt>
                <c:pt idx="1">
                  <c:v>Ever 100 cigarettes</c:v>
                </c:pt>
              </c:strCache>
            </c:strRef>
          </c:cat>
          <c:val>
            <c:numRef>
              <c:f>'Chart Data'!$B$2:$B$3</c:f>
              <c:numCache>
                <c:formatCode>General</c:formatCode>
                <c:ptCount val="2"/>
                <c:pt idx="0">
                  <c:v>14.0872</c:v>
                </c:pt>
                <c:pt idx="1">
                  <c:v>17.3606</c:v>
                </c:pt>
              </c:numCache>
            </c:numRef>
          </c:val>
        </c:ser>
        <c:dLbls>
          <c:numFmt formatCode="0.0&quot;%&quot;" sourceLinked="0"/>
          <c:txPr>
            <a:bodyPr xmlns:a="http://schemas.openxmlformats.org/drawingml/2006/main" anchorCtr="1"/>
            <a:lstStyle xmlns:a="http://schemas.openxmlformats.org/drawingml/2006/main"/>
            <a:p xmlns:a="http://schemas.openxmlformats.org/drawingml/2006/main">
              <a:pPr>
                <a:defRPr sz="1575">
                  <a:latin typeface="Arial"/>
                  <a:ea typeface="Arial"/>
                  <a:cs typeface="Arial"/>
                </a:defRPr>
              </a:pPr>
            </a:p>
          </c:txPr>
          <c:dLblPos val="outEnd"/>
          <c:showLegendKey val="0"/>
          <c:showVal val="1"/>
          <c:showCatName val="0"/>
          <c:showSerName val="0"/>
          <c:showPercent val="0"/>
          <c:showBubbleSize val="0"/>
          <c:showLeaderLines val="0"/>
        </c:dLbls>
        <c:gapWidth val="6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AABCC6"/>
            </a:solidFill>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Arial"/>
                <a:ea typeface="Arial"/>
                <a:cs typeface="Arial"/>
              </a:defRPr>
            </a:pPr>
          </a:p>
        </c:txPr>
        <c:crossAx val="48672768"/>
      </c:catAx>
      <c:valAx>
        <c:axId val="48672768"/>
        <c:scaling>
          <c:orientation val="minMax"/>
          <c:max val="35"/>
          <c:min val="0"/>
        </c:scaling>
        <c:delete val="0"/>
        <c:axPos val="l"/>
        <c:majorGridlines>
          <c:spPr>
            <a:ln xmlns:a="http://schemas.openxmlformats.org/drawingml/2006/main" w="9525">
              <a:solidFill>
                <a:srgbClr val="DFE7EB"/>
              </a:solidFill>
            </a:ln>
          </c:spPr>
        </c:majorGridlines>
        <c:title>
          <c:tx>
            <c:rich>
              <a:bodyPr xmlns:a="http://schemas.openxmlformats.org/drawingml/2006/main"/>
              <a:lstStyle xmlns:a="http://schemas.openxmlformats.org/drawingml/2006/main"/>
              <a:p xmlns:a="http://schemas.openxmlformats.org/drawingml/2006/main">
                <a:r>
                  <a:rPr sz="1275">
                    <a:latin typeface="Arial"/>
                    <a:ea typeface="Arial"/>
                    <a:cs typeface="Arial"/>
                  </a:rPr>
                  <a:t>Positive status (%)</a:t>
                </a:r>
              </a:p>
            </c:rich>
          </c:tx>
          <c:overlay val="0"/>
          <c:txPr>
            <a:bodyPr xmlns:a="http://schemas.openxmlformats.org/drawingml/2006/main" anchorCtr="1"/>
            <a:lstStyle xmlns:a="http://schemas.openxmlformats.org/drawingml/2006/main"/>
            <a:p xmlns:a="http://schemas.openxmlformats.org/drawingml/2006/main">
              <a:pPr>
                <a:defRPr sz="1275">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Arial"/>
                <a:ea typeface="Arial"/>
                <a:cs typeface="Arial"/>
              </a:defRPr>
            </a:pPr>
          </a:p>
        </c:txPr>
        <c:crossAx val="48650112"/>
        <c:crossBetween val="between"/>
        <c:majorUnit val="10"/>
      </c:valAx>
      <c:spPr>
        <a:solidFill xmlns:a="http://schemas.openxmlformats.org/drawingml/2006/main">
          <a:srgbClr val="FFFFFF"/>
        </a:solidFill>
      </c:spPr>
    </c:plotArea>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charts/chart12.xml><?xml version="1.0" encoding="utf-8"?>
<c:chartSpace xmlns:c="http://schemas.openxmlformats.org/drawingml/2006/chart" xmlns:r="http://schemas.openxmlformats.org/officeDocument/2006/relationships">
  <c:lang val="en-US"/>
  <c:chart>
    <c:plotArea>
      <c:lineChart>
        <c:grouping val="standard"/>
        <c:varyColors val="0"/>
        <c:ser>
          <c:idx val="0"/>
          <c:order val="0"/>
          <c:tx>
            <c:v>Some HS</c:v>
          </c:tx>
          <c:spPr>
            <a:solidFill xmlns:a="http://schemas.openxmlformats.org/drawingml/2006/main">
              <a:srgbClr val="176D8C"/>
            </a:solidFill>
            <a:ln xmlns:a="http://schemas.openxmlformats.org/drawingml/2006/main" w="19050">
              <a:solidFill>
                <a:srgbClr val="176D8C"/>
              </a:solidFill>
            </a:ln>
          </c:spPr>
          <c:marker>
            <c:symbol val="circle"/>
            <c:size val="4"/>
          </c:marker>
          <c:cat>
            <c:strRef>
              <c:f>'Chart Data'!$A$2:$A$5</c:f>
              <c:strCache>
                <c:ptCount val="4"/>
                <c:pt idx="0">
                  <c:v>18-39</c:v>
                </c:pt>
                <c:pt idx="1">
                  <c:v>40-54</c:v>
                </c:pt>
                <c:pt idx="2">
                  <c:v>55-69</c:v>
                </c:pt>
                <c:pt idx="3">
                  <c:v>70+</c:v>
                </c:pt>
              </c:strCache>
            </c:strRef>
          </c:cat>
          <c:val>
            <c:numRef>
              <c:f>'Chart Data'!$B$2:$B$5</c:f>
              <c:numCache>
                <c:formatCode>General</c:formatCode>
                <c:ptCount val="4"/>
                <c:pt idx="0">
                  <c:v>27</c:v>
                </c:pt>
                <c:pt idx="1">
                  <c:v>29.8</c:v>
                </c:pt>
                <c:pt idx="2">
                  <c:v>28</c:v>
                </c:pt>
                <c:pt idx="3">
                  <c:v>27.3</c:v>
                </c:pt>
              </c:numCache>
            </c:numRef>
          </c:val>
        </c:ser>
        <c:ser>
          <c:idx val="1"/>
          <c:order val="1"/>
          <c:tx>
            <c:v>High school</c:v>
          </c:tx>
          <c:spPr>
            <a:solidFill xmlns:a="http://schemas.openxmlformats.org/drawingml/2006/main">
              <a:srgbClr val="D87945"/>
            </a:solidFill>
            <a:ln xmlns:a="http://schemas.openxmlformats.org/drawingml/2006/main" w="19050">
              <a:solidFill>
                <a:srgbClr val="D87945"/>
              </a:solidFill>
            </a:ln>
          </c:spPr>
          <c:marker>
            <c:symbol val="circle"/>
            <c:size val="4"/>
          </c:marker>
          <c:cat>
            <c:strRef>
              <c:f>'Chart Data'!$C$2:$C$5</c:f>
              <c:strCache>
                <c:ptCount val="4"/>
                <c:pt idx="0">
                  <c:v>18-39</c:v>
                </c:pt>
                <c:pt idx="1">
                  <c:v>40-54</c:v>
                </c:pt>
                <c:pt idx="2">
                  <c:v>55-69</c:v>
                </c:pt>
                <c:pt idx="3">
                  <c:v>70+</c:v>
                </c:pt>
              </c:strCache>
            </c:strRef>
          </c:cat>
          <c:val>
            <c:numRef>
              <c:f>'Chart Data'!$D$2:$D$5</c:f>
              <c:numCache>
                <c:formatCode>General</c:formatCode>
                <c:ptCount val="4"/>
                <c:pt idx="0">
                  <c:v>32.6</c:v>
                </c:pt>
                <c:pt idx="1">
                  <c:v>29.6</c:v>
                </c:pt>
                <c:pt idx="2">
                  <c:v>33.2</c:v>
                </c:pt>
                <c:pt idx="3">
                  <c:v>30.3</c:v>
                </c:pt>
              </c:numCache>
            </c:numRef>
          </c:val>
        </c:ser>
        <c:ser>
          <c:idx val="2"/>
          <c:order val="2"/>
          <c:tx>
            <c:v>Some college</c:v>
          </c:tx>
          <c:spPr>
            <a:solidFill xmlns:a="http://schemas.openxmlformats.org/drawingml/2006/main">
              <a:srgbClr val="269E91"/>
            </a:solidFill>
            <a:ln xmlns:a="http://schemas.openxmlformats.org/drawingml/2006/main" w="19050">
              <a:solidFill>
                <a:srgbClr val="269E91"/>
              </a:solidFill>
            </a:ln>
          </c:spPr>
          <c:marker>
            <c:symbol val="circle"/>
            <c:size val="4"/>
          </c:marker>
          <c:cat>
            <c:strRef>
              <c:f>'Chart Data'!$E$2:$E$5</c:f>
              <c:strCache>
                <c:ptCount val="4"/>
                <c:pt idx="0">
                  <c:v>18-39</c:v>
                </c:pt>
                <c:pt idx="1">
                  <c:v>40-54</c:v>
                </c:pt>
                <c:pt idx="2">
                  <c:v>55-69</c:v>
                </c:pt>
                <c:pt idx="3">
                  <c:v>70+</c:v>
                </c:pt>
              </c:strCache>
            </c:strRef>
          </c:cat>
          <c:val>
            <c:numRef>
              <c:f>'Chart Data'!$F$2:$F$5</c:f>
              <c:numCache>
                <c:formatCode>General</c:formatCode>
                <c:ptCount val="4"/>
                <c:pt idx="0">
                  <c:v>30.5</c:v>
                </c:pt>
                <c:pt idx="1">
                  <c:v>31.9</c:v>
                </c:pt>
                <c:pt idx="2">
                  <c:v>32.8</c:v>
                </c:pt>
                <c:pt idx="3">
                  <c:v>27.6</c:v>
                </c:pt>
              </c:numCache>
            </c:numRef>
          </c:val>
        </c:ser>
        <c:ser>
          <c:idx val="3"/>
          <c:order val="3"/>
          <c:tx>
            <c:v>Graduate</c:v>
          </c:tx>
          <c:spPr>
            <a:solidFill xmlns:a="http://schemas.openxmlformats.org/drawingml/2006/main">
              <a:srgbClr val="7660A7"/>
            </a:solidFill>
            <a:ln xmlns:a="http://schemas.openxmlformats.org/drawingml/2006/main" w="19050">
              <a:solidFill>
                <a:srgbClr val="7660A7"/>
              </a:solidFill>
            </a:ln>
          </c:spPr>
          <c:marker>
            <c:symbol val="circle"/>
            <c:size val="4"/>
          </c:marker>
          <c:cat>
            <c:strRef>
              <c:f>'Chart Data'!$G$2:$G$5</c:f>
              <c:strCache>
                <c:ptCount val="4"/>
                <c:pt idx="0">
                  <c:v>18-39</c:v>
                </c:pt>
                <c:pt idx="1">
                  <c:v>40-54</c:v>
                </c:pt>
                <c:pt idx="2">
                  <c:v>55-69</c:v>
                </c:pt>
                <c:pt idx="3">
                  <c:v>70+</c:v>
                </c:pt>
              </c:strCache>
            </c:strRef>
          </c:cat>
          <c:val>
            <c:numRef>
              <c:f>'Chart Data'!$H$2:$H$5</c:f>
              <c:numCache>
                <c:formatCode>General</c:formatCode>
                <c:ptCount val="4"/>
                <c:pt idx="0">
                  <c:v>28.3</c:v>
                </c:pt>
                <c:pt idx="1">
                  <c:v>27.9</c:v>
                </c:pt>
                <c:pt idx="2">
                  <c:v>29</c:v>
                </c:pt>
                <c:pt idx="3">
                  <c:v>25.5</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Arial"/>
                <a:ea typeface="Arial"/>
                <a:cs typeface="Arial"/>
              </a:defRPr>
            </a:pPr>
          </a:p>
        </c:txPr>
        <c:crossAx val="48672768"/>
      </c:catAx>
      <c:valAx>
        <c:axId val="48672768"/>
        <c:scaling>
          <c:orientation val="minMax"/>
          <c:max val="35"/>
          <c:min val="25"/>
        </c:scaling>
        <c:delete val="0"/>
        <c:axPos val="l"/>
        <c:majorGridlines>
          <c:spPr>
            <a:ln xmlns:a="http://schemas.openxmlformats.org/drawingml/2006/main" w="9525">
              <a:solidFill>
                <a:srgbClr val="DFE7EB"/>
              </a:solidFill>
            </a:ln>
          </c:spPr>
        </c:majorGridlines>
        <c:title>
          <c:tx>
            <c:rich>
              <a:bodyPr xmlns:a="http://schemas.openxmlformats.org/drawingml/2006/main"/>
              <a:lstStyle xmlns:a="http://schemas.openxmlformats.org/drawingml/2006/main"/>
              <a:p xmlns:a="http://schemas.openxmlformats.org/drawingml/2006/main">
                <a:r>
                  <a:rPr sz="1275">
                    <a:latin typeface="Arial"/>
                    <a:ea typeface="Arial"/>
                    <a:cs typeface="Arial"/>
                  </a:rPr>
                  <a:t>Mean BMI</a:t>
                </a:r>
              </a:p>
            </c:rich>
          </c:tx>
          <c:overlay val="0"/>
          <c:txPr>
            <a:bodyPr xmlns:a="http://schemas.openxmlformats.org/drawingml/2006/main" anchorCtr="1"/>
            <a:lstStyle xmlns:a="http://schemas.openxmlformats.org/drawingml/2006/main"/>
            <a:p xmlns:a="http://schemas.openxmlformats.org/drawingml/2006/main">
              <a:pPr>
                <a:defRPr sz="1275">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00">
                <a:solidFill>
                  <a:srgbClr val="666666"/>
                </a:solidFill>
                <a:latin typeface="Arial"/>
                <a:ea typeface="Arial"/>
                <a:cs typeface="Arial"/>
              </a:defRPr>
            </a:pPr>
          </a:p>
        </c:txPr>
        <c:crossAx val="48650112"/>
        <c:crossBetween val="between"/>
        <c:majorUnit val="5"/>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1125">
              <a:latin typeface="Arial"/>
              <a:ea typeface="Arial"/>
              <a:cs typeface="Arial"/>
            </a:defRPr>
          </a:pPr>
        </a:p>
      </c:txPr>
    </c:legend>
    <c:plotVisOnly val="1"/>
  </c:chart>
  <c:spPr>
    <a:solidFill xmlns:a="http://schemas.openxmlformats.org/drawingml/2006/main">
      <a:srgbClr val="FFFFFF"/>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1815E4F-FCAF-45E1-A1EB-7D2D3848FE74}"/>
              </a:ext>
            </a:extLst>
          </p:cNvPr>
          <p:cNvSpPr>
            <a:spLocks xmlns:a="http://schemas.openxmlformats.org/drawingml/2006/main" noGrp="1"/>
          </p:cNvSpPr>
          <p:nvPr/>
        </p:nvSpPr>
        <p:spPr>
          <a:xfrm xmlns:a="http://schemas.openxmlformats.org/drawingml/2006/main">
            <a:off x="0" y="0"/>
            <a:ext cx="12192000" cy="171450"/>
          </a:xfrm>
          <a:prstGeom xmlns:a="http://schemas.openxmlformats.org/drawingml/2006/main" prst="rect">
            <a:avLst/>
          </a:prstGeom>
          <a:solidFill xmlns:a="http://schemas.openxmlformats.org/drawingml/2006/main">
            <a:srgbClr val="176D8C"/>
          </a:solidFill>
          <a:ln xmlns:a="http://schemas.openxmlformats.org/drawingml/2006/main" w="0">
            <a:noFill/>
          </a:ln>
        </p:spPr>
      </p:sp>
      <p:sp>
        <p:nvSpPr>
          <p:cNvPr id="2" name="text">
            <a:extLst xmlns:a="http://schemas.openxmlformats.org/drawingml/2006/main">
              <a:ext uri="{FF2B5EF4-FFF2-40B4-BE49-F238E27FC236}">
                <a16:creationId xmlns:a16="http://schemas.microsoft.com/office/drawing/2014/main" id="{C2F81F5C-78FE-49FA-9E0B-77D2C971AA5C}"/>
              </a:ext>
            </a:extLst>
          </p:cNvPr>
          <p:cNvSpPr>
            <a:spLocks xmlns:a="http://schemas.openxmlformats.org/drawingml/2006/main" noGrp="1"/>
          </p:cNvSpPr>
          <p:nvPr/>
        </p:nvSpPr>
        <p:spPr>
          <a:xfrm xmlns:a="http://schemas.openxmlformats.org/drawingml/2006/main">
            <a:off x="552450" y="790575"/>
            <a:ext cx="1095375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4800" b="1">
                <a:solidFill>
                  <a:srgbClr val="183044"/>
                </a:solidFill>
                <a:latin typeface="Arial"/>
                <a:ea typeface="Arial"/>
                <a:cs typeface="Arial"/>
              </a:defRPr>
            </a:defPPr>
          </a:lstStyle>
          <a:p xmlns:a="http://schemas.openxmlformats.org/drawingml/2006/main">
            <a:pPr>
              <a:defRPr sz="4800" b="1">
                <a:solidFill>
                  <a:srgbClr val="183044"/>
                </a:solidFill>
                <a:latin typeface="Arial"/>
                <a:ea typeface="Arial"/>
                <a:cs typeface="Arial"/>
              </a:defRPr>
            </a:pPr>
            <a:r>
              <a:rPr sz="4800" b="1">
                <a:solidFill>
                  <a:srgbClr val="183044"/>
                </a:solidFill>
                <a:latin typeface="Arial"/>
                <a:ea typeface="Arial"/>
                <a:cs typeface="Arial"/>
              </a:rPr>
              <a:t>Diabetes and</a:t>
            </a:r>
          </a:p>
          <a:p xmlns:a="http://schemas.openxmlformats.org/drawingml/2006/main">
            <a:pPr>
              <a:defRPr sz="4800" b="1">
                <a:solidFill>
                  <a:srgbClr val="183044"/>
                </a:solidFill>
                <a:latin typeface="Arial"/>
                <a:ea typeface="Arial"/>
                <a:cs typeface="Arial"/>
              </a:defRPr>
            </a:pPr>
            <a:r>
              <a:rPr sz="4800" b="1">
                <a:solidFill>
                  <a:srgbClr val="183044"/>
                </a:solidFill>
                <a:latin typeface="Arial"/>
                <a:ea typeface="Arial"/>
                <a:cs typeface="Arial"/>
              </a:rPr>
              <a:t>lifestyle indicators</a:t>
            </a:r>
          </a:p>
        </p:txBody>
      </p:sp>
      <p:sp>
        <p:nvSpPr>
          <p:cNvPr id="3" name="text">
            <a:extLst xmlns:a="http://schemas.openxmlformats.org/drawingml/2006/main">
              <a:ext uri="{FF2B5EF4-FFF2-40B4-BE49-F238E27FC236}">
                <a16:creationId xmlns:a16="http://schemas.microsoft.com/office/drawing/2014/main" id="{B1E5906A-6485-40A8-8470-255DEE3B5815}"/>
              </a:ext>
            </a:extLst>
          </p:cNvPr>
          <p:cNvSpPr>
            <a:spLocks xmlns:a="http://schemas.openxmlformats.org/drawingml/2006/main" noGrp="1"/>
          </p:cNvSpPr>
          <p:nvPr/>
        </p:nvSpPr>
        <p:spPr>
          <a:xfrm xmlns:a="http://schemas.openxmlformats.org/drawingml/2006/main">
            <a:off x="590550" y="323850"/>
            <a:ext cx="1095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1">
                <a:solidFill>
                  <a:srgbClr val="176D8C"/>
                </a:solidFill>
                <a:latin typeface="Arial"/>
                <a:ea typeface="Arial"/>
                <a:cs typeface="Arial"/>
              </a:defRPr>
            </a:defPPr>
          </a:lstStyle>
          <a:p xmlns:a="http://schemas.openxmlformats.org/drawingml/2006/main">
            <a:pPr>
              <a:defRPr sz="1575" b="1">
                <a:solidFill>
                  <a:srgbClr val="176D8C"/>
                </a:solidFill>
                <a:latin typeface="Arial"/>
                <a:ea typeface="Arial"/>
                <a:cs typeface="Arial"/>
              </a:defRPr>
            </a:pPr>
            <a:r>
              <a:rPr sz="1575" b="1">
                <a:solidFill>
                  <a:srgbClr val="176D8C"/>
                </a:solidFill>
                <a:latin typeface="Arial"/>
                <a:ea typeface="Arial"/>
                <a:cs typeface="Arial"/>
              </a:rPr>
              <a:t>LABS 1–11: Probability and Statistics Lab</a:t>
            </a:r>
          </a:p>
        </p:txBody>
      </p:sp>
      <p:sp>
        <p:nvSpPr>
          <p:cNvPr id="4" name="text">
            <a:extLst xmlns:a="http://schemas.openxmlformats.org/drawingml/2006/main">
              <a:ext uri="{FF2B5EF4-FFF2-40B4-BE49-F238E27FC236}">
                <a16:creationId xmlns:a16="http://schemas.microsoft.com/office/drawing/2014/main" id="{12D5D9B9-7B78-45F9-982C-6FFC07EABF0E}"/>
              </a:ext>
            </a:extLst>
          </p:cNvPr>
          <p:cNvSpPr>
            <a:spLocks xmlns:a="http://schemas.openxmlformats.org/drawingml/2006/main" noGrp="1"/>
          </p:cNvSpPr>
          <p:nvPr/>
        </p:nvSpPr>
        <p:spPr>
          <a:xfrm xmlns:a="http://schemas.openxmlformats.org/drawingml/2006/main">
            <a:off x="590550" y="2571750"/>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76D8C"/>
                </a:solidFill>
                <a:latin typeface="Arial"/>
                <a:ea typeface="Arial"/>
                <a:cs typeface="Arial"/>
              </a:defRPr>
            </a:defPPr>
          </a:lstStyle>
          <a:p xmlns:a="http://schemas.openxmlformats.org/drawingml/2006/main">
            <a:pPr>
              <a:defRPr sz="2325" b="0">
                <a:solidFill>
                  <a:srgbClr val="176D8C"/>
                </a:solidFill>
                <a:latin typeface="Arial"/>
                <a:ea typeface="Arial"/>
                <a:cs typeface="Arial"/>
              </a:defRPr>
            </a:pPr>
            <a:r>
              <a:rPr sz="2325" b="0">
                <a:solidFill>
                  <a:srgbClr val="176D8C"/>
                </a:solidFill>
                <a:latin typeface="Arial"/>
                <a:ea typeface="Arial"/>
                <a:cs typeface="Arial"/>
              </a:rPr>
              <a:t>Statistical analysis with R</a:t>
            </a:r>
          </a:p>
          <a:p xmlns:a="http://schemas.openxmlformats.org/drawingml/2006/main">
            <a:pPr>
              <a:defRPr sz="2325" b="0">
                <a:solidFill>
                  <a:srgbClr val="176D8C"/>
                </a:solidFill>
                <a:latin typeface="Arial"/>
                <a:ea typeface="Arial"/>
                <a:cs typeface="Arial"/>
              </a:defRPr>
            </a:pPr>
            <a:r>
              <a:rPr sz="2325" b="0">
                <a:solidFill>
                  <a:srgbClr val="176D8C"/>
                </a:solidFill>
                <a:latin typeface="Arial"/>
                <a:ea typeface="Arial"/>
                <a:cs typeface="Arial"/>
              </a:rPr>
              <a:t>BMAT202P Probability and Statistics Lab</a:t>
            </a:r>
          </a:p>
        </p:txBody>
      </p:sp>
      <p:sp>
        <p:nvSpPr>
          <p:cNvPr id="5" name="">
            <a:extLst xmlns:a="http://schemas.openxmlformats.org/drawingml/2006/main">
              <a:ext uri="{FF2B5EF4-FFF2-40B4-BE49-F238E27FC236}">
                <a16:creationId xmlns:a16="http://schemas.microsoft.com/office/drawing/2014/main" id="{66570A40-6E29-49AA-B51D-9EB53115DD0C}"/>
              </a:ext>
            </a:extLst>
          </p:cNvPr>
          <p:cNvSpPr>
            <a:spLocks xmlns:a="http://schemas.openxmlformats.org/drawingml/2006/main" noGrp="1"/>
          </p:cNvSpPr>
          <p:nvPr/>
        </p:nvSpPr>
        <p:spPr>
          <a:xfrm xmlns:a="http://schemas.openxmlformats.org/drawingml/2006/main">
            <a:off x="590550" y="3686175"/>
            <a:ext cx="10953750" cy="19050"/>
          </a:xfrm>
          <a:prstGeom xmlns:a="http://schemas.openxmlformats.org/drawingml/2006/main" prst="rect">
            <a:avLst/>
          </a:prstGeom>
          <a:solidFill xmlns:a="http://schemas.openxmlformats.org/drawingml/2006/main">
            <a:srgbClr val="CCDCE4"/>
          </a:solidFill>
          <a:ln xmlns:a="http://schemas.openxmlformats.org/drawingml/2006/main" w="0">
            <a:noFill/>
          </a:ln>
        </p:spPr>
      </p:sp>
      <p:sp>
        <p:nvSpPr>
          <p:cNvPr id="6" name="text">
            <a:extLst xmlns:a="http://schemas.openxmlformats.org/drawingml/2006/main">
              <a:ext uri="{FF2B5EF4-FFF2-40B4-BE49-F238E27FC236}">
                <a16:creationId xmlns:a16="http://schemas.microsoft.com/office/drawing/2014/main" id="{CB7CA830-1A2E-41A4-B64C-D4C4A5A4BC1C}"/>
              </a:ext>
            </a:extLst>
          </p:cNvPr>
          <p:cNvSpPr>
            <a:spLocks xmlns:a="http://schemas.openxmlformats.org/drawingml/2006/main" noGrp="1"/>
          </p:cNvSpPr>
          <p:nvPr/>
        </p:nvSpPr>
        <p:spPr>
          <a:xfrm xmlns:a="http://schemas.openxmlformats.org/drawingml/2006/main">
            <a:off x="590550" y="3990975"/>
            <a:ext cx="109537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83044"/>
                </a:solidFill>
                <a:latin typeface="Arial"/>
                <a:ea typeface="Arial"/>
                <a:cs typeface="Arial"/>
              </a:defRPr>
            </a:defPPr>
          </a:lstStyle>
          <a:p xmlns:a="http://schemas.openxmlformats.org/drawingml/2006/main">
            <a:pPr>
              <a:defRPr sz="2025" b="0">
                <a:solidFill>
                  <a:srgbClr val="183044"/>
                </a:solidFill>
                <a:latin typeface="Arial"/>
                <a:ea typeface="Arial"/>
                <a:cs typeface="Arial"/>
              </a:defRPr>
            </a:pPr>
            <a:r>
              <a:rPr sz="2025" b="0">
                <a:solidFill>
                  <a:srgbClr val="183044"/>
                </a:solidFill>
                <a:latin typeface="Arial"/>
                <a:ea typeface="Arial"/>
                <a:cs typeface="Arial"/>
              </a:rPr>
              <a:t>YASH RAJ - 24BDS1209</a:t>
            </a:r>
          </a:p>
          <a:p xmlns:a="http://schemas.openxmlformats.org/drawingml/2006/main">
            <a:pPr>
              <a:defRPr sz="2025" b="0">
                <a:solidFill>
                  <a:srgbClr val="183044"/>
                </a:solidFill>
                <a:latin typeface="Arial"/>
                <a:ea typeface="Arial"/>
                <a:cs typeface="Arial"/>
              </a:defRPr>
            </a:pPr>
            <a:r>
              <a:rPr sz="2025" b="0">
                <a:solidFill>
                  <a:srgbClr val="183044"/>
                </a:solidFill>
                <a:latin typeface="Arial"/>
                <a:ea typeface="Arial"/>
                <a:cs typeface="Arial"/>
              </a:rPr>
              <a:t>HRISHIKESH DAMODAR NAYAK - 24BDS1007</a:t>
            </a:r>
          </a:p>
          <a:p xmlns:a="http://schemas.openxmlformats.org/drawingml/2006/main">
            <a:pPr>
              <a:defRPr sz="2025" b="0">
                <a:solidFill>
                  <a:srgbClr val="183044"/>
                </a:solidFill>
                <a:latin typeface="Arial"/>
                <a:ea typeface="Arial"/>
                <a:cs typeface="Arial"/>
              </a:defRPr>
            </a:pPr>
            <a:r>
              <a:rPr sz="2025" b="0">
                <a:solidFill>
                  <a:srgbClr val="183044"/>
                </a:solidFill>
                <a:latin typeface="Arial"/>
                <a:ea typeface="Arial"/>
                <a:cs typeface="Arial"/>
              </a:rPr>
              <a:t>HARDIK LALLA - 24BDS1010</a:t>
            </a:r>
          </a:p>
          <a:p xmlns:a="http://schemas.openxmlformats.org/drawingml/2006/main">
            <a:pPr>
              <a:defRPr sz="2025" b="0">
                <a:solidFill>
                  <a:srgbClr val="183044"/>
                </a:solidFill>
                <a:latin typeface="Arial"/>
                <a:ea typeface="Arial"/>
                <a:cs typeface="Arial"/>
              </a:defRPr>
            </a:pPr>
            <a:r>
              <a:rPr sz="2025" b="0">
                <a:solidFill>
                  <a:srgbClr val="183044"/>
                </a:solidFill>
                <a:latin typeface="Arial"/>
                <a:ea typeface="Arial"/>
                <a:cs typeface="Arial"/>
              </a:rPr>
              <a:t>ARYAN RAJ - 24BDS1094</a:t>
            </a:r>
          </a:p>
        </p:txBody>
      </p:sp>
      <p:sp>
        <p:nvSpPr>
          <p:cNvPr id="7" name="text">
            <a:extLst xmlns:a="http://schemas.openxmlformats.org/drawingml/2006/main">
              <a:ext uri="{FF2B5EF4-FFF2-40B4-BE49-F238E27FC236}">
                <a16:creationId xmlns:a16="http://schemas.microsoft.com/office/drawing/2014/main" id="{D0E4A3E4-4E22-4E4D-B7E5-9EBFD84B0747}"/>
              </a:ext>
            </a:extLst>
          </p:cNvPr>
          <p:cNvSpPr>
            <a:spLocks xmlns:a="http://schemas.openxmlformats.org/drawingml/2006/main" noGrp="1"/>
          </p:cNvSpPr>
          <p:nvPr/>
        </p:nvSpPr>
        <p:spPr>
          <a:xfrm xmlns:a="http://schemas.openxmlformats.org/drawingml/2006/main">
            <a:off x="590550" y="6000750"/>
            <a:ext cx="1085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1">
                <a:solidFill>
                  <a:srgbClr val="176D8C"/>
                </a:solidFill>
                <a:latin typeface="Arial"/>
                <a:ea typeface="Arial"/>
                <a:cs typeface="Arial"/>
              </a:defRPr>
            </a:defPPr>
          </a:lstStyle>
          <a:p xmlns:a="http://schemas.openxmlformats.org/drawingml/2006/main">
            <a:pPr>
              <a:defRPr sz="2175" b="1">
                <a:solidFill>
                  <a:srgbClr val="176D8C"/>
                </a:solidFill>
                <a:latin typeface="Arial"/>
                <a:ea typeface="Arial"/>
                <a:cs typeface="Arial"/>
              </a:defRPr>
            </a:pPr>
            <a:r>
              <a:rPr sz="2175" b="1">
                <a:solidFill>
                  <a:srgbClr val="176D8C"/>
                </a:solidFill>
                <a:latin typeface="Arial"/>
                <a:ea typeface="Arial"/>
                <a:cs typeface="Arial"/>
              </a:rPr>
              <a:t>Data  →  graphs  →  models  →  statistical tests</a:t>
            </a:r>
          </a:p>
        </p:txBody>
      </p:sp>
    </p:spTree>
    <p:extLst>
      <p:ext uri="{BB962C8B-B14F-4D97-AF65-F5344CB8AC3E}">
        <p14:creationId xmlns:p14="http://schemas.microsoft.com/office/powerpoint/2010/main" val="164153668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text">
            <a:extLst xmlns:a="http://schemas.openxmlformats.org/drawingml/2006/main">
              <a:ext uri="{FF2B5EF4-FFF2-40B4-BE49-F238E27FC236}">
                <a16:creationId xmlns:a16="http://schemas.microsoft.com/office/drawing/2014/main" id="{D6283837-F506-46CE-BDC0-4E98A3008CCE}"/>
              </a:ext>
            </a:extLst>
          </p:cNvPr>
          <p:cNvSpPr>
            <a:spLocks xmlns:a="http://schemas.openxmlformats.org/drawingml/2006/main" noGrp="1"/>
          </p:cNvSpPr>
          <p:nvPr/>
        </p:nvSpPr>
        <p:spPr>
          <a:xfrm xmlns:a="http://schemas.openxmlformats.org/drawingml/2006/main">
            <a:off x="590550" y="76200"/>
            <a:ext cx="112204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1">
                <a:solidFill>
                  <a:srgbClr val="176D8C"/>
                </a:solidFill>
                <a:latin typeface="Arial"/>
                <a:ea typeface="Arial"/>
                <a:cs typeface="Arial"/>
              </a:defRPr>
            </a:defPPr>
          </a:lstStyle>
          <a:p xmlns:a="http://schemas.openxmlformats.org/drawingml/2006/main">
            <a:pPr>
              <a:defRPr sz="1350" b="1">
                <a:solidFill>
                  <a:srgbClr val="176D8C"/>
                </a:solidFill>
                <a:latin typeface="Arial"/>
                <a:ea typeface="Arial"/>
                <a:cs typeface="Arial"/>
              </a:defRPr>
            </a:pPr>
            <a:r>
              <a:rPr sz="1350" b="1">
                <a:solidFill>
                  <a:srgbClr val="176D8C"/>
                </a:solidFill>
                <a:latin typeface="Arial"/>
                <a:ea typeface="Arial"/>
                <a:cs typeface="Arial"/>
              </a:rPr>
              <a:t>LAB 1: Data types, import and export (dataset overview)</a:t>
            </a:r>
          </a:p>
        </p:txBody>
      </p:sp>
      <p:sp>
        <p:nvSpPr>
          <p:cNvPr id="2" name="">
            <a:extLst xmlns:a="http://schemas.openxmlformats.org/drawingml/2006/main">
              <a:ext uri="{FF2B5EF4-FFF2-40B4-BE49-F238E27FC236}">
                <a16:creationId xmlns:a16="http://schemas.microsoft.com/office/drawing/2014/main" id="{5E1DD9B2-801E-479C-9984-73194C9462EE}"/>
              </a:ext>
            </a:extLst>
          </p:cNvPr>
          <p:cNvSpPr>
            <a:spLocks xmlns:a="http://schemas.openxmlformats.org/drawingml/2006/main" noGrp="1"/>
          </p:cNvSpPr>
          <p:nvPr/>
        </p:nvSpPr>
        <p:spPr>
          <a:xfrm xmlns:a="http://schemas.openxmlformats.org/drawingml/2006/main">
            <a:off x="381000" y="381000"/>
            <a:ext cx="47625" cy="438150"/>
          </a:xfrm>
          <a:prstGeom xmlns:a="http://schemas.openxmlformats.org/drawingml/2006/main" prst="rect">
            <a:avLst/>
          </a:prstGeom>
          <a:solidFill xmlns:a="http://schemas.openxmlformats.org/drawingml/2006/main">
            <a:srgbClr val="176D8C"/>
          </a:solidFill>
          <a:ln xmlns:a="http://schemas.openxmlformats.org/drawingml/2006/main" w="0">
            <a:noFill/>
          </a:ln>
        </p:spPr>
      </p:sp>
      <p:sp>
        <p:nvSpPr>
          <p:cNvPr id="3" name="text">
            <a:extLst xmlns:a="http://schemas.openxmlformats.org/drawingml/2006/main">
              <a:ext uri="{FF2B5EF4-FFF2-40B4-BE49-F238E27FC236}">
                <a16:creationId xmlns:a16="http://schemas.microsoft.com/office/drawing/2014/main" id="{EAC9FFC1-935A-4775-8364-E8C8D36DCF0C}"/>
              </a:ext>
            </a:extLst>
          </p:cNvPr>
          <p:cNvSpPr>
            <a:spLocks xmlns:a="http://schemas.openxmlformats.org/drawingml/2006/main" noGrp="1"/>
          </p:cNvSpPr>
          <p:nvPr/>
        </p:nvSpPr>
        <p:spPr>
          <a:xfrm xmlns:a="http://schemas.openxmlformats.org/drawingml/2006/main">
            <a:off x="590550" y="342900"/>
            <a:ext cx="112204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1">
                <a:solidFill>
                  <a:srgbClr val="183044"/>
                </a:solidFill>
                <a:latin typeface="Arial"/>
                <a:ea typeface="Arial"/>
                <a:cs typeface="Arial"/>
              </a:defRPr>
            </a:defPPr>
          </a:lstStyle>
          <a:p xmlns:a="http://schemas.openxmlformats.org/drawingml/2006/main">
            <a:pPr>
              <a:defRPr sz="2850" b="1">
                <a:solidFill>
                  <a:srgbClr val="183044"/>
                </a:solidFill>
                <a:latin typeface="Arial"/>
                <a:ea typeface="Arial"/>
                <a:cs typeface="Arial"/>
              </a:defRPr>
            </a:pPr>
            <a:r>
              <a:rPr sz="2850" b="1">
                <a:solidFill>
                  <a:srgbClr val="183044"/>
                </a:solidFill>
                <a:latin typeface="Arial"/>
                <a:ea typeface="Arial"/>
                <a:cs typeface="Arial"/>
              </a:rPr>
              <a:t>Dataset and aim</a:t>
            </a:r>
          </a:p>
        </p:txBody>
      </p:sp>
      <p:sp>
        <p:nvSpPr>
          <p:cNvPr id="4" name="text">
            <a:extLst xmlns:a="http://schemas.openxmlformats.org/drawingml/2006/main">
              <a:ext uri="{FF2B5EF4-FFF2-40B4-BE49-F238E27FC236}">
                <a16:creationId xmlns:a16="http://schemas.microsoft.com/office/drawing/2014/main" id="{9E642226-4BCC-4E71-8F31-A887BC5F3E41}"/>
              </a:ext>
            </a:extLst>
          </p:cNvPr>
          <p:cNvSpPr>
            <a:spLocks xmlns:a="http://schemas.openxmlformats.org/drawingml/2006/main" noGrp="1"/>
          </p:cNvSpPr>
          <p:nvPr/>
        </p:nvSpPr>
        <p:spPr>
          <a:xfrm xmlns:a="http://schemas.openxmlformats.org/drawingml/2006/main">
            <a:off x="400050" y="971550"/>
            <a:ext cx="113919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415566"/>
                </a:solidFill>
                <a:latin typeface="Arial"/>
                <a:ea typeface="Arial"/>
                <a:cs typeface="Arial"/>
              </a:defRPr>
            </a:defPPr>
          </a:lstStyle>
          <a:p xmlns:a="http://schemas.openxmlformats.org/drawingml/2006/main">
            <a:pPr>
              <a:defRPr sz="1725" b="0">
                <a:solidFill>
                  <a:srgbClr val="415566"/>
                </a:solidFill>
                <a:latin typeface="Arial"/>
                <a:ea typeface="Arial"/>
                <a:cs typeface="Arial"/>
              </a:defRPr>
            </a:pPr>
            <a:r>
              <a:rPr sz="1725" b="0">
                <a:solidFill>
                  <a:srgbClr val="415566"/>
                </a:solidFill>
                <a:latin typeface="Arial"/>
                <a:ea typeface="Arial"/>
                <a:cs typeface="Arial"/>
              </a:rPr>
              <a:t>Aim: describe health patterns, study BMI relationships and apply the course statistical methods.</a:t>
            </a:r>
          </a:p>
        </p:txBody>
      </p:sp>
      <p:sp>
        <p:nvSpPr>
          <p:cNvPr id="5" name="text">
            <a:extLst xmlns:a="http://schemas.openxmlformats.org/drawingml/2006/main">
              <a:ext uri="{FF2B5EF4-FFF2-40B4-BE49-F238E27FC236}">
                <a16:creationId xmlns:a16="http://schemas.microsoft.com/office/drawing/2014/main" id="{679E1AF5-3A95-4228-8226-C65C0278C9FF}"/>
              </a:ext>
            </a:extLst>
          </p:cNvPr>
          <p:cNvSpPr>
            <a:spLocks xmlns:a="http://schemas.openxmlformats.org/drawingml/2006/main" noGrp="1"/>
          </p:cNvSpPr>
          <p:nvPr/>
        </p:nvSpPr>
        <p:spPr>
          <a:xfrm xmlns:a="http://schemas.openxmlformats.org/drawingml/2006/main">
            <a:off x="400050" y="1533525"/>
            <a:ext cx="35718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225" b="1">
                <a:solidFill>
                  <a:srgbClr val="176D8C"/>
                </a:solidFill>
                <a:latin typeface="Arial"/>
                <a:ea typeface="Arial"/>
                <a:cs typeface="Arial"/>
              </a:defRPr>
            </a:defPPr>
          </a:lstStyle>
          <a:p xmlns:a="http://schemas.openxmlformats.org/drawingml/2006/main">
            <a:pPr>
              <a:defRPr sz="3225" b="1">
                <a:solidFill>
                  <a:srgbClr val="176D8C"/>
                </a:solidFill>
                <a:latin typeface="Arial"/>
                <a:ea typeface="Arial"/>
                <a:cs typeface="Arial"/>
              </a:defRPr>
            </a:pPr>
            <a:r>
              <a:rPr sz="3225" b="1">
                <a:solidFill>
                  <a:srgbClr val="176D8C"/>
                </a:solidFill>
                <a:latin typeface="Arial"/>
                <a:ea typeface="Arial"/>
                <a:cs typeface="Arial"/>
              </a:rPr>
              <a:t>253,680</a:t>
            </a:r>
          </a:p>
        </p:txBody>
      </p:sp>
      <p:sp>
        <p:nvSpPr>
          <p:cNvPr id="6" name="text">
            <a:extLst xmlns:a="http://schemas.openxmlformats.org/drawingml/2006/main">
              <a:ext uri="{FF2B5EF4-FFF2-40B4-BE49-F238E27FC236}">
                <a16:creationId xmlns:a16="http://schemas.microsoft.com/office/drawing/2014/main" id="{0E16D926-E3D8-490F-858A-B2F1B277A320}"/>
              </a:ext>
            </a:extLst>
          </p:cNvPr>
          <p:cNvSpPr>
            <a:spLocks xmlns:a="http://schemas.openxmlformats.org/drawingml/2006/main" noGrp="1"/>
          </p:cNvSpPr>
          <p:nvPr/>
        </p:nvSpPr>
        <p:spPr>
          <a:xfrm xmlns:a="http://schemas.openxmlformats.org/drawingml/2006/main">
            <a:off x="400050" y="2047875"/>
            <a:ext cx="35718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415566"/>
                </a:solidFill>
                <a:latin typeface="Arial"/>
                <a:ea typeface="Arial"/>
                <a:cs typeface="Arial"/>
              </a:defRPr>
            </a:defPPr>
          </a:lstStyle>
          <a:p xmlns:a="http://schemas.openxmlformats.org/drawingml/2006/main">
            <a:pPr>
              <a:defRPr sz="1575" b="0">
                <a:solidFill>
                  <a:srgbClr val="415566"/>
                </a:solidFill>
                <a:latin typeface="Arial"/>
                <a:ea typeface="Arial"/>
                <a:cs typeface="Arial"/>
              </a:defRPr>
            </a:pPr>
            <a:r>
              <a:rPr sz="1575" b="0">
                <a:solidFill>
                  <a:srgbClr val="415566"/>
                </a:solidFill>
                <a:latin typeface="Arial"/>
                <a:ea typeface="Arial"/>
                <a:cs typeface="Arial"/>
              </a:rPr>
              <a:t>source records</a:t>
            </a:r>
          </a:p>
        </p:txBody>
      </p:sp>
      <p:sp>
        <p:nvSpPr>
          <p:cNvPr id="7" name="text">
            <a:extLst xmlns:a="http://schemas.openxmlformats.org/drawingml/2006/main">
              <a:ext uri="{FF2B5EF4-FFF2-40B4-BE49-F238E27FC236}">
                <a16:creationId xmlns:a16="http://schemas.microsoft.com/office/drawing/2014/main" id="{5AB97D57-AA1A-490F-97C8-A1CA879A4E32}"/>
              </a:ext>
            </a:extLst>
          </p:cNvPr>
          <p:cNvSpPr>
            <a:spLocks xmlns:a="http://schemas.openxmlformats.org/drawingml/2006/main" noGrp="1"/>
          </p:cNvSpPr>
          <p:nvPr/>
        </p:nvSpPr>
        <p:spPr>
          <a:xfrm xmlns:a="http://schemas.openxmlformats.org/drawingml/2006/main">
            <a:off x="4229100" y="1533525"/>
            <a:ext cx="35718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225" b="1">
                <a:solidFill>
                  <a:srgbClr val="176D8C"/>
                </a:solidFill>
                <a:latin typeface="Arial"/>
                <a:ea typeface="Arial"/>
                <a:cs typeface="Arial"/>
              </a:defRPr>
            </a:defPPr>
          </a:lstStyle>
          <a:p xmlns:a="http://schemas.openxmlformats.org/drawingml/2006/main">
            <a:pPr>
              <a:defRPr sz="3225" b="1">
                <a:solidFill>
                  <a:srgbClr val="176D8C"/>
                </a:solidFill>
                <a:latin typeface="Arial"/>
                <a:ea typeface="Arial"/>
                <a:cs typeface="Arial"/>
              </a:defRPr>
            </a:pPr>
            <a:r>
              <a:rPr sz="3225" b="1">
                <a:solidFill>
                  <a:srgbClr val="176D8C"/>
                </a:solidFill>
                <a:latin typeface="Arial"/>
                <a:ea typeface="Arial"/>
                <a:cs typeface="Arial"/>
              </a:rPr>
              <a:t>3,000</a:t>
            </a:r>
          </a:p>
        </p:txBody>
      </p:sp>
      <p:sp>
        <p:nvSpPr>
          <p:cNvPr id="8" name="text">
            <a:extLst xmlns:a="http://schemas.openxmlformats.org/drawingml/2006/main">
              <a:ext uri="{FF2B5EF4-FFF2-40B4-BE49-F238E27FC236}">
                <a16:creationId xmlns:a16="http://schemas.microsoft.com/office/drawing/2014/main" id="{1AA4DB6D-79B6-411A-909F-E9767BF838AF}"/>
              </a:ext>
            </a:extLst>
          </p:cNvPr>
          <p:cNvSpPr>
            <a:spLocks xmlns:a="http://schemas.openxmlformats.org/drawingml/2006/main" noGrp="1"/>
          </p:cNvSpPr>
          <p:nvPr/>
        </p:nvSpPr>
        <p:spPr>
          <a:xfrm xmlns:a="http://schemas.openxmlformats.org/drawingml/2006/main">
            <a:off x="4229100" y="2047875"/>
            <a:ext cx="35718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415566"/>
                </a:solidFill>
                <a:latin typeface="Arial"/>
                <a:ea typeface="Arial"/>
                <a:cs typeface="Arial"/>
              </a:defRPr>
            </a:defPPr>
          </a:lstStyle>
          <a:p xmlns:a="http://schemas.openxmlformats.org/drawingml/2006/main">
            <a:pPr>
              <a:defRPr sz="1575" b="0">
                <a:solidFill>
                  <a:srgbClr val="415566"/>
                </a:solidFill>
                <a:latin typeface="Arial"/>
                <a:ea typeface="Arial"/>
                <a:cs typeface="Arial"/>
              </a:defRPr>
            </a:pPr>
            <a:r>
              <a:rPr sz="1575" b="0">
                <a:solidFill>
                  <a:srgbClr val="415566"/>
                </a:solidFill>
                <a:latin typeface="Arial"/>
                <a:ea typeface="Arial"/>
                <a:cs typeface="Arial"/>
              </a:rPr>
              <a:t>sampled people</a:t>
            </a:r>
          </a:p>
        </p:txBody>
      </p:sp>
      <p:sp>
        <p:nvSpPr>
          <p:cNvPr id="9" name="text">
            <a:extLst xmlns:a="http://schemas.openxmlformats.org/drawingml/2006/main">
              <a:ext uri="{FF2B5EF4-FFF2-40B4-BE49-F238E27FC236}">
                <a16:creationId xmlns:a16="http://schemas.microsoft.com/office/drawing/2014/main" id="{D6CBE087-1B46-475D-8355-4BC4CBC208C7}"/>
              </a:ext>
            </a:extLst>
          </p:cNvPr>
          <p:cNvSpPr>
            <a:spLocks xmlns:a="http://schemas.openxmlformats.org/drawingml/2006/main" noGrp="1"/>
          </p:cNvSpPr>
          <p:nvPr/>
        </p:nvSpPr>
        <p:spPr>
          <a:xfrm xmlns:a="http://schemas.openxmlformats.org/drawingml/2006/main">
            <a:off x="8058150" y="1533525"/>
            <a:ext cx="35718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225" b="1">
                <a:solidFill>
                  <a:srgbClr val="176D8C"/>
                </a:solidFill>
                <a:latin typeface="Arial"/>
                <a:ea typeface="Arial"/>
                <a:cs typeface="Arial"/>
              </a:defRPr>
            </a:defPPr>
          </a:lstStyle>
          <a:p xmlns:a="http://schemas.openxmlformats.org/drawingml/2006/main">
            <a:pPr>
              <a:defRPr sz="3225" b="1">
                <a:solidFill>
                  <a:srgbClr val="176D8C"/>
                </a:solidFill>
                <a:latin typeface="Arial"/>
                <a:ea typeface="Arial"/>
                <a:cs typeface="Arial"/>
              </a:defRPr>
            </a:pPr>
            <a:r>
              <a:rPr sz="3225" b="1">
                <a:solidFill>
                  <a:srgbClr val="176D8C"/>
                </a:solidFill>
                <a:latin typeface="Arial"/>
                <a:ea typeface="Arial"/>
                <a:cs typeface="Arial"/>
              </a:rPr>
              <a:t>21</a:t>
            </a:r>
          </a:p>
        </p:txBody>
      </p:sp>
      <p:sp>
        <p:nvSpPr>
          <p:cNvPr id="10" name="text">
            <a:extLst xmlns:a="http://schemas.openxmlformats.org/drawingml/2006/main">
              <a:ext uri="{FF2B5EF4-FFF2-40B4-BE49-F238E27FC236}">
                <a16:creationId xmlns:a16="http://schemas.microsoft.com/office/drawing/2014/main" id="{44EB03C3-6C17-436A-90C1-8879F6DCD31A}"/>
              </a:ext>
            </a:extLst>
          </p:cNvPr>
          <p:cNvSpPr>
            <a:spLocks xmlns:a="http://schemas.openxmlformats.org/drawingml/2006/main" noGrp="1"/>
          </p:cNvSpPr>
          <p:nvPr/>
        </p:nvSpPr>
        <p:spPr>
          <a:xfrm xmlns:a="http://schemas.openxmlformats.org/drawingml/2006/main">
            <a:off x="8058150" y="2047875"/>
            <a:ext cx="35718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415566"/>
                </a:solidFill>
                <a:latin typeface="Arial"/>
                <a:ea typeface="Arial"/>
                <a:cs typeface="Arial"/>
              </a:defRPr>
            </a:defPPr>
          </a:lstStyle>
          <a:p xmlns:a="http://schemas.openxmlformats.org/drawingml/2006/main">
            <a:pPr>
              <a:defRPr sz="1575" b="0">
                <a:solidFill>
                  <a:srgbClr val="415566"/>
                </a:solidFill>
                <a:latin typeface="Arial"/>
                <a:ea typeface="Arial"/>
                <a:cs typeface="Arial"/>
              </a:defRPr>
            </a:pPr>
            <a:r>
              <a:rPr sz="1575" b="0">
                <a:solidFill>
                  <a:srgbClr val="415566"/>
                </a:solidFill>
                <a:latin typeface="Arial"/>
                <a:ea typeface="Arial"/>
                <a:cs typeface="Arial"/>
              </a:rPr>
              <a:t>health predictors</a:t>
            </a:r>
          </a:p>
        </p:txBody>
      </p:sp>
      <p:sp>
        <p:nvSpPr>
          <p:cNvPr id="11" name="">
            <a:extLst xmlns:a="http://schemas.openxmlformats.org/drawingml/2006/main">
              <a:ext uri="{FF2B5EF4-FFF2-40B4-BE49-F238E27FC236}">
                <a16:creationId xmlns:a16="http://schemas.microsoft.com/office/drawing/2014/main" id="{68536196-7DD9-4CF2-BACE-94D4141B7F27}"/>
              </a:ext>
            </a:extLst>
          </p:cNvPr>
          <p:cNvSpPr>
            <a:spLocks xmlns:a="http://schemas.openxmlformats.org/drawingml/2006/main" noGrp="1"/>
          </p:cNvSpPr>
          <p:nvPr/>
        </p:nvSpPr>
        <p:spPr>
          <a:xfrm xmlns:a="http://schemas.openxmlformats.org/drawingml/2006/main">
            <a:off x="400050" y="2381250"/>
            <a:ext cx="11391900" cy="19050"/>
          </a:xfrm>
          <a:prstGeom xmlns:a="http://schemas.openxmlformats.org/drawingml/2006/main" prst="rect">
            <a:avLst/>
          </a:prstGeom>
          <a:solidFill xmlns:a="http://schemas.openxmlformats.org/drawingml/2006/main">
            <a:srgbClr val="CCDCE4"/>
          </a:solidFill>
          <a:ln xmlns:a="http://schemas.openxmlformats.org/drawingml/2006/main" w="0">
            <a:noFill/>
          </a:ln>
        </p:spPr>
      </p:sp>
      <p:sp>
        <p:nvSpPr>
          <p:cNvPr id="12" name="text">
            <a:extLst xmlns:a="http://schemas.openxmlformats.org/drawingml/2006/main">
              <a:ext uri="{FF2B5EF4-FFF2-40B4-BE49-F238E27FC236}">
                <a16:creationId xmlns:a16="http://schemas.microsoft.com/office/drawing/2014/main" id="{BA3B2712-1321-4F0B-BF02-68CCB36EA084}"/>
              </a:ext>
            </a:extLst>
          </p:cNvPr>
          <p:cNvSpPr>
            <a:spLocks xmlns:a="http://schemas.openxmlformats.org/drawingml/2006/main" noGrp="1"/>
          </p:cNvSpPr>
          <p:nvPr/>
        </p:nvSpPr>
        <p:spPr>
          <a:xfrm xmlns:a="http://schemas.openxmlformats.org/drawingml/2006/main">
            <a:off x="400050" y="2562225"/>
            <a:ext cx="5715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183044"/>
                </a:solidFill>
                <a:latin typeface="Arial"/>
                <a:ea typeface="Arial"/>
                <a:cs typeface="Arial"/>
              </a:defRPr>
            </a:defPPr>
          </a:lstStyle>
          <a:p xmlns:a="http://schemas.openxmlformats.org/drawingml/2006/main">
            <a:pPr>
              <a:defRPr sz="1800" b="1">
                <a:solidFill>
                  <a:srgbClr val="183044"/>
                </a:solidFill>
                <a:latin typeface="Arial"/>
                <a:ea typeface="Arial"/>
                <a:cs typeface="Arial"/>
              </a:defRPr>
            </a:pPr>
            <a:r>
              <a:rPr sz="1800" b="1">
                <a:solidFill>
                  <a:srgbClr val="183044"/>
                </a:solidFill>
                <a:latin typeface="Arial"/>
                <a:ea typeface="Arial"/>
                <a:cs typeface="Arial"/>
              </a:rPr>
              <a:t>Health status in the sample</a:t>
            </a:r>
          </a:p>
        </p:txBody>
      </p:sp>
      <p:graphicFrame>
        <p:nvGraphicFramePr>
          <p:cNvPr id="13" name="Chart">
            <a:extLst xmlns:a="http://schemas.openxmlformats.org/drawingml/2006/main">
              <a:ext uri="{FF2B5EF4-FFF2-40B4-BE49-F238E27FC236}">
                <a16:creationId xmlns:a16="http://schemas.microsoft.com/office/drawing/2014/main" id="{1978AC0F-835E-4012-BA35-5012490F656A}"/>
              </a:ext>
            </a:extLst>
          </p:cNvPr>
          <p:cNvGraphicFramePr/>
          <p:nvPr/>
        </p:nvGraphicFramePr>
        <p:xfrm>
          <a:off xmlns:a="http://schemas.openxmlformats.org/drawingml/2006/main" x="333375" y="2914650"/>
          <a:ext xmlns:a="http://schemas.openxmlformats.org/drawingml/2006/main" cx="5724525" cy="2905125"/>
        </p:xfrm>
        <a:graphic xmlns:a="http://schemas.openxmlformats.org/drawingml/2006/main">
          <a:graphicData uri="http://schemas.openxmlformats.org/drawingml/2006/chart">
            <c:chart xmlns:r="http://schemas.openxmlformats.org/officeDocument/2006/relationships" xmlns:c="http://schemas.openxmlformats.org/drawingml/2006/chart" r:id="Rddb8523eb6434e22"/>
          </a:graphicData>
        </a:graphic>
      </p:graphicFrame>
      <p:sp>
        <p:nvSpPr>
          <p:cNvPr id="14" name="text">
            <a:extLst xmlns:a="http://schemas.openxmlformats.org/drawingml/2006/main">
              <a:ext uri="{FF2B5EF4-FFF2-40B4-BE49-F238E27FC236}">
                <a16:creationId xmlns:a16="http://schemas.microsoft.com/office/drawing/2014/main" id="{176C3B45-D8D0-44F9-984B-8542F23B6013}"/>
              </a:ext>
            </a:extLst>
          </p:cNvPr>
          <p:cNvSpPr>
            <a:spLocks xmlns:a="http://schemas.openxmlformats.org/drawingml/2006/main" noGrp="1"/>
          </p:cNvSpPr>
          <p:nvPr/>
        </p:nvSpPr>
        <p:spPr>
          <a:xfrm xmlns:a="http://schemas.openxmlformats.org/drawingml/2006/main">
            <a:off x="6305550" y="2562225"/>
            <a:ext cx="54768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183044"/>
                </a:solidFill>
                <a:latin typeface="Arial"/>
                <a:ea typeface="Arial"/>
                <a:cs typeface="Arial"/>
              </a:defRPr>
            </a:defPPr>
          </a:lstStyle>
          <a:p xmlns:a="http://schemas.openxmlformats.org/drawingml/2006/main">
            <a:pPr>
              <a:defRPr sz="1800" b="1">
                <a:solidFill>
                  <a:srgbClr val="183044"/>
                </a:solidFill>
                <a:latin typeface="Arial"/>
                <a:ea typeface="Arial"/>
                <a:cs typeface="Arial"/>
              </a:defRPr>
            </a:pPr>
            <a:r>
              <a:rPr sz="1800" b="1">
                <a:solidFill>
                  <a:srgbClr val="183044"/>
                </a:solidFill>
                <a:latin typeface="Arial"/>
                <a:ea typeface="Arial"/>
                <a:cs typeface="Arial"/>
              </a:rPr>
              <a:t>Key variables</a:t>
            </a:r>
          </a:p>
        </p:txBody>
      </p:sp>
      <p:graphicFrame>
        <p:nvGraphicFramePr>
          <p:cNvPr id="15" name="">
            <a:extLst xmlns:a="http://schemas.openxmlformats.org/drawingml/2006/main">
              <a:ext uri="{FF2B5EF4-FFF2-40B4-BE49-F238E27FC236}">
                <a16:creationId xmlns:a16="http://schemas.microsoft.com/office/drawing/2014/main" id="{CA943FAF-BAA6-4E0A-9386-4E1455DB538F}"/>
              </a:ext>
            </a:extLst>
          </p:cNvPr>
          <p:cNvGraphicFramePr/>
          <p:nvPr/>
        </p:nvGraphicFramePr>
        <p:xfrm>
          <a:off xmlns:a="http://schemas.openxmlformats.org/drawingml/2006/main" x="6305550" y="2933700"/>
          <a:ext xmlns:a="http://schemas.openxmlformats.org/drawingml/2006/main" cx="5505450" cy="2667000"/>
        </p:xfrm>
        <a:graphic xmlns:a="http://schemas.openxmlformats.org/drawingml/2006/main">
          <a:graphicData uri="http://schemas.openxmlformats.org/drawingml/2006/table">
            <a:tbl>
              <a:tblPr/>
              <a:tblGrid>
                <a:gridCol w="2333625"/>
                <a:gridCol w="3171825"/>
              </a:tblGrid>
              <a:tr h="533400">
                <a:tc>
                  <a:txBody>
                    <a:bodyPr>
                      <a:noAutofit/>
                    </a:bodyPr>
                    <a:lstStyle/>
                    <a:p>
                      <a:pPr algn="l"/>
                      <a:r>
                        <a:rPr sz="1575" b="1">
                          <a:solidFill>
                            <a:srgbClr val="FFFFFF"/>
                          </a:solidFill>
                          <a:latin typeface="Arial"/>
                          <a:ea typeface="Arial"/>
                          <a:cs typeface="Arial"/>
                        </a:rPr>
                        <a:t>Variable</a:t>
                      </a:r>
                    </a:p>
                  </a:txBody>
                  <a:tcPr marL="91440" marR="91440" marT="45720" marB="45720">
                    <a:lnL w="9525">
                      <a:solidFill>
                        <a:srgbClr val="D6E0E5"/>
                      </a:solidFill>
                      <a:prstDash val="solid"/>
                    </a:lnL>
                    <a:lnR w="9525">
                      <a:solidFill>
                        <a:srgbClr val="D6E0E5"/>
                      </a:solidFill>
                      <a:prstDash val="solid"/>
                    </a:lnR>
                    <a:lnT w="9525">
                      <a:solidFill>
                        <a:srgbClr val="D6E0E5"/>
                      </a:solidFill>
                      <a:prstDash val="solid"/>
                    </a:lnT>
                    <a:lnB w="9525">
                      <a:solidFill>
                        <a:srgbClr val="D6E0E5"/>
                      </a:solidFill>
                      <a:prstDash val="solid"/>
                    </a:lnB>
                    <a:solidFill>
                      <a:srgbClr val="176D8C"/>
                    </a:solidFill>
                  </a:tcPr>
                </a:tc>
                <a:tc>
                  <a:txBody>
                    <a:bodyPr>
                      <a:noAutofit/>
                    </a:bodyPr>
                    <a:lstStyle/>
                    <a:p>
                      <a:pPr algn="ctr"/>
                      <a:r>
                        <a:rPr sz="1575" b="1">
                          <a:solidFill>
                            <a:srgbClr val="FFFFFF"/>
                          </a:solidFill>
                          <a:latin typeface="Arial"/>
                          <a:ea typeface="Arial"/>
                          <a:cs typeface="Arial"/>
                        </a:rPr>
                        <a:t>What it measures</a:t>
                      </a:r>
                    </a:p>
                  </a:txBody>
                  <a:tcPr marL="91440" marR="91440" marT="45720" marB="45720">
                    <a:lnR w="9525">
                      <a:solidFill>
                        <a:srgbClr val="D6E0E5"/>
                      </a:solidFill>
                      <a:prstDash val="solid"/>
                    </a:lnR>
                    <a:lnT w="9525">
                      <a:solidFill>
                        <a:srgbClr val="D6E0E5"/>
                      </a:solidFill>
                      <a:prstDash val="solid"/>
                    </a:lnT>
                    <a:lnB w="9525">
                      <a:solidFill>
                        <a:srgbClr val="D6E0E5"/>
                      </a:solidFill>
                      <a:prstDash val="solid"/>
                    </a:lnB>
                    <a:solidFill>
                      <a:srgbClr val="176D8C"/>
                    </a:solidFill>
                  </a:tcPr>
                </a:tc>
              </a:tr>
              <a:tr h="533400">
                <a:tc>
                  <a:txBody>
                    <a:bodyPr>
                      <a:noAutofit/>
                    </a:bodyPr>
                    <a:lstStyle/>
                    <a:p>
                      <a:pPr algn="l"/>
                      <a:r>
                        <a:rPr sz="1575" b="0">
                          <a:solidFill>
                            <a:srgbClr val="183044"/>
                          </a:solidFill>
                          <a:latin typeface="Arial"/>
                          <a:ea typeface="Arial"/>
                          <a:cs typeface="Arial"/>
                        </a:rPr>
                        <a:t>BMI</a:t>
                      </a:r>
                    </a:p>
                  </a:txBody>
                  <a:tcPr marL="91440" marR="91440" marT="45720" marB="45720">
                    <a:lnL w="9525">
                      <a:solidFill>
                        <a:srgbClr val="D6E0E5"/>
                      </a:solidFill>
                      <a:prstDash val="solid"/>
                    </a:lnL>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575" b="0">
                          <a:solidFill>
                            <a:srgbClr val="183044"/>
                          </a:solidFill>
                          <a:latin typeface="Arial"/>
                          <a:ea typeface="Arial"/>
                          <a:cs typeface="Arial"/>
                        </a:rPr>
                        <a:t>Body mass index (kg/m²)</a:t>
                      </a:r>
                    </a:p>
                  </a:txBody>
                  <a:tcPr marL="91440" marR="91440" marT="45720" marB="45720">
                    <a:lnR w="9525">
                      <a:solidFill>
                        <a:srgbClr val="D6E0E5"/>
                      </a:solidFill>
                      <a:prstDash val="solid"/>
                    </a:lnR>
                    <a:lnB w="9525">
                      <a:solidFill>
                        <a:srgbClr val="D6E0E5"/>
                      </a:solidFill>
                      <a:prstDash val="solid"/>
                    </a:lnB>
                    <a:solidFill>
                      <a:srgbClr val="FFFFFF"/>
                    </a:solidFill>
                  </a:tcPr>
                </a:tc>
              </a:tr>
              <a:tr h="533400">
                <a:tc>
                  <a:txBody>
                    <a:bodyPr>
                      <a:noAutofit/>
                    </a:bodyPr>
                    <a:lstStyle/>
                    <a:p>
                      <a:pPr algn="l"/>
                      <a:r>
                        <a:rPr sz="1575" b="0">
                          <a:solidFill>
                            <a:srgbClr val="183044"/>
                          </a:solidFill>
                          <a:latin typeface="Arial"/>
                          <a:ea typeface="Arial"/>
                          <a:cs typeface="Arial"/>
                        </a:rPr>
                        <a:t>Mental / physical health</a:t>
                      </a:r>
                    </a:p>
                  </a:txBody>
                  <a:tcPr marL="91440" marR="91440" marT="45720" marB="45720">
                    <a:lnL w="9525">
                      <a:solidFill>
                        <a:srgbClr val="D6E0E5"/>
                      </a:solidFill>
                      <a:prstDash val="solid"/>
                    </a:lnL>
                    <a:lnR w="9525">
                      <a:solidFill>
                        <a:srgbClr val="D6E0E5"/>
                      </a:solidFill>
                      <a:prstDash val="solid"/>
                    </a:lnR>
                    <a:lnB w="9525">
                      <a:solidFill>
                        <a:srgbClr val="D6E0E5"/>
                      </a:solidFill>
                      <a:prstDash val="solid"/>
                    </a:lnB>
                    <a:solidFill>
                      <a:srgbClr val="EAF2F5"/>
                    </a:solidFill>
                  </a:tcPr>
                </a:tc>
                <a:tc>
                  <a:txBody>
                    <a:bodyPr>
                      <a:noAutofit/>
                    </a:bodyPr>
                    <a:lstStyle/>
                    <a:p>
                      <a:pPr algn="ctr"/>
                      <a:r>
                        <a:rPr sz="1575" b="0">
                          <a:solidFill>
                            <a:srgbClr val="183044"/>
                          </a:solidFill>
                          <a:latin typeface="Arial"/>
                          <a:ea typeface="Arial"/>
                          <a:cs typeface="Arial"/>
                        </a:rPr>
                        <a:t>Poor-health days, 0–30</a:t>
                      </a:r>
                    </a:p>
                  </a:txBody>
                  <a:tcPr marL="91440" marR="91440" marT="45720" marB="45720">
                    <a:lnR w="9525">
                      <a:solidFill>
                        <a:srgbClr val="D6E0E5"/>
                      </a:solidFill>
                      <a:prstDash val="solid"/>
                    </a:lnR>
                    <a:lnB w="9525">
                      <a:solidFill>
                        <a:srgbClr val="D6E0E5"/>
                      </a:solidFill>
                      <a:prstDash val="solid"/>
                    </a:lnB>
                    <a:solidFill>
                      <a:srgbClr val="EAF2F5"/>
                    </a:solidFill>
                  </a:tcPr>
                </a:tc>
              </a:tr>
              <a:tr h="533400">
                <a:tc>
                  <a:txBody>
                    <a:bodyPr>
                      <a:noAutofit/>
                    </a:bodyPr>
                    <a:lstStyle/>
                    <a:p>
                      <a:pPr algn="l"/>
                      <a:r>
                        <a:rPr sz="1575" b="0">
                          <a:solidFill>
                            <a:srgbClr val="183044"/>
                          </a:solidFill>
                          <a:latin typeface="Arial"/>
                          <a:ea typeface="Arial"/>
                          <a:cs typeface="Arial"/>
                        </a:rPr>
                        <a:t>Age / income / education</a:t>
                      </a:r>
                    </a:p>
                  </a:txBody>
                  <a:tcPr marL="91440" marR="91440" marT="45720" marB="45720">
                    <a:lnL w="9525">
                      <a:solidFill>
                        <a:srgbClr val="D6E0E5"/>
                      </a:solidFill>
                      <a:prstDash val="solid"/>
                    </a:lnL>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575" b="0">
                          <a:solidFill>
                            <a:srgbClr val="183044"/>
                          </a:solidFill>
                          <a:latin typeface="Arial"/>
                          <a:ea typeface="Arial"/>
                          <a:cs typeface="Arial"/>
                        </a:rPr>
                        <a:t>Grouped categories</a:t>
                      </a:r>
                    </a:p>
                  </a:txBody>
                  <a:tcPr marL="91440" marR="91440" marT="45720" marB="45720">
                    <a:lnR w="9525">
                      <a:solidFill>
                        <a:srgbClr val="D6E0E5"/>
                      </a:solidFill>
                      <a:prstDash val="solid"/>
                    </a:lnR>
                    <a:lnB w="9525">
                      <a:solidFill>
                        <a:srgbClr val="D6E0E5"/>
                      </a:solidFill>
                      <a:prstDash val="solid"/>
                    </a:lnB>
                    <a:solidFill>
                      <a:srgbClr val="FFFFFF"/>
                    </a:solidFill>
                  </a:tcPr>
                </a:tc>
              </a:tr>
              <a:tr h="533400">
                <a:tc>
                  <a:txBody>
                    <a:bodyPr>
                      <a:noAutofit/>
                    </a:bodyPr>
                    <a:lstStyle/>
                    <a:p>
                      <a:pPr algn="l"/>
                      <a:r>
                        <a:rPr sz="1575" b="0">
                          <a:solidFill>
                            <a:srgbClr val="183044"/>
                          </a:solidFill>
                          <a:latin typeface="Arial"/>
                          <a:ea typeface="Arial"/>
                          <a:cs typeface="Arial"/>
                        </a:rPr>
                        <a:t>Activity / smoking</a:t>
                      </a:r>
                    </a:p>
                  </a:txBody>
                  <a:tcPr marL="91440" marR="91440" marT="45720" marB="45720">
                    <a:lnL w="9525">
                      <a:solidFill>
                        <a:srgbClr val="D6E0E5"/>
                      </a:solidFill>
                      <a:prstDash val="solid"/>
                    </a:lnL>
                    <a:lnR w="9525">
                      <a:solidFill>
                        <a:srgbClr val="D6E0E5"/>
                      </a:solidFill>
                      <a:prstDash val="solid"/>
                    </a:lnR>
                    <a:lnB w="9525">
                      <a:solidFill>
                        <a:srgbClr val="D6E0E5"/>
                      </a:solidFill>
                      <a:prstDash val="solid"/>
                    </a:lnB>
                    <a:solidFill>
                      <a:srgbClr val="EAF2F5"/>
                    </a:solidFill>
                  </a:tcPr>
                </a:tc>
                <a:tc>
                  <a:txBody>
                    <a:bodyPr>
                      <a:noAutofit/>
                    </a:bodyPr>
                    <a:lstStyle/>
                    <a:p>
                      <a:pPr algn="ctr"/>
                      <a:r>
                        <a:rPr sz="1575" b="0">
                          <a:solidFill>
                            <a:srgbClr val="183044"/>
                          </a:solidFill>
                          <a:latin typeface="Arial"/>
                          <a:ea typeface="Arial"/>
                          <a:cs typeface="Arial"/>
                        </a:rPr>
                        <a:t>Yes / No indicators</a:t>
                      </a:r>
                    </a:p>
                  </a:txBody>
                  <a:tcPr marL="91440" marR="91440" marT="45720" marB="45720">
                    <a:lnR w="9525">
                      <a:solidFill>
                        <a:srgbClr val="D6E0E5"/>
                      </a:solidFill>
                      <a:prstDash val="solid"/>
                    </a:lnR>
                    <a:lnB w="9525">
                      <a:solidFill>
                        <a:srgbClr val="D6E0E5"/>
                      </a:solidFill>
                      <a:prstDash val="solid"/>
                    </a:lnB>
                    <a:solidFill>
                      <a:srgbClr val="EAF2F5"/>
                    </a:solidFill>
                  </a:tcPr>
                </a:tc>
              </a:tr>
            </a:tbl>
          </a:graphicData>
        </a:graphic>
      </p:graphicFrame>
      <p:sp>
        <p:nvSpPr>
          <p:cNvPr id="16" name="text">
            <a:extLst xmlns:a="http://schemas.openxmlformats.org/drawingml/2006/main">
              <a:ext uri="{FF2B5EF4-FFF2-40B4-BE49-F238E27FC236}">
                <a16:creationId xmlns:a16="http://schemas.microsoft.com/office/drawing/2014/main" id="{EDD43907-4FC0-4178-8D2A-870DD5118389}"/>
              </a:ext>
            </a:extLst>
          </p:cNvPr>
          <p:cNvSpPr>
            <a:spLocks xmlns:a="http://schemas.openxmlformats.org/drawingml/2006/main" noGrp="1"/>
          </p:cNvSpPr>
          <p:nvPr/>
        </p:nvSpPr>
        <p:spPr>
          <a:xfrm xmlns:a="http://schemas.openxmlformats.org/drawingml/2006/main">
            <a:off x="6305550" y="5724525"/>
            <a:ext cx="54673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415566"/>
                </a:solidFill>
                <a:latin typeface="Arial"/>
                <a:ea typeface="Arial"/>
                <a:cs typeface="Arial"/>
              </a:defRPr>
            </a:defPPr>
          </a:lstStyle>
          <a:p xmlns:a="http://schemas.openxmlformats.org/drawingml/2006/main">
            <a:pPr>
              <a:defRPr sz="1200" b="0">
                <a:solidFill>
                  <a:srgbClr val="415566"/>
                </a:solidFill>
                <a:latin typeface="Arial"/>
                <a:ea typeface="Arial"/>
                <a:cs typeface="Arial"/>
              </a:defRPr>
            </a:pPr>
            <a:r>
              <a:rPr sz="1200" b="0">
                <a:solidFill>
                  <a:srgbClr val="415566"/>
                </a:solidFill>
                <a:latin typeface="Arial"/>
                <a:ea typeface="Arial"/>
                <a:cs typeface="Arial"/>
              </a:rPr>
              <a:t>Source: CDC BRFSS 2015, processed by Alex Teboul on Kaggle.</a:t>
            </a:r>
          </a:p>
        </p:txBody>
      </p:sp>
      <p:sp>
        <p:nvSpPr>
          <p:cNvPr id="17" name="">
            <a:extLst xmlns:a="http://schemas.openxmlformats.org/drawingml/2006/main">
              <a:ext uri="{FF2B5EF4-FFF2-40B4-BE49-F238E27FC236}">
                <a16:creationId xmlns:a16="http://schemas.microsoft.com/office/drawing/2014/main" id="{6D9C5C27-DD84-40F8-82D0-4DF310CE1A2A}"/>
              </a:ext>
            </a:extLst>
          </p:cNvPr>
          <p:cNvSpPr>
            <a:spLocks xmlns:a="http://schemas.openxmlformats.org/drawingml/2006/main" noGrp="1"/>
          </p:cNvSpPr>
          <p:nvPr/>
        </p:nvSpPr>
        <p:spPr>
          <a:xfrm xmlns:a="http://schemas.openxmlformats.org/drawingml/2006/main">
            <a:off x="400050" y="6153150"/>
            <a:ext cx="11391900" cy="19050"/>
          </a:xfrm>
          <a:prstGeom xmlns:a="http://schemas.openxmlformats.org/drawingml/2006/main" prst="rect">
            <a:avLst/>
          </a:prstGeom>
          <a:solidFill xmlns:a="http://schemas.openxmlformats.org/drawingml/2006/main">
            <a:srgbClr val="176D8C"/>
          </a:solidFill>
          <a:ln xmlns:a="http://schemas.openxmlformats.org/drawingml/2006/main" w="0">
            <a:noFill/>
          </a:ln>
        </p:spPr>
      </p:sp>
      <p:sp>
        <p:nvSpPr>
          <p:cNvPr id="18" name="text">
            <a:extLst xmlns:a="http://schemas.openxmlformats.org/drawingml/2006/main">
              <a:ext uri="{FF2B5EF4-FFF2-40B4-BE49-F238E27FC236}">
                <a16:creationId xmlns:a16="http://schemas.microsoft.com/office/drawing/2014/main" id="{FBBB9080-E9D5-4471-956F-D51B2CCCB9B2}"/>
              </a:ext>
            </a:extLst>
          </p:cNvPr>
          <p:cNvSpPr>
            <a:spLocks xmlns:a="http://schemas.openxmlformats.org/drawingml/2006/main" noGrp="1"/>
          </p:cNvSpPr>
          <p:nvPr/>
        </p:nvSpPr>
        <p:spPr>
          <a:xfrm xmlns:a="http://schemas.openxmlformats.org/drawingml/2006/main">
            <a:off x="400050" y="6267450"/>
            <a:ext cx="1095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176D8C"/>
                </a:solidFill>
                <a:latin typeface="Arial"/>
                <a:ea typeface="Arial"/>
                <a:cs typeface="Arial"/>
              </a:defRPr>
            </a:defPPr>
          </a:lstStyle>
          <a:p xmlns:a="http://schemas.openxmlformats.org/drawingml/2006/main">
            <a:pPr>
              <a:defRPr sz="1650" b="1">
                <a:solidFill>
                  <a:srgbClr val="176D8C"/>
                </a:solidFill>
                <a:latin typeface="Arial"/>
                <a:ea typeface="Arial"/>
                <a:cs typeface="Arial"/>
              </a:defRPr>
            </a:pPr>
            <a:r>
              <a:rPr sz="1650" b="1">
                <a:solidFill>
                  <a:srgbClr val="176D8C"/>
                </a:solidFill>
                <a:latin typeface="Arial"/>
                <a:ea typeface="Arial"/>
                <a:cs typeface="Arial"/>
              </a:rPr>
              <a:t>469 people (15.63%) report prediabetes or diabetes.</a:t>
            </a:r>
          </a:p>
        </p:txBody>
      </p:sp>
      <p:sp>
        <p:nvSpPr>
          <p:cNvPr id="19" name="text">
            <a:extLst xmlns:a="http://schemas.openxmlformats.org/drawingml/2006/main">
              <a:ext uri="{FF2B5EF4-FFF2-40B4-BE49-F238E27FC236}">
                <a16:creationId xmlns:a16="http://schemas.microsoft.com/office/drawing/2014/main" id="{B9CC7759-B79B-4858-B24A-B3517271410C}"/>
              </a:ext>
            </a:extLst>
          </p:cNvPr>
          <p:cNvSpPr>
            <a:spLocks xmlns:a="http://schemas.openxmlformats.org/drawingml/2006/main" noGrp="1"/>
          </p:cNvSpPr>
          <p:nvPr/>
        </p:nvSpPr>
        <p:spPr>
          <a:xfrm xmlns:a="http://schemas.openxmlformats.org/drawingml/2006/main">
            <a:off x="11353800" y="6581775"/>
            <a:ext cx="6572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050" b="0">
                <a:solidFill>
                  <a:srgbClr val="415566"/>
                </a:solidFill>
                <a:latin typeface="Arial"/>
                <a:ea typeface="Arial"/>
                <a:cs typeface="Arial"/>
              </a:defRPr>
            </a:defPPr>
          </a:lstStyle>
          <a:p xmlns:a="http://schemas.openxmlformats.org/drawingml/2006/main">
            <a:pPr>
              <a:defRPr sz="1050" b="0">
                <a:solidFill>
                  <a:srgbClr val="415566"/>
                </a:solidFill>
                <a:latin typeface="Arial"/>
                <a:ea typeface="Arial"/>
                <a:cs typeface="Arial"/>
              </a:defRPr>
            </a:pPr>
            <a:r>
              <a:rPr sz="1050" b="0">
                <a:solidFill>
                  <a:srgbClr val="415566"/>
                </a:solidFill>
                <a:latin typeface="Arial"/>
                <a:ea typeface="Arial"/>
                <a:cs typeface="Arial"/>
              </a:rPr>
              <a:t>1 / 12</a:t>
            </a:r>
          </a:p>
        </p:txBody>
      </p:sp>
    </p:spTree>
    <p:extLst>
      <p:ext uri="{BB962C8B-B14F-4D97-AF65-F5344CB8AC3E}">
        <p14:creationId xmlns:p14="http://schemas.microsoft.com/office/powerpoint/2010/main" val="1206976812"/>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text">
            <a:extLst xmlns:a="http://schemas.openxmlformats.org/drawingml/2006/main">
              <a:ext uri="{FF2B5EF4-FFF2-40B4-BE49-F238E27FC236}">
                <a16:creationId xmlns:a16="http://schemas.microsoft.com/office/drawing/2014/main" id="{5AF5B9B9-C26E-45AE-8355-39A8F6698873}"/>
              </a:ext>
            </a:extLst>
          </p:cNvPr>
          <p:cNvSpPr>
            <a:spLocks xmlns:a="http://schemas.openxmlformats.org/drawingml/2006/main" noGrp="1"/>
          </p:cNvSpPr>
          <p:nvPr/>
        </p:nvSpPr>
        <p:spPr>
          <a:xfrm xmlns:a="http://schemas.openxmlformats.org/drawingml/2006/main">
            <a:off x="590550" y="76200"/>
            <a:ext cx="112204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1">
                <a:solidFill>
                  <a:srgbClr val="176D8C"/>
                </a:solidFill>
                <a:latin typeface="Arial"/>
                <a:ea typeface="Arial"/>
                <a:cs typeface="Arial"/>
              </a:defRPr>
            </a:defPPr>
          </a:lstStyle>
          <a:p xmlns:a="http://schemas.openxmlformats.org/drawingml/2006/main">
            <a:pPr>
              <a:defRPr sz="1350" b="1">
                <a:solidFill>
                  <a:srgbClr val="176D8C"/>
                </a:solidFill>
                <a:latin typeface="Arial"/>
                <a:ea typeface="Arial"/>
                <a:cs typeface="Arial"/>
              </a:defRPr>
            </a:pPr>
            <a:r>
              <a:rPr sz="1350" b="1">
                <a:solidFill>
                  <a:srgbClr val="176D8C"/>
                </a:solidFill>
                <a:latin typeface="Arial"/>
                <a:ea typeface="Arial"/>
                <a:cs typeface="Arial"/>
              </a:rPr>
              <a:t>LAB 1: Data types, import and export</a:t>
            </a:r>
          </a:p>
        </p:txBody>
      </p:sp>
      <p:sp>
        <p:nvSpPr>
          <p:cNvPr id="2" name="">
            <a:extLst xmlns:a="http://schemas.openxmlformats.org/drawingml/2006/main">
              <a:ext uri="{FF2B5EF4-FFF2-40B4-BE49-F238E27FC236}">
                <a16:creationId xmlns:a16="http://schemas.microsoft.com/office/drawing/2014/main" id="{376B1FA1-FC65-4AED-AA7D-74093CFBA0C9}"/>
              </a:ext>
            </a:extLst>
          </p:cNvPr>
          <p:cNvSpPr>
            <a:spLocks xmlns:a="http://schemas.openxmlformats.org/drawingml/2006/main" noGrp="1"/>
          </p:cNvSpPr>
          <p:nvPr/>
        </p:nvSpPr>
        <p:spPr>
          <a:xfrm xmlns:a="http://schemas.openxmlformats.org/drawingml/2006/main">
            <a:off x="381000" y="381000"/>
            <a:ext cx="47625" cy="438150"/>
          </a:xfrm>
          <a:prstGeom xmlns:a="http://schemas.openxmlformats.org/drawingml/2006/main" prst="rect">
            <a:avLst/>
          </a:prstGeom>
          <a:solidFill xmlns:a="http://schemas.openxmlformats.org/drawingml/2006/main">
            <a:srgbClr val="176D8C"/>
          </a:solidFill>
          <a:ln xmlns:a="http://schemas.openxmlformats.org/drawingml/2006/main" w="0">
            <a:noFill/>
          </a:ln>
        </p:spPr>
      </p:sp>
      <p:sp>
        <p:nvSpPr>
          <p:cNvPr id="3" name="text">
            <a:extLst xmlns:a="http://schemas.openxmlformats.org/drawingml/2006/main">
              <a:ext uri="{FF2B5EF4-FFF2-40B4-BE49-F238E27FC236}">
                <a16:creationId xmlns:a16="http://schemas.microsoft.com/office/drawing/2014/main" id="{CF2094BD-C79F-4330-BCE7-8DEDFA87489E}"/>
              </a:ext>
            </a:extLst>
          </p:cNvPr>
          <p:cNvSpPr>
            <a:spLocks xmlns:a="http://schemas.openxmlformats.org/drawingml/2006/main" noGrp="1"/>
          </p:cNvSpPr>
          <p:nvPr/>
        </p:nvSpPr>
        <p:spPr>
          <a:xfrm xmlns:a="http://schemas.openxmlformats.org/drawingml/2006/main">
            <a:off x="590550" y="342900"/>
            <a:ext cx="112204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1">
                <a:solidFill>
                  <a:srgbClr val="183044"/>
                </a:solidFill>
                <a:latin typeface="Arial"/>
                <a:ea typeface="Arial"/>
                <a:cs typeface="Arial"/>
              </a:defRPr>
            </a:defPPr>
          </a:lstStyle>
          <a:p xmlns:a="http://schemas.openxmlformats.org/drawingml/2006/main">
            <a:pPr>
              <a:defRPr sz="2850" b="1">
                <a:solidFill>
                  <a:srgbClr val="183044"/>
                </a:solidFill>
                <a:latin typeface="Arial"/>
                <a:ea typeface="Arial"/>
                <a:cs typeface="Arial"/>
              </a:defRPr>
            </a:pPr>
            <a:r>
              <a:rPr sz="2850" b="1">
                <a:solidFill>
                  <a:srgbClr val="183044"/>
                </a:solidFill>
                <a:latin typeface="Arial"/>
                <a:ea typeface="Arial"/>
                <a:cs typeface="Arial"/>
              </a:rPr>
              <a:t>Data preparation</a:t>
            </a:r>
          </a:p>
        </p:txBody>
      </p:sp>
      <p:sp>
        <p:nvSpPr>
          <p:cNvPr id="4" name="text">
            <a:extLst xmlns:a="http://schemas.openxmlformats.org/drawingml/2006/main">
              <a:ext uri="{FF2B5EF4-FFF2-40B4-BE49-F238E27FC236}">
                <a16:creationId xmlns:a16="http://schemas.microsoft.com/office/drawing/2014/main" id="{EDD1AD39-C5E3-4B21-8E95-B6677BAB4BDC}"/>
              </a:ext>
            </a:extLst>
          </p:cNvPr>
          <p:cNvSpPr>
            <a:spLocks xmlns:a="http://schemas.openxmlformats.org/drawingml/2006/main" noGrp="1"/>
          </p:cNvSpPr>
          <p:nvPr/>
        </p:nvSpPr>
        <p:spPr>
          <a:xfrm xmlns:a="http://schemas.openxmlformats.org/drawingml/2006/main">
            <a:off x="400050" y="971550"/>
            <a:ext cx="113919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415566"/>
                </a:solidFill>
                <a:latin typeface="Arial"/>
                <a:ea typeface="Arial"/>
                <a:cs typeface="Arial"/>
              </a:defRPr>
            </a:defPPr>
          </a:lstStyle>
          <a:p xmlns:a="http://schemas.openxmlformats.org/drawingml/2006/main">
            <a:pPr>
              <a:defRPr sz="1725" b="0">
                <a:solidFill>
                  <a:srgbClr val="415566"/>
                </a:solidFill>
                <a:latin typeface="Arial"/>
                <a:ea typeface="Arial"/>
                <a:cs typeface="Arial"/>
              </a:defRPr>
            </a:pPr>
            <a:r>
              <a:rPr sz="1725" b="0">
                <a:solidFill>
                  <a:srgbClr val="415566"/>
                </a:solidFill>
                <a:latin typeface="Arial"/>
                <a:ea typeface="Arial"/>
                <a:cs typeface="Arial"/>
              </a:rPr>
              <a:t>Import → sample → validate → prepare for analysis</a:t>
            </a:r>
          </a:p>
        </p:txBody>
      </p:sp>
      <p:sp>
        <p:nvSpPr>
          <p:cNvPr id="5" name="">
            <a:extLst xmlns:a="http://schemas.openxmlformats.org/drawingml/2006/main">
              <a:ext uri="{FF2B5EF4-FFF2-40B4-BE49-F238E27FC236}">
                <a16:creationId xmlns:a16="http://schemas.microsoft.com/office/drawing/2014/main" id="{BD891AD6-0353-46A7-9D0B-E3689796D4ED}"/>
              </a:ext>
            </a:extLst>
          </p:cNvPr>
          <p:cNvSpPr>
            <a:spLocks xmlns:a="http://schemas.openxmlformats.org/drawingml/2006/main" noGrp="1"/>
          </p:cNvSpPr>
          <p:nvPr/>
        </p:nvSpPr>
        <p:spPr>
          <a:xfrm xmlns:a="http://schemas.openxmlformats.org/drawingml/2006/main">
            <a:off x="400050" y="1552575"/>
            <a:ext cx="2571750" cy="1123950"/>
          </a:xfrm>
          <a:prstGeom xmlns:a="http://schemas.openxmlformats.org/drawingml/2006/main" prst="rect">
            <a:avLst/>
          </a:prstGeom>
          <a:solidFill xmlns:a="http://schemas.openxmlformats.org/drawingml/2006/main">
            <a:srgbClr val="EAF2F5"/>
          </a:solidFill>
          <a:ln xmlns:a="http://schemas.openxmlformats.org/drawingml/2006/main" w="9525">
            <a:solidFill>
              <a:srgbClr val="176D8C"/>
            </a:solidFill>
          </a:ln>
        </p:spPr>
      </p:sp>
      <p:sp>
        <p:nvSpPr>
          <p:cNvPr id="6" name="text">
            <a:extLst xmlns:a="http://schemas.openxmlformats.org/drawingml/2006/main">
              <a:ext uri="{FF2B5EF4-FFF2-40B4-BE49-F238E27FC236}">
                <a16:creationId xmlns:a16="http://schemas.microsoft.com/office/drawing/2014/main" id="{0E0AAF17-B550-4409-99E6-69344046A361}"/>
              </a:ext>
            </a:extLst>
          </p:cNvPr>
          <p:cNvSpPr>
            <a:spLocks xmlns:a="http://schemas.openxmlformats.org/drawingml/2006/main" noGrp="1"/>
          </p:cNvSpPr>
          <p:nvPr/>
        </p:nvSpPr>
        <p:spPr>
          <a:xfrm xmlns:a="http://schemas.openxmlformats.org/drawingml/2006/main">
            <a:off x="533400" y="1666875"/>
            <a:ext cx="2324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1">
                <a:solidFill>
                  <a:srgbClr val="176D8C"/>
                </a:solidFill>
                <a:latin typeface="Arial"/>
                <a:ea typeface="Arial"/>
                <a:cs typeface="Arial"/>
              </a:defRPr>
            </a:defPPr>
          </a:lstStyle>
          <a:p xmlns:a="http://schemas.openxmlformats.org/drawingml/2006/main">
            <a:pPr>
              <a:defRPr sz="2175" b="1">
                <a:solidFill>
                  <a:srgbClr val="176D8C"/>
                </a:solidFill>
                <a:latin typeface="Arial"/>
                <a:ea typeface="Arial"/>
                <a:cs typeface="Arial"/>
              </a:defRPr>
            </a:pPr>
            <a:r>
              <a:rPr sz="2175" b="1">
                <a:solidFill>
                  <a:srgbClr val="176D8C"/>
                </a:solidFill>
                <a:latin typeface="Arial"/>
                <a:ea typeface="Arial"/>
                <a:cs typeface="Arial"/>
              </a:rPr>
              <a:t>Import</a:t>
            </a:r>
          </a:p>
        </p:txBody>
      </p:sp>
      <p:sp>
        <p:nvSpPr>
          <p:cNvPr id="7" name="text">
            <a:extLst xmlns:a="http://schemas.openxmlformats.org/drawingml/2006/main">
              <a:ext uri="{FF2B5EF4-FFF2-40B4-BE49-F238E27FC236}">
                <a16:creationId xmlns:a16="http://schemas.microsoft.com/office/drawing/2014/main" id="{407B58C1-DE0C-4F0A-AC05-76DC13E126EA}"/>
              </a:ext>
            </a:extLst>
          </p:cNvPr>
          <p:cNvSpPr>
            <a:spLocks xmlns:a="http://schemas.openxmlformats.org/drawingml/2006/main" noGrp="1"/>
          </p:cNvSpPr>
          <p:nvPr/>
        </p:nvSpPr>
        <p:spPr>
          <a:xfrm xmlns:a="http://schemas.openxmlformats.org/drawingml/2006/main">
            <a:off x="533400" y="2143125"/>
            <a:ext cx="2324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183044"/>
                </a:solidFill>
                <a:latin typeface="Arial"/>
                <a:ea typeface="Arial"/>
                <a:cs typeface="Arial"/>
              </a:defRPr>
            </a:defPPr>
          </a:lstStyle>
          <a:p xmlns:a="http://schemas.openxmlformats.org/drawingml/2006/main">
            <a:pPr>
              <a:defRPr sz="1725" b="0">
                <a:solidFill>
                  <a:srgbClr val="183044"/>
                </a:solidFill>
                <a:latin typeface="Arial"/>
                <a:ea typeface="Arial"/>
                <a:cs typeface="Arial"/>
              </a:defRPr>
            </a:pPr>
            <a:r>
              <a:rPr sz="1725" b="0">
                <a:solidFill>
                  <a:srgbClr val="183044"/>
                </a:solidFill>
                <a:latin typeface="Arial"/>
                <a:ea typeface="Arial"/>
                <a:cs typeface="Arial"/>
              </a:rPr>
              <a:t>CSV source</a:t>
            </a:r>
          </a:p>
        </p:txBody>
      </p:sp>
      <p:sp>
        <p:nvSpPr>
          <p:cNvPr id="8" name="">
            <a:extLst xmlns:a="http://schemas.openxmlformats.org/drawingml/2006/main">
              <a:ext uri="{FF2B5EF4-FFF2-40B4-BE49-F238E27FC236}">
                <a16:creationId xmlns:a16="http://schemas.microsoft.com/office/drawing/2014/main" id="{C77704E1-7D5B-4F3E-8F08-F9D1BFAA9950}"/>
              </a:ext>
            </a:extLst>
          </p:cNvPr>
          <p:cNvSpPr>
            <a:spLocks xmlns:a="http://schemas.openxmlformats.org/drawingml/2006/main" noGrp="1"/>
          </p:cNvSpPr>
          <p:nvPr/>
        </p:nvSpPr>
        <p:spPr>
          <a:xfrm xmlns:a="http://schemas.openxmlformats.org/drawingml/2006/main">
            <a:off x="3048000" y="2000250"/>
            <a:ext cx="180975" cy="190500"/>
          </a:xfrm>
          <a:prstGeom xmlns:a="http://schemas.openxmlformats.org/drawingml/2006/main" prst="rightArrow">
            <a:avLst/>
          </a:prstGeom>
          <a:solidFill xmlns:a="http://schemas.openxmlformats.org/drawingml/2006/main">
            <a:srgbClr val="176D8C"/>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F84B3F4-5FF2-4862-8F72-88295EA79BF7}"/>
              </a:ext>
            </a:extLst>
          </p:cNvPr>
          <p:cNvSpPr>
            <a:spLocks xmlns:a="http://schemas.openxmlformats.org/drawingml/2006/main" noGrp="1"/>
          </p:cNvSpPr>
          <p:nvPr/>
        </p:nvSpPr>
        <p:spPr>
          <a:xfrm xmlns:a="http://schemas.openxmlformats.org/drawingml/2006/main">
            <a:off x="3295650" y="1552575"/>
            <a:ext cx="2571750" cy="1123950"/>
          </a:xfrm>
          <a:prstGeom xmlns:a="http://schemas.openxmlformats.org/drawingml/2006/main" prst="rect">
            <a:avLst/>
          </a:prstGeom>
          <a:solidFill xmlns:a="http://schemas.openxmlformats.org/drawingml/2006/main">
            <a:srgbClr val="EAF2F5"/>
          </a:solidFill>
          <a:ln xmlns:a="http://schemas.openxmlformats.org/drawingml/2006/main" w="9525">
            <a:solidFill>
              <a:srgbClr val="176D8C"/>
            </a:solidFill>
          </a:ln>
        </p:spPr>
      </p:sp>
      <p:sp>
        <p:nvSpPr>
          <p:cNvPr id="10" name="text">
            <a:extLst xmlns:a="http://schemas.openxmlformats.org/drawingml/2006/main">
              <a:ext uri="{FF2B5EF4-FFF2-40B4-BE49-F238E27FC236}">
                <a16:creationId xmlns:a16="http://schemas.microsoft.com/office/drawing/2014/main" id="{9119FAA4-71B3-4CCB-9D42-8909232EFD4B}"/>
              </a:ext>
            </a:extLst>
          </p:cNvPr>
          <p:cNvSpPr>
            <a:spLocks xmlns:a="http://schemas.openxmlformats.org/drawingml/2006/main" noGrp="1"/>
          </p:cNvSpPr>
          <p:nvPr/>
        </p:nvSpPr>
        <p:spPr>
          <a:xfrm xmlns:a="http://schemas.openxmlformats.org/drawingml/2006/main">
            <a:off x="3429000" y="1666875"/>
            <a:ext cx="2324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1">
                <a:solidFill>
                  <a:srgbClr val="176D8C"/>
                </a:solidFill>
                <a:latin typeface="Arial"/>
                <a:ea typeface="Arial"/>
                <a:cs typeface="Arial"/>
              </a:defRPr>
            </a:defPPr>
          </a:lstStyle>
          <a:p xmlns:a="http://schemas.openxmlformats.org/drawingml/2006/main">
            <a:pPr>
              <a:defRPr sz="2175" b="1">
                <a:solidFill>
                  <a:srgbClr val="176D8C"/>
                </a:solidFill>
                <a:latin typeface="Arial"/>
                <a:ea typeface="Arial"/>
                <a:cs typeface="Arial"/>
              </a:defRPr>
            </a:pPr>
            <a:r>
              <a:rPr sz="2175" b="1">
                <a:solidFill>
                  <a:srgbClr val="176D8C"/>
                </a:solidFill>
                <a:latin typeface="Arial"/>
                <a:ea typeface="Arial"/>
                <a:cs typeface="Arial"/>
              </a:rPr>
              <a:t>Sample</a:t>
            </a:r>
          </a:p>
        </p:txBody>
      </p:sp>
      <p:sp>
        <p:nvSpPr>
          <p:cNvPr id="11" name="text">
            <a:extLst xmlns:a="http://schemas.openxmlformats.org/drawingml/2006/main">
              <a:ext uri="{FF2B5EF4-FFF2-40B4-BE49-F238E27FC236}">
                <a16:creationId xmlns:a16="http://schemas.microsoft.com/office/drawing/2014/main" id="{0D49E024-5510-4D8C-8D25-06EF1DF3ECF9}"/>
              </a:ext>
            </a:extLst>
          </p:cNvPr>
          <p:cNvSpPr>
            <a:spLocks xmlns:a="http://schemas.openxmlformats.org/drawingml/2006/main" noGrp="1"/>
          </p:cNvSpPr>
          <p:nvPr/>
        </p:nvSpPr>
        <p:spPr>
          <a:xfrm xmlns:a="http://schemas.openxmlformats.org/drawingml/2006/main">
            <a:off x="3429000" y="2143125"/>
            <a:ext cx="2324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183044"/>
                </a:solidFill>
                <a:latin typeface="Arial"/>
                <a:ea typeface="Arial"/>
                <a:cs typeface="Arial"/>
              </a:defRPr>
            </a:defPPr>
          </a:lstStyle>
          <a:p xmlns:a="http://schemas.openxmlformats.org/drawingml/2006/main">
            <a:pPr>
              <a:defRPr sz="1725" b="0">
                <a:solidFill>
                  <a:srgbClr val="183044"/>
                </a:solidFill>
                <a:latin typeface="Arial"/>
                <a:ea typeface="Arial"/>
                <a:cs typeface="Arial"/>
              </a:defRPr>
            </a:pPr>
            <a:r>
              <a:rPr sz="1725" b="0">
                <a:solidFill>
                  <a:srgbClr val="183044"/>
                </a:solidFill>
                <a:latin typeface="Arial"/>
                <a:ea typeface="Arial"/>
                <a:cs typeface="Arial"/>
              </a:rPr>
              <a:t>3,000 random rows</a:t>
            </a:r>
          </a:p>
        </p:txBody>
      </p:sp>
      <p:sp>
        <p:nvSpPr>
          <p:cNvPr id="12" name="">
            <a:extLst xmlns:a="http://schemas.openxmlformats.org/drawingml/2006/main">
              <a:ext uri="{FF2B5EF4-FFF2-40B4-BE49-F238E27FC236}">
                <a16:creationId xmlns:a16="http://schemas.microsoft.com/office/drawing/2014/main" id="{5892E0DB-B426-41D2-902D-4DE335165B86}"/>
              </a:ext>
            </a:extLst>
          </p:cNvPr>
          <p:cNvSpPr>
            <a:spLocks xmlns:a="http://schemas.openxmlformats.org/drawingml/2006/main" noGrp="1"/>
          </p:cNvSpPr>
          <p:nvPr/>
        </p:nvSpPr>
        <p:spPr>
          <a:xfrm xmlns:a="http://schemas.openxmlformats.org/drawingml/2006/main">
            <a:off x="5943600" y="2000250"/>
            <a:ext cx="180975" cy="190500"/>
          </a:xfrm>
          <a:prstGeom xmlns:a="http://schemas.openxmlformats.org/drawingml/2006/main" prst="rightArrow">
            <a:avLst/>
          </a:prstGeom>
          <a:solidFill xmlns:a="http://schemas.openxmlformats.org/drawingml/2006/main">
            <a:srgbClr val="176D8C"/>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A3FAD753-B918-40E4-B5C1-BC7935CE63A8}"/>
              </a:ext>
            </a:extLst>
          </p:cNvPr>
          <p:cNvSpPr>
            <a:spLocks xmlns:a="http://schemas.openxmlformats.org/drawingml/2006/main" noGrp="1"/>
          </p:cNvSpPr>
          <p:nvPr/>
        </p:nvSpPr>
        <p:spPr>
          <a:xfrm xmlns:a="http://schemas.openxmlformats.org/drawingml/2006/main">
            <a:off x="6191250" y="1552575"/>
            <a:ext cx="2571750" cy="1123950"/>
          </a:xfrm>
          <a:prstGeom xmlns:a="http://schemas.openxmlformats.org/drawingml/2006/main" prst="rect">
            <a:avLst/>
          </a:prstGeom>
          <a:solidFill xmlns:a="http://schemas.openxmlformats.org/drawingml/2006/main">
            <a:srgbClr val="EAF2F5"/>
          </a:solidFill>
          <a:ln xmlns:a="http://schemas.openxmlformats.org/drawingml/2006/main" w="9525">
            <a:solidFill>
              <a:srgbClr val="176D8C"/>
            </a:solidFill>
          </a:ln>
        </p:spPr>
      </p:sp>
      <p:sp>
        <p:nvSpPr>
          <p:cNvPr id="14" name="text">
            <a:extLst xmlns:a="http://schemas.openxmlformats.org/drawingml/2006/main">
              <a:ext uri="{FF2B5EF4-FFF2-40B4-BE49-F238E27FC236}">
                <a16:creationId xmlns:a16="http://schemas.microsoft.com/office/drawing/2014/main" id="{E2B585FE-D13C-4B14-A4EA-6AB56D94E824}"/>
              </a:ext>
            </a:extLst>
          </p:cNvPr>
          <p:cNvSpPr>
            <a:spLocks xmlns:a="http://schemas.openxmlformats.org/drawingml/2006/main" noGrp="1"/>
          </p:cNvSpPr>
          <p:nvPr/>
        </p:nvSpPr>
        <p:spPr>
          <a:xfrm xmlns:a="http://schemas.openxmlformats.org/drawingml/2006/main">
            <a:off x="6324600" y="1666875"/>
            <a:ext cx="2324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1">
                <a:solidFill>
                  <a:srgbClr val="176D8C"/>
                </a:solidFill>
                <a:latin typeface="Arial"/>
                <a:ea typeface="Arial"/>
                <a:cs typeface="Arial"/>
              </a:defRPr>
            </a:defPPr>
          </a:lstStyle>
          <a:p xmlns:a="http://schemas.openxmlformats.org/drawingml/2006/main">
            <a:pPr>
              <a:defRPr sz="2175" b="1">
                <a:solidFill>
                  <a:srgbClr val="176D8C"/>
                </a:solidFill>
                <a:latin typeface="Arial"/>
                <a:ea typeface="Arial"/>
                <a:cs typeface="Arial"/>
              </a:defRPr>
            </a:pPr>
            <a:r>
              <a:rPr sz="2175" b="1">
                <a:solidFill>
                  <a:srgbClr val="176D8C"/>
                </a:solidFill>
                <a:latin typeface="Arial"/>
                <a:ea typeface="Arial"/>
                <a:cs typeface="Arial"/>
              </a:rPr>
              <a:t>Validate</a:t>
            </a:r>
          </a:p>
        </p:txBody>
      </p:sp>
      <p:sp>
        <p:nvSpPr>
          <p:cNvPr id="15" name="text">
            <a:extLst xmlns:a="http://schemas.openxmlformats.org/drawingml/2006/main">
              <a:ext uri="{FF2B5EF4-FFF2-40B4-BE49-F238E27FC236}">
                <a16:creationId xmlns:a16="http://schemas.microsoft.com/office/drawing/2014/main" id="{41E95651-B9E4-4C86-B0D6-C33927238E6D}"/>
              </a:ext>
            </a:extLst>
          </p:cNvPr>
          <p:cNvSpPr>
            <a:spLocks xmlns:a="http://schemas.openxmlformats.org/drawingml/2006/main" noGrp="1"/>
          </p:cNvSpPr>
          <p:nvPr/>
        </p:nvSpPr>
        <p:spPr>
          <a:xfrm xmlns:a="http://schemas.openxmlformats.org/drawingml/2006/main">
            <a:off x="6324600" y="2143125"/>
            <a:ext cx="2324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183044"/>
                </a:solidFill>
                <a:latin typeface="Arial"/>
                <a:ea typeface="Arial"/>
                <a:cs typeface="Arial"/>
              </a:defRPr>
            </a:defPPr>
          </a:lstStyle>
          <a:p xmlns:a="http://schemas.openxmlformats.org/drawingml/2006/main">
            <a:pPr>
              <a:defRPr sz="1725" b="0">
                <a:solidFill>
                  <a:srgbClr val="183044"/>
                </a:solidFill>
                <a:latin typeface="Arial"/>
                <a:ea typeface="Arial"/>
                <a:cs typeface="Arial"/>
              </a:defRPr>
            </a:pPr>
            <a:r>
              <a:rPr sz="1725" b="0">
                <a:solidFill>
                  <a:srgbClr val="183044"/>
                </a:solidFill>
                <a:latin typeface="Arial"/>
                <a:ea typeface="Arial"/>
                <a:cs typeface="Arial"/>
              </a:rPr>
              <a:t>Codes and ranges</a:t>
            </a:r>
          </a:p>
        </p:txBody>
      </p:sp>
      <p:sp>
        <p:nvSpPr>
          <p:cNvPr id="16" name="">
            <a:extLst xmlns:a="http://schemas.openxmlformats.org/drawingml/2006/main">
              <a:ext uri="{FF2B5EF4-FFF2-40B4-BE49-F238E27FC236}">
                <a16:creationId xmlns:a16="http://schemas.microsoft.com/office/drawing/2014/main" id="{008F5346-EF03-472F-97BD-7E2020CE4715}"/>
              </a:ext>
            </a:extLst>
          </p:cNvPr>
          <p:cNvSpPr>
            <a:spLocks xmlns:a="http://schemas.openxmlformats.org/drawingml/2006/main" noGrp="1"/>
          </p:cNvSpPr>
          <p:nvPr/>
        </p:nvSpPr>
        <p:spPr>
          <a:xfrm xmlns:a="http://schemas.openxmlformats.org/drawingml/2006/main">
            <a:off x="8839200" y="2000250"/>
            <a:ext cx="180975" cy="190500"/>
          </a:xfrm>
          <a:prstGeom xmlns:a="http://schemas.openxmlformats.org/drawingml/2006/main" prst="rightArrow">
            <a:avLst/>
          </a:prstGeom>
          <a:solidFill xmlns:a="http://schemas.openxmlformats.org/drawingml/2006/main">
            <a:srgbClr val="176D8C"/>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158E77A8-AE22-4F8B-8BDB-8DBD1F564E6D}"/>
              </a:ext>
            </a:extLst>
          </p:cNvPr>
          <p:cNvSpPr>
            <a:spLocks xmlns:a="http://schemas.openxmlformats.org/drawingml/2006/main" noGrp="1"/>
          </p:cNvSpPr>
          <p:nvPr/>
        </p:nvSpPr>
        <p:spPr>
          <a:xfrm xmlns:a="http://schemas.openxmlformats.org/drawingml/2006/main">
            <a:off x="9086850" y="1552575"/>
            <a:ext cx="2571750" cy="1123950"/>
          </a:xfrm>
          <a:prstGeom xmlns:a="http://schemas.openxmlformats.org/drawingml/2006/main" prst="rect">
            <a:avLst/>
          </a:prstGeom>
          <a:solidFill xmlns:a="http://schemas.openxmlformats.org/drawingml/2006/main">
            <a:srgbClr val="EAF2F5"/>
          </a:solidFill>
          <a:ln xmlns:a="http://schemas.openxmlformats.org/drawingml/2006/main" w="9525">
            <a:solidFill>
              <a:srgbClr val="176D8C"/>
            </a:solidFill>
          </a:ln>
        </p:spPr>
      </p:sp>
      <p:sp>
        <p:nvSpPr>
          <p:cNvPr id="18" name="text">
            <a:extLst xmlns:a="http://schemas.openxmlformats.org/drawingml/2006/main">
              <a:ext uri="{FF2B5EF4-FFF2-40B4-BE49-F238E27FC236}">
                <a16:creationId xmlns:a16="http://schemas.microsoft.com/office/drawing/2014/main" id="{04C05437-CA5E-4933-98C2-596749F2BEB0}"/>
              </a:ext>
            </a:extLst>
          </p:cNvPr>
          <p:cNvSpPr>
            <a:spLocks xmlns:a="http://schemas.openxmlformats.org/drawingml/2006/main" noGrp="1"/>
          </p:cNvSpPr>
          <p:nvPr/>
        </p:nvSpPr>
        <p:spPr>
          <a:xfrm xmlns:a="http://schemas.openxmlformats.org/drawingml/2006/main">
            <a:off x="9220200" y="1666875"/>
            <a:ext cx="2324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1">
                <a:solidFill>
                  <a:srgbClr val="176D8C"/>
                </a:solidFill>
                <a:latin typeface="Arial"/>
                <a:ea typeface="Arial"/>
                <a:cs typeface="Arial"/>
              </a:defRPr>
            </a:defPPr>
          </a:lstStyle>
          <a:p xmlns:a="http://schemas.openxmlformats.org/drawingml/2006/main">
            <a:pPr>
              <a:defRPr sz="2175" b="1">
                <a:solidFill>
                  <a:srgbClr val="176D8C"/>
                </a:solidFill>
                <a:latin typeface="Arial"/>
                <a:ea typeface="Arial"/>
                <a:cs typeface="Arial"/>
              </a:defRPr>
            </a:pPr>
            <a:r>
              <a:rPr sz="2175" b="1">
                <a:solidFill>
                  <a:srgbClr val="176D8C"/>
                </a:solidFill>
                <a:latin typeface="Arial"/>
                <a:ea typeface="Arial"/>
                <a:cs typeface="Arial"/>
              </a:rPr>
              <a:t>Prepare</a:t>
            </a:r>
          </a:p>
        </p:txBody>
      </p:sp>
      <p:sp>
        <p:nvSpPr>
          <p:cNvPr id="19" name="text">
            <a:extLst xmlns:a="http://schemas.openxmlformats.org/drawingml/2006/main">
              <a:ext uri="{FF2B5EF4-FFF2-40B4-BE49-F238E27FC236}">
                <a16:creationId xmlns:a16="http://schemas.microsoft.com/office/drawing/2014/main" id="{B3D9EC42-014C-47EA-82DE-CCD68B45FF95}"/>
              </a:ext>
            </a:extLst>
          </p:cNvPr>
          <p:cNvSpPr>
            <a:spLocks xmlns:a="http://schemas.openxmlformats.org/drawingml/2006/main" noGrp="1"/>
          </p:cNvSpPr>
          <p:nvPr/>
        </p:nvSpPr>
        <p:spPr>
          <a:xfrm xmlns:a="http://schemas.openxmlformats.org/drawingml/2006/main">
            <a:off x="9220200" y="2143125"/>
            <a:ext cx="2324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183044"/>
                </a:solidFill>
                <a:latin typeface="Arial"/>
                <a:ea typeface="Arial"/>
                <a:cs typeface="Arial"/>
              </a:defRPr>
            </a:defPPr>
          </a:lstStyle>
          <a:p xmlns:a="http://schemas.openxmlformats.org/drawingml/2006/main">
            <a:pPr>
              <a:defRPr sz="1725" b="0">
                <a:solidFill>
                  <a:srgbClr val="183044"/>
                </a:solidFill>
                <a:latin typeface="Arial"/>
                <a:ea typeface="Arial"/>
                <a:cs typeface="Arial"/>
              </a:defRPr>
            </a:pPr>
            <a:r>
              <a:rPr sz="1725" b="0">
                <a:solidFill>
                  <a:srgbClr val="183044"/>
                </a:solidFill>
                <a:latin typeface="Arial"/>
                <a:ea typeface="Arial"/>
                <a:cs typeface="Arial"/>
              </a:rPr>
              <a:t>Labels and types</a:t>
            </a:r>
          </a:p>
        </p:txBody>
      </p:sp>
      <p:sp>
        <p:nvSpPr>
          <p:cNvPr id="20" name="text">
            <a:extLst xmlns:a="http://schemas.openxmlformats.org/drawingml/2006/main">
              <a:ext uri="{FF2B5EF4-FFF2-40B4-BE49-F238E27FC236}">
                <a16:creationId xmlns:a16="http://schemas.microsoft.com/office/drawing/2014/main" id="{62497EA2-859E-48A3-9F90-48A771D4F1E3}"/>
              </a:ext>
            </a:extLst>
          </p:cNvPr>
          <p:cNvSpPr>
            <a:spLocks xmlns:a="http://schemas.openxmlformats.org/drawingml/2006/main" noGrp="1"/>
          </p:cNvSpPr>
          <p:nvPr/>
        </p:nvSpPr>
        <p:spPr>
          <a:xfrm xmlns:a="http://schemas.openxmlformats.org/drawingml/2006/main">
            <a:off x="400050" y="2981325"/>
            <a:ext cx="5810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183044"/>
                </a:solidFill>
                <a:latin typeface="Arial"/>
                <a:ea typeface="Arial"/>
                <a:cs typeface="Arial"/>
              </a:defRPr>
            </a:defPPr>
          </a:lstStyle>
          <a:p xmlns:a="http://schemas.openxmlformats.org/drawingml/2006/main">
            <a:pPr>
              <a:defRPr sz="1875" b="1">
                <a:solidFill>
                  <a:srgbClr val="183044"/>
                </a:solidFill>
                <a:latin typeface="Arial"/>
                <a:ea typeface="Arial"/>
                <a:cs typeface="Arial"/>
              </a:defRPr>
            </a:pPr>
            <a:r>
              <a:rPr sz="1875" b="1">
                <a:solidFill>
                  <a:srgbClr val="183044"/>
                </a:solidFill>
                <a:latin typeface="Arial"/>
                <a:ea typeface="Arial"/>
                <a:cs typeface="Arial"/>
              </a:rPr>
              <a:t>Types used in R</a:t>
            </a:r>
          </a:p>
        </p:txBody>
      </p:sp>
      <p:sp>
        <p:nvSpPr>
          <p:cNvPr id="21" name="text">
            <a:extLst xmlns:a="http://schemas.openxmlformats.org/drawingml/2006/main">
              <a:ext uri="{FF2B5EF4-FFF2-40B4-BE49-F238E27FC236}">
                <a16:creationId xmlns:a16="http://schemas.microsoft.com/office/drawing/2014/main" id="{FA199593-E0DA-43DB-B405-DC0DFB2D897F}"/>
              </a:ext>
            </a:extLst>
          </p:cNvPr>
          <p:cNvSpPr>
            <a:spLocks xmlns:a="http://schemas.openxmlformats.org/drawingml/2006/main" noGrp="1"/>
          </p:cNvSpPr>
          <p:nvPr/>
        </p:nvSpPr>
        <p:spPr>
          <a:xfrm xmlns:a="http://schemas.openxmlformats.org/drawingml/2006/main">
            <a:off x="6572250" y="2981325"/>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183044"/>
                </a:solidFill>
                <a:latin typeface="Arial"/>
                <a:ea typeface="Arial"/>
                <a:cs typeface="Arial"/>
              </a:defRPr>
            </a:defPPr>
          </a:lstStyle>
          <a:p xmlns:a="http://schemas.openxmlformats.org/drawingml/2006/main">
            <a:pPr>
              <a:defRPr sz="1875" b="1">
                <a:solidFill>
                  <a:srgbClr val="183044"/>
                </a:solidFill>
                <a:latin typeface="Arial"/>
                <a:ea typeface="Arial"/>
                <a:cs typeface="Arial"/>
              </a:defRPr>
            </a:pPr>
            <a:r>
              <a:rPr sz="1875" b="1">
                <a:solidFill>
                  <a:srgbClr val="183044"/>
                </a:solidFill>
                <a:latin typeface="Arial"/>
                <a:ea typeface="Arial"/>
                <a:cs typeface="Arial"/>
              </a:rPr>
              <a:t>Quality checks</a:t>
            </a:r>
          </a:p>
        </p:txBody>
      </p:sp>
      <p:graphicFrame>
        <p:nvGraphicFramePr>
          <p:cNvPr id="22" name="">
            <a:extLst xmlns:a="http://schemas.openxmlformats.org/drawingml/2006/main">
              <a:ext uri="{FF2B5EF4-FFF2-40B4-BE49-F238E27FC236}">
                <a16:creationId xmlns:a16="http://schemas.microsoft.com/office/drawing/2014/main" id="{6B3566E4-DC1C-4310-87FA-3588639470B0}"/>
              </a:ext>
            </a:extLst>
          </p:cNvPr>
          <p:cNvGraphicFramePr/>
          <p:nvPr/>
        </p:nvGraphicFramePr>
        <p:xfrm>
          <a:off xmlns:a="http://schemas.openxmlformats.org/drawingml/2006/main" x="400050" y="3448050"/>
          <a:ext xmlns:a="http://schemas.openxmlformats.org/drawingml/2006/main" cx="5791200" cy="1790700"/>
        </p:xfrm>
        <a:graphic xmlns:a="http://schemas.openxmlformats.org/drawingml/2006/main">
          <a:graphicData uri="http://schemas.openxmlformats.org/drawingml/2006/table">
            <a:tbl>
              <a:tblPr/>
              <a:tblGrid>
                <a:gridCol w="2181225"/>
                <a:gridCol w="3609975"/>
              </a:tblGrid>
              <a:tr h="447675">
                <a:tc>
                  <a:txBody>
                    <a:bodyPr>
                      <a:noAutofit/>
                    </a:bodyPr>
                    <a:lstStyle/>
                    <a:p>
                      <a:pPr algn="l"/>
                      <a:r>
                        <a:rPr sz="1650" b="1">
                          <a:solidFill>
                            <a:srgbClr val="FFFFFF"/>
                          </a:solidFill>
                          <a:latin typeface="Arial"/>
                          <a:ea typeface="Arial"/>
                          <a:cs typeface="Arial"/>
                        </a:rPr>
                        <a:t>Type</a:t>
                      </a:r>
                    </a:p>
                  </a:txBody>
                  <a:tcPr marL="91440" marR="91440" marT="45720" marB="45720">
                    <a:lnL w="9525">
                      <a:solidFill>
                        <a:srgbClr val="D6E0E5"/>
                      </a:solidFill>
                      <a:prstDash val="solid"/>
                    </a:lnL>
                    <a:lnR w="9525">
                      <a:solidFill>
                        <a:srgbClr val="D6E0E5"/>
                      </a:solidFill>
                      <a:prstDash val="solid"/>
                    </a:lnR>
                    <a:lnT w="9525">
                      <a:solidFill>
                        <a:srgbClr val="D6E0E5"/>
                      </a:solidFill>
                      <a:prstDash val="solid"/>
                    </a:lnT>
                    <a:lnB w="9525">
                      <a:solidFill>
                        <a:srgbClr val="D6E0E5"/>
                      </a:solidFill>
                      <a:prstDash val="solid"/>
                    </a:lnB>
                    <a:solidFill>
                      <a:srgbClr val="176D8C"/>
                    </a:solidFill>
                  </a:tcPr>
                </a:tc>
                <a:tc>
                  <a:txBody>
                    <a:bodyPr>
                      <a:noAutofit/>
                    </a:bodyPr>
                    <a:lstStyle/>
                    <a:p>
                      <a:pPr algn="ctr"/>
                      <a:r>
                        <a:rPr sz="1650" b="1">
                          <a:solidFill>
                            <a:srgbClr val="FFFFFF"/>
                          </a:solidFill>
                          <a:latin typeface="Arial"/>
                          <a:ea typeface="Arial"/>
                          <a:cs typeface="Arial"/>
                        </a:rPr>
                        <a:t>Examples</a:t>
                      </a:r>
                    </a:p>
                  </a:txBody>
                  <a:tcPr marL="91440" marR="91440" marT="45720" marB="45720">
                    <a:lnR w="9525">
                      <a:solidFill>
                        <a:srgbClr val="D6E0E5"/>
                      </a:solidFill>
                      <a:prstDash val="solid"/>
                    </a:lnR>
                    <a:lnT w="9525">
                      <a:solidFill>
                        <a:srgbClr val="D6E0E5"/>
                      </a:solidFill>
                      <a:prstDash val="solid"/>
                    </a:lnT>
                    <a:lnB w="9525">
                      <a:solidFill>
                        <a:srgbClr val="D6E0E5"/>
                      </a:solidFill>
                      <a:prstDash val="solid"/>
                    </a:lnB>
                    <a:solidFill>
                      <a:srgbClr val="176D8C"/>
                    </a:solidFill>
                  </a:tcPr>
                </a:tc>
              </a:tr>
              <a:tr h="447675">
                <a:tc>
                  <a:txBody>
                    <a:bodyPr>
                      <a:noAutofit/>
                    </a:bodyPr>
                    <a:lstStyle/>
                    <a:p>
                      <a:pPr algn="l"/>
                      <a:r>
                        <a:rPr sz="1650" b="0">
                          <a:solidFill>
                            <a:srgbClr val="183044"/>
                          </a:solidFill>
                          <a:latin typeface="Arial"/>
                          <a:ea typeface="Arial"/>
                          <a:cs typeface="Arial"/>
                        </a:rPr>
                        <a:t>Numeric</a:t>
                      </a:r>
                    </a:p>
                  </a:txBody>
                  <a:tcPr marL="91440" marR="91440" marT="45720" marB="45720">
                    <a:lnL w="9525">
                      <a:solidFill>
                        <a:srgbClr val="D6E0E5"/>
                      </a:solidFill>
                      <a:prstDash val="solid"/>
                    </a:lnL>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650" b="0">
                          <a:solidFill>
                            <a:srgbClr val="183044"/>
                          </a:solidFill>
                          <a:latin typeface="Arial"/>
                          <a:ea typeface="Arial"/>
                          <a:cs typeface="Arial"/>
                        </a:rPr>
                        <a:t>BMI and poor-health days</a:t>
                      </a:r>
                    </a:p>
                  </a:txBody>
                  <a:tcPr marL="91440" marR="91440" marT="45720" marB="45720">
                    <a:lnR w="9525">
                      <a:solidFill>
                        <a:srgbClr val="D6E0E5"/>
                      </a:solidFill>
                      <a:prstDash val="solid"/>
                    </a:lnR>
                    <a:lnB w="9525">
                      <a:solidFill>
                        <a:srgbClr val="D6E0E5"/>
                      </a:solidFill>
                      <a:prstDash val="solid"/>
                    </a:lnB>
                    <a:solidFill>
                      <a:srgbClr val="FFFFFF"/>
                    </a:solidFill>
                  </a:tcPr>
                </a:tc>
              </a:tr>
              <a:tr h="447675">
                <a:tc>
                  <a:txBody>
                    <a:bodyPr>
                      <a:noAutofit/>
                    </a:bodyPr>
                    <a:lstStyle/>
                    <a:p>
                      <a:pPr algn="l"/>
                      <a:r>
                        <a:rPr sz="1650" b="0">
                          <a:solidFill>
                            <a:srgbClr val="183044"/>
                          </a:solidFill>
                          <a:latin typeface="Arial"/>
                          <a:ea typeface="Arial"/>
                          <a:cs typeface="Arial"/>
                        </a:rPr>
                        <a:t>Categorical</a:t>
                      </a:r>
                    </a:p>
                  </a:txBody>
                  <a:tcPr marL="91440" marR="91440" marT="45720" marB="45720">
                    <a:lnL w="9525">
                      <a:solidFill>
                        <a:srgbClr val="D6E0E5"/>
                      </a:solidFill>
                      <a:prstDash val="solid"/>
                    </a:lnL>
                    <a:lnR w="9525">
                      <a:solidFill>
                        <a:srgbClr val="D6E0E5"/>
                      </a:solidFill>
                      <a:prstDash val="solid"/>
                    </a:lnR>
                    <a:lnB w="9525">
                      <a:solidFill>
                        <a:srgbClr val="D6E0E5"/>
                      </a:solidFill>
                      <a:prstDash val="solid"/>
                    </a:lnB>
                    <a:solidFill>
                      <a:srgbClr val="EAF2F5"/>
                    </a:solidFill>
                  </a:tcPr>
                </a:tc>
                <a:tc>
                  <a:txBody>
                    <a:bodyPr>
                      <a:noAutofit/>
                    </a:bodyPr>
                    <a:lstStyle/>
                    <a:p>
                      <a:pPr algn="ctr"/>
                      <a:r>
                        <a:rPr sz="1650" b="0">
                          <a:solidFill>
                            <a:srgbClr val="183044"/>
                          </a:solidFill>
                          <a:latin typeface="Arial"/>
                          <a:ea typeface="Arial"/>
                          <a:cs typeface="Arial"/>
                        </a:rPr>
                        <a:t>Health status, sex and smoking</a:t>
                      </a:r>
                    </a:p>
                  </a:txBody>
                  <a:tcPr marL="91440" marR="91440" marT="45720" marB="45720">
                    <a:lnR w="9525">
                      <a:solidFill>
                        <a:srgbClr val="D6E0E5"/>
                      </a:solidFill>
                      <a:prstDash val="solid"/>
                    </a:lnR>
                    <a:lnB w="9525">
                      <a:solidFill>
                        <a:srgbClr val="D6E0E5"/>
                      </a:solidFill>
                      <a:prstDash val="solid"/>
                    </a:lnB>
                    <a:solidFill>
                      <a:srgbClr val="EAF2F5"/>
                    </a:solidFill>
                  </a:tcPr>
                </a:tc>
              </a:tr>
              <a:tr h="447675">
                <a:tc>
                  <a:txBody>
                    <a:bodyPr>
                      <a:noAutofit/>
                    </a:bodyPr>
                    <a:lstStyle/>
                    <a:p>
                      <a:pPr algn="l"/>
                      <a:r>
                        <a:rPr sz="1650" b="0">
                          <a:solidFill>
                            <a:srgbClr val="183044"/>
                          </a:solidFill>
                          <a:latin typeface="Arial"/>
                          <a:ea typeface="Arial"/>
                          <a:cs typeface="Arial"/>
                        </a:rPr>
                        <a:t>Grouped categories</a:t>
                      </a:r>
                    </a:p>
                  </a:txBody>
                  <a:tcPr marL="91440" marR="91440" marT="45720" marB="45720">
                    <a:lnL w="9525">
                      <a:solidFill>
                        <a:srgbClr val="D6E0E5"/>
                      </a:solidFill>
                      <a:prstDash val="solid"/>
                    </a:lnL>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650" b="0">
                          <a:solidFill>
                            <a:srgbClr val="183044"/>
                          </a:solidFill>
                          <a:latin typeface="Arial"/>
                          <a:ea typeface="Arial"/>
                          <a:cs typeface="Arial"/>
                        </a:rPr>
                        <a:t>Age, income and education</a:t>
                      </a:r>
                    </a:p>
                  </a:txBody>
                  <a:tcPr marL="91440" marR="91440" marT="45720" marB="45720">
                    <a:lnR w="9525">
                      <a:solidFill>
                        <a:srgbClr val="D6E0E5"/>
                      </a:solidFill>
                      <a:prstDash val="solid"/>
                    </a:lnR>
                    <a:lnB w="9525">
                      <a:solidFill>
                        <a:srgbClr val="D6E0E5"/>
                      </a:solidFill>
                      <a:prstDash val="solid"/>
                    </a:lnB>
                    <a:solidFill>
                      <a:srgbClr val="FFFFFF"/>
                    </a:solidFill>
                  </a:tcPr>
                </a:tc>
              </a:tr>
            </a:tbl>
          </a:graphicData>
        </a:graphic>
      </p:graphicFrame>
      <p:graphicFrame>
        <p:nvGraphicFramePr>
          <p:cNvPr id="23" name="">
            <a:extLst xmlns:a="http://schemas.openxmlformats.org/drawingml/2006/main">
              <a:ext uri="{FF2B5EF4-FFF2-40B4-BE49-F238E27FC236}">
                <a16:creationId xmlns:a16="http://schemas.microsoft.com/office/drawing/2014/main" id="{E0821D3D-BB92-4397-BE57-414EF033187F}"/>
              </a:ext>
            </a:extLst>
          </p:cNvPr>
          <p:cNvGraphicFramePr/>
          <p:nvPr/>
        </p:nvGraphicFramePr>
        <p:xfrm>
          <a:off xmlns:a="http://schemas.openxmlformats.org/drawingml/2006/main" x="6572250" y="3448050"/>
          <a:ext xmlns:a="http://schemas.openxmlformats.org/drawingml/2006/main" cx="5238750" cy="1790700"/>
        </p:xfrm>
        <a:graphic xmlns:a="http://schemas.openxmlformats.org/drawingml/2006/main">
          <a:graphicData uri="http://schemas.openxmlformats.org/drawingml/2006/table">
            <a:tbl>
              <a:tblPr/>
              <a:tblGrid>
                <a:gridCol w="3495675"/>
                <a:gridCol w="1743075"/>
              </a:tblGrid>
              <a:tr h="358140">
                <a:tc>
                  <a:txBody>
                    <a:bodyPr>
                      <a:noAutofit/>
                    </a:bodyPr>
                    <a:lstStyle/>
                    <a:p>
                      <a:pPr algn="l"/>
                      <a:r>
                        <a:rPr sz="1575" b="1">
                          <a:solidFill>
                            <a:srgbClr val="FFFFFF"/>
                          </a:solidFill>
                          <a:latin typeface="Arial"/>
                          <a:ea typeface="Arial"/>
                          <a:cs typeface="Arial"/>
                        </a:rPr>
                        <a:t>Check</a:t>
                      </a:r>
                    </a:p>
                  </a:txBody>
                  <a:tcPr marL="91440" marR="91440" marT="45720" marB="45720">
                    <a:lnL w="9525">
                      <a:solidFill>
                        <a:srgbClr val="D6E0E5"/>
                      </a:solidFill>
                      <a:prstDash val="solid"/>
                    </a:lnL>
                    <a:lnR w="9525">
                      <a:solidFill>
                        <a:srgbClr val="D6E0E5"/>
                      </a:solidFill>
                      <a:prstDash val="solid"/>
                    </a:lnR>
                    <a:lnT w="9525">
                      <a:solidFill>
                        <a:srgbClr val="D6E0E5"/>
                      </a:solidFill>
                      <a:prstDash val="solid"/>
                    </a:lnT>
                    <a:lnB w="9525">
                      <a:solidFill>
                        <a:srgbClr val="D6E0E5"/>
                      </a:solidFill>
                      <a:prstDash val="solid"/>
                    </a:lnB>
                    <a:solidFill>
                      <a:srgbClr val="176D8C"/>
                    </a:solidFill>
                  </a:tcPr>
                </a:tc>
                <a:tc>
                  <a:txBody>
                    <a:bodyPr>
                      <a:noAutofit/>
                    </a:bodyPr>
                    <a:lstStyle/>
                    <a:p>
                      <a:pPr algn="ctr"/>
                      <a:r>
                        <a:rPr sz="1575" b="1">
                          <a:solidFill>
                            <a:srgbClr val="FFFFFF"/>
                          </a:solidFill>
                          <a:latin typeface="Arial"/>
                          <a:ea typeface="Arial"/>
                          <a:cs typeface="Arial"/>
                        </a:rPr>
                        <a:t>Result</a:t>
                      </a:r>
                    </a:p>
                  </a:txBody>
                  <a:tcPr marL="91440" marR="91440" marT="45720" marB="45720">
                    <a:lnR w="9525">
                      <a:solidFill>
                        <a:srgbClr val="D6E0E5"/>
                      </a:solidFill>
                      <a:prstDash val="solid"/>
                    </a:lnR>
                    <a:lnT w="9525">
                      <a:solidFill>
                        <a:srgbClr val="D6E0E5"/>
                      </a:solidFill>
                      <a:prstDash val="solid"/>
                    </a:lnT>
                    <a:lnB w="9525">
                      <a:solidFill>
                        <a:srgbClr val="D6E0E5"/>
                      </a:solidFill>
                      <a:prstDash val="solid"/>
                    </a:lnB>
                    <a:solidFill>
                      <a:srgbClr val="176D8C"/>
                    </a:solidFill>
                  </a:tcPr>
                </a:tc>
              </a:tr>
              <a:tr h="358140">
                <a:tc>
                  <a:txBody>
                    <a:bodyPr>
                      <a:noAutofit/>
                    </a:bodyPr>
                    <a:lstStyle/>
                    <a:p>
                      <a:pPr algn="l"/>
                      <a:r>
                        <a:rPr sz="1575" b="0">
                          <a:solidFill>
                            <a:srgbClr val="183044"/>
                          </a:solidFill>
                          <a:latin typeface="Arial"/>
                          <a:ea typeface="Arial"/>
                          <a:cs typeface="Arial"/>
                        </a:rPr>
                        <a:t>Missing entries</a:t>
                      </a:r>
                    </a:p>
                  </a:txBody>
                  <a:tcPr marL="91440" marR="91440" marT="45720" marB="45720">
                    <a:lnL w="9525">
                      <a:solidFill>
                        <a:srgbClr val="D6E0E5"/>
                      </a:solidFill>
                      <a:prstDash val="solid"/>
                    </a:lnL>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575" b="0">
                          <a:solidFill>
                            <a:srgbClr val="183044"/>
                          </a:solidFill>
                          <a:latin typeface="Arial"/>
                          <a:ea typeface="Arial"/>
                          <a:cs typeface="Arial"/>
                        </a:rPr>
                        <a:t>0</a:t>
                      </a:r>
                    </a:p>
                  </a:txBody>
                  <a:tcPr marL="91440" marR="91440" marT="45720" marB="45720">
                    <a:lnR w="9525">
                      <a:solidFill>
                        <a:srgbClr val="D6E0E5"/>
                      </a:solidFill>
                      <a:prstDash val="solid"/>
                    </a:lnR>
                    <a:lnB w="9525">
                      <a:solidFill>
                        <a:srgbClr val="D6E0E5"/>
                      </a:solidFill>
                      <a:prstDash val="solid"/>
                    </a:lnB>
                    <a:solidFill>
                      <a:srgbClr val="FFFFFF"/>
                    </a:solidFill>
                  </a:tcPr>
                </a:tc>
              </a:tr>
              <a:tr h="358140">
                <a:tc>
                  <a:txBody>
                    <a:bodyPr>
                      <a:noAutofit/>
                    </a:bodyPr>
                    <a:lstStyle/>
                    <a:p>
                      <a:pPr algn="l"/>
                      <a:r>
                        <a:rPr sz="1575" b="0">
                          <a:solidFill>
                            <a:srgbClr val="183044"/>
                          </a:solidFill>
                          <a:latin typeface="Arial"/>
                          <a:ea typeface="Arial"/>
                          <a:cs typeface="Arial"/>
                        </a:rPr>
                        <a:t>Invalid codes / ranges</a:t>
                      </a:r>
                    </a:p>
                  </a:txBody>
                  <a:tcPr marL="91440" marR="91440" marT="45720" marB="45720">
                    <a:lnL w="9525">
                      <a:solidFill>
                        <a:srgbClr val="D6E0E5"/>
                      </a:solidFill>
                      <a:prstDash val="solid"/>
                    </a:lnL>
                    <a:lnR w="9525">
                      <a:solidFill>
                        <a:srgbClr val="D6E0E5"/>
                      </a:solidFill>
                      <a:prstDash val="solid"/>
                    </a:lnR>
                    <a:lnB w="9525">
                      <a:solidFill>
                        <a:srgbClr val="D6E0E5"/>
                      </a:solidFill>
                      <a:prstDash val="solid"/>
                    </a:lnB>
                    <a:solidFill>
                      <a:srgbClr val="EAF2F5"/>
                    </a:solidFill>
                  </a:tcPr>
                </a:tc>
                <a:tc>
                  <a:txBody>
                    <a:bodyPr>
                      <a:noAutofit/>
                    </a:bodyPr>
                    <a:lstStyle/>
                    <a:p>
                      <a:pPr algn="ctr"/>
                      <a:r>
                        <a:rPr sz="1575" b="0">
                          <a:solidFill>
                            <a:srgbClr val="183044"/>
                          </a:solidFill>
                          <a:latin typeface="Arial"/>
                          <a:ea typeface="Arial"/>
                          <a:cs typeface="Arial"/>
                        </a:rPr>
                        <a:t>0</a:t>
                      </a:r>
                    </a:p>
                  </a:txBody>
                  <a:tcPr marL="91440" marR="91440" marT="45720" marB="45720">
                    <a:lnR w="9525">
                      <a:solidFill>
                        <a:srgbClr val="D6E0E5"/>
                      </a:solidFill>
                      <a:prstDash val="solid"/>
                    </a:lnR>
                    <a:lnB w="9525">
                      <a:solidFill>
                        <a:srgbClr val="D6E0E5"/>
                      </a:solidFill>
                      <a:prstDash val="solid"/>
                    </a:lnB>
                    <a:solidFill>
                      <a:srgbClr val="EAF2F5"/>
                    </a:solidFill>
                  </a:tcPr>
                </a:tc>
              </a:tr>
              <a:tr h="358140">
                <a:tc>
                  <a:txBody>
                    <a:bodyPr>
                      <a:noAutofit/>
                    </a:bodyPr>
                    <a:lstStyle/>
                    <a:p>
                      <a:pPr algn="l"/>
                      <a:r>
                        <a:rPr sz="1575" b="0">
                          <a:solidFill>
                            <a:srgbClr val="183044"/>
                          </a:solidFill>
                          <a:latin typeface="Arial"/>
                          <a:ea typeface="Arial"/>
                          <a:cs typeface="Arial"/>
                        </a:rPr>
                        <a:t>Health-day range</a:t>
                      </a:r>
                    </a:p>
                  </a:txBody>
                  <a:tcPr marL="91440" marR="91440" marT="45720" marB="45720">
                    <a:lnL w="9525">
                      <a:solidFill>
                        <a:srgbClr val="D6E0E5"/>
                      </a:solidFill>
                      <a:prstDash val="solid"/>
                    </a:lnL>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575" b="0">
                          <a:solidFill>
                            <a:srgbClr val="183044"/>
                          </a:solidFill>
                          <a:latin typeface="Arial"/>
                          <a:ea typeface="Arial"/>
                          <a:cs typeface="Arial"/>
                        </a:rPr>
                        <a:t>0–30 days</a:t>
                      </a:r>
                    </a:p>
                  </a:txBody>
                  <a:tcPr marL="91440" marR="91440" marT="45720" marB="45720">
                    <a:lnR w="9525">
                      <a:solidFill>
                        <a:srgbClr val="D6E0E5"/>
                      </a:solidFill>
                      <a:prstDash val="solid"/>
                    </a:lnR>
                    <a:lnB w="9525">
                      <a:solidFill>
                        <a:srgbClr val="D6E0E5"/>
                      </a:solidFill>
                      <a:prstDash val="solid"/>
                    </a:lnB>
                    <a:solidFill>
                      <a:srgbClr val="FFFFFF"/>
                    </a:solidFill>
                  </a:tcPr>
                </a:tc>
              </a:tr>
              <a:tr h="358140">
                <a:tc>
                  <a:txBody>
                    <a:bodyPr>
                      <a:noAutofit/>
                    </a:bodyPr>
                    <a:lstStyle/>
                    <a:p>
                      <a:pPr algn="l"/>
                      <a:r>
                        <a:rPr sz="1575" b="0">
                          <a:solidFill>
                            <a:srgbClr val="183044"/>
                          </a:solidFill>
                          <a:latin typeface="Arial"/>
                          <a:ea typeface="Arial"/>
                          <a:cs typeface="Arial"/>
                        </a:rPr>
                        <a:t>Sample selection</a:t>
                      </a:r>
                    </a:p>
                  </a:txBody>
                  <a:tcPr marL="91440" marR="91440" marT="45720" marB="45720">
                    <a:lnL w="9525">
                      <a:solidFill>
                        <a:srgbClr val="D6E0E5"/>
                      </a:solidFill>
                      <a:prstDash val="solid"/>
                    </a:lnL>
                    <a:lnR w="9525">
                      <a:solidFill>
                        <a:srgbClr val="D6E0E5"/>
                      </a:solidFill>
                      <a:prstDash val="solid"/>
                    </a:lnR>
                    <a:lnB w="9525">
                      <a:solidFill>
                        <a:srgbClr val="D6E0E5"/>
                      </a:solidFill>
                      <a:prstDash val="solid"/>
                    </a:lnB>
                    <a:solidFill>
                      <a:srgbClr val="EAF2F5"/>
                    </a:solidFill>
                  </a:tcPr>
                </a:tc>
                <a:tc>
                  <a:txBody>
                    <a:bodyPr>
                      <a:noAutofit/>
                    </a:bodyPr>
                    <a:lstStyle/>
                    <a:p>
                      <a:pPr algn="ctr"/>
                      <a:r>
                        <a:rPr sz="1575" b="0">
                          <a:solidFill>
                            <a:srgbClr val="183044"/>
                          </a:solidFill>
                          <a:latin typeface="Arial"/>
                          <a:ea typeface="Arial"/>
                          <a:cs typeface="Arial"/>
                        </a:rPr>
                        <a:t>Seed 101</a:t>
                      </a:r>
                    </a:p>
                  </a:txBody>
                  <a:tcPr marL="91440" marR="91440" marT="45720" marB="45720">
                    <a:lnR w="9525">
                      <a:solidFill>
                        <a:srgbClr val="D6E0E5"/>
                      </a:solidFill>
                      <a:prstDash val="solid"/>
                    </a:lnR>
                    <a:lnB w="9525">
                      <a:solidFill>
                        <a:srgbClr val="D6E0E5"/>
                      </a:solidFill>
                      <a:prstDash val="solid"/>
                    </a:lnB>
                    <a:solidFill>
                      <a:srgbClr val="EAF2F5"/>
                    </a:solidFill>
                  </a:tcPr>
                </a:tc>
              </a:tr>
            </a:tbl>
          </a:graphicData>
        </a:graphic>
      </p:graphicFrame>
      <p:sp>
        <p:nvSpPr>
          <p:cNvPr id="24" name="">
            <a:extLst xmlns:a="http://schemas.openxmlformats.org/drawingml/2006/main">
              <a:ext uri="{FF2B5EF4-FFF2-40B4-BE49-F238E27FC236}">
                <a16:creationId xmlns:a16="http://schemas.microsoft.com/office/drawing/2014/main" id="{34BE28B7-F731-4C02-A086-20DA9A3154C5}"/>
              </a:ext>
            </a:extLst>
          </p:cNvPr>
          <p:cNvSpPr>
            <a:spLocks xmlns:a="http://schemas.openxmlformats.org/drawingml/2006/main" noGrp="1"/>
          </p:cNvSpPr>
          <p:nvPr/>
        </p:nvSpPr>
        <p:spPr>
          <a:xfrm xmlns:a="http://schemas.openxmlformats.org/drawingml/2006/main">
            <a:off x="400050" y="5505450"/>
            <a:ext cx="11391900" cy="19050"/>
          </a:xfrm>
          <a:prstGeom xmlns:a="http://schemas.openxmlformats.org/drawingml/2006/main" prst="rect">
            <a:avLst/>
          </a:prstGeom>
          <a:solidFill xmlns:a="http://schemas.openxmlformats.org/drawingml/2006/main">
            <a:srgbClr val="CCDCE4"/>
          </a:solidFill>
          <a:ln xmlns:a="http://schemas.openxmlformats.org/drawingml/2006/main" w="0">
            <a:noFill/>
          </a:ln>
        </p:spPr>
      </p:sp>
      <p:sp>
        <p:nvSpPr>
          <p:cNvPr id="25" name="text">
            <a:extLst xmlns:a="http://schemas.openxmlformats.org/drawingml/2006/main">
              <a:ext uri="{FF2B5EF4-FFF2-40B4-BE49-F238E27FC236}">
                <a16:creationId xmlns:a16="http://schemas.microsoft.com/office/drawing/2014/main" id="{7B7775B6-2088-4384-8696-4A56AE7C068F}"/>
              </a:ext>
            </a:extLst>
          </p:cNvPr>
          <p:cNvSpPr>
            <a:spLocks xmlns:a="http://schemas.openxmlformats.org/drawingml/2006/main" noGrp="1"/>
          </p:cNvSpPr>
          <p:nvPr/>
        </p:nvSpPr>
        <p:spPr>
          <a:xfrm xmlns:a="http://schemas.openxmlformats.org/drawingml/2006/main">
            <a:off x="400050" y="5676900"/>
            <a:ext cx="1133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176D8C"/>
                </a:solidFill>
                <a:latin typeface="Arial"/>
                <a:ea typeface="Arial"/>
                <a:cs typeface="Arial"/>
              </a:defRPr>
            </a:defPPr>
          </a:lstStyle>
          <a:p xmlns:a="http://schemas.openxmlformats.org/drawingml/2006/main">
            <a:pPr>
              <a:defRPr sz="1875" b="1">
                <a:solidFill>
                  <a:srgbClr val="176D8C"/>
                </a:solidFill>
                <a:latin typeface="Arial"/>
                <a:ea typeface="Arial"/>
                <a:cs typeface="Arial"/>
              </a:defRPr>
            </a:pPr>
            <a:r>
              <a:rPr sz="1875" b="1">
                <a:solidFill>
                  <a:srgbClr val="176D8C"/>
                </a:solidFill>
                <a:latin typeface="Arial"/>
                <a:ea typeface="Arial"/>
                <a:cs typeface="Arial"/>
              </a:rPr>
              <a:t>Import CSV  →  label categories  →  export clean data for the exercises</a:t>
            </a:r>
          </a:p>
        </p:txBody>
      </p:sp>
      <p:sp>
        <p:nvSpPr>
          <p:cNvPr id="26" name="">
            <a:extLst xmlns:a="http://schemas.openxmlformats.org/drawingml/2006/main">
              <a:ext uri="{FF2B5EF4-FFF2-40B4-BE49-F238E27FC236}">
                <a16:creationId xmlns:a16="http://schemas.microsoft.com/office/drawing/2014/main" id="{6E869A28-6F49-44EA-902B-360D4CD179BF}"/>
              </a:ext>
            </a:extLst>
          </p:cNvPr>
          <p:cNvSpPr>
            <a:spLocks xmlns:a="http://schemas.openxmlformats.org/drawingml/2006/main" noGrp="1"/>
          </p:cNvSpPr>
          <p:nvPr/>
        </p:nvSpPr>
        <p:spPr>
          <a:xfrm xmlns:a="http://schemas.openxmlformats.org/drawingml/2006/main">
            <a:off x="400050" y="6153150"/>
            <a:ext cx="11391900" cy="19050"/>
          </a:xfrm>
          <a:prstGeom xmlns:a="http://schemas.openxmlformats.org/drawingml/2006/main" prst="rect">
            <a:avLst/>
          </a:prstGeom>
          <a:solidFill xmlns:a="http://schemas.openxmlformats.org/drawingml/2006/main">
            <a:srgbClr val="176D8C"/>
          </a:solidFill>
          <a:ln xmlns:a="http://schemas.openxmlformats.org/drawingml/2006/main" w="0">
            <a:noFill/>
          </a:ln>
        </p:spPr>
      </p:sp>
      <p:sp>
        <p:nvSpPr>
          <p:cNvPr id="27" name="text">
            <a:extLst xmlns:a="http://schemas.openxmlformats.org/drawingml/2006/main">
              <a:ext uri="{FF2B5EF4-FFF2-40B4-BE49-F238E27FC236}">
                <a16:creationId xmlns:a16="http://schemas.microsoft.com/office/drawing/2014/main" id="{F46E855A-1064-4616-B658-DF3F8AF89668}"/>
              </a:ext>
            </a:extLst>
          </p:cNvPr>
          <p:cNvSpPr>
            <a:spLocks xmlns:a="http://schemas.openxmlformats.org/drawingml/2006/main" noGrp="1"/>
          </p:cNvSpPr>
          <p:nvPr/>
        </p:nvSpPr>
        <p:spPr>
          <a:xfrm xmlns:a="http://schemas.openxmlformats.org/drawingml/2006/main">
            <a:off x="400050" y="6267450"/>
            <a:ext cx="1095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176D8C"/>
                </a:solidFill>
                <a:latin typeface="Arial"/>
                <a:ea typeface="Arial"/>
                <a:cs typeface="Arial"/>
              </a:defRPr>
            </a:defPPr>
          </a:lstStyle>
          <a:p xmlns:a="http://schemas.openxmlformats.org/drawingml/2006/main">
            <a:pPr>
              <a:defRPr sz="1650" b="1">
                <a:solidFill>
                  <a:srgbClr val="176D8C"/>
                </a:solidFill>
                <a:latin typeface="Arial"/>
                <a:ea typeface="Arial"/>
                <a:cs typeface="Arial"/>
              </a:defRPr>
            </a:pPr>
            <a:r>
              <a:rPr sz="1650" b="1">
                <a:solidFill>
                  <a:srgbClr val="176D8C"/>
                </a:solidFill>
                <a:latin typeface="Arial"/>
                <a:ea typeface="Arial"/>
                <a:cs typeface="Arial"/>
              </a:rPr>
              <a:t>Readable labels and correct data types make every later analysis easier.</a:t>
            </a:r>
          </a:p>
        </p:txBody>
      </p:sp>
      <p:sp>
        <p:nvSpPr>
          <p:cNvPr id="28" name="text">
            <a:extLst xmlns:a="http://schemas.openxmlformats.org/drawingml/2006/main">
              <a:ext uri="{FF2B5EF4-FFF2-40B4-BE49-F238E27FC236}">
                <a16:creationId xmlns:a16="http://schemas.microsoft.com/office/drawing/2014/main" id="{1855A92B-9B7C-4EB8-A946-204ABCC30DF1}"/>
              </a:ext>
            </a:extLst>
          </p:cNvPr>
          <p:cNvSpPr>
            <a:spLocks xmlns:a="http://schemas.openxmlformats.org/drawingml/2006/main" noGrp="1"/>
          </p:cNvSpPr>
          <p:nvPr/>
        </p:nvSpPr>
        <p:spPr>
          <a:xfrm xmlns:a="http://schemas.openxmlformats.org/drawingml/2006/main">
            <a:off x="11353800" y="6581775"/>
            <a:ext cx="6572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050" b="0">
                <a:solidFill>
                  <a:srgbClr val="415566"/>
                </a:solidFill>
                <a:latin typeface="Arial"/>
                <a:ea typeface="Arial"/>
                <a:cs typeface="Arial"/>
              </a:defRPr>
            </a:defPPr>
          </a:lstStyle>
          <a:p xmlns:a="http://schemas.openxmlformats.org/drawingml/2006/main">
            <a:pPr>
              <a:defRPr sz="1050" b="0">
                <a:solidFill>
                  <a:srgbClr val="415566"/>
                </a:solidFill>
                <a:latin typeface="Arial"/>
                <a:ea typeface="Arial"/>
                <a:cs typeface="Arial"/>
              </a:defRPr>
            </a:pPr>
            <a:r>
              <a:rPr sz="1050" b="0">
                <a:solidFill>
                  <a:srgbClr val="415566"/>
                </a:solidFill>
                <a:latin typeface="Arial"/>
                <a:ea typeface="Arial"/>
                <a:cs typeface="Arial"/>
              </a:rPr>
              <a:t>2 / 12</a:t>
            </a:r>
          </a:p>
        </p:txBody>
      </p:sp>
    </p:spTree>
    <p:extLst>
      <p:ext uri="{BB962C8B-B14F-4D97-AF65-F5344CB8AC3E}">
        <p14:creationId xmlns:p14="http://schemas.microsoft.com/office/powerpoint/2010/main" val="191843677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text">
            <a:extLst xmlns:a="http://schemas.openxmlformats.org/drawingml/2006/main">
              <a:ext uri="{FF2B5EF4-FFF2-40B4-BE49-F238E27FC236}">
                <a16:creationId xmlns:a16="http://schemas.microsoft.com/office/drawing/2014/main" id="{1AC58C73-1221-42E3-BECF-BB60BD02DD16}"/>
              </a:ext>
            </a:extLst>
          </p:cNvPr>
          <p:cNvSpPr>
            <a:spLocks xmlns:a="http://schemas.openxmlformats.org/drawingml/2006/main" noGrp="1"/>
          </p:cNvSpPr>
          <p:nvPr/>
        </p:nvSpPr>
        <p:spPr>
          <a:xfrm xmlns:a="http://schemas.openxmlformats.org/drawingml/2006/main">
            <a:off x="590550" y="76200"/>
            <a:ext cx="112204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1">
                <a:solidFill>
                  <a:srgbClr val="176D8C"/>
                </a:solidFill>
                <a:latin typeface="Arial"/>
                <a:ea typeface="Arial"/>
                <a:cs typeface="Arial"/>
              </a:defRPr>
            </a:defPPr>
          </a:lstStyle>
          <a:p xmlns:a="http://schemas.openxmlformats.org/drawingml/2006/main">
            <a:pPr>
              <a:defRPr sz="1350" b="1">
                <a:solidFill>
                  <a:srgbClr val="176D8C"/>
                </a:solidFill>
                <a:latin typeface="Arial"/>
                <a:ea typeface="Arial"/>
                <a:cs typeface="Arial"/>
              </a:defRPr>
            </a:pPr>
            <a:r>
              <a:rPr sz="1350" b="1">
                <a:solidFill>
                  <a:srgbClr val="176D8C"/>
                </a:solidFill>
                <a:latin typeface="Arial"/>
                <a:ea typeface="Arial"/>
                <a:cs typeface="Arial"/>
              </a:rPr>
              <a:t>LAB 1 EXTENSION: Data preparation and outlier analysis</a:t>
            </a:r>
          </a:p>
        </p:txBody>
      </p:sp>
      <p:sp>
        <p:nvSpPr>
          <p:cNvPr id="2" name="">
            <a:extLst xmlns:a="http://schemas.openxmlformats.org/drawingml/2006/main">
              <a:ext uri="{FF2B5EF4-FFF2-40B4-BE49-F238E27FC236}">
                <a16:creationId xmlns:a16="http://schemas.microsoft.com/office/drawing/2014/main" id="{E164F81F-4557-4F1A-95B9-DD9993FCB0EA}"/>
              </a:ext>
            </a:extLst>
          </p:cNvPr>
          <p:cNvSpPr>
            <a:spLocks xmlns:a="http://schemas.openxmlformats.org/drawingml/2006/main" noGrp="1"/>
          </p:cNvSpPr>
          <p:nvPr/>
        </p:nvSpPr>
        <p:spPr>
          <a:xfrm xmlns:a="http://schemas.openxmlformats.org/drawingml/2006/main">
            <a:off x="381000" y="381000"/>
            <a:ext cx="47625" cy="438150"/>
          </a:xfrm>
          <a:prstGeom xmlns:a="http://schemas.openxmlformats.org/drawingml/2006/main" prst="rect">
            <a:avLst/>
          </a:prstGeom>
          <a:solidFill xmlns:a="http://schemas.openxmlformats.org/drawingml/2006/main">
            <a:srgbClr val="176D8C"/>
          </a:solidFill>
          <a:ln xmlns:a="http://schemas.openxmlformats.org/drawingml/2006/main" w="0">
            <a:noFill/>
          </a:ln>
        </p:spPr>
      </p:sp>
      <p:sp>
        <p:nvSpPr>
          <p:cNvPr id="3" name="text">
            <a:extLst xmlns:a="http://schemas.openxmlformats.org/drawingml/2006/main">
              <a:ext uri="{FF2B5EF4-FFF2-40B4-BE49-F238E27FC236}">
                <a16:creationId xmlns:a16="http://schemas.microsoft.com/office/drawing/2014/main" id="{282218FF-A7D2-4908-BC1F-BCB2A8E37A5D}"/>
              </a:ext>
            </a:extLst>
          </p:cNvPr>
          <p:cNvSpPr>
            <a:spLocks xmlns:a="http://schemas.openxmlformats.org/drawingml/2006/main" noGrp="1"/>
          </p:cNvSpPr>
          <p:nvPr/>
        </p:nvSpPr>
        <p:spPr>
          <a:xfrm xmlns:a="http://schemas.openxmlformats.org/drawingml/2006/main">
            <a:off x="590550" y="342900"/>
            <a:ext cx="112204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1">
                <a:solidFill>
                  <a:srgbClr val="183044"/>
                </a:solidFill>
                <a:latin typeface="Arial"/>
                <a:ea typeface="Arial"/>
                <a:cs typeface="Arial"/>
              </a:defRPr>
            </a:defPPr>
          </a:lstStyle>
          <a:p xmlns:a="http://schemas.openxmlformats.org/drawingml/2006/main">
            <a:pPr>
              <a:defRPr sz="2850" b="1">
                <a:solidFill>
                  <a:srgbClr val="183044"/>
                </a:solidFill>
                <a:latin typeface="Arial"/>
                <a:ea typeface="Arial"/>
                <a:cs typeface="Arial"/>
              </a:defRPr>
            </a:pPr>
            <a:r>
              <a:rPr sz="2850" b="1">
                <a:solidFill>
                  <a:srgbClr val="183044"/>
                </a:solidFill>
                <a:latin typeface="Arial"/>
                <a:ea typeface="Arial"/>
                <a:cs typeface="Arial"/>
              </a:rPr>
              <a:t>Outlier analysis and removal</a:t>
            </a:r>
          </a:p>
        </p:txBody>
      </p:sp>
      <p:sp>
        <p:nvSpPr>
          <p:cNvPr id="4" name="text">
            <a:extLst xmlns:a="http://schemas.openxmlformats.org/drawingml/2006/main">
              <a:ext uri="{FF2B5EF4-FFF2-40B4-BE49-F238E27FC236}">
                <a16:creationId xmlns:a16="http://schemas.microsoft.com/office/drawing/2014/main" id="{70B28B42-6C55-4203-A515-F68B947F8A53}"/>
              </a:ext>
            </a:extLst>
          </p:cNvPr>
          <p:cNvSpPr>
            <a:spLocks xmlns:a="http://schemas.openxmlformats.org/drawingml/2006/main" noGrp="1"/>
          </p:cNvSpPr>
          <p:nvPr/>
        </p:nvSpPr>
        <p:spPr>
          <a:xfrm xmlns:a="http://schemas.openxmlformats.org/drawingml/2006/main">
            <a:off x="400050" y="971550"/>
            <a:ext cx="113919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415566"/>
                </a:solidFill>
                <a:latin typeface="Arial"/>
                <a:ea typeface="Arial"/>
                <a:cs typeface="Arial"/>
              </a:defRPr>
            </a:defPPr>
          </a:lstStyle>
          <a:p xmlns:a="http://schemas.openxmlformats.org/drawingml/2006/main">
            <a:pPr>
              <a:defRPr sz="1725" b="0">
                <a:solidFill>
                  <a:srgbClr val="415566"/>
                </a:solidFill>
                <a:latin typeface="Arial"/>
                <a:ea typeface="Arial"/>
                <a:cs typeface="Arial"/>
              </a:defRPr>
            </a:pPr>
            <a:r>
              <a:rPr sz="1725" b="0">
                <a:solidFill>
                  <a:srgbClr val="415566"/>
                </a:solidFill>
                <a:latin typeface="Arial"/>
                <a:ea typeface="Arial"/>
                <a:cs typeface="Arial"/>
              </a:rPr>
              <a:t>Q1 = 24  •  Q3 = 31  •  IQR = 7  •  Q1 − 1.5×IQR to Q3 + 1.5×IQR → 13.5 to 41.5</a:t>
            </a:r>
          </a:p>
        </p:txBody>
      </p:sp>
      <p:sp>
        <p:nvSpPr>
          <p:cNvPr id="5" name="text">
            <a:extLst xmlns:a="http://schemas.openxmlformats.org/drawingml/2006/main">
              <a:ext uri="{FF2B5EF4-FFF2-40B4-BE49-F238E27FC236}">
                <a16:creationId xmlns:a16="http://schemas.microsoft.com/office/drawing/2014/main" id="{856126A2-7F11-452F-82E0-31B4B49F3109}"/>
              </a:ext>
            </a:extLst>
          </p:cNvPr>
          <p:cNvSpPr>
            <a:spLocks xmlns:a="http://schemas.openxmlformats.org/drawingml/2006/main" noGrp="1"/>
          </p:cNvSpPr>
          <p:nvPr/>
        </p:nvSpPr>
        <p:spPr>
          <a:xfrm xmlns:a="http://schemas.openxmlformats.org/drawingml/2006/main">
            <a:off x="400050" y="1476375"/>
            <a:ext cx="65246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183044"/>
                </a:solidFill>
                <a:latin typeface="Arial"/>
                <a:ea typeface="Arial"/>
                <a:cs typeface="Arial"/>
              </a:defRPr>
            </a:defPPr>
          </a:lstStyle>
          <a:p xmlns:a="http://schemas.openxmlformats.org/drawingml/2006/main">
            <a:pPr>
              <a:defRPr sz="1800" b="1">
                <a:solidFill>
                  <a:srgbClr val="183044"/>
                </a:solidFill>
                <a:latin typeface="Arial"/>
                <a:ea typeface="Arial"/>
                <a:cs typeface="Arial"/>
              </a:defRPr>
            </a:pPr>
            <a:r>
              <a:rPr sz="1800" b="1">
                <a:solidFill>
                  <a:srgbClr val="183044"/>
                </a:solidFill>
                <a:latin typeface="Arial"/>
                <a:ea typeface="Arial"/>
                <a:cs typeface="Arial"/>
              </a:rPr>
              <a:t>Detect unusual BMI values</a:t>
            </a:r>
          </a:p>
        </p:txBody>
      </p:sp>
      <p:sp>
        <p:nvSpPr>
          <p:cNvPr id="6" name="text">
            <a:extLst xmlns:a="http://schemas.openxmlformats.org/drawingml/2006/main">
              <a:ext uri="{FF2B5EF4-FFF2-40B4-BE49-F238E27FC236}">
                <a16:creationId xmlns:a16="http://schemas.microsoft.com/office/drawing/2014/main" id="{95CBE9C2-6B38-449E-AA2D-D1F93C2FD456}"/>
              </a:ext>
            </a:extLst>
          </p:cNvPr>
          <p:cNvSpPr>
            <a:spLocks xmlns:a="http://schemas.openxmlformats.org/drawingml/2006/main" noGrp="1"/>
          </p:cNvSpPr>
          <p:nvPr/>
        </p:nvSpPr>
        <p:spPr>
          <a:xfrm xmlns:a="http://schemas.openxmlformats.org/drawingml/2006/main">
            <a:off x="7086600" y="1476375"/>
            <a:ext cx="47148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183044"/>
                </a:solidFill>
                <a:latin typeface="Arial"/>
                <a:ea typeface="Arial"/>
                <a:cs typeface="Arial"/>
              </a:defRPr>
            </a:defPPr>
          </a:lstStyle>
          <a:p xmlns:a="http://schemas.openxmlformats.org/drawingml/2006/main">
            <a:pPr>
              <a:defRPr sz="1800" b="1">
                <a:solidFill>
                  <a:srgbClr val="183044"/>
                </a:solidFill>
                <a:latin typeface="Arial"/>
                <a:ea typeface="Arial"/>
                <a:cs typeface="Arial"/>
              </a:defRPr>
            </a:pPr>
            <a:r>
              <a:rPr sz="1800" b="1">
                <a:solidFill>
                  <a:srgbClr val="183044"/>
                </a:solidFill>
                <a:latin typeface="Arial"/>
                <a:ea typeface="Arial"/>
                <a:cs typeface="Arial"/>
              </a:rPr>
              <a:t>Compare before and after</a:t>
            </a:r>
          </a:p>
        </p:txBody>
      </p:sp>
      <p:pic>
        <p:nvPicPr>
          <p:cNvPr id="7" name="">
            <a:extLst xmlns:a="http://schemas.openxmlformats.org/drawingml/2006/main">
              <a:ext uri="{FF2B5EF4-FFF2-40B4-BE49-F238E27FC236}">
                <a16:creationId xmlns:a16="http://schemas.microsoft.com/office/drawing/2014/main" id="{E245A8B6-5952-472E-B3BB-D7E50E027A68}"/>
              </a:ext>
            </a:extLst>
          </p:cNvPr>
          <p:cNvPicPr>
            <a:picLocks xmlns:a="http://schemas.openxmlformats.org/drawingml/2006/main" noChangeAspect="1"/>
          </p:cNvPicPr>
          <p:nvPr/>
        </p:nvPicPr>
        <p:blipFill>
          <a:blip xmlns:r="http://schemas.openxmlformats.org/officeDocument/2006/relationships" xmlns:a="http://schemas.openxmlformats.org/drawingml/2006/main" r:embed="Rcb84373465d6464a"/>
          <a:stretch xmlns:a="http://schemas.openxmlformats.org/drawingml/2006/main"/>
        </p:blipFill>
        <p:spPr>
          <a:xfrm xmlns:a="http://schemas.openxmlformats.org/drawingml/2006/main">
            <a:off x="266700" y="1781175"/>
            <a:ext cx="6534150" cy="398145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53E66785-63C2-45D1-B172-9AA26942455F}"/>
              </a:ext>
            </a:extLst>
          </p:cNvPr>
          <p:cNvPicPr>
            <a:picLocks xmlns:a="http://schemas.openxmlformats.org/drawingml/2006/main" noChangeAspect="1"/>
          </p:cNvPicPr>
          <p:nvPr/>
        </p:nvPicPr>
        <p:blipFill>
          <a:blip xmlns:r="http://schemas.openxmlformats.org/officeDocument/2006/relationships" xmlns:a="http://schemas.openxmlformats.org/drawingml/2006/main" r:embed="R0eda1d2c936a462e"/>
          <a:stretch xmlns:a="http://schemas.openxmlformats.org/drawingml/2006/main"/>
        </p:blipFill>
        <p:spPr>
          <a:xfrm xmlns:a="http://schemas.openxmlformats.org/drawingml/2006/main">
            <a:off x="7000875" y="1771650"/>
            <a:ext cx="4762500" cy="2476500"/>
          </a:xfrm>
          <a:prstGeom xmlns:a="http://schemas.openxmlformats.org/drawingml/2006/main" prst="rect">
            <a:avLst/>
          </a:prstGeom>
        </p:spPr>
      </p:pic>
      <p:graphicFrame>
        <p:nvGraphicFramePr>
          <p:cNvPr id="9" name="">
            <a:extLst xmlns:a="http://schemas.openxmlformats.org/drawingml/2006/main">
              <a:ext uri="{FF2B5EF4-FFF2-40B4-BE49-F238E27FC236}">
                <a16:creationId xmlns:a16="http://schemas.microsoft.com/office/drawing/2014/main" id="{2A63B648-3AB9-44D6-9098-393DDC30FA4E}"/>
              </a:ext>
            </a:extLst>
          </p:cNvPr>
          <p:cNvGraphicFramePr/>
          <p:nvPr/>
        </p:nvGraphicFramePr>
        <p:xfrm>
          <a:off xmlns:a="http://schemas.openxmlformats.org/drawingml/2006/main" x="7086600" y="4324350"/>
          <a:ext xmlns:a="http://schemas.openxmlformats.org/drawingml/2006/main" cx="4724400" cy="1657350"/>
        </p:xfrm>
        <a:graphic xmlns:a="http://schemas.openxmlformats.org/drawingml/2006/main">
          <a:graphicData uri="http://schemas.openxmlformats.org/drawingml/2006/table">
            <a:tbl>
              <a:tblPr/>
              <a:tblGrid>
                <a:gridCol w="1809750"/>
                <a:gridCol w="1457325"/>
                <a:gridCol w="1457325"/>
              </a:tblGrid>
              <a:tr h="331470">
                <a:tc>
                  <a:txBody>
                    <a:bodyPr>
                      <a:noAutofit/>
                    </a:bodyPr>
                    <a:lstStyle/>
                    <a:p>
                      <a:pPr algn="l"/>
                      <a:r>
                        <a:rPr sz="1425" b="1">
                          <a:solidFill>
                            <a:srgbClr val="FFFFFF"/>
                          </a:solidFill>
                          <a:latin typeface="Arial"/>
                          <a:ea typeface="Arial"/>
                          <a:cs typeface="Arial"/>
                        </a:rPr>
                        <a:t>Measure</a:t>
                      </a:r>
                    </a:p>
                  </a:txBody>
                  <a:tcPr marL="91440" marR="91440" marT="45720" marB="45720">
                    <a:lnL w="9525">
                      <a:solidFill>
                        <a:srgbClr val="D6E0E5"/>
                      </a:solidFill>
                      <a:prstDash val="solid"/>
                    </a:lnL>
                    <a:lnR w="9525">
                      <a:solidFill>
                        <a:srgbClr val="D6E0E5"/>
                      </a:solidFill>
                      <a:prstDash val="solid"/>
                    </a:lnR>
                    <a:lnT w="9525">
                      <a:solidFill>
                        <a:srgbClr val="D6E0E5"/>
                      </a:solidFill>
                      <a:prstDash val="solid"/>
                    </a:lnT>
                    <a:lnB w="9525">
                      <a:solidFill>
                        <a:srgbClr val="D6E0E5"/>
                      </a:solidFill>
                      <a:prstDash val="solid"/>
                    </a:lnB>
                    <a:solidFill>
                      <a:srgbClr val="176D8C"/>
                    </a:solidFill>
                  </a:tcPr>
                </a:tc>
                <a:tc>
                  <a:txBody>
                    <a:bodyPr>
                      <a:noAutofit/>
                    </a:bodyPr>
                    <a:lstStyle/>
                    <a:p>
                      <a:pPr algn="ctr"/>
                      <a:r>
                        <a:rPr sz="1425" b="1">
                          <a:solidFill>
                            <a:srgbClr val="FFFFFF"/>
                          </a:solidFill>
                          <a:latin typeface="Arial"/>
                          <a:ea typeface="Arial"/>
                          <a:cs typeface="Arial"/>
                        </a:rPr>
                        <a:t>Before</a:t>
                      </a:r>
                    </a:p>
                  </a:txBody>
                  <a:tcPr marL="91440" marR="91440" marT="45720" marB="45720">
                    <a:lnR w="9525">
                      <a:solidFill>
                        <a:srgbClr val="D6E0E5"/>
                      </a:solidFill>
                      <a:prstDash val="solid"/>
                    </a:lnR>
                    <a:lnT w="9525">
                      <a:solidFill>
                        <a:srgbClr val="D6E0E5"/>
                      </a:solidFill>
                      <a:prstDash val="solid"/>
                    </a:lnT>
                    <a:lnB w="9525">
                      <a:solidFill>
                        <a:srgbClr val="D6E0E5"/>
                      </a:solidFill>
                      <a:prstDash val="solid"/>
                    </a:lnB>
                    <a:solidFill>
                      <a:srgbClr val="176D8C"/>
                    </a:solidFill>
                  </a:tcPr>
                </a:tc>
                <a:tc>
                  <a:txBody>
                    <a:bodyPr>
                      <a:noAutofit/>
                    </a:bodyPr>
                    <a:lstStyle/>
                    <a:p>
                      <a:pPr algn="ctr"/>
                      <a:r>
                        <a:rPr sz="1425" b="1">
                          <a:solidFill>
                            <a:srgbClr val="FFFFFF"/>
                          </a:solidFill>
                          <a:latin typeface="Arial"/>
                          <a:ea typeface="Arial"/>
                          <a:cs typeface="Arial"/>
                        </a:rPr>
                        <a:t>After</a:t>
                      </a:r>
                    </a:p>
                  </a:txBody>
                  <a:tcPr marL="91440" marR="91440" marT="45720" marB="45720">
                    <a:lnR w="9525">
                      <a:solidFill>
                        <a:srgbClr val="D6E0E5"/>
                      </a:solidFill>
                      <a:prstDash val="solid"/>
                    </a:lnR>
                    <a:lnT w="9525">
                      <a:solidFill>
                        <a:srgbClr val="D6E0E5"/>
                      </a:solidFill>
                      <a:prstDash val="solid"/>
                    </a:lnT>
                    <a:lnB w="9525">
                      <a:solidFill>
                        <a:srgbClr val="D6E0E5"/>
                      </a:solidFill>
                      <a:prstDash val="solid"/>
                    </a:lnB>
                    <a:solidFill>
                      <a:srgbClr val="176D8C"/>
                    </a:solidFill>
                  </a:tcPr>
                </a:tc>
              </a:tr>
              <a:tr h="331470">
                <a:tc>
                  <a:txBody>
                    <a:bodyPr>
                      <a:noAutofit/>
                    </a:bodyPr>
                    <a:lstStyle/>
                    <a:p>
                      <a:pPr algn="l"/>
                      <a:r>
                        <a:rPr sz="1425" b="0">
                          <a:solidFill>
                            <a:srgbClr val="183044"/>
                          </a:solidFill>
                          <a:latin typeface="Arial"/>
                          <a:ea typeface="Arial"/>
                          <a:cs typeface="Arial"/>
                        </a:rPr>
                        <a:t>People</a:t>
                      </a:r>
                    </a:p>
                  </a:txBody>
                  <a:tcPr marL="91440" marR="91440" marT="45720" marB="45720">
                    <a:lnL w="9525">
                      <a:solidFill>
                        <a:srgbClr val="D6E0E5"/>
                      </a:solidFill>
                      <a:prstDash val="solid"/>
                    </a:lnL>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425" b="0">
                          <a:solidFill>
                            <a:srgbClr val="183044"/>
                          </a:solidFill>
                          <a:latin typeface="Arial"/>
                          <a:ea typeface="Arial"/>
                          <a:cs typeface="Arial"/>
                        </a:rPr>
                        <a:t>3,000</a:t>
                      </a:r>
                    </a:p>
                  </a:txBody>
                  <a:tcPr marL="91440" marR="91440" marT="45720" marB="45720">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425" b="0">
                          <a:solidFill>
                            <a:srgbClr val="183044"/>
                          </a:solidFill>
                          <a:latin typeface="Arial"/>
                          <a:ea typeface="Arial"/>
                          <a:cs typeface="Arial"/>
                        </a:rPr>
                        <a:t>2,886</a:t>
                      </a:r>
                    </a:p>
                  </a:txBody>
                  <a:tcPr marL="91440" marR="91440" marT="45720" marB="45720">
                    <a:lnR w="9525">
                      <a:solidFill>
                        <a:srgbClr val="D6E0E5"/>
                      </a:solidFill>
                      <a:prstDash val="solid"/>
                    </a:lnR>
                    <a:lnB w="9525">
                      <a:solidFill>
                        <a:srgbClr val="D6E0E5"/>
                      </a:solidFill>
                      <a:prstDash val="solid"/>
                    </a:lnB>
                    <a:solidFill>
                      <a:srgbClr val="FFFFFF"/>
                    </a:solidFill>
                  </a:tcPr>
                </a:tc>
              </a:tr>
              <a:tr h="331470">
                <a:tc>
                  <a:txBody>
                    <a:bodyPr>
                      <a:noAutofit/>
                    </a:bodyPr>
                    <a:lstStyle/>
                    <a:p>
                      <a:pPr algn="l"/>
                      <a:r>
                        <a:rPr sz="1425" b="0">
                          <a:solidFill>
                            <a:srgbClr val="183044"/>
                          </a:solidFill>
                          <a:latin typeface="Arial"/>
                          <a:ea typeface="Arial"/>
                          <a:cs typeface="Arial"/>
                        </a:rPr>
                        <a:t>Mean BMI</a:t>
                      </a:r>
                    </a:p>
                  </a:txBody>
                  <a:tcPr marL="91440" marR="91440" marT="45720" marB="45720">
                    <a:lnL w="9525">
                      <a:solidFill>
                        <a:srgbClr val="D6E0E5"/>
                      </a:solidFill>
                      <a:prstDash val="solid"/>
                    </a:lnL>
                    <a:lnR w="9525">
                      <a:solidFill>
                        <a:srgbClr val="D6E0E5"/>
                      </a:solidFill>
                      <a:prstDash val="solid"/>
                    </a:lnR>
                    <a:lnB w="9525">
                      <a:solidFill>
                        <a:srgbClr val="D6E0E5"/>
                      </a:solidFill>
                      <a:prstDash val="solid"/>
                    </a:lnB>
                    <a:solidFill>
                      <a:srgbClr val="EAF2F5"/>
                    </a:solidFill>
                  </a:tcPr>
                </a:tc>
                <a:tc>
                  <a:txBody>
                    <a:bodyPr>
                      <a:noAutofit/>
                    </a:bodyPr>
                    <a:lstStyle/>
                    <a:p>
                      <a:pPr algn="ctr"/>
                      <a:r>
                        <a:rPr sz="1425" b="0">
                          <a:solidFill>
                            <a:srgbClr val="183044"/>
                          </a:solidFill>
                          <a:latin typeface="Arial"/>
                          <a:ea typeface="Arial"/>
                          <a:cs typeface="Arial"/>
                        </a:rPr>
                        <a:t>28.40</a:t>
                      </a:r>
                    </a:p>
                  </a:txBody>
                  <a:tcPr marL="91440" marR="91440" marT="45720" marB="45720">
                    <a:lnR w="9525">
                      <a:solidFill>
                        <a:srgbClr val="D6E0E5"/>
                      </a:solidFill>
                      <a:prstDash val="solid"/>
                    </a:lnR>
                    <a:lnB w="9525">
                      <a:solidFill>
                        <a:srgbClr val="D6E0E5"/>
                      </a:solidFill>
                      <a:prstDash val="solid"/>
                    </a:lnB>
                    <a:solidFill>
                      <a:srgbClr val="EAF2F5"/>
                    </a:solidFill>
                  </a:tcPr>
                </a:tc>
                <a:tc>
                  <a:txBody>
                    <a:bodyPr>
                      <a:noAutofit/>
                    </a:bodyPr>
                    <a:lstStyle/>
                    <a:p>
                      <a:pPr algn="ctr"/>
                      <a:r>
                        <a:rPr sz="1425" b="0">
                          <a:solidFill>
                            <a:srgbClr val="183044"/>
                          </a:solidFill>
                          <a:latin typeface="Arial"/>
                          <a:ea typeface="Arial"/>
                          <a:cs typeface="Arial"/>
                        </a:rPr>
                        <a:t>27.65</a:t>
                      </a:r>
                    </a:p>
                  </a:txBody>
                  <a:tcPr marL="91440" marR="91440" marT="45720" marB="45720">
                    <a:lnR w="9525">
                      <a:solidFill>
                        <a:srgbClr val="D6E0E5"/>
                      </a:solidFill>
                      <a:prstDash val="solid"/>
                    </a:lnR>
                    <a:lnB w="9525">
                      <a:solidFill>
                        <a:srgbClr val="D6E0E5"/>
                      </a:solidFill>
                      <a:prstDash val="solid"/>
                    </a:lnB>
                    <a:solidFill>
                      <a:srgbClr val="EAF2F5"/>
                    </a:solidFill>
                  </a:tcPr>
                </a:tc>
              </a:tr>
              <a:tr h="331470">
                <a:tc>
                  <a:txBody>
                    <a:bodyPr>
                      <a:noAutofit/>
                    </a:bodyPr>
                    <a:lstStyle/>
                    <a:p>
                      <a:pPr algn="l"/>
                      <a:r>
                        <a:rPr sz="1425" b="0">
                          <a:solidFill>
                            <a:srgbClr val="183044"/>
                          </a:solidFill>
                          <a:latin typeface="Arial"/>
                          <a:ea typeface="Arial"/>
                          <a:cs typeface="Arial"/>
                        </a:rPr>
                        <a:t>BMI variance</a:t>
                      </a:r>
                    </a:p>
                  </a:txBody>
                  <a:tcPr marL="91440" marR="91440" marT="45720" marB="45720">
                    <a:lnL w="9525">
                      <a:solidFill>
                        <a:srgbClr val="D6E0E5"/>
                      </a:solidFill>
                      <a:prstDash val="solid"/>
                    </a:lnL>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425" b="0">
                          <a:solidFill>
                            <a:srgbClr val="183044"/>
                          </a:solidFill>
                          <a:latin typeface="Arial"/>
                          <a:ea typeface="Arial"/>
                          <a:cs typeface="Arial"/>
                        </a:rPr>
                        <a:t>40.34</a:t>
                      </a:r>
                    </a:p>
                  </a:txBody>
                  <a:tcPr marL="91440" marR="91440" marT="45720" marB="45720">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425" b="0">
                          <a:solidFill>
                            <a:srgbClr val="183044"/>
                          </a:solidFill>
                          <a:latin typeface="Arial"/>
                          <a:ea typeface="Arial"/>
                          <a:cs typeface="Arial"/>
                        </a:rPr>
                        <a:t>24.59</a:t>
                      </a:r>
                    </a:p>
                  </a:txBody>
                  <a:tcPr marL="91440" marR="91440" marT="45720" marB="45720">
                    <a:lnR w="9525">
                      <a:solidFill>
                        <a:srgbClr val="D6E0E5"/>
                      </a:solidFill>
                      <a:prstDash val="solid"/>
                    </a:lnR>
                    <a:lnB w="9525">
                      <a:solidFill>
                        <a:srgbClr val="D6E0E5"/>
                      </a:solidFill>
                      <a:prstDash val="solid"/>
                    </a:lnB>
                    <a:solidFill>
                      <a:srgbClr val="FFFFFF"/>
                    </a:solidFill>
                  </a:tcPr>
                </a:tc>
              </a:tr>
              <a:tr h="331470">
                <a:tc>
                  <a:txBody>
                    <a:bodyPr>
                      <a:noAutofit/>
                    </a:bodyPr>
                    <a:lstStyle/>
                    <a:p>
                      <a:pPr algn="l"/>
                      <a:r>
                        <a:rPr sz="1425" b="0">
                          <a:solidFill>
                            <a:srgbClr val="183044"/>
                          </a:solidFill>
                          <a:latin typeface="Arial"/>
                          <a:ea typeface="Arial"/>
                          <a:cs typeface="Arial"/>
                        </a:rPr>
                        <a:t>Positive status</a:t>
                      </a:r>
                    </a:p>
                  </a:txBody>
                  <a:tcPr marL="91440" marR="91440" marT="45720" marB="45720">
                    <a:lnL w="9525">
                      <a:solidFill>
                        <a:srgbClr val="D6E0E5"/>
                      </a:solidFill>
                      <a:prstDash val="solid"/>
                    </a:lnL>
                    <a:lnR w="9525">
                      <a:solidFill>
                        <a:srgbClr val="D6E0E5"/>
                      </a:solidFill>
                      <a:prstDash val="solid"/>
                    </a:lnR>
                    <a:lnB w="9525">
                      <a:solidFill>
                        <a:srgbClr val="D6E0E5"/>
                      </a:solidFill>
                      <a:prstDash val="solid"/>
                    </a:lnB>
                    <a:solidFill>
                      <a:srgbClr val="EAF2F5"/>
                    </a:solidFill>
                  </a:tcPr>
                </a:tc>
                <a:tc>
                  <a:txBody>
                    <a:bodyPr>
                      <a:noAutofit/>
                    </a:bodyPr>
                    <a:lstStyle/>
                    <a:p>
                      <a:pPr algn="ctr"/>
                      <a:r>
                        <a:rPr sz="1425" b="0">
                          <a:solidFill>
                            <a:srgbClr val="183044"/>
                          </a:solidFill>
                          <a:latin typeface="Arial"/>
                          <a:ea typeface="Arial"/>
                          <a:cs typeface="Arial"/>
                        </a:rPr>
                        <a:t>15.63%</a:t>
                      </a:r>
                    </a:p>
                  </a:txBody>
                  <a:tcPr marL="91440" marR="91440" marT="45720" marB="45720">
                    <a:lnR w="9525">
                      <a:solidFill>
                        <a:srgbClr val="D6E0E5"/>
                      </a:solidFill>
                      <a:prstDash val="solid"/>
                    </a:lnR>
                    <a:lnB w="9525">
                      <a:solidFill>
                        <a:srgbClr val="D6E0E5"/>
                      </a:solidFill>
                      <a:prstDash val="solid"/>
                    </a:lnB>
                    <a:solidFill>
                      <a:srgbClr val="EAF2F5"/>
                    </a:solidFill>
                  </a:tcPr>
                </a:tc>
                <a:tc>
                  <a:txBody>
                    <a:bodyPr>
                      <a:noAutofit/>
                    </a:bodyPr>
                    <a:lstStyle/>
                    <a:p>
                      <a:pPr algn="ctr"/>
                      <a:r>
                        <a:rPr sz="1425" b="0">
                          <a:solidFill>
                            <a:srgbClr val="183044"/>
                          </a:solidFill>
                          <a:latin typeface="Arial"/>
                          <a:ea typeface="Arial"/>
                          <a:cs typeface="Arial"/>
                        </a:rPr>
                        <a:t>14.62%</a:t>
                      </a:r>
                    </a:p>
                  </a:txBody>
                  <a:tcPr marL="91440" marR="91440" marT="45720" marB="45720">
                    <a:lnR w="9525">
                      <a:solidFill>
                        <a:srgbClr val="D6E0E5"/>
                      </a:solidFill>
                      <a:prstDash val="solid"/>
                    </a:lnR>
                    <a:lnB w="9525">
                      <a:solidFill>
                        <a:srgbClr val="D6E0E5"/>
                      </a:solidFill>
                      <a:prstDash val="solid"/>
                    </a:lnB>
                    <a:solidFill>
                      <a:srgbClr val="EAF2F5"/>
                    </a:solidFill>
                  </a:tcPr>
                </a:tc>
              </a:tr>
            </a:tbl>
          </a:graphicData>
        </a:graphic>
      </p:graphicFrame>
      <p:sp>
        <p:nvSpPr>
          <p:cNvPr id="10" name="">
            <a:extLst xmlns:a="http://schemas.openxmlformats.org/drawingml/2006/main">
              <a:ext uri="{FF2B5EF4-FFF2-40B4-BE49-F238E27FC236}">
                <a16:creationId xmlns:a16="http://schemas.microsoft.com/office/drawing/2014/main" id="{C7212B7C-3503-4374-9820-F3DA9E08A1E9}"/>
              </a:ext>
            </a:extLst>
          </p:cNvPr>
          <p:cNvSpPr>
            <a:spLocks xmlns:a="http://schemas.openxmlformats.org/drawingml/2006/main" noGrp="1"/>
          </p:cNvSpPr>
          <p:nvPr/>
        </p:nvSpPr>
        <p:spPr>
          <a:xfrm xmlns:a="http://schemas.openxmlformats.org/drawingml/2006/main">
            <a:off x="400050" y="6153150"/>
            <a:ext cx="11391900" cy="19050"/>
          </a:xfrm>
          <a:prstGeom xmlns:a="http://schemas.openxmlformats.org/drawingml/2006/main" prst="rect">
            <a:avLst/>
          </a:prstGeom>
          <a:solidFill xmlns:a="http://schemas.openxmlformats.org/drawingml/2006/main">
            <a:srgbClr val="176D8C"/>
          </a:solidFill>
          <a:ln xmlns:a="http://schemas.openxmlformats.org/drawingml/2006/main" w="0">
            <a:noFill/>
          </a:ln>
        </p:spPr>
      </p:sp>
      <p:sp>
        <p:nvSpPr>
          <p:cNvPr id="11" name="text">
            <a:extLst xmlns:a="http://schemas.openxmlformats.org/drawingml/2006/main">
              <a:ext uri="{FF2B5EF4-FFF2-40B4-BE49-F238E27FC236}">
                <a16:creationId xmlns:a16="http://schemas.microsoft.com/office/drawing/2014/main" id="{31D02C3A-670A-4401-A809-CF844F2535C9}"/>
              </a:ext>
            </a:extLst>
          </p:cNvPr>
          <p:cNvSpPr>
            <a:spLocks xmlns:a="http://schemas.openxmlformats.org/drawingml/2006/main" noGrp="1"/>
          </p:cNvSpPr>
          <p:nvPr/>
        </p:nvSpPr>
        <p:spPr>
          <a:xfrm xmlns:a="http://schemas.openxmlformats.org/drawingml/2006/main">
            <a:off x="400050" y="6267450"/>
            <a:ext cx="1095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176D8C"/>
                </a:solidFill>
                <a:latin typeface="Arial"/>
                <a:ea typeface="Arial"/>
                <a:cs typeface="Arial"/>
              </a:defRPr>
            </a:defPPr>
          </a:lstStyle>
          <a:p xmlns:a="http://schemas.openxmlformats.org/drawingml/2006/main">
            <a:pPr>
              <a:defRPr sz="1650" b="1">
                <a:solidFill>
                  <a:srgbClr val="176D8C"/>
                </a:solidFill>
                <a:latin typeface="Arial"/>
                <a:ea typeface="Arial"/>
                <a:cs typeface="Arial"/>
              </a:defRPr>
            </a:pPr>
            <a:r>
              <a:rPr sz="1650" b="1">
                <a:solidFill>
                  <a:srgbClr val="176D8C"/>
                </a:solidFill>
                <a:latin typeface="Arial"/>
                <a:ea typeface="Arial"/>
                <a:cs typeface="Arial"/>
              </a:rPr>
              <a:t>114 high BMI values (3.8%) were flagged. Removing them lowers the average and spread.</a:t>
            </a:r>
          </a:p>
        </p:txBody>
      </p:sp>
      <p:sp>
        <p:nvSpPr>
          <p:cNvPr id="12" name="text">
            <a:extLst xmlns:a="http://schemas.openxmlformats.org/drawingml/2006/main">
              <a:ext uri="{FF2B5EF4-FFF2-40B4-BE49-F238E27FC236}">
                <a16:creationId xmlns:a16="http://schemas.microsoft.com/office/drawing/2014/main" id="{DDCC7AB7-6F8E-46C1-9FA0-73D004B19332}"/>
              </a:ext>
            </a:extLst>
          </p:cNvPr>
          <p:cNvSpPr>
            <a:spLocks xmlns:a="http://schemas.openxmlformats.org/drawingml/2006/main" noGrp="1"/>
          </p:cNvSpPr>
          <p:nvPr/>
        </p:nvSpPr>
        <p:spPr>
          <a:xfrm xmlns:a="http://schemas.openxmlformats.org/drawingml/2006/main">
            <a:off x="11353800" y="6581775"/>
            <a:ext cx="6572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050" b="0">
                <a:solidFill>
                  <a:srgbClr val="415566"/>
                </a:solidFill>
                <a:latin typeface="Arial"/>
                <a:ea typeface="Arial"/>
                <a:cs typeface="Arial"/>
              </a:defRPr>
            </a:defPPr>
          </a:lstStyle>
          <a:p xmlns:a="http://schemas.openxmlformats.org/drawingml/2006/main">
            <a:pPr>
              <a:defRPr sz="1050" b="0">
                <a:solidFill>
                  <a:srgbClr val="415566"/>
                </a:solidFill>
                <a:latin typeface="Arial"/>
                <a:ea typeface="Arial"/>
                <a:cs typeface="Arial"/>
              </a:defRPr>
            </a:pPr>
            <a:r>
              <a:rPr sz="1050" b="0">
                <a:solidFill>
                  <a:srgbClr val="415566"/>
                </a:solidFill>
                <a:latin typeface="Arial"/>
                <a:ea typeface="Arial"/>
                <a:cs typeface="Arial"/>
              </a:rPr>
              <a:t>3 / 12</a:t>
            </a:r>
          </a:p>
        </p:txBody>
      </p:sp>
    </p:spTree>
    <p:extLst>
      <p:ext uri="{BB962C8B-B14F-4D97-AF65-F5344CB8AC3E}">
        <p14:creationId xmlns:p14="http://schemas.microsoft.com/office/powerpoint/2010/main" val="213661326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text">
            <a:extLst xmlns:a="http://schemas.openxmlformats.org/drawingml/2006/main">
              <a:ext uri="{FF2B5EF4-FFF2-40B4-BE49-F238E27FC236}">
                <a16:creationId xmlns:a16="http://schemas.microsoft.com/office/drawing/2014/main" id="{4DEB0708-46EB-46EF-9761-3FAC425C5479}"/>
              </a:ext>
            </a:extLst>
          </p:cNvPr>
          <p:cNvSpPr>
            <a:spLocks xmlns:a="http://schemas.openxmlformats.org/drawingml/2006/main" noGrp="1"/>
          </p:cNvSpPr>
          <p:nvPr/>
        </p:nvSpPr>
        <p:spPr>
          <a:xfrm xmlns:a="http://schemas.openxmlformats.org/drawingml/2006/main">
            <a:off x="590550" y="76200"/>
            <a:ext cx="112204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1">
                <a:solidFill>
                  <a:srgbClr val="176D8C"/>
                </a:solidFill>
                <a:latin typeface="Arial"/>
                <a:ea typeface="Arial"/>
                <a:cs typeface="Arial"/>
              </a:defRPr>
            </a:defPPr>
          </a:lstStyle>
          <a:p xmlns:a="http://schemas.openxmlformats.org/drawingml/2006/main">
            <a:pPr>
              <a:defRPr sz="1350" b="1">
                <a:solidFill>
                  <a:srgbClr val="176D8C"/>
                </a:solidFill>
                <a:latin typeface="Arial"/>
                <a:ea typeface="Arial"/>
                <a:cs typeface="Arial"/>
              </a:defRPr>
            </a:pPr>
            <a:r>
              <a:rPr sz="1350" b="1">
                <a:solidFill>
                  <a:srgbClr val="176D8C"/>
                </a:solidFill>
                <a:latin typeface="Arial"/>
                <a:ea typeface="Arial"/>
                <a:cs typeface="Arial"/>
              </a:rPr>
              <a:t>LAB 2: Summary statistics and graphical representations</a:t>
            </a:r>
          </a:p>
        </p:txBody>
      </p:sp>
      <p:sp>
        <p:nvSpPr>
          <p:cNvPr id="2" name="">
            <a:extLst xmlns:a="http://schemas.openxmlformats.org/drawingml/2006/main">
              <a:ext uri="{FF2B5EF4-FFF2-40B4-BE49-F238E27FC236}">
                <a16:creationId xmlns:a16="http://schemas.microsoft.com/office/drawing/2014/main" id="{C91DF299-D18A-4563-B0C3-C37E1981DB23}"/>
              </a:ext>
            </a:extLst>
          </p:cNvPr>
          <p:cNvSpPr>
            <a:spLocks xmlns:a="http://schemas.openxmlformats.org/drawingml/2006/main" noGrp="1"/>
          </p:cNvSpPr>
          <p:nvPr/>
        </p:nvSpPr>
        <p:spPr>
          <a:xfrm xmlns:a="http://schemas.openxmlformats.org/drawingml/2006/main">
            <a:off x="381000" y="381000"/>
            <a:ext cx="47625" cy="438150"/>
          </a:xfrm>
          <a:prstGeom xmlns:a="http://schemas.openxmlformats.org/drawingml/2006/main" prst="rect">
            <a:avLst/>
          </a:prstGeom>
          <a:solidFill xmlns:a="http://schemas.openxmlformats.org/drawingml/2006/main">
            <a:srgbClr val="176D8C"/>
          </a:solidFill>
          <a:ln xmlns:a="http://schemas.openxmlformats.org/drawingml/2006/main" w="0">
            <a:noFill/>
          </a:ln>
        </p:spPr>
      </p:sp>
      <p:sp>
        <p:nvSpPr>
          <p:cNvPr id="3" name="text">
            <a:extLst xmlns:a="http://schemas.openxmlformats.org/drawingml/2006/main">
              <a:ext uri="{FF2B5EF4-FFF2-40B4-BE49-F238E27FC236}">
                <a16:creationId xmlns:a16="http://schemas.microsoft.com/office/drawing/2014/main" id="{DB1D5AF5-35F2-4630-91B1-9A115A64EB7A}"/>
              </a:ext>
            </a:extLst>
          </p:cNvPr>
          <p:cNvSpPr>
            <a:spLocks xmlns:a="http://schemas.openxmlformats.org/drawingml/2006/main" noGrp="1"/>
          </p:cNvSpPr>
          <p:nvPr/>
        </p:nvSpPr>
        <p:spPr>
          <a:xfrm xmlns:a="http://schemas.openxmlformats.org/drawingml/2006/main">
            <a:off x="590550" y="342900"/>
            <a:ext cx="112204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1">
                <a:solidFill>
                  <a:srgbClr val="183044"/>
                </a:solidFill>
                <a:latin typeface="Arial"/>
                <a:ea typeface="Arial"/>
                <a:cs typeface="Arial"/>
              </a:defRPr>
            </a:defPPr>
          </a:lstStyle>
          <a:p xmlns:a="http://schemas.openxmlformats.org/drawingml/2006/main">
            <a:pPr>
              <a:defRPr sz="2850" b="1">
                <a:solidFill>
                  <a:srgbClr val="183044"/>
                </a:solidFill>
                <a:latin typeface="Arial"/>
                <a:ea typeface="Arial"/>
                <a:cs typeface="Arial"/>
              </a:defRPr>
            </a:pPr>
            <a:r>
              <a:rPr sz="2850" b="1">
                <a:solidFill>
                  <a:srgbClr val="183044"/>
                </a:solidFill>
                <a:latin typeface="Arial"/>
                <a:ea typeface="Arial"/>
                <a:cs typeface="Arial"/>
              </a:rPr>
              <a:t>Summary statistics and graphs</a:t>
            </a:r>
          </a:p>
        </p:txBody>
      </p:sp>
      <p:sp>
        <p:nvSpPr>
          <p:cNvPr id="4" name="text">
            <a:extLst xmlns:a="http://schemas.openxmlformats.org/drawingml/2006/main">
              <a:ext uri="{FF2B5EF4-FFF2-40B4-BE49-F238E27FC236}">
                <a16:creationId xmlns:a16="http://schemas.microsoft.com/office/drawing/2014/main" id="{B4765E9B-0B10-411A-AA31-AFFBB9A36CD3}"/>
              </a:ext>
            </a:extLst>
          </p:cNvPr>
          <p:cNvSpPr>
            <a:spLocks xmlns:a="http://schemas.openxmlformats.org/drawingml/2006/main" noGrp="1"/>
          </p:cNvSpPr>
          <p:nvPr/>
        </p:nvSpPr>
        <p:spPr>
          <a:xfrm xmlns:a="http://schemas.openxmlformats.org/drawingml/2006/main">
            <a:off x="400050" y="971550"/>
            <a:ext cx="113919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415566"/>
                </a:solidFill>
                <a:latin typeface="Arial"/>
                <a:ea typeface="Arial"/>
                <a:cs typeface="Arial"/>
              </a:defRPr>
            </a:defPPr>
          </a:lstStyle>
          <a:p xmlns:a="http://schemas.openxmlformats.org/drawingml/2006/main">
            <a:pPr>
              <a:defRPr sz="1725" b="0">
                <a:solidFill>
                  <a:srgbClr val="415566"/>
                </a:solidFill>
                <a:latin typeface="Arial"/>
                <a:ea typeface="Arial"/>
                <a:cs typeface="Arial"/>
              </a:defRPr>
            </a:pPr>
            <a:r>
              <a:rPr sz="1725" b="0">
                <a:solidFill>
                  <a:srgbClr val="415566"/>
                </a:solidFill>
                <a:latin typeface="Arial"/>
                <a:ea typeface="Arial"/>
                <a:cs typeface="Arial"/>
              </a:rPr>
              <a:t>Mean = average  •  SD = standard deviation  •  Variance = squared spread</a:t>
            </a:r>
          </a:p>
        </p:txBody>
      </p:sp>
      <p:graphicFrame>
        <p:nvGraphicFramePr>
          <p:cNvPr id="5" name="">
            <a:extLst xmlns:a="http://schemas.openxmlformats.org/drawingml/2006/main">
              <a:ext uri="{FF2B5EF4-FFF2-40B4-BE49-F238E27FC236}">
                <a16:creationId xmlns:a16="http://schemas.microsoft.com/office/drawing/2014/main" id="{18FA9AF1-30D0-45D5-B0A7-AD75435224F6}"/>
              </a:ext>
            </a:extLst>
          </p:cNvPr>
          <p:cNvGraphicFramePr/>
          <p:nvPr/>
        </p:nvGraphicFramePr>
        <p:xfrm>
          <a:off xmlns:a="http://schemas.openxmlformats.org/drawingml/2006/main" x="400050" y="1524000"/>
          <a:ext xmlns:a="http://schemas.openxmlformats.org/drawingml/2006/main" cx="11391900" cy="1609725"/>
        </p:xfrm>
        <a:graphic xmlns:a="http://schemas.openxmlformats.org/drawingml/2006/main">
          <a:graphicData uri="http://schemas.openxmlformats.org/drawingml/2006/table">
            <a:tbl>
              <a:tblPr/>
              <a:tblGrid>
                <a:gridCol w="3486150"/>
                <a:gridCol w="1981200"/>
                <a:gridCol w="1971675"/>
                <a:gridCol w="1971675"/>
                <a:gridCol w="1981200"/>
              </a:tblGrid>
              <a:tr h="402431">
                <a:tc>
                  <a:txBody>
                    <a:bodyPr>
                      <a:noAutofit/>
                    </a:bodyPr>
                    <a:lstStyle/>
                    <a:p>
                      <a:pPr algn="l"/>
                      <a:r>
                        <a:rPr sz="1650" b="1">
                          <a:solidFill>
                            <a:srgbClr val="FFFFFF"/>
                          </a:solidFill>
                          <a:latin typeface="Arial"/>
                          <a:ea typeface="Arial"/>
                          <a:cs typeface="Arial"/>
                        </a:rPr>
                        <a:t>Variable</a:t>
                      </a:r>
                    </a:p>
                  </a:txBody>
                  <a:tcPr marL="91440" marR="91440" marT="45720" marB="45720">
                    <a:lnL w="9525">
                      <a:solidFill>
                        <a:srgbClr val="D6E0E5"/>
                      </a:solidFill>
                      <a:prstDash val="solid"/>
                    </a:lnL>
                    <a:lnR w="9525">
                      <a:solidFill>
                        <a:srgbClr val="D6E0E5"/>
                      </a:solidFill>
                      <a:prstDash val="solid"/>
                    </a:lnR>
                    <a:lnT w="9525">
                      <a:solidFill>
                        <a:srgbClr val="D6E0E5"/>
                      </a:solidFill>
                      <a:prstDash val="solid"/>
                    </a:lnT>
                    <a:lnB w="9525">
                      <a:solidFill>
                        <a:srgbClr val="D6E0E5"/>
                      </a:solidFill>
                      <a:prstDash val="solid"/>
                    </a:lnB>
                    <a:solidFill>
                      <a:srgbClr val="176D8C"/>
                    </a:solidFill>
                  </a:tcPr>
                </a:tc>
                <a:tc>
                  <a:txBody>
                    <a:bodyPr>
                      <a:noAutofit/>
                    </a:bodyPr>
                    <a:lstStyle/>
                    <a:p>
                      <a:pPr algn="ctr"/>
                      <a:r>
                        <a:rPr sz="1650" b="1">
                          <a:solidFill>
                            <a:srgbClr val="FFFFFF"/>
                          </a:solidFill>
                          <a:latin typeface="Arial"/>
                          <a:ea typeface="Arial"/>
                          <a:cs typeface="Arial"/>
                        </a:rPr>
                        <a:t>Mean</a:t>
                      </a:r>
                    </a:p>
                  </a:txBody>
                  <a:tcPr marL="91440" marR="91440" marT="45720" marB="45720">
                    <a:lnR w="9525">
                      <a:solidFill>
                        <a:srgbClr val="D6E0E5"/>
                      </a:solidFill>
                      <a:prstDash val="solid"/>
                    </a:lnR>
                    <a:lnT w="9525">
                      <a:solidFill>
                        <a:srgbClr val="D6E0E5"/>
                      </a:solidFill>
                      <a:prstDash val="solid"/>
                    </a:lnT>
                    <a:lnB w="9525">
                      <a:solidFill>
                        <a:srgbClr val="D6E0E5"/>
                      </a:solidFill>
                      <a:prstDash val="solid"/>
                    </a:lnB>
                    <a:solidFill>
                      <a:srgbClr val="176D8C"/>
                    </a:solidFill>
                  </a:tcPr>
                </a:tc>
                <a:tc>
                  <a:txBody>
                    <a:bodyPr>
                      <a:noAutofit/>
                    </a:bodyPr>
                    <a:lstStyle/>
                    <a:p>
                      <a:pPr algn="ctr"/>
                      <a:r>
                        <a:rPr sz="1650" b="1">
                          <a:solidFill>
                            <a:srgbClr val="FFFFFF"/>
                          </a:solidFill>
                          <a:latin typeface="Arial"/>
                          <a:ea typeface="Arial"/>
                          <a:cs typeface="Arial"/>
                        </a:rPr>
                        <a:t>Median</a:t>
                      </a:r>
                    </a:p>
                  </a:txBody>
                  <a:tcPr marL="91440" marR="91440" marT="45720" marB="45720">
                    <a:lnR w="9525">
                      <a:solidFill>
                        <a:srgbClr val="D6E0E5"/>
                      </a:solidFill>
                      <a:prstDash val="solid"/>
                    </a:lnR>
                    <a:lnT w="9525">
                      <a:solidFill>
                        <a:srgbClr val="D6E0E5"/>
                      </a:solidFill>
                      <a:prstDash val="solid"/>
                    </a:lnT>
                    <a:lnB w="9525">
                      <a:solidFill>
                        <a:srgbClr val="D6E0E5"/>
                      </a:solidFill>
                      <a:prstDash val="solid"/>
                    </a:lnB>
                    <a:solidFill>
                      <a:srgbClr val="176D8C"/>
                    </a:solidFill>
                  </a:tcPr>
                </a:tc>
                <a:tc>
                  <a:txBody>
                    <a:bodyPr>
                      <a:noAutofit/>
                    </a:bodyPr>
                    <a:lstStyle/>
                    <a:p>
                      <a:pPr algn="ctr"/>
                      <a:r>
                        <a:rPr sz="1650" b="1">
                          <a:solidFill>
                            <a:srgbClr val="FFFFFF"/>
                          </a:solidFill>
                          <a:latin typeface="Arial"/>
                          <a:ea typeface="Arial"/>
                          <a:cs typeface="Arial"/>
                        </a:rPr>
                        <a:t>SD</a:t>
                      </a:r>
                    </a:p>
                  </a:txBody>
                  <a:tcPr marL="91440" marR="91440" marT="45720" marB="45720">
                    <a:lnR w="9525">
                      <a:solidFill>
                        <a:srgbClr val="D6E0E5"/>
                      </a:solidFill>
                      <a:prstDash val="solid"/>
                    </a:lnR>
                    <a:lnT w="9525">
                      <a:solidFill>
                        <a:srgbClr val="D6E0E5"/>
                      </a:solidFill>
                      <a:prstDash val="solid"/>
                    </a:lnT>
                    <a:lnB w="9525">
                      <a:solidFill>
                        <a:srgbClr val="D6E0E5"/>
                      </a:solidFill>
                      <a:prstDash val="solid"/>
                    </a:lnB>
                    <a:solidFill>
                      <a:srgbClr val="176D8C"/>
                    </a:solidFill>
                  </a:tcPr>
                </a:tc>
                <a:tc>
                  <a:txBody>
                    <a:bodyPr>
                      <a:noAutofit/>
                    </a:bodyPr>
                    <a:lstStyle/>
                    <a:p>
                      <a:pPr algn="ctr"/>
                      <a:r>
                        <a:rPr sz="1650" b="1">
                          <a:solidFill>
                            <a:srgbClr val="FFFFFF"/>
                          </a:solidFill>
                          <a:latin typeface="Arial"/>
                          <a:ea typeface="Arial"/>
                          <a:cs typeface="Arial"/>
                        </a:rPr>
                        <a:t>Variance</a:t>
                      </a:r>
                    </a:p>
                  </a:txBody>
                  <a:tcPr marL="91440" marR="91440" marT="45720" marB="45720">
                    <a:lnR w="9525">
                      <a:solidFill>
                        <a:srgbClr val="D6E0E5"/>
                      </a:solidFill>
                      <a:prstDash val="solid"/>
                    </a:lnR>
                    <a:lnT w="9525">
                      <a:solidFill>
                        <a:srgbClr val="D6E0E5"/>
                      </a:solidFill>
                      <a:prstDash val="solid"/>
                    </a:lnT>
                    <a:lnB w="9525">
                      <a:solidFill>
                        <a:srgbClr val="D6E0E5"/>
                      </a:solidFill>
                      <a:prstDash val="solid"/>
                    </a:lnB>
                    <a:solidFill>
                      <a:srgbClr val="176D8C"/>
                    </a:solidFill>
                  </a:tcPr>
                </a:tc>
              </a:tr>
              <a:tr h="402431">
                <a:tc>
                  <a:txBody>
                    <a:bodyPr>
                      <a:noAutofit/>
                    </a:bodyPr>
                    <a:lstStyle/>
                    <a:p>
                      <a:pPr algn="l"/>
                      <a:r>
                        <a:rPr sz="1650" b="0">
                          <a:solidFill>
                            <a:srgbClr val="183044"/>
                          </a:solidFill>
                          <a:latin typeface="Arial"/>
                          <a:ea typeface="Arial"/>
                          <a:cs typeface="Arial"/>
                        </a:rPr>
                        <a:t>BMI</a:t>
                      </a:r>
                    </a:p>
                  </a:txBody>
                  <a:tcPr marL="91440" marR="91440" marT="45720" marB="45720">
                    <a:lnL w="9525">
                      <a:solidFill>
                        <a:srgbClr val="D6E0E5"/>
                      </a:solidFill>
                      <a:prstDash val="solid"/>
                    </a:lnL>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650" b="0">
                          <a:solidFill>
                            <a:srgbClr val="183044"/>
                          </a:solidFill>
                          <a:latin typeface="Arial"/>
                          <a:ea typeface="Arial"/>
                          <a:cs typeface="Arial"/>
                        </a:rPr>
                        <a:t>28.40</a:t>
                      </a:r>
                    </a:p>
                  </a:txBody>
                  <a:tcPr marL="91440" marR="91440" marT="45720" marB="45720">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650" b="0">
                          <a:solidFill>
                            <a:srgbClr val="183044"/>
                          </a:solidFill>
                          <a:latin typeface="Arial"/>
                          <a:ea typeface="Arial"/>
                          <a:cs typeface="Arial"/>
                        </a:rPr>
                        <a:t>27</a:t>
                      </a:r>
                    </a:p>
                  </a:txBody>
                  <a:tcPr marL="91440" marR="91440" marT="45720" marB="45720">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650" b="0">
                          <a:solidFill>
                            <a:srgbClr val="183044"/>
                          </a:solidFill>
                          <a:latin typeface="Arial"/>
                          <a:ea typeface="Arial"/>
                          <a:cs typeface="Arial"/>
                        </a:rPr>
                        <a:t>6.35</a:t>
                      </a:r>
                    </a:p>
                  </a:txBody>
                  <a:tcPr marL="91440" marR="91440" marT="45720" marB="45720">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650" b="0">
                          <a:solidFill>
                            <a:srgbClr val="183044"/>
                          </a:solidFill>
                          <a:latin typeface="Arial"/>
                          <a:ea typeface="Arial"/>
                          <a:cs typeface="Arial"/>
                        </a:rPr>
                        <a:t>40.34</a:t>
                      </a:r>
                    </a:p>
                  </a:txBody>
                  <a:tcPr marL="91440" marR="91440" marT="45720" marB="45720">
                    <a:lnR w="9525">
                      <a:solidFill>
                        <a:srgbClr val="D6E0E5"/>
                      </a:solidFill>
                      <a:prstDash val="solid"/>
                    </a:lnR>
                    <a:lnB w="9525">
                      <a:solidFill>
                        <a:srgbClr val="D6E0E5"/>
                      </a:solidFill>
                      <a:prstDash val="solid"/>
                    </a:lnB>
                    <a:solidFill>
                      <a:srgbClr val="FFFFFF"/>
                    </a:solidFill>
                  </a:tcPr>
                </a:tc>
              </a:tr>
              <a:tr h="402431">
                <a:tc>
                  <a:txBody>
                    <a:bodyPr>
                      <a:noAutofit/>
                    </a:bodyPr>
                    <a:lstStyle/>
                    <a:p>
                      <a:pPr algn="l"/>
                      <a:r>
                        <a:rPr sz="1650" b="0">
                          <a:solidFill>
                            <a:srgbClr val="183044"/>
                          </a:solidFill>
                          <a:latin typeface="Arial"/>
                          <a:ea typeface="Arial"/>
                          <a:cs typeface="Arial"/>
                        </a:rPr>
                        <a:t>Mental-health days</a:t>
                      </a:r>
                    </a:p>
                  </a:txBody>
                  <a:tcPr marL="91440" marR="91440" marT="45720" marB="45720">
                    <a:lnL w="9525">
                      <a:solidFill>
                        <a:srgbClr val="D6E0E5"/>
                      </a:solidFill>
                      <a:prstDash val="solid"/>
                    </a:lnL>
                    <a:lnR w="9525">
                      <a:solidFill>
                        <a:srgbClr val="D6E0E5"/>
                      </a:solidFill>
                      <a:prstDash val="solid"/>
                    </a:lnR>
                    <a:lnB w="9525">
                      <a:solidFill>
                        <a:srgbClr val="D6E0E5"/>
                      </a:solidFill>
                      <a:prstDash val="solid"/>
                    </a:lnB>
                    <a:solidFill>
                      <a:srgbClr val="EAF2F5"/>
                    </a:solidFill>
                  </a:tcPr>
                </a:tc>
                <a:tc>
                  <a:txBody>
                    <a:bodyPr>
                      <a:noAutofit/>
                    </a:bodyPr>
                    <a:lstStyle/>
                    <a:p>
                      <a:pPr algn="ctr"/>
                      <a:r>
                        <a:rPr sz="1650" b="0">
                          <a:solidFill>
                            <a:srgbClr val="183044"/>
                          </a:solidFill>
                          <a:latin typeface="Arial"/>
                          <a:ea typeface="Arial"/>
                          <a:cs typeface="Arial"/>
                        </a:rPr>
                        <a:t>3.26</a:t>
                      </a:r>
                    </a:p>
                  </a:txBody>
                  <a:tcPr marL="91440" marR="91440" marT="45720" marB="45720">
                    <a:lnR w="9525">
                      <a:solidFill>
                        <a:srgbClr val="D6E0E5"/>
                      </a:solidFill>
                      <a:prstDash val="solid"/>
                    </a:lnR>
                    <a:lnB w="9525">
                      <a:solidFill>
                        <a:srgbClr val="D6E0E5"/>
                      </a:solidFill>
                      <a:prstDash val="solid"/>
                    </a:lnB>
                    <a:solidFill>
                      <a:srgbClr val="EAF2F5"/>
                    </a:solidFill>
                  </a:tcPr>
                </a:tc>
                <a:tc>
                  <a:txBody>
                    <a:bodyPr>
                      <a:noAutofit/>
                    </a:bodyPr>
                    <a:lstStyle/>
                    <a:p>
                      <a:pPr algn="ctr"/>
                      <a:r>
                        <a:rPr sz="1650" b="0">
                          <a:solidFill>
                            <a:srgbClr val="183044"/>
                          </a:solidFill>
                          <a:latin typeface="Arial"/>
                          <a:ea typeface="Arial"/>
                          <a:cs typeface="Arial"/>
                        </a:rPr>
                        <a:t>0</a:t>
                      </a:r>
                    </a:p>
                  </a:txBody>
                  <a:tcPr marL="91440" marR="91440" marT="45720" marB="45720">
                    <a:lnR w="9525">
                      <a:solidFill>
                        <a:srgbClr val="D6E0E5"/>
                      </a:solidFill>
                      <a:prstDash val="solid"/>
                    </a:lnR>
                    <a:lnB w="9525">
                      <a:solidFill>
                        <a:srgbClr val="D6E0E5"/>
                      </a:solidFill>
                      <a:prstDash val="solid"/>
                    </a:lnB>
                    <a:solidFill>
                      <a:srgbClr val="EAF2F5"/>
                    </a:solidFill>
                  </a:tcPr>
                </a:tc>
                <a:tc>
                  <a:txBody>
                    <a:bodyPr>
                      <a:noAutofit/>
                    </a:bodyPr>
                    <a:lstStyle/>
                    <a:p>
                      <a:pPr algn="ctr"/>
                      <a:r>
                        <a:rPr sz="1650" b="0">
                          <a:solidFill>
                            <a:srgbClr val="183044"/>
                          </a:solidFill>
                          <a:latin typeface="Arial"/>
                          <a:ea typeface="Arial"/>
                          <a:cs typeface="Arial"/>
                        </a:rPr>
                        <a:t>7.39</a:t>
                      </a:r>
                    </a:p>
                  </a:txBody>
                  <a:tcPr marL="91440" marR="91440" marT="45720" marB="45720">
                    <a:lnR w="9525">
                      <a:solidFill>
                        <a:srgbClr val="D6E0E5"/>
                      </a:solidFill>
                      <a:prstDash val="solid"/>
                    </a:lnR>
                    <a:lnB w="9525">
                      <a:solidFill>
                        <a:srgbClr val="D6E0E5"/>
                      </a:solidFill>
                      <a:prstDash val="solid"/>
                    </a:lnB>
                    <a:solidFill>
                      <a:srgbClr val="EAF2F5"/>
                    </a:solidFill>
                  </a:tcPr>
                </a:tc>
                <a:tc>
                  <a:txBody>
                    <a:bodyPr>
                      <a:noAutofit/>
                    </a:bodyPr>
                    <a:lstStyle/>
                    <a:p>
                      <a:pPr algn="ctr"/>
                      <a:r>
                        <a:rPr sz="1650" b="0">
                          <a:solidFill>
                            <a:srgbClr val="183044"/>
                          </a:solidFill>
                          <a:latin typeface="Arial"/>
                          <a:ea typeface="Arial"/>
                          <a:cs typeface="Arial"/>
                        </a:rPr>
                        <a:t>54.67</a:t>
                      </a:r>
                    </a:p>
                  </a:txBody>
                  <a:tcPr marL="91440" marR="91440" marT="45720" marB="45720">
                    <a:lnR w="9525">
                      <a:solidFill>
                        <a:srgbClr val="D6E0E5"/>
                      </a:solidFill>
                      <a:prstDash val="solid"/>
                    </a:lnR>
                    <a:lnB w="9525">
                      <a:solidFill>
                        <a:srgbClr val="D6E0E5"/>
                      </a:solidFill>
                      <a:prstDash val="solid"/>
                    </a:lnB>
                    <a:solidFill>
                      <a:srgbClr val="EAF2F5"/>
                    </a:solidFill>
                  </a:tcPr>
                </a:tc>
              </a:tr>
              <a:tr h="402431">
                <a:tc>
                  <a:txBody>
                    <a:bodyPr>
                      <a:noAutofit/>
                    </a:bodyPr>
                    <a:lstStyle/>
                    <a:p>
                      <a:pPr algn="l"/>
                      <a:r>
                        <a:rPr sz="1650" b="0">
                          <a:solidFill>
                            <a:srgbClr val="183044"/>
                          </a:solidFill>
                          <a:latin typeface="Arial"/>
                          <a:ea typeface="Arial"/>
                          <a:cs typeface="Arial"/>
                        </a:rPr>
                        <a:t>Physical-health days</a:t>
                      </a:r>
                    </a:p>
                  </a:txBody>
                  <a:tcPr marL="91440" marR="91440" marT="45720" marB="45720">
                    <a:lnL w="9525">
                      <a:solidFill>
                        <a:srgbClr val="D6E0E5"/>
                      </a:solidFill>
                      <a:prstDash val="solid"/>
                    </a:lnL>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650" b="0">
                          <a:solidFill>
                            <a:srgbClr val="183044"/>
                          </a:solidFill>
                          <a:latin typeface="Arial"/>
                          <a:ea typeface="Arial"/>
                          <a:cs typeface="Arial"/>
                        </a:rPr>
                        <a:t>4.15</a:t>
                      </a:r>
                    </a:p>
                  </a:txBody>
                  <a:tcPr marL="91440" marR="91440" marT="45720" marB="45720">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650" b="0">
                          <a:solidFill>
                            <a:srgbClr val="183044"/>
                          </a:solidFill>
                          <a:latin typeface="Arial"/>
                          <a:ea typeface="Arial"/>
                          <a:cs typeface="Arial"/>
                        </a:rPr>
                        <a:t>0</a:t>
                      </a:r>
                    </a:p>
                  </a:txBody>
                  <a:tcPr marL="91440" marR="91440" marT="45720" marB="45720">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650" b="0">
                          <a:solidFill>
                            <a:srgbClr val="183044"/>
                          </a:solidFill>
                          <a:latin typeface="Arial"/>
                          <a:ea typeface="Arial"/>
                          <a:cs typeface="Arial"/>
                        </a:rPr>
                        <a:t>8.62</a:t>
                      </a:r>
                    </a:p>
                  </a:txBody>
                  <a:tcPr marL="91440" marR="91440" marT="45720" marB="45720">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650" b="0">
                          <a:solidFill>
                            <a:srgbClr val="183044"/>
                          </a:solidFill>
                          <a:latin typeface="Arial"/>
                          <a:ea typeface="Arial"/>
                          <a:cs typeface="Arial"/>
                        </a:rPr>
                        <a:t>74.24</a:t>
                      </a:r>
                    </a:p>
                  </a:txBody>
                  <a:tcPr marL="91440" marR="91440" marT="45720" marB="45720">
                    <a:lnR w="9525">
                      <a:solidFill>
                        <a:srgbClr val="D6E0E5"/>
                      </a:solidFill>
                      <a:prstDash val="solid"/>
                    </a:lnR>
                    <a:lnB w="9525">
                      <a:solidFill>
                        <a:srgbClr val="D6E0E5"/>
                      </a:solidFill>
                      <a:prstDash val="solid"/>
                    </a:lnB>
                    <a:solidFill>
                      <a:srgbClr val="FFFFFF"/>
                    </a:solidFill>
                  </a:tcPr>
                </a:tc>
              </a:tr>
            </a:tbl>
          </a:graphicData>
        </a:graphic>
      </p:graphicFrame>
      <p:sp>
        <p:nvSpPr>
          <p:cNvPr id="6" name="text">
            <a:extLst xmlns:a="http://schemas.openxmlformats.org/drawingml/2006/main">
              <a:ext uri="{FF2B5EF4-FFF2-40B4-BE49-F238E27FC236}">
                <a16:creationId xmlns:a16="http://schemas.microsoft.com/office/drawing/2014/main" id="{8EBAFA12-4D74-4AD5-A9A1-38565E9E3E36}"/>
              </a:ext>
            </a:extLst>
          </p:cNvPr>
          <p:cNvSpPr>
            <a:spLocks xmlns:a="http://schemas.openxmlformats.org/drawingml/2006/main" noGrp="1"/>
          </p:cNvSpPr>
          <p:nvPr/>
        </p:nvSpPr>
        <p:spPr>
          <a:xfrm xmlns:a="http://schemas.openxmlformats.org/drawingml/2006/main">
            <a:off x="400050" y="3400425"/>
            <a:ext cx="36671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83044"/>
                </a:solidFill>
                <a:latin typeface="Arial"/>
                <a:ea typeface="Arial"/>
                <a:cs typeface="Arial"/>
              </a:defRPr>
            </a:defPPr>
          </a:lstStyle>
          <a:p xmlns:a="http://schemas.openxmlformats.org/drawingml/2006/main">
            <a:pPr>
              <a:defRPr sz="1725" b="1">
                <a:solidFill>
                  <a:srgbClr val="183044"/>
                </a:solidFill>
                <a:latin typeface="Arial"/>
                <a:ea typeface="Arial"/>
                <a:cs typeface="Arial"/>
              </a:defRPr>
            </a:pPr>
            <a:r>
              <a:rPr sz="1725" b="1">
                <a:solidFill>
                  <a:srgbClr val="183044"/>
                </a:solidFill>
                <a:latin typeface="Arial"/>
                <a:ea typeface="Arial"/>
                <a:cs typeface="Arial"/>
              </a:rPr>
              <a:t>Education: group sizes</a:t>
            </a:r>
          </a:p>
        </p:txBody>
      </p:sp>
      <p:sp>
        <p:nvSpPr>
          <p:cNvPr id="7" name="text">
            <a:extLst xmlns:a="http://schemas.openxmlformats.org/drawingml/2006/main">
              <a:ext uri="{FF2B5EF4-FFF2-40B4-BE49-F238E27FC236}">
                <a16:creationId xmlns:a16="http://schemas.microsoft.com/office/drawing/2014/main" id="{41B296CA-F399-42F7-945F-CB6799B08C2D}"/>
              </a:ext>
            </a:extLst>
          </p:cNvPr>
          <p:cNvSpPr>
            <a:spLocks xmlns:a="http://schemas.openxmlformats.org/drawingml/2006/main" noGrp="1"/>
          </p:cNvSpPr>
          <p:nvPr/>
        </p:nvSpPr>
        <p:spPr>
          <a:xfrm xmlns:a="http://schemas.openxmlformats.org/drawingml/2006/main">
            <a:off x="4371975" y="3400425"/>
            <a:ext cx="352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83044"/>
                </a:solidFill>
                <a:latin typeface="Arial"/>
                <a:ea typeface="Arial"/>
                <a:cs typeface="Arial"/>
              </a:defRPr>
            </a:defPPr>
          </a:lstStyle>
          <a:p xmlns:a="http://schemas.openxmlformats.org/drawingml/2006/main">
            <a:pPr>
              <a:defRPr sz="1725" b="1">
                <a:solidFill>
                  <a:srgbClr val="183044"/>
                </a:solidFill>
                <a:latin typeface="Arial"/>
                <a:ea typeface="Arial"/>
                <a:cs typeface="Arial"/>
              </a:defRPr>
            </a:pPr>
            <a:r>
              <a:rPr sz="1725" b="1">
                <a:solidFill>
                  <a:srgbClr val="183044"/>
                </a:solidFill>
                <a:latin typeface="Arial"/>
                <a:ea typeface="Arial"/>
                <a:cs typeface="Arial"/>
              </a:rPr>
              <a:t>Sex: sample share</a:t>
            </a:r>
          </a:p>
        </p:txBody>
      </p:sp>
      <p:sp>
        <p:nvSpPr>
          <p:cNvPr id="8" name="text">
            <a:extLst xmlns:a="http://schemas.openxmlformats.org/drawingml/2006/main">
              <a:ext uri="{FF2B5EF4-FFF2-40B4-BE49-F238E27FC236}">
                <a16:creationId xmlns:a16="http://schemas.microsoft.com/office/drawing/2014/main" id="{1C5773F6-9FE5-4464-AC6E-38E82BC19DE7}"/>
              </a:ext>
            </a:extLst>
          </p:cNvPr>
          <p:cNvSpPr>
            <a:spLocks xmlns:a="http://schemas.openxmlformats.org/drawingml/2006/main" noGrp="1"/>
          </p:cNvSpPr>
          <p:nvPr/>
        </p:nvSpPr>
        <p:spPr>
          <a:xfrm xmlns:a="http://schemas.openxmlformats.org/drawingml/2006/main">
            <a:off x="8296275" y="3400425"/>
            <a:ext cx="35147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83044"/>
                </a:solidFill>
                <a:latin typeface="Arial"/>
                <a:ea typeface="Arial"/>
                <a:cs typeface="Arial"/>
              </a:defRPr>
            </a:defPPr>
          </a:lstStyle>
          <a:p xmlns:a="http://schemas.openxmlformats.org/drawingml/2006/main">
            <a:pPr>
              <a:defRPr sz="1725" b="1">
                <a:solidFill>
                  <a:srgbClr val="183044"/>
                </a:solidFill>
                <a:latin typeface="Arial"/>
                <a:ea typeface="Arial"/>
                <a:cs typeface="Arial"/>
              </a:defRPr>
            </a:pPr>
            <a:r>
              <a:rPr sz="1725" b="1">
                <a:solidFill>
                  <a:srgbClr val="183044"/>
                </a:solidFill>
                <a:latin typeface="Arial"/>
                <a:ea typeface="Arial"/>
                <a:cs typeface="Arial"/>
              </a:rPr>
              <a:t>BMI: distribution shape</a:t>
            </a:r>
          </a:p>
        </p:txBody>
      </p:sp>
      <p:graphicFrame>
        <p:nvGraphicFramePr>
          <p:cNvPr id="9" name="Chart">
            <a:extLst xmlns:a="http://schemas.openxmlformats.org/drawingml/2006/main">
              <a:ext uri="{FF2B5EF4-FFF2-40B4-BE49-F238E27FC236}">
                <a16:creationId xmlns:a16="http://schemas.microsoft.com/office/drawing/2014/main" id="{56F7CFCE-9ED2-44AC-A86A-11CC04CA3309}"/>
              </a:ext>
            </a:extLst>
          </p:cNvPr>
          <p:cNvGraphicFramePr/>
          <p:nvPr/>
        </p:nvGraphicFramePr>
        <p:xfrm>
          <a:off xmlns:a="http://schemas.openxmlformats.org/drawingml/2006/main" x="247650" y="3790950"/>
          <a:ext xmlns:a="http://schemas.openxmlformats.org/drawingml/2006/main" cx="3848100" cy="2133600"/>
        </p:xfrm>
        <a:graphic xmlns:a="http://schemas.openxmlformats.org/drawingml/2006/main">
          <a:graphicData uri="http://schemas.openxmlformats.org/drawingml/2006/chart">
            <c:chart xmlns:r="http://schemas.openxmlformats.org/officeDocument/2006/relationships" xmlns:c="http://schemas.openxmlformats.org/drawingml/2006/chart" r:id="R40b341382b9e4e37"/>
          </a:graphicData>
        </a:graphic>
      </p:graphicFrame>
      <p:graphicFrame>
        <p:nvGraphicFramePr>
          <p:cNvPr id="10" name="Chart">
            <a:extLst xmlns:a="http://schemas.openxmlformats.org/drawingml/2006/main">
              <a:ext uri="{FF2B5EF4-FFF2-40B4-BE49-F238E27FC236}">
                <a16:creationId xmlns:a16="http://schemas.microsoft.com/office/drawing/2014/main" id="{AE5C915E-47AE-461C-880E-1A4911F85FE4}"/>
              </a:ext>
            </a:extLst>
          </p:cNvPr>
          <p:cNvGraphicFramePr/>
          <p:nvPr/>
        </p:nvGraphicFramePr>
        <p:xfrm>
          <a:off xmlns:a="http://schemas.openxmlformats.org/drawingml/2006/main" x="4467225" y="3790950"/>
          <a:ext xmlns:a="http://schemas.openxmlformats.org/drawingml/2006/main" cx="3286125" cy="2133600"/>
        </p:xfrm>
        <a:graphic xmlns:a="http://schemas.openxmlformats.org/drawingml/2006/main">
          <a:graphicData uri="http://schemas.openxmlformats.org/drawingml/2006/chart">
            <c:chart xmlns:r="http://schemas.openxmlformats.org/officeDocument/2006/relationships" xmlns:c="http://schemas.openxmlformats.org/drawingml/2006/chart" r:id="R7054122269e84168"/>
          </a:graphicData>
        </a:graphic>
      </p:graphicFrame>
      <p:pic>
        <p:nvPicPr>
          <p:cNvPr id="11" name="">
            <a:extLst xmlns:a="http://schemas.openxmlformats.org/drawingml/2006/main">
              <a:ext uri="{FF2B5EF4-FFF2-40B4-BE49-F238E27FC236}">
                <a16:creationId xmlns:a16="http://schemas.microsoft.com/office/drawing/2014/main" id="{AB6415B8-CE5E-4151-B69B-A870E0D62EAB}"/>
              </a:ext>
            </a:extLst>
          </p:cNvPr>
          <p:cNvPicPr>
            <a:picLocks xmlns:a="http://schemas.openxmlformats.org/drawingml/2006/main" noChangeAspect="1"/>
          </p:cNvPicPr>
          <p:nvPr/>
        </p:nvPicPr>
        <p:blipFill>
          <a:blip xmlns:r="http://schemas.openxmlformats.org/officeDocument/2006/relationships" xmlns:a="http://schemas.openxmlformats.org/drawingml/2006/main" r:embed="R8e22f836ca0e45f4"/>
          <a:stretch xmlns:a="http://schemas.openxmlformats.org/drawingml/2006/main"/>
        </p:blipFill>
        <p:spPr>
          <a:xfrm xmlns:a="http://schemas.openxmlformats.org/drawingml/2006/main">
            <a:off x="8248650" y="3762375"/>
            <a:ext cx="3524250" cy="2190750"/>
          </a:xfrm>
          <a:prstGeom xmlns:a="http://schemas.openxmlformats.org/drawingml/2006/main" prst="rect">
            <a:avLst/>
          </a:prstGeom>
        </p:spPr>
      </p:pic>
      <p:sp>
        <p:nvSpPr>
          <p:cNvPr id="12" name="">
            <a:extLst xmlns:a="http://schemas.openxmlformats.org/drawingml/2006/main">
              <a:ext uri="{FF2B5EF4-FFF2-40B4-BE49-F238E27FC236}">
                <a16:creationId xmlns:a16="http://schemas.microsoft.com/office/drawing/2014/main" id="{4CC0731B-0360-4EAD-BD39-95B1A5AFA41E}"/>
              </a:ext>
            </a:extLst>
          </p:cNvPr>
          <p:cNvSpPr>
            <a:spLocks xmlns:a="http://schemas.openxmlformats.org/drawingml/2006/main" noGrp="1"/>
          </p:cNvSpPr>
          <p:nvPr/>
        </p:nvSpPr>
        <p:spPr>
          <a:xfrm xmlns:a="http://schemas.openxmlformats.org/drawingml/2006/main">
            <a:off x="400050" y="6153150"/>
            <a:ext cx="11391900" cy="19050"/>
          </a:xfrm>
          <a:prstGeom xmlns:a="http://schemas.openxmlformats.org/drawingml/2006/main" prst="rect">
            <a:avLst/>
          </a:prstGeom>
          <a:solidFill xmlns:a="http://schemas.openxmlformats.org/drawingml/2006/main">
            <a:srgbClr val="176D8C"/>
          </a:solidFill>
          <a:ln xmlns:a="http://schemas.openxmlformats.org/drawingml/2006/main" w="0">
            <a:noFill/>
          </a:ln>
        </p:spPr>
      </p:sp>
      <p:sp>
        <p:nvSpPr>
          <p:cNvPr id="13" name="text">
            <a:extLst xmlns:a="http://schemas.openxmlformats.org/drawingml/2006/main">
              <a:ext uri="{FF2B5EF4-FFF2-40B4-BE49-F238E27FC236}">
                <a16:creationId xmlns:a16="http://schemas.microsoft.com/office/drawing/2014/main" id="{92AE30CE-D234-454E-97A4-4995F256D009}"/>
              </a:ext>
            </a:extLst>
          </p:cNvPr>
          <p:cNvSpPr>
            <a:spLocks xmlns:a="http://schemas.openxmlformats.org/drawingml/2006/main" noGrp="1"/>
          </p:cNvSpPr>
          <p:nvPr/>
        </p:nvSpPr>
        <p:spPr>
          <a:xfrm xmlns:a="http://schemas.openxmlformats.org/drawingml/2006/main">
            <a:off x="400050" y="6267450"/>
            <a:ext cx="1095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176D8C"/>
                </a:solidFill>
                <a:latin typeface="Arial"/>
                <a:ea typeface="Arial"/>
                <a:cs typeface="Arial"/>
              </a:defRPr>
            </a:defPPr>
          </a:lstStyle>
          <a:p xmlns:a="http://schemas.openxmlformats.org/drawingml/2006/main">
            <a:pPr>
              <a:defRPr sz="1650" b="1">
                <a:solidFill>
                  <a:srgbClr val="176D8C"/>
                </a:solidFill>
                <a:latin typeface="Arial"/>
                <a:ea typeface="Arial"/>
                <a:cs typeface="Arial"/>
              </a:defRPr>
            </a:pPr>
            <a:r>
              <a:rPr sz="1650" b="1">
                <a:solidFill>
                  <a:srgbClr val="176D8C"/>
                </a:solidFill>
                <a:latin typeface="Arial"/>
                <a:ea typeface="Arial"/>
                <a:cs typeface="Arial"/>
              </a:rPr>
              <a:t>BMI has a long right tail. Most people report few poor-health days.</a:t>
            </a:r>
          </a:p>
        </p:txBody>
      </p:sp>
      <p:sp>
        <p:nvSpPr>
          <p:cNvPr id="14" name="text">
            <a:extLst xmlns:a="http://schemas.openxmlformats.org/drawingml/2006/main">
              <a:ext uri="{FF2B5EF4-FFF2-40B4-BE49-F238E27FC236}">
                <a16:creationId xmlns:a16="http://schemas.microsoft.com/office/drawing/2014/main" id="{C448B52C-409C-43BE-9277-EBF20D3DCDA5}"/>
              </a:ext>
            </a:extLst>
          </p:cNvPr>
          <p:cNvSpPr>
            <a:spLocks xmlns:a="http://schemas.openxmlformats.org/drawingml/2006/main" noGrp="1"/>
          </p:cNvSpPr>
          <p:nvPr/>
        </p:nvSpPr>
        <p:spPr>
          <a:xfrm xmlns:a="http://schemas.openxmlformats.org/drawingml/2006/main">
            <a:off x="11353800" y="6581775"/>
            <a:ext cx="6572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050" b="0">
                <a:solidFill>
                  <a:srgbClr val="415566"/>
                </a:solidFill>
                <a:latin typeface="Arial"/>
                <a:ea typeface="Arial"/>
                <a:cs typeface="Arial"/>
              </a:defRPr>
            </a:defPPr>
          </a:lstStyle>
          <a:p xmlns:a="http://schemas.openxmlformats.org/drawingml/2006/main">
            <a:pPr>
              <a:defRPr sz="1050" b="0">
                <a:solidFill>
                  <a:srgbClr val="415566"/>
                </a:solidFill>
                <a:latin typeface="Arial"/>
                <a:ea typeface="Arial"/>
                <a:cs typeface="Arial"/>
              </a:defRPr>
            </a:pPr>
            <a:r>
              <a:rPr sz="1050" b="0">
                <a:solidFill>
                  <a:srgbClr val="415566"/>
                </a:solidFill>
                <a:latin typeface="Arial"/>
                <a:ea typeface="Arial"/>
                <a:cs typeface="Arial"/>
              </a:rPr>
              <a:t>4 / 12</a:t>
            </a:r>
          </a:p>
        </p:txBody>
      </p:sp>
    </p:spTree>
    <p:extLst>
      <p:ext uri="{BB962C8B-B14F-4D97-AF65-F5344CB8AC3E}">
        <p14:creationId xmlns:p14="http://schemas.microsoft.com/office/powerpoint/2010/main" val="1420270258"/>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text">
            <a:extLst xmlns:a="http://schemas.openxmlformats.org/drawingml/2006/main">
              <a:ext uri="{FF2B5EF4-FFF2-40B4-BE49-F238E27FC236}">
                <a16:creationId xmlns:a16="http://schemas.microsoft.com/office/drawing/2014/main" id="{04B84B74-A52F-44E1-9672-0859E6A73C42}"/>
              </a:ext>
            </a:extLst>
          </p:cNvPr>
          <p:cNvSpPr>
            <a:spLocks xmlns:a="http://schemas.openxmlformats.org/drawingml/2006/main" noGrp="1"/>
          </p:cNvSpPr>
          <p:nvPr/>
        </p:nvSpPr>
        <p:spPr>
          <a:xfrm xmlns:a="http://schemas.openxmlformats.org/drawingml/2006/main">
            <a:off x="590550" y="76200"/>
            <a:ext cx="112204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1">
                <a:solidFill>
                  <a:srgbClr val="176D8C"/>
                </a:solidFill>
                <a:latin typeface="Arial"/>
                <a:ea typeface="Arial"/>
                <a:cs typeface="Arial"/>
              </a:defRPr>
            </a:defPPr>
          </a:lstStyle>
          <a:p xmlns:a="http://schemas.openxmlformats.org/drawingml/2006/main">
            <a:pPr>
              <a:defRPr sz="1350" b="1">
                <a:solidFill>
                  <a:srgbClr val="176D8C"/>
                </a:solidFill>
                <a:latin typeface="Arial"/>
                <a:ea typeface="Arial"/>
                <a:cs typeface="Arial"/>
              </a:defRPr>
            </a:pPr>
            <a:r>
              <a:rPr sz="1350" b="1">
                <a:solidFill>
                  <a:srgbClr val="176D8C"/>
                </a:solidFill>
                <a:latin typeface="Arial"/>
                <a:ea typeface="Arial"/>
                <a:cs typeface="Arial"/>
              </a:rPr>
              <a:t>LAB 3: Correlation, simple linear regression and R²</a:t>
            </a:r>
          </a:p>
        </p:txBody>
      </p:sp>
      <p:sp>
        <p:nvSpPr>
          <p:cNvPr id="2" name="">
            <a:extLst xmlns:a="http://schemas.openxmlformats.org/drawingml/2006/main">
              <a:ext uri="{FF2B5EF4-FFF2-40B4-BE49-F238E27FC236}">
                <a16:creationId xmlns:a16="http://schemas.microsoft.com/office/drawing/2014/main" id="{EE1039DA-E45A-43D5-9F2C-AB20EC91D40A}"/>
              </a:ext>
            </a:extLst>
          </p:cNvPr>
          <p:cNvSpPr>
            <a:spLocks xmlns:a="http://schemas.openxmlformats.org/drawingml/2006/main" noGrp="1"/>
          </p:cNvSpPr>
          <p:nvPr/>
        </p:nvSpPr>
        <p:spPr>
          <a:xfrm xmlns:a="http://schemas.openxmlformats.org/drawingml/2006/main">
            <a:off x="381000" y="381000"/>
            <a:ext cx="47625" cy="438150"/>
          </a:xfrm>
          <a:prstGeom xmlns:a="http://schemas.openxmlformats.org/drawingml/2006/main" prst="rect">
            <a:avLst/>
          </a:prstGeom>
          <a:solidFill xmlns:a="http://schemas.openxmlformats.org/drawingml/2006/main">
            <a:srgbClr val="176D8C"/>
          </a:solidFill>
          <a:ln xmlns:a="http://schemas.openxmlformats.org/drawingml/2006/main" w="0">
            <a:noFill/>
          </a:ln>
        </p:spPr>
      </p:sp>
      <p:sp>
        <p:nvSpPr>
          <p:cNvPr id="3" name="text">
            <a:extLst xmlns:a="http://schemas.openxmlformats.org/drawingml/2006/main">
              <a:ext uri="{FF2B5EF4-FFF2-40B4-BE49-F238E27FC236}">
                <a16:creationId xmlns:a16="http://schemas.microsoft.com/office/drawing/2014/main" id="{7BA6EAB2-6A13-4EE4-BAE5-EBC446E221AF}"/>
              </a:ext>
            </a:extLst>
          </p:cNvPr>
          <p:cNvSpPr>
            <a:spLocks xmlns:a="http://schemas.openxmlformats.org/drawingml/2006/main" noGrp="1"/>
          </p:cNvSpPr>
          <p:nvPr/>
        </p:nvSpPr>
        <p:spPr>
          <a:xfrm xmlns:a="http://schemas.openxmlformats.org/drawingml/2006/main">
            <a:off x="590550" y="342900"/>
            <a:ext cx="112204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1">
                <a:solidFill>
                  <a:srgbClr val="183044"/>
                </a:solidFill>
                <a:latin typeface="Arial"/>
                <a:ea typeface="Arial"/>
                <a:cs typeface="Arial"/>
              </a:defRPr>
            </a:defPPr>
          </a:lstStyle>
          <a:p xmlns:a="http://schemas.openxmlformats.org/drawingml/2006/main">
            <a:pPr>
              <a:defRPr sz="2850" b="1">
                <a:solidFill>
                  <a:srgbClr val="183044"/>
                </a:solidFill>
                <a:latin typeface="Arial"/>
                <a:ea typeface="Arial"/>
                <a:cs typeface="Arial"/>
              </a:defRPr>
            </a:pPr>
            <a:r>
              <a:rPr sz="2850" b="1">
                <a:solidFill>
                  <a:srgbClr val="183044"/>
                </a:solidFill>
                <a:latin typeface="Arial"/>
                <a:ea typeface="Arial"/>
                <a:cs typeface="Arial"/>
              </a:rPr>
              <a:t>Correlation and simple regression</a:t>
            </a:r>
          </a:p>
        </p:txBody>
      </p:sp>
      <p:sp>
        <p:nvSpPr>
          <p:cNvPr id="4" name="text">
            <a:extLst xmlns:a="http://schemas.openxmlformats.org/drawingml/2006/main">
              <a:ext uri="{FF2B5EF4-FFF2-40B4-BE49-F238E27FC236}">
                <a16:creationId xmlns:a16="http://schemas.microsoft.com/office/drawing/2014/main" id="{045FC83A-D4D3-44FC-A9C3-3E527B9BE18B}"/>
              </a:ext>
            </a:extLst>
          </p:cNvPr>
          <p:cNvSpPr>
            <a:spLocks xmlns:a="http://schemas.openxmlformats.org/drawingml/2006/main" noGrp="1"/>
          </p:cNvSpPr>
          <p:nvPr/>
        </p:nvSpPr>
        <p:spPr>
          <a:xfrm xmlns:a="http://schemas.openxmlformats.org/drawingml/2006/main">
            <a:off x="400050" y="971550"/>
            <a:ext cx="113919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415566"/>
                </a:solidFill>
                <a:latin typeface="Arial"/>
                <a:ea typeface="Arial"/>
                <a:cs typeface="Arial"/>
              </a:defRPr>
            </a:defPPr>
          </a:lstStyle>
          <a:p xmlns:a="http://schemas.openxmlformats.org/drawingml/2006/main">
            <a:pPr>
              <a:defRPr sz="1725" b="0">
                <a:solidFill>
                  <a:srgbClr val="415566"/>
                </a:solidFill>
                <a:latin typeface="Arial"/>
                <a:ea typeface="Arial"/>
                <a:cs typeface="Arial"/>
              </a:defRPr>
            </a:pPr>
            <a:r>
              <a:rPr sz="1725" b="0">
                <a:solidFill>
                  <a:srgbClr val="415566"/>
                </a:solidFill>
                <a:latin typeface="Arial"/>
                <a:ea typeface="Arial"/>
                <a:cs typeface="Arial"/>
              </a:rPr>
              <a:t>Predicted BMI = 28.09 + 0.0749 × poor physical-health days</a:t>
            </a:r>
          </a:p>
        </p:txBody>
      </p:sp>
      <p:sp>
        <p:nvSpPr>
          <p:cNvPr id="5" name="text">
            <a:extLst xmlns:a="http://schemas.openxmlformats.org/drawingml/2006/main">
              <a:ext uri="{FF2B5EF4-FFF2-40B4-BE49-F238E27FC236}">
                <a16:creationId xmlns:a16="http://schemas.microsoft.com/office/drawing/2014/main" id="{F7780328-C1DF-4695-B13E-145BBA867559}"/>
              </a:ext>
            </a:extLst>
          </p:cNvPr>
          <p:cNvSpPr>
            <a:spLocks xmlns:a="http://schemas.openxmlformats.org/drawingml/2006/main" noGrp="1"/>
          </p:cNvSpPr>
          <p:nvPr/>
        </p:nvSpPr>
        <p:spPr>
          <a:xfrm xmlns:a="http://schemas.openxmlformats.org/drawingml/2006/main">
            <a:off x="400050" y="1495425"/>
            <a:ext cx="6667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183044"/>
                </a:solidFill>
                <a:latin typeface="Arial"/>
                <a:ea typeface="Arial"/>
                <a:cs typeface="Arial"/>
              </a:defRPr>
            </a:defPPr>
          </a:lstStyle>
          <a:p xmlns:a="http://schemas.openxmlformats.org/drawingml/2006/main">
            <a:pPr>
              <a:defRPr sz="1800" b="1">
                <a:solidFill>
                  <a:srgbClr val="183044"/>
                </a:solidFill>
                <a:latin typeface="Arial"/>
                <a:ea typeface="Arial"/>
                <a:cs typeface="Arial"/>
              </a:defRPr>
            </a:pPr>
            <a:r>
              <a:rPr sz="1800" b="1">
                <a:solidFill>
                  <a:srgbClr val="183044"/>
                </a:solidFill>
                <a:latin typeface="Arial"/>
                <a:ea typeface="Arial"/>
                <a:cs typeface="Arial"/>
              </a:rPr>
              <a:t>Poor-health days and BMI</a:t>
            </a:r>
          </a:p>
        </p:txBody>
      </p:sp>
      <p:sp>
        <p:nvSpPr>
          <p:cNvPr id="6" name="text">
            <a:extLst xmlns:a="http://schemas.openxmlformats.org/drawingml/2006/main">
              <a:ext uri="{FF2B5EF4-FFF2-40B4-BE49-F238E27FC236}">
                <a16:creationId xmlns:a16="http://schemas.microsoft.com/office/drawing/2014/main" id="{E1522672-76E3-4028-A3BD-8DA5DE3F18EC}"/>
              </a:ext>
            </a:extLst>
          </p:cNvPr>
          <p:cNvSpPr>
            <a:spLocks xmlns:a="http://schemas.openxmlformats.org/drawingml/2006/main" noGrp="1"/>
          </p:cNvSpPr>
          <p:nvPr/>
        </p:nvSpPr>
        <p:spPr>
          <a:xfrm xmlns:a="http://schemas.openxmlformats.org/drawingml/2006/main">
            <a:off x="7524750" y="1495425"/>
            <a:ext cx="42862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183044"/>
                </a:solidFill>
                <a:latin typeface="Arial"/>
                <a:ea typeface="Arial"/>
                <a:cs typeface="Arial"/>
              </a:defRPr>
            </a:defPPr>
          </a:lstStyle>
          <a:p xmlns:a="http://schemas.openxmlformats.org/drawingml/2006/main">
            <a:pPr>
              <a:defRPr sz="1800" b="1">
                <a:solidFill>
                  <a:srgbClr val="183044"/>
                </a:solidFill>
                <a:latin typeface="Arial"/>
                <a:ea typeface="Arial"/>
                <a:cs typeface="Arial"/>
              </a:defRPr>
            </a:pPr>
            <a:r>
              <a:rPr sz="1800" b="1">
                <a:solidFill>
                  <a:srgbClr val="183044"/>
                </a:solidFill>
                <a:latin typeface="Arial"/>
                <a:ea typeface="Arial"/>
                <a:cs typeface="Arial"/>
              </a:rPr>
              <a:t>BMI by health group</a:t>
            </a:r>
          </a:p>
        </p:txBody>
      </p:sp>
      <p:pic>
        <p:nvPicPr>
          <p:cNvPr id="7" name="">
            <a:extLst xmlns:a="http://schemas.openxmlformats.org/drawingml/2006/main">
              <a:ext uri="{FF2B5EF4-FFF2-40B4-BE49-F238E27FC236}">
                <a16:creationId xmlns:a16="http://schemas.microsoft.com/office/drawing/2014/main" id="{F67B27AD-6BA7-4C22-A0BC-B3D93BDAC612}"/>
              </a:ext>
            </a:extLst>
          </p:cNvPr>
          <p:cNvPicPr>
            <a:picLocks xmlns:a="http://schemas.openxmlformats.org/drawingml/2006/main" noChangeAspect="1"/>
          </p:cNvPicPr>
          <p:nvPr/>
        </p:nvPicPr>
        <p:blipFill>
          <a:blip xmlns:r="http://schemas.openxmlformats.org/officeDocument/2006/relationships" xmlns:a="http://schemas.openxmlformats.org/drawingml/2006/main" r:embed="R804816767db54f2f"/>
          <a:stretch xmlns:a="http://schemas.openxmlformats.org/drawingml/2006/main"/>
        </p:blipFill>
        <p:spPr>
          <a:xfrm xmlns:a="http://schemas.openxmlformats.org/drawingml/2006/main">
            <a:off x="228600" y="1876425"/>
            <a:ext cx="6896100" cy="337185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E2A0F4AF-F2F6-41B0-9D69-3A02F1005413}"/>
              </a:ext>
            </a:extLst>
          </p:cNvPr>
          <p:cNvPicPr>
            <a:picLocks xmlns:a="http://schemas.openxmlformats.org/drawingml/2006/main" noChangeAspect="1"/>
          </p:cNvPicPr>
          <p:nvPr/>
        </p:nvPicPr>
        <p:blipFill>
          <a:blip xmlns:r="http://schemas.openxmlformats.org/officeDocument/2006/relationships" xmlns:a="http://schemas.openxmlformats.org/drawingml/2006/main" r:embed="R88987c0d4ae84dad"/>
          <a:stretch xmlns:a="http://schemas.openxmlformats.org/drawingml/2006/main"/>
        </p:blipFill>
        <p:spPr>
          <a:xfrm xmlns:a="http://schemas.openxmlformats.org/drawingml/2006/main">
            <a:off x="7486650" y="1876425"/>
            <a:ext cx="4286250" cy="2733675"/>
          </a:xfrm>
          <a:prstGeom xmlns:a="http://schemas.openxmlformats.org/drawingml/2006/main" prst="rect">
            <a:avLst/>
          </a:prstGeom>
        </p:spPr>
      </p:pic>
      <p:graphicFrame>
        <p:nvGraphicFramePr>
          <p:cNvPr id="9" name="">
            <a:extLst xmlns:a="http://schemas.openxmlformats.org/drawingml/2006/main">
              <a:ext uri="{FF2B5EF4-FFF2-40B4-BE49-F238E27FC236}">
                <a16:creationId xmlns:a16="http://schemas.microsoft.com/office/drawing/2014/main" id="{E051EFA3-A528-4010-8835-1EC1677EAC63}"/>
              </a:ext>
            </a:extLst>
          </p:cNvPr>
          <p:cNvGraphicFramePr/>
          <p:nvPr/>
        </p:nvGraphicFramePr>
        <p:xfrm>
          <a:off xmlns:a="http://schemas.openxmlformats.org/drawingml/2006/main" x="400050" y="5372100"/>
          <a:ext xmlns:a="http://schemas.openxmlformats.org/drawingml/2006/main" cx="6572250" cy="619125"/>
        </p:xfrm>
        <a:graphic xmlns:a="http://schemas.openxmlformats.org/drawingml/2006/main">
          <a:graphicData uri="http://schemas.openxmlformats.org/drawingml/2006/table">
            <a:tbl>
              <a:tblPr/>
              <a:tblGrid>
                <a:gridCol w="1638300"/>
                <a:gridCol w="1638300"/>
                <a:gridCol w="1657350"/>
                <a:gridCol w="1638300"/>
              </a:tblGrid>
              <a:tr h="309563">
                <a:tc>
                  <a:txBody>
                    <a:bodyPr>
                      <a:noAutofit/>
                    </a:bodyPr>
                    <a:lstStyle/>
                    <a:p>
                      <a:pPr algn="l"/>
                      <a:r>
                        <a:rPr sz="1500" b="1">
                          <a:solidFill>
                            <a:srgbClr val="FFFFFF"/>
                          </a:solidFill>
                          <a:latin typeface="Arial"/>
                          <a:ea typeface="Arial"/>
                          <a:cs typeface="Arial"/>
                        </a:rPr>
                        <a:t>Pearson r</a:t>
                      </a:r>
                    </a:p>
                  </a:txBody>
                  <a:tcPr marL="91440" marR="91440" marT="45720" marB="45720">
                    <a:lnL w="9525">
                      <a:solidFill>
                        <a:srgbClr val="D6E0E5"/>
                      </a:solidFill>
                      <a:prstDash val="solid"/>
                    </a:lnL>
                    <a:lnR w="9525">
                      <a:solidFill>
                        <a:srgbClr val="D6E0E5"/>
                      </a:solidFill>
                      <a:prstDash val="solid"/>
                    </a:lnR>
                    <a:lnT w="9525">
                      <a:solidFill>
                        <a:srgbClr val="D6E0E5"/>
                      </a:solidFill>
                      <a:prstDash val="solid"/>
                    </a:lnT>
                    <a:lnB w="9525">
                      <a:solidFill>
                        <a:srgbClr val="D6E0E5"/>
                      </a:solidFill>
                      <a:prstDash val="solid"/>
                    </a:lnB>
                    <a:solidFill>
                      <a:srgbClr val="176D8C"/>
                    </a:solidFill>
                  </a:tcPr>
                </a:tc>
                <a:tc>
                  <a:txBody>
                    <a:bodyPr>
                      <a:noAutofit/>
                    </a:bodyPr>
                    <a:lstStyle/>
                    <a:p>
                      <a:pPr algn="ctr"/>
                      <a:r>
                        <a:rPr sz="1500" b="1">
                          <a:solidFill>
                            <a:srgbClr val="FFFFFF"/>
                          </a:solidFill>
                          <a:latin typeface="Arial"/>
                          <a:ea typeface="Arial"/>
                          <a:cs typeface="Arial"/>
                        </a:rPr>
                        <a:t>Spearman r</a:t>
                      </a:r>
                    </a:p>
                  </a:txBody>
                  <a:tcPr marL="91440" marR="91440" marT="45720" marB="45720">
                    <a:lnR w="9525">
                      <a:solidFill>
                        <a:srgbClr val="D6E0E5"/>
                      </a:solidFill>
                      <a:prstDash val="solid"/>
                    </a:lnR>
                    <a:lnT w="9525">
                      <a:solidFill>
                        <a:srgbClr val="D6E0E5"/>
                      </a:solidFill>
                      <a:prstDash val="solid"/>
                    </a:lnT>
                    <a:lnB w="9525">
                      <a:solidFill>
                        <a:srgbClr val="D6E0E5"/>
                      </a:solidFill>
                      <a:prstDash val="solid"/>
                    </a:lnB>
                    <a:solidFill>
                      <a:srgbClr val="176D8C"/>
                    </a:solidFill>
                  </a:tcPr>
                </a:tc>
                <a:tc>
                  <a:txBody>
                    <a:bodyPr>
                      <a:noAutofit/>
                    </a:bodyPr>
                    <a:lstStyle/>
                    <a:p>
                      <a:pPr algn="ctr"/>
                      <a:r>
                        <a:rPr sz="1500" b="1">
                          <a:solidFill>
                            <a:srgbClr val="FFFFFF"/>
                          </a:solidFill>
                          <a:latin typeface="Arial"/>
                          <a:ea typeface="Arial"/>
                          <a:cs typeface="Arial"/>
                        </a:rPr>
                        <a:t>Covariance</a:t>
                      </a:r>
                    </a:p>
                  </a:txBody>
                  <a:tcPr marL="91440" marR="91440" marT="45720" marB="45720">
                    <a:lnR w="9525">
                      <a:solidFill>
                        <a:srgbClr val="D6E0E5"/>
                      </a:solidFill>
                      <a:prstDash val="solid"/>
                    </a:lnR>
                    <a:lnT w="9525">
                      <a:solidFill>
                        <a:srgbClr val="D6E0E5"/>
                      </a:solidFill>
                      <a:prstDash val="solid"/>
                    </a:lnT>
                    <a:lnB w="9525">
                      <a:solidFill>
                        <a:srgbClr val="D6E0E5"/>
                      </a:solidFill>
                      <a:prstDash val="solid"/>
                    </a:lnB>
                    <a:solidFill>
                      <a:srgbClr val="176D8C"/>
                    </a:solidFill>
                  </a:tcPr>
                </a:tc>
                <a:tc>
                  <a:txBody>
                    <a:bodyPr>
                      <a:noAutofit/>
                    </a:bodyPr>
                    <a:lstStyle/>
                    <a:p>
                      <a:pPr algn="ctr"/>
                      <a:r>
                        <a:rPr sz="1500" b="1">
                          <a:solidFill>
                            <a:srgbClr val="FFFFFF"/>
                          </a:solidFill>
                          <a:latin typeface="Arial"/>
                          <a:ea typeface="Arial"/>
                          <a:cs typeface="Arial"/>
                        </a:rPr>
                        <a:t>R²</a:t>
                      </a:r>
                    </a:p>
                  </a:txBody>
                  <a:tcPr marL="91440" marR="91440" marT="45720" marB="45720">
                    <a:lnR w="9525">
                      <a:solidFill>
                        <a:srgbClr val="D6E0E5"/>
                      </a:solidFill>
                      <a:prstDash val="solid"/>
                    </a:lnR>
                    <a:lnT w="9525">
                      <a:solidFill>
                        <a:srgbClr val="D6E0E5"/>
                      </a:solidFill>
                      <a:prstDash val="solid"/>
                    </a:lnT>
                    <a:lnB w="9525">
                      <a:solidFill>
                        <a:srgbClr val="D6E0E5"/>
                      </a:solidFill>
                      <a:prstDash val="solid"/>
                    </a:lnB>
                    <a:solidFill>
                      <a:srgbClr val="176D8C"/>
                    </a:solidFill>
                  </a:tcPr>
                </a:tc>
              </a:tr>
              <a:tr h="309563">
                <a:tc>
                  <a:txBody>
                    <a:bodyPr>
                      <a:noAutofit/>
                    </a:bodyPr>
                    <a:lstStyle/>
                    <a:p>
                      <a:pPr algn="l"/>
                      <a:r>
                        <a:rPr sz="1500" b="0">
                          <a:solidFill>
                            <a:srgbClr val="183044"/>
                          </a:solidFill>
                          <a:latin typeface="Arial"/>
                          <a:ea typeface="Arial"/>
                          <a:cs typeface="Arial"/>
                        </a:rPr>
                        <a:t>0.102</a:t>
                      </a:r>
                    </a:p>
                  </a:txBody>
                  <a:tcPr marL="91440" marR="91440" marT="45720" marB="45720">
                    <a:lnL w="9525">
                      <a:solidFill>
                        <a:srgbClr val="D6E0E5"/>
                      </a:solidFill>
                      <a:prstDash val="solid"/>
                    </a:lnL>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500" b="0">
                          <a:solidFill>
                            <a:srgbClr val="183044"/>
                          </a:solidFill>
                          <a:latin typeface="Arial"/>
                          <a:ea typeface="Arial"/>
                          <a:cs typeface="Arial"/>
                        </a:rPr>
                        <a:t>0.108</a:t>
                      </a:r>
                    </a:p>
                  </a:txBody>
                  <a:tcPr marL="91440" marR="91440" marT="45720" marB="45720">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500" b="0">
                          <a:solidFill>
                            <a:srgbClr val="183044"/>
                          </a:solidFill>
                          <a:latin typeface="Arial"/>
                          <a:ea typeface="Arial"/>
                          <a:cs typeface="Arial"/>
                        </a:rPr>
                        <a:t>5.56</a:t>
                      </a:r>
                    </a:p>
                  </a:txBody>
                  <a:tcPr marL="91440" marR="91440" marT="45720" marB="45720">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500" b="0">
                          <a:solidFill>
                            <a:srgbClr val="183044"/>
                          </a:solidFill>
                          <a:latin typeface="Arial"/>
                          <a:ea typeface="Arial"/>
                          <a:cs typeface="Arial"/>
                        </a:rPr>
                        <a:t>1.03%</a:t>
                      </a:r>
                    </a:p>
                  </a:txBody>
                  <a:tcPr marL="91440" marR="91440" marT="45720" marB="45720">
                    <a:lnR w="9525">
                      <a:solidFill>
                        <a:srgbClr val="D6E0E5"/>
                      </a:solidFill>
                      <a:prstDash val="solid"/>
                    </a:lnR>
                    <a:lnB w="9525">
                      <a:solidFill>
                        <a:srgbClr val="D6E0E5"/>
                      </a:solidFill>
                      <a:prstDash val="solid"/>
                    </a:lnB>
                    <a:solidFill>
                      <a:srgbClr val="FFFFFF"/>
                    </a:solidFill>
                  </a:tcPr>
                </a:tc>
              </a:tr>
            </a:tbl>
          </a:graphicData>
        </a:graphic>
      </p:graphicFrame>
      <p:sp>
        <p:nvSpPr>
          <p:cNvPr id="10" name="text">
            <a:extLst xmlns:a="http://schemas.openxmlformats.org/drawingml/2006/main">
              <a:ext uri="{FF2B5EF4-FFF2-40B4-BE49-F238E27FC236}">
                <a16:creationId xmlns:a16="http://schemas.microsoft.com/office/drawing/2014/main" id="{28555BE5-DCC0-46CE-BDB7-1C102498E6BB}"/>
              </a:ext>
            </a:extLst>
          </p:cNvPr>
          <p:cNvSpPr>
            <a:spLocks xmlns:a="http://schemas.openxmlformats.org/drawingml/2006/main" noGrp="1"/>
          </p:cNvSpPr>
          <p:nvPr/>
        </p:nvSpPr>
        <p:spPr>
          <a:xfrm xmlns:a="http://schemas.openxmlformats.org/drawingml/2006/main">
            <a:off x="7553325" y="4762500"/>
            <a:ext cx="4191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1">
                <a:solidFill>
                  <a:srgbClr val="183044"/>
                </a:solidFill>
                <a:latin typeface="Arial"/>
                <a:ea typeface="Arial"/>
                <a:cs typeface="Arial"/>
              </a:defRPr>
            </a:defPPr>
          </a:lstStyle>
          <a:p xmlns:a="http://schemas.openxmlformats.org/drawingml/2006/main">
            <a:pPr>
              <a:defRPr sz="1575" b="1">
                <a:solidFill>
                  <a:srgbClr val="183044"/>
                </a:solidFill>
                <a:latin typeface="Arial"/>
                <a:ea typeface="Arial"/>
                <a:cs typeface="Arial"/>
              </a:defRPr>
            </a:pPr>
            <a:r>
              <a:rPr sz="1575" b="1">
                <a:solidFill>
                  <a:srgbClr val="183044"/>
                </a:solidFill>
                <a:latin typeface="Arial"/>
                <a:ea typeface="Arial"/>
                <a:cs typeface="Arial"/>
              </a:rPr>
              <a:t>Average BMI</a:t>
            </a:r>
          </a:p>
        </p:txBody>
      </p:sp>
      <p:graphicFrame>
        <p:nvGraphicFramePr>
          <p:cNvPr id="11" name="">
            <a:extLst xmlns:a="http://schemas.openxmlformats.org/drawingml/2006/main">
              <a:ext uri="{FF2B5EF4-FFF2-40B4-BE49-F238E27FC236}">
                <a16:creationId xmlns:a16="http://schemas.microsoft.com/office/drawing/2014/main" id="{92D6D6F8-D872-4CCF-BCDE-36782777EE74}"/>
              </a:ext>
            </a:extLst>
          </p:cNvPr>
          <p:cNvGraphicFramePr/>
          <p:nvPr/>
        </p:nvGraphicFramePr>
        <p:xfrm>
          <a:off xmlns:a="http://schemas.openxmlformats.org/drawingml/2006/main" x="7524750" y="5143500"/>
          <a:ext xmlns:a="http://schemas.openxmlformats.org/drawingml/2006/main" cx="4286250" cy="847725"/>
        </p:xfrm>
        <a:graphic xmlns:a="http://schemas.openxmlformats.org/drawingml/2006/main">
          <a:graphicData uri="http://schemas.openxmlformats.org/drawingml/2006/table">
            <a:tbl>
              <a:tblPr/>
              <a:tblGrid>
                <a:gridCol w="1428750"/>
                <a:gridCol w="1428750"/>
                <a:gridCol w="1428750"/>
              </a:tblGrid>
              <a:tr h="423863">
                <a:tc>
                  <a:txBody>
                    <a:bodyPr>
                      <a:noAutofit/>
                    </a:bodyPr>
                    <a:lstStyle/>
                    <a:p>
                      <a:pPr algn="l"/>
                      <a:r>
                        <a:rPr sz="1425" b="1">
                          <a:solidFill>
                            <a:srgbClr val="FFFFFF"/>
                          </a:solidFill>
                          <a:latin typeface="Arial"/>
                          <a:ea typeface="Arial"/>
                          <a:cs typeface="Arial"/>
                        </a:rPr>
                        <a:t>No diabetes</a:t>
                      </a:r>
                    </a:p>
                  </a:txBody>
                  <a:tcPr marL="91440" marR="91440" marT="45720" marB="45720">
                    <a:lnL w="9525">
                      <a:solidFill>
                        <a:srgbClr val="D6E0E5"/>
                      </a:solidFill>
                      <a:prstDash val="solid"/>
                    </a:lnL>
                    <a:lnR w="9525">
                      <a:solidFill>
                        <a:srgbClr val="D6E0E5"/>
                      </a:solidFill>
                      <a:prstDash val="solid"/>
                    </a:lnR>
                    <a:lnT w="9525">
                      <a:solidFill>
                        <a:srgbClr val="D6E0E5"/>
                      </a:solidFill>
                      <a:prstDash val="solid"/>
                    </a:lnT>
                    <a:lnB w="9525">
                      <a:solidFill>
                        <a:srgbClr val="D6E0E5"/>
                      </a:solidFill>
                      <a:prstDash val="solid"/>
                    </a:lnB>
                    <a:solidFill>
                      <a:srgbClr val="176D8C"/>
                    </a:solidFill>
                  </a:tcPr>
                </a:tc>
                <a:tc>
                  <a:txBody>
                    <a:bodyPr>
                      <a:noAutofit/>
                    </a:bodyPr>
                    <a:lstStyle/>
                    <a:p>
                      <a:pPr algn="ctr"/>
                      <a:r>
                        <a:rPr sz="1425" b="1">
                          <a:solidFill>
                            <a:srgbClr val="FFFFFF"/>
                          </a:solidFill>
                          <a:latin typeface="Arial"/>
                          <a:ea typeface="Arial"/>
                          <a:cs typeface="Arial"/>
                        </a:rPr>
                        <a:t>Prediabetes</a:t>
                      </a:r>
                    </a:p>
                  </a:txBody>
                  <a:tcPr marL="91440" marR="91440" marT="45720" marB="45720">
                    <a:lnR w="9525">
                      <a:solidFill>
                        <a:srgbClr val="D6E0E5"/>
                      </a:solidFill>
                      <a:prstDash val="solid"/>
                    </a:lnR>
                    <a:lnT w="9525">
                      <a:solidFill>
                        <a:srgbClr val="D6E0E5"/>
                      </a:solidFill>
                      <a:prstDash val="solid"/>
                    </a:lnT>
                    <a:lnB w="9525">
                      <a:solidFill>
                        <a:srgbClr val="D6E0E5"/>
                      </a:solidFill>
                      <a:prstDash val="solid"/>
                    </a:lnB>
                    <a:solidFill>
                      <a:srgbClr val="176D8C"/>
                    </a:solidFill>
                  </a:tcPr>
                </a:tc>
                <a:tc>
                  <a:txBody>
                    <a:bodyPr>
                      <a:noAutofit/>
                    </a:bodyPr>
                    <a:lstStyle/>
                    <a:p>
                      <a:pPr algn="ctr"/>
                      <a:r>
                        <a:rPr sz="1425" b="1">
                          <a:solidFill>
                            <a:srgbClr val="FFFFFF"/>
                          </a:solidFill>
                          <a:latin typeface="Arial"/>
                          <a:ea typeface="Arial"/>
                          <a:cs typeface="Arial"/>
                        </a:rPr>
                        <a:t>Diabetes</a:t>
                      </a:r>
                    </a:p>
                  </a:txBody>
                  <a:tcPr marL="91440" marR="91440" marT="45720" marB="45720">
                    <a:lnR w="9525">
                      <a:solidFill>
                        <a:srgbClr val="D6E0E5"/>
                      </a:solidFill>
                      <a:prstDash val="solid"/>
                    </a:lnR>
                    <a:lnT w="9525">
                      <a:solidFill>
                        <a:srgbClr val="D6E0E5"/>
                      </a:solidFill>
                      <a:prstDash val="solid"/>
                    </a:lnT>
                    <a:lnB w="9525">
                      <a:solidFill>
                        <a:srgbClr val="D6E0E5"/>
                      </a:solidFill>
                      <a:prstDash val="solid"/>
                    </a:lnB>
                    <a:solidFill>
                      <a:srgbClr val="176D8C"/>
                    </a:solidFill>
                  </a:tcPr>
                </a:tc>
              </a:tr>
              <a:tr h="423863">
                <a:tc>
                  <a:txBody>
                    <a:bodyPr>
                      <a:noAutofit/>
                    </a:bodyPr>
                    <a:lstStyle/>
                    <a:p>
                      <a:pPr algn="l"/>
                      <a:r>
                        <a:rPr sz="1425" b="0">
                          <a:solidFill>
                            <a:srgbClr val="183044"/>
                          </a:solidFill>
                          <a:latin typeface="Arial"/>
                          <a:ea typeface="Arial"/>
                          <a:cs typeface="Arial"/>
                        </a:rPr>
                        <a:t>27.72</a:t>
                      </a:r>
                    </a:p>
                  </a:txBody>
                  <a:tcPr marL="91440" marR="91440" marT="45720" marB="45720">
                    <a:lnL w="9525">
                      <a:solidFill>
                        <a:srgbClr val="D6E0E5"/>
                      </a:solidFill>
                      <a:prstDash val="solid"/>
                    </a:lnL>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425" b="0">
                          <a:solidFill>
                            <a:srgbClr val="183044"/>
                          </a:solidFill>
                          <a:latin typeface="Arial"/>
                          <a:ea typeface="Arial"/>
                          <a:cs typeface="Arial"/>
                        </a:rPr>
                        <a:t>32.85</a:t>
                      </a:r>
                    </a:p>
                  </a:txBody>
                  <a:tcPr marL="91440" marR="91440" marT="45720" marB="45720">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425" b="0">
                          <a:solidFill>
                            <a:srgbClr val="183044"/>
                          </a:solidFill>
                          <a:latin typeface="Arial"/>
                          <a:ea typeface="Arial"/>
                          <a:cs typeface="Arial"/>
                        </a:rPr>
                        <a:t>31.98</a:t>
                      </a:r>
                    </a:p>
                  </a:txBody>
                  <a:tcPr marL="91440" marR="91440" marT="45720" marB="45720">
                    <a:lnR w="9525">
                      <a:solidFill>
                        <a:srgbClr val="D6E0E5"/>
                      </a:solidFill>
                      <a:prstDash val="solid"/>
                    </a:lnR>
                    <a:lnB w="9525">
                      <a:solidFill>
                        <a:srgbClr val="D6E0E5"/>
                      </a:solidFill>
                      <a:prstDash val="solid"/>
                    </a:lnB>
                    <a:solidFill>
                      <a:srgbClr val="FFFFFF"/>
                    </a:solidFill>
                  </a:tcPr>
                </a:tc>
              </a:tr>
            </a:tbl>
          </a:graphicData>
        </a:graphic>
      </p:graphicFrame>
      <p:sp>
        <p:nvSpPr>
          <p:cNvPr id="12" name="">
            <a:extLst xmlns:a="http://schemas.openxmlformats.org/drawingml/2006/main">
              <a:ext uri="{FF2B5EF4-FFF2-40B4-BE49-F238E27FC236}">
                <a16:creationId xmlns:a16="http://schemas.microsoft.com/office/drawing/2014/main" id="{7AA708C1-36D7-4373-85B6-CB812EF068E9}"/>
              </a:ext>
            </a:extLst>
          </p:cNvPr>
          <p:cNvSpPr>
            <a:spLocks xmlns:a="http://schemas.openxmlformats.org/drawingml/2006/main" noGrp="1"/>
          </p:cNvSpPr>
          <p:nvPr/>
        </p:nvSpPr>
        <p:spPr>
          <a:xfrm xmlns:a="http://schemas.openxmlformats.org/drawingml/2006/main">
            <a:off x="400050" y="6153150"/>
            <a:ext cx="11391900" cy="19050"/>
          </a:xfrm>
          <a:prstGeom xmlns:a="http://schemas.openxmlformats.org/drawingml/2006/main" prst="rect">
            <a:avLst/>
          </a:prstGeom>
          <a:solidFill xmlns:a="http://schemas.openxmlformats.org/drawingml/2006/main">
            <a:srgbClr val="176D8C"/>
          </a:solidFill>
          <a:ln xmlns:a="http://schemas.openxmlformats.org/drawingml/2006/main" w="0">
            <a:noFill/>
          </a:ln>
        </p:spPr>
      </p:sp>
      <p:sp>
        <p:nvSpPr>
          <p:cNvPr id="13" name="text">
            <a:extLst xmlns:a="http://schemas.openxmlformats.org/drawingml/2006/main">
              <a:ext uri="{FF2B5EF4-FFF2-40B4-BE49-F238E27FC236}">
                <a16:creationId xmlns:a16="http://schemas.microsoft.com/office/drawing/2014/main" id="{02FB9ED9-1B65-4026-8E54-63D1A6D7147D}"/>
              </a:ext>
            </a:extLst>
          </p:cNvPr>
          <p:cNvSpPr>
            <a:spLocks xmlns:a="http://schemas.openxmlformats.org/drawingml/2006/main" noGrp="1"/>
          </p:cNvSpPr>
          <p:nvPr/>
        </p:nvSpPr>
        <p:spPr>
          <a:xfrm xmlns:a="http://schemas.openxmlformats.org/drawingml/2006/main">
            <a:off x="400050" y="6267450"/>
            <a:ext cx="1095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176D8C"/>
                </a:solidFill>
                <a:latin typeface="Arial"/>
                <a:ea typeface="Arial"/>
                <a:cs typeface="Arial"/>
              </a:defRPr>
            </a:defPPr>
          </a:lstStyle>
          <a:p xmlns:a="http://schemas.openxmlformats.org/drawingml/2006/main">
            <a:pPr>
              <a:defRPr sz="1650" b="1">
                <a:solidFill>
                  <a:srgbClr val="176D8C"/>
                </a:solidFill>
                <a:latin typeface="Arial"/>
                <a:ea typeface="Arial"/>
                <a:cs typeface="Arial"/>
              </a:defRPr>
            </a:pPr>
            <a:r>
              <a:rPr sz="1650" b="1">
                <a:solidFill>
                  <a:srgbClr val="176D8C"/>
                </a:solidFill>
                <a:latin typeface="Arial"/>
                <a:ea typeface="Arial"/>
                <a:cs typeface="Arial"/>
              </a:rPr>
              <a:t>r = 0.102: weak positive relation. R² = 1.03%: very little BMI variation is explained.</a:t>
            </a:r>
          </a:p>
        </p:txBody>
      </p:sp>
      <p:sp>
        <p:nvSpPr>
          <p:cNvPr id="14" name="text">
            <a:extLst xmlns:a="http://schemas.openxmlformats.org/drawingml/2006/main">
              <a:ext uri="{FF2B5EF4-FFF2-40B4-BE49-F238E27FC236}">
                <a16:creationId xmlns:a16="http://schemas.microsoft.com/office/drawing/2014/main" id="{1C0C2C6E-3295-4CEF-9796-93D69F27CBF0}"/>
              </a:ext>
            </a:extLst>
          </p:cNvPr>
          <p:cNvSpPr>
            <a:spLocks xmlns:a="http://schemas.openxmlformats.org/drawingml/2006/main" noGrp="1"/>
          </p:cNvSpPr>
          <p:nvPr/>
        </p:nvSpPr>
        <p:spPr>
          <a:xfrm xmlns:a="http://schemas.openxmlformats.org/drawingml/2006/main">
            <a:off x="11353800" y="6581775"/>
            <a:ext cx="6572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050" b="0">
                <a:solidFill>
                  <a:srgbClr val="415566"/>
                </a:solidFill>
                <a:latin typeface="Arial"/>
                <a:ea typeface="Arial"/>
                <a:cs typeface="Arial"/>
              </a:defRPr>
            </a:defPPr>
          </a:lstStyle>
          <a:p xmlns:a="http://schemas.openxmlformats.org/drawingml/2006/main">
            <a:pPr>
              <a:defRPr sz="1050" b="0">
                <a:solidFill>
                  <a:srgbClr val="415566"/>
                </a:solidFill>
                <a:latin typeface="Arial"/>
                <a:ea typeface="Arial"/>
                <a:cs typeface="Arial"/>
              </a:defRPr>
            </a:pPr>
            <a:r>
              <a:rPr sz="1050" b="0">
                <a:solidFill>
                  <a:srgbClr val="415566"/>
                </a:solidFill>
                <a:latin typeface="Arial"/>
                <a:ea typeface="Arial"/>
                <a:cs typeface="Arial"/>
              </a:rPr>
              <a:t>5 / 12</a:t>
            </a:r>
          </a:p>
        </p:txBody>
      </p:sp>
    </p:spTree>
    <p:extLst>
      <p:ext uri="{BB962C8B-B14F-4D97-AF65-F5344CB8AC3E}">
        <p14:creationId xmlns:p14="http://schemas.microsoft.com/office/powerpoint/2010/main" val="679758086"/>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text">
            <a:extLst xmlns:a="http://schemas.openxmlformats.org/drawingml/2006/main">
              <a:ext uri="{FF2B5EF4-FFF2-40B4-BE49-F238E27FC236}">
                <a16:creationId xmlns:a16="http://schemas.microsoft.com/office/drawing/2014/main" id="{6C0113B7-053A-455A-B415-CB3D648703B8}"/>
              </a:ext>
            </a:extLst>
          </p:cNvPr>
          <p:cNvSpPr>
            <a:spLocks xmlns:a="http://schemas.openxmlformats.org/drawingml/2006/main" noGrp="1"/>
          </p:cNvSpPr>
          <p:nvPr/>
        </p:nvSpPr>
        <p:spPr>
          <a:xfrm xmlns:a="http://schemas.openxmlformats.org/drawingml/2006/main">
            <a:off x="590550" y="76200"/>
            <a:ext cx="112204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1">
                <a:solidFill>
                  <a:srgbClr val="176D8C"/>
                </a:solidFill>
                <a:latin typeface="Arial"/>
                <a:ea typeface="Arial"/>
                <a:cs typeface="Arial"/>
              </a:defRPr>
            </a:defPPr>
          </a:lstStyle>
          <a:p xmlns:a="http://schemas.openxmlformats.org/drawingml/2006/main">
            <a:pPr>
              <a:defRPr sz="1350" b="1">
                <a:solidFill>
                  <a:srgbClr val="176D8C"/>
                </a:solidFill>
                <a:latin typeface="Arial"/>
                <a:ea typeface="Arial"/>
                <a:cs typeface="Arial"/>
              </a:defRPr>
            </a:pPr>
            <a:r>
              <a:rPr sz="1350" b="1">
                <a:solidFill>
                  <a:srgbClr val="176D8C"/>
                </a:solidFill>
                <a:latin typeface="Arial"/>
                <a:ea typeface="Arial"/>
                <a:cs typeface="Arial"/>
              </a:rPr>
              <a:t>LAB 4: Multiple linear regression</a:t>
            </a:r>
          </a:p>
        </p:txBody>
      </p:sp>
      <p:sp>
        <p:nvSpPr>
          <p:cNvPr id="2" name="">
            <a:extLst xmlns:a="http://schemas.openxmlformats.org/drawingml/2006/main">
              <a:ext uri="{FF2B5EF4-FFF2-40B4-BE49-F238E27FC236}">
                <a16:creationId xmlns:a16="http://schemas.microsoft.com/office/drawing/2014/main" id="{B6912699-A0A0-4EC0-96A3-293CCA85A7CF}"/>
              </a:ext>
            </a:extLst>
          </p:cNvPr>
          <p:cNvSpPr>
            <a:spLocks xmlns:a="http://schemas.openxmlformats.org/drawingml/2006/main" noGrp="1"/>
          </p:cNvSpPr>
          <p:nvPr/>
        </p:nvSpPr>
        <p:spPr>
          <a:xfrm xmlns:a="http://schemas.openxmlformats.org/drawingml/2006/main">
            <a:off x="381000" y="381000"/>
            <a:ext cx="47625" cy="438150"/>
          </a:xfrm>
          <a:prstGeom xmlns:a="http://schemas.openxmlformats.org/drawingml/2006/main" prst="rect">
            <a:avLst/>
          </a:prstGeom>
          <a:solidFill xmlns:a="http://schemas.openxmlformats.org/drawingml/2006/main">
            <a:srgbClr val="176D8C"/>
          </a:solidFill>
          <a:ln xmlns:a="http://schemas.openxmlformats.org/drawingml/2006/main" w="0">
            <a:noFill/>
          </a:ln>
        </p:spPr>
      </p:sp>
      <p:sp>
        <p:nvSpPr>
          <p:cNvPr id="3" name="text">
            <a:extLst xmlns:a="http://schemas.openxmlformats.org/drawingml/2006/main">
              <a:ext uri="{FF2B5EF4-FFF2-40B4-BE49-F238E27FC236}">
                <a16:creationId xmlns:a16="http://schemas.microsoft.com/office/drawing/2014/main" id="{4AFD8C8C-0D48-44D2-9A04-2E58AC9E9A00}"/>
              </a:ext>
            </a:extLst>
          </p:cNvPr>
          <p:cNvSpPr>
            <a:spLocks xmlns:a="http://schemas.openxmlformats.org/drawingml/2006/main" noGrp="1"/>
          </p:cNvSpPr>
          <p:nvPr/>
        </p:nvSpPr>
        <p:spPr>
          <a:xfrm xmlns:a="http://schemas.openxmlformats.org/drawingml/2006/main">
            <a:off x="590550" y="342900"/>
            <a:ext cx="112204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1">
                <a:solidFill>
                  <a:srgbClr val="183044"/>
                </a:solidFill>
                <a:latin typeface="Arial"/>
                <a:ea typeface="Arial"/>
                <a:cs typeface="Arial"/>
              </a:defRPr>
            </a:defPPr>
          </a:lstStyle>
          <a:p xmlns:a="http://schemas.openxmlformats.org/drawingml/2006/main">
            <a:pPr>
              <a:defRPr sz="2850" b="1">
                <a:solidFill>
                  <a:srgbClr val="183044"/>
                </a:solidFill>
                <a:latin typeface="Arial"/>
                <a:ea typeface="Arial"/>
                <a:cs typeface="Arial"/>
              </a:defRPr>
            </a:pPr>
            <a:r>
              <a:rPr sz="2850" b="1">
                <a:solidFill>
                  <a:srgbClr val="183044"/>
                </a:solidFill>
                <a:latin typeface="Arial"/>
                <a:ea typeface="Arial"/>
                <a:cs typeface="Arial"/>
              </a:rPr>
              <a:t>Multiple regression and model checks</a:t>
            </a:r>
          </a:p>
        </p:txBody>
      </p:sp>
      <p:sp>
        <p:nvSpPr>
          <p:cNvPr id="4" name="text">
            <a:extLst xmlns:a="http://schemas.openxmlformats.org/drawingml/2006/main">
              <a:ext uri="{FF2B5EF4-FFF2-40B4-BE49-F238E27FC236}">
                <a16:creationId xmlns:a16="http://schemas.microsoft.com/office/drawing/2014/main" id="{0B08E941-1B5C-48A5-9E5B-F78643D77390}"/>
              </a:ext>
            </a:extLst>
          </p:cNvPr>
          <p:cNvSpPr>
            <a:spLocks xmlns:a="http://schemas.openxmlformats.org/drawingml/2006/main" noGrp="1"/>
          </p:cNvSpPr>
          <p:nvPr/>
        </p:nvSpPr>
        <p:spPr>
          <a:xfrm xmlns:a="http://schemas.openxmlformats.org/drawingml/2006/main">
            <a:off x="400050" y="971550"/>
            <a:ext cx="113919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415566"/>
                </a:solidFill>
                <a:latin typeface="Arial"/>
                <a:ea typeface="Arial"/>
                <a:cs typeface="Arial"/>
              </a:defRPr>
            </a:defPPr>
          </a:lstStyle>
          <a:p xmlns:a="http://schemas.openxmlformats.org/drawingml/2006/main">
            <a:pPr>
              <a:defRPr sz="1725" b="0">
                <a:solidFill>
                  <a:srgbClr val="415566"/>
                </a:solidFill>
                <a:latin typeface="Arial"/>
                <a:ea typeface="Arial"/>
                <a:cs typeface="Arial"/>
              </a:defRPr>
            </a:pPr>
            <a:r>
              <a:rPr sz="1725" b="0">
                <a:solidFill>
                  <a:srgbClr val="415566"/>
                </a:solidFill>
                <a:latin typeface="Arial"/>
                <a:ea typeface="Arial"/>
                <a:cs typeface="Arial"/>
              </a:rPr>
              <a:t>Predict BMI using age, activity, income, education and smoking. R² = variation explained.</a:t>
            </a:r>
          </a:p>
        </p:txBody>
      </p:sp>
      <p:sp>
        <p:nvSpPr>
          <p:cNvPr id="5" name="text">
            <a:extLst xmlns:a="http://schemas.openxmlformats.org/drawingml/2006/main">
              <a:ext uri="{FF2B5EF4-FFF2-40B4-BE49-F238E27FC236}">
                <a16:creationId xmlns:a16="http://schemas.microsoft.com/office/drawing/2014/main" id="{9C51CCEE-59DB-412E-AD7E-039BD2E22E29}"/>
              </a:ext>
            </a:extLst>
          </p:cNvPr>
          <p:cNvSpPr>
            <a:spLocks xmlns:a="http://schemas.openxmlformats.org/drawingml/2006/main" noGrp="1"/>
          </p:cNvSpPr>
          <p:nvPr/>
        </p:nvSpPr>
        <p:spPr>
          <a:xfrm xmlns:a="http://schemas.openxmlformats.org/drawingml/2006/main">
            <a:off x="400050" y="1543050"/>
            <a:ext cx="2238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225" b="1">
                <a:solidFill>
                  <a:srgbClr val="176D8C"/>
                </a:solidFill>
                <a:latin typeface="Arial"/>
                <a:ea typeface="Arial"/>
                <a:cs typeface="Arial"/>
              </a:defRPr>
            </a:defPPr>
          </a:lstStyle>
          <a:p xmlns:a="http://schemas.openxmlformats.org/drawingml/2006/main">
            <a:pPr>
              <a:defRPr sz="3225" b="1">
                <a:solidFill>
                  <a:srgbClr val="176D8C"/>
                </a:solidFill>
                <a:latin typeface="Arial"/>
                <a:ea typeface="Arial"/>
                <a:cs typeface="Arial"/>
              </a:defRPr>
            </a:pPr>
            <a:r>
              <a:rPr sz="3225" b="1">
                <a:solidFill>
                  <a:srgbClr val="176D8C"/>
                </a:solidFill>
                <a:latin typeface="Arial"/>
                <a:ea typeface="Arial"/>
                <a:cs typeface="Arial"/>
              </a:rPr>
              <a:t>6.81%</a:t>
            </a:r>
          </a:p>
        </p:txBody>
      </p:sp>
      <p:sp>
        <p:nvSpPr>
          <p:cNvPr id="6" name="text">
            <a:extLst xmlns:a="http://schemas.openxmlformats.org/drawingml/2006/main">
              <a:ext uri="{FF2B5EF4-FFF2-40B4-BE49-F238E27FC236}">
                <a16:creationId xmlns:a16="http://schemas.microsoft.com/office/drawing/2014/main" id="{EEF3CD68-0E0B-44B0-8CDA-335D81D4105B}"/>
              </a:ext>
            </a:extLst>
          </p:cNvPr>
          <p:cNvSpPr>
            <a:spLocks xmlns:a="http://schemas.openxmlformats.org/drawingml/2006/main" noGrp="1"/>
          </p:cNvSpPr>
          <p:nvPr/>
        </p:nvSpPr>
        <p:spPr>
          <a:xfrm xmlns:a="http://schemas.openxmlformats.org/drawingml/2006/main">
            <a:off x="400050" y="2057400"/>
            <a:ext cx="2238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415566"/>
                </a:solidFill>
                <a:latin typeface="Arial"/>
                <a:ea typeface="Arial"/>
                <a:cs typeface="Arial"/>
              </a:defRPr>
            </a:defPPr>
          </a:lstStyle>
          <a:p xmlns:a="http://schemas.openxmlformats.org/drawingml/2006/main">
            <a:pPr>
              <a:defRPr sz="1575" b="0">
                <a:solidFill>
                  <a:srgbClr val="415566"/>
                </a:solidFill>
                <a:latin typeface="Arial"/>
                <a:ea typeface="Arial"/>
                <a:cs typeface="Arial"/>
              </a:defRPr>
            </a:pPr>
            <a:r>
              <a:rPr sz="1575" b="0">
                <a:solidFill>
                  <a:srgbClr val="415566"/>
                </a:solidFill>
                <a:latin typeface="Arial"/>
                <a:ea typeface="Arial"/>
                <a:cs typeface="Arial"/>
              </a:rPr>
              <a:t>R²</a:t>
            </a:r>
          </a:p>
        </p:txBody>
      </p:sp>
      <p:sp>
        <p:nvSpPr>
          <p:cNvPr id="7" name="text">
            <a:extLst xmlns:a="http://schemas.openxmlformats.org/drawingml/2006/main">
              <a:ext uri="{FF2B5EF4-FFF2-40B4-BE49-F238E27FC236}">
                <a16:creationId xmlns:a16="http://schemas.microsoft.com/office/drawing/2014/main" id="{2D945311-9DC6-4BA3-BDE0-E92589A7E992}"/>
              </a:ext>
            </a:extLst>
          </p:cNvPr>
          <p:cNvSpPr>
            <a:spLocks xmlns:a="http://schemas.openxmlformats.org/drawingml/2006/main" noGrp="1"/>
          </p:cNvSpPr>
          <p:nvPr/>
        </p:nvSpPr>
        <p:spPr>
          <a:xfrm xmlns:a="http://schemas.openxmlformats.org/drawingml/2006/main">
            <a:off x="2828925" y="1543050"/>
            <a:ext cx="22383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225" b="1">
                <a:solidFill>
                  <a:srgbClr val="176D8C"/>
                </a:solidFill>
                <a:latin typeface="Arial"/>
                <a:ea typeface="Arial"/>
                <a:cs typeface="Arial"/>
              </a:defRPr>
            </a:defPPr>
          </a:lstStyle>
          <a:p xmlns:a="http://schemas.openxmlformats.org/drawingml/2006/main">
            <a:pPr>
              <a:defRPr sz="3225" b="1">
                <a:solidFill>
                  <a:srgbClr val="176D8C"/>
                </a:solidFill>
                <a:latin typeface="Arial"/>
                <a:ea typeface="Arial"/>
                <a:cs typeface="Arial"/>
              </a:defRPr>
            </a:pPr>
            <a:r>
              <a:rPr sz="3225" b="1">
                <a:solidFill>
                  <a:srgbClr val="176D8C"/>
                </a:solidFill>
                <a:latin typeface="Arial"/>
                <a:ea typeface="Arial"/>
                <a:cs typeface="Arial"/>
              </a:rPr>
              <a:t>5.99%</a:t>
            </a:r>
          </a:p>
        </p:txBody>
      </p:sp>
      <p:sp>
        <p:nvSpPr>
          <p:cNvPr id="8" name="text">
            <a:extLst xmlns:a="http://schemas.openxmlformats.org/drawingml/2006/main">
              <a:ext uri="{FF2B5EF4-FFF2-40B4-BE49-F238E27FC236}">
                <a16:creationId xmlns:a16="http://schemas.microsoft.com/office/drawing/2014/main" id="{4E09CE9B-C90C-4558-9FCD-77EB474A8C54}"/>
              </a:ext>
            </a:extLst>
          </p:cNvPr>
          <p:cNvSpPr>
            <a:spLocks xmlns:a="http://schemas.openxmlformats.org/drawingml/2006/main" noGrp="1"/>
          </p:cNvSpPr>
          <p:nvPr/>
        </p:nvSpPr>
        <p:spPr>
          <a:xfrm xmlns:a="http://schemas.openxmlformats.org/drawingml/2006/main">
            <a:off x="2828925" y="2057400"/>
            <a:ext cx="2238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415566"/>
                </a:solidFill>
                <a:latin typeface="Arial"/>
                <a:ea typeface="Arial"/>
                <a:cs typeface="Arial"/>
              </a:defRPr>
            </a:defPPr>
          </a:lstStyle>
          <a:p xmlns:a="http://schemas.openxmlformats.org/drawingml/2006/main">
            <a:pPr>
              <a:defRPr sz="1575" b="0">
                <a:solidFill>
                  <a:srgbClr val="415566"/>
                </a:solidFill>
                <a:latin typeface="Arial"/>
                <a:ea typeface="Arial"/>
                <a:cs typeface="Arial"/>
              </a:defRPr>
            </a:pPr>
            <a:r>
              <a:rPr sz="1575" b="0">
                <a:solidFill>
                  <a:srgbClr val="415566"/>
                </a:solidFill>
                <a:latin typeface="Arial"/>
                <a:ea typeface="Arial"/>
                <a:cs typeface="Arial"/>
              </a:rPr>
              <a:t>Adjusted R²</a:t>
            </a:r>
          </a:p>
        </p:txBody>
      </p:sp>
      <p:sp>
        <p:nvSpPr>
          <p:cNvPr id="9" name="text">
            <a:extLst xmlns:a="http://schemas.openxmlformats.org/drawingml/2006/main">
              <a:ext uri="{FF2B5EF4-FFF2-40B4-BE49-F238E27FC236}">
                <a16:creationId xmlns:a16="http://schemas.microsoft.com/office/drawing/2014/main" id="{0BC9EDA5-D27E-4B52-ABF9-6AD267A68A82}"/>
              </a:ext>
            </a:extLst>
          </p:cNvPr>
          <p:cNvSpPr>
            <a:spLocks xmlns:a="http://schemas.openxmlformats.org/drawingml/2006/main" noGrp="1"/>
          </p:cNvSpPr>
          <p:nvPr/>
        </p:nvSpPr>
        <p:spPr>
          <a:xfrm xmlns:a="http://schemas.openxmlformats.org/drawingml/2006/main">
            <a:off x="400050" y="2609850"/>
            <a:ext cx="4857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183044"/>
                </a:solidFill>
                <a:latin typeface="Arial"/>
                <a:ea typeface="Arial"/>
                <a:cs typeface="Arial"/>
              </a:defRPr>
            </a:defPPr>
          </a:lstStyle>
          <a:p xmlns:a="http://schemas.openxmlformats.org/drawingml/2006/main">
            <a:pPr>
              <a:defRPr sz="1875" b="1">
                <a:solidFill>
                  <a:srgbClr val="183044"/>
                </a:solidFill>
                <a:latin typeface="Arial"/>
                <a:ea typeface="Arial"/>
                <a:cs typeface="Arial"/>
              </a:defRPr>
            </a:pPr>
            <a:r>
              <a:rPr sz="1875" b="1">
                <a:solidFill>
                  <a:srgbClr val="183044"/>
                </a:solidFill>
                <a:latin typeface="Arial"/>
                <a:ea typeface="Arial"/>
                <a:cs typeface="Arial"/>
              </a:rPr>
              <a:t>Which predictors matter?</a:t>
            </a:r>
          </a:p>
        </p:txBody>
      </p:sp>
      <p:graphicFrame>
        <p:nvGraphicFramePr>
          <p:cNvPr id="10" name="">
            <a:extLst xmlns:a="http://schemas.openxmlformats.org/drawingml/2006/main">
              <a:ext uri="{FF2B5EF4-FFF2-40B4-BE49-F238E27FC236}">
                <a16:creationId xmlns:a16="http://schemas.microsoft.com/office/drawing/2014/main" id="{64B529C9-44D9-4752-87AE-EE0B3DBEB838}"/>
              </a:ext>
            </a:extLst>
          </p:cNvPr>
          <p:cNvGraphicFramePr/>
          <p:nvPr/>
        </p:nvGraphicFramePr>
        <p:xfrm>
          <a:off xmlns:a="http://schemas.openxmlformats.org/drawingml/2006/main" x="400050" y="3057525"/>
          <a:ext xmlns:a="http://schemas.openxmlformats.org/drawingml/2006/main" cx="4857750" cy="2400300"/>
        </p:xfrm>
        <a:graphic xmlns:a="http://schemas.openxmlformats.org/drawingml/2006/main">
          <a:graphicData uri="http://schemas.openxmlformats.org/drawingml/2006/table">
            <a:tbl>
              <a:tblPr/>
              <a:tblGrid>
                <a:gridCol w="2686050"/>
                <a:gridCol w="1085850"/>
                <a:gridCol w="1085850"/>
              </a:tblGrid>
              <a:tr h="400050">
                <a:tc>
                  <a:txBody>
                    <a:bodyPr>
                      <a:noAutofit/>
                    </a:bodyPr>
                    <a:lstStyle/>
                    <a:p>
                      <a:pPr algn="l"/>
                      <a:r>
                        <a:rPr sz="1650" b="1">
                          <a:solidFill>
                            <a:srgbClr val="FFFFFF"/>
                          </a:solidFill>
                          <a:latin typeface="Arial"/>
                          <a:ea typeface="Arial"/>
                          <a:cs typeface="Arial"/>
                        </a:rPr>
                        <a:t>Predictor</a:t>
                      </a:r>
                    </a:p>
                  </a:txBody>
                  <a:tcPr marL="91440" marR="91440" marT="45720" marB="45720">
                    <a:lnL w="9525">
                      <a:solidFill>
                        <a:srgbClr val="D6E0E5"/>
                      </a:solidFill>
                      <a:prstDash val="solid"/>
                    </a:lnL>
                    <a:lnR w="9525">
                      <a:solidFill>
                        <a:srgbClr val="D6E0E5"/>
                      </a:solidFill>
                      <a:prstDash val="solid"/>
                    </a:lnR>
                    <a:lnT w="9525">
                      <a:solidFill>
                        <a:srgbClr val="D6E0E5"/>
                      </a:solidFill>
                      <a:prstDash val="solid"/>
                    </a:lnT>
                    <a:lnB w="9525">
                      <a:solidFill>
                        <a:srgbClr val="D6E0E5"/>
                      </a:solidFill>
                      <a:prstDash val="solid"/>
                    </a:lnB>
                    <a:solidFill>
                      <a:srgbClr val="176D8C"/>
                    </a:solidFill>
                  </a:tcPr>
                </a:tc>
                <a:tc>
                  <a:txBody>
                    <a:bodyPr>
                      <a:noAutofit/>
                    </a:bodyPr>
                    <a:lstStyle/>
                    <a:p>
                      <a:pPr algn="ctr"/>
                      <a:r>
                        <a:rPr sz="1650" b="1">
                          <a:solidFill>
                            <a:srgbClr val="FFFFFF"/>
                          </a:solidFill>
                          <a:latin typeface="Arial"/>
                          <a:ea typeface="Arial"/>
                          <a:cs typeface="Arial"/>
                        </a:rPr>
                        <a:t>F</a:t>
                      </a:r>
                    </a:p>
                  </a:txBody>
                  <a:tcPr marL="91440" marR="91440" marT="45720" marB="45720">
                    <a:lnR w="9525">
                      <a:solidFill>
                        <a:srgbClr val="D6E0E5"/>
                      </a:solidFill>
                      <a:prstDash val="solid"/>
                    </a:lnR>
                    <a:lnT w="9525">
                      <a:solidFill>
                        <a:srgbClr val="D6E0E5"/>
                      </a:solidFill>
                      <a:prstDash val="solid"/>
                    </a:lnT>
                    <a:lnB w="9525">
                      <a:solidFill>
                        <a:srgbClr val="D6E0E5"/>
                      </a:solidFill>
                      <a:prstDash val="solid"/>
                    </a:lnB>
                    <a:solidFill>
                      <a:srgbClr val="176D8C"/>
                    </a:solidFill>
                  </a:tcPr>
                </a:tc>
                <a:tc>
                  <a:txBody>
                    <a:bodyPr>
                      <a:noAutofit/>
                    </a:bodyPr>
                    <a:lstStyle/>
                    <a:p>
                      <a:pPr algn="ctr"/>
                      <a:r>
                        <a:rPr sz="1650" b="1">
                          <a:solidFill>
                            <a:srgbClr val="FFFFFF"/>
                          </a:solidFill>
                          <a:latin typeface="Arial"/>
                          <a:ea typeface="Arial"/>
                          <a:cs typeface="Arial"/>
                        </a:rPr>
                        <a:t>p</a:t>
                      </a:r>
                    </a:p>
                  </a:txBody>
                  <a:tcPr marL="91440" marR="91440" marT="45720" marB="45720">
                    <a:lnR w="9525">
                      <a:solidFill>
                        <a:srgbClr val="D6E0E5"/>
                      </a:solidFill>
                      <a:prstDash val="solid"/>
                    </a:lnR>
                    <a:lnT w="9525">
                      <a:solidFill>
                        <a:srgbClr val="D6E0E5"/>
                      </a:solidFill>
                      <a:prstDash val="solid"/>
                    </a:lnT>
                    <a:lnB w="9525">
                      <a:solidFill>
                        <a:srgbClr val="D6E0E5"/>
                      </a:solidFill>
                      <a:prstDash val="solid"/>
                    </a:lnB>
                    <a:solidFill>
                      <a:srgbClr val="176D8C"/>
                    </a:solidFill>
                  </a:tcPr>
                </a:tc>
              </a:tr>
              <a:tr h="400050">
                <a:tc>
                  <a:txBody>
                    <a:bodyPr>
                      <a:noAutofit/>
                    </a:bodyPr>
                    <a:lstStyle/>
                    <a:p>
                      <a:pPr algn="l"/>
                      <a:r>
                        <a:rPr sz="1650" b="0">
                          <a:solidFill>
                            <a:srgbClr val="183044"/>
                          </a:solidFill>
                          <a:latin typeface="Arial"/>
                          <a:ea typeface="Arial"/>
                          <a:cs typeface="Arial"/>
                        </a:rPr>
                        <a:t>Age</a:t>
                      </a:r>
                    </a:p>
                  </a:txBody>
                  <a:tcPr marL="91440" marR="91440" marT="45720" marB="45720">
                    <a:lnL w="9525">
                      <a:solidFill>
                        <a:srgbClr val="D6E0E5"/>
                      </a:solidFill>
                      <a:prstDash val="solid"/>
                    </a:lnL>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650" b="0">
                          <a:solidFill>
                            <a:srgbClr val="183044"/>
                          </a:solidFill>
                          <a:latin typeface="Arial"/>
                          <a:ea typeface="Arial"/>
                          <a:cs typeface="Arial"/>
                        </a:rPr>
                        <a:t>9.17</a:t>
                      </a:r>
                    </a:p>
                  </a:txBody>
                  <a:tcPr marL="91440" marR="91440" marT="45720" marB="45720">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650" b="0">
                          <a:solidFill>
                            <a:srgbClr val="183044"/>
                          </a:solidFill>
                          <a:latin typeface="Arial"/>
                          <a:ea typeface="Arial"/>
                          <a:cs typeface="Arial"/>
                        </a:rPr>
                        <a:t>&lt;0.001</a:t>
                      </a:r>
                    </a:p>
                  </a:txBody>
                  <a:tcPr marL="91440" marR="91440" marT="45720" marB="45720">
                    <a:lnR w="9525">
                      <a:solidFill>
                        <a:srgbClr val="D6E0E5"/>
                      </a:solidFill>
                      <a:prstDash val="solid"/>
                    </a:lnR>
                    <a:lnB w="9525">
                      <a:solidFill>
                        <a:srgbClr val="D6E0E5"/>
                      </a:solidFill>
                      <a:prstDash val="solid"/>
                    </a:lnB>
                    <a:solidFill>
                      <a:srgbClr val="FFFFFF"/>
                    </a:solidFill>
                  </a:tcPr>
                </a:tc>
              </a:tr>
              <a:tr h="400050">
                <a:tc>
                  <a:txBody>
                    <a:bodyPr>
                      <a:noAutofit/>
                    </a:bodyPr>
                    <a:lstStyle/>
                    <a:p>
                      <a:pPr algn="l"/>
                      <a:r>
                        <a:rPr sz="1650" b="0">
                          <a:solidFill>
                            <a:srgbClr val="183044"/>
                          </a:solidFill>
                          <a:latin typeface="Arial"/>
                          <a:ea typeface="Arial"/>
                          <a:cs typeface="Arial"/>
                        </a:rPr>
                        <a:t>Physical activity</a:t>
                      </a:r>
                    </a:p>
                  </a:txBody>
                  <a:tcPr marL="91440" marR="91440" marT="45720" marB="45720">
                    <a:lnL w="9525">
                      <a:solidFill>
                        <a:srgbClr val="D6E0E5"/>
                      </a:solidFill>
                      <a:prstDash val="solid"/>
                    </a:lnL>
                    <a:lnR w="9525">
                      <a:solidFill>
                        <a:srgbClr val="D6E0E5"/>
                      </a:solidFill>
                      <a:prstDash val="solid"/>
                    </a:lnR>
                    <a:lnB w="9525">
                      <a:solidFill>
                        <a:srgbClr val="D6E0E5"/>
                      </a:solidFill>
                      <a:prstDash val="solid"/>
                    </a:lnB>
                    <a:solidFill>
                      <a:srgbClr val="EAF2F5"/>
                    </a:solidFill>
                  </a:tcPr>
                </a:tc>
                <a:tc>
                  <a:txBody>
                    <a:bodyPr>
                      <a:noAutofit/>
                    </a:bodyPr>
                    <a:lstStyle/>
                    <a:p>
                      <a:pPr algn="ctr"/>
                      <a:r>
                        <a:rPr sz="1650" b="0">
                          <a:solidFill>
                            <a:srgbClr val="183044"/>
                          </a:solidFill>
                          <a:latin typeface="Arial"/>
                          <a:ea typeface="Arial"/>
                          <a:cs typeface="Arial"/>
                        </a:rPr>
                        <a:t>13.30</a:t>
                      </a:r>
                    </a:p>
                  </a:txBody>
                  <a:tcPr marL="91440" marR="91440" marT="45720" marB="45720">
                    <a:lnR w="9525">
                      <a:solidFill>
                        <a:srgbClr val="D6E0E5"/>
                      </a:solidFill>
                      <a:prstDash val="solid"/>
                    </a:lnR>
                    <a:lnB w="9525">
                      <a:solidFill>
                        <a:srgbClr val="D6E0E5"/>
                      </a:solidFill>
                      <a:prstDash val="solid"/>
                    </a:lnB>
                    <a:solidFill>
                      <a:srgbClr val="EAF2F5"/>
                    </a:solidFill>
                  </a:tcPr>
                </a:tc>
                <a:tc>
                  <a:txBody>
                    <a:bodyPr>
                      <a:noAutofit/>
                    </a:bodyPr>
                    <a:lstStyle/>
                    <a:p>
                      <a:pPr algn="ctr"/>
                      <a:r>
                        <a:rPr sz="1650" b="0">
                          <a:solidFill>
                            <a:srgbClr val="183044"/>
                          </a:solidFill>
                          <a:latin typeface="Arial"/>
                          <a:ea typeface="Arial"/>
                          <a:cs typeface="Arial"/>
                        </a:rPr>
                        <a:t>&lt;0.001</a:t>
                      </a:r>
                    </a:p>
                  </a:txBody>
                  <a:tcPr marL="91440" marR="91440" marT="45720" marB="45720">
                    <a:lnR w="9525">
                      <a:solidFill>
                        <a:srgbClr val="D6E0E5"/>
                      </a:solidFill>
                      <a:prstDash val="solid"/>
                    </a:lnR>
                    <a:lnB w="9525">
                      <a:solidFill>
                        <a:srgbClr val="D6E0E5"/>
                      </a:solidFill>
                      <a:prstDash val="solid"/>
                    </a:lnB>
                    <a:solidFill>
                      <a:srgbClr val="EAF2F5"/>
                    </a:solidFill>
                  </a:tcPr>
                </a:tc>
              </a:tr>
              <a:tr h="400050">
                <a:tc>
                  <a:txBody>
                    <a:bodyPr>
                      <a:noAutofit/>
                    </a:bodyPr>
                    <a:lstStyle/>
                    <a:p>
                      <a:pPr algn="l"/>
                      <a:r>
                        <a:rPr sz="1650" b="0">
                          <a:solidFill>
                            <a:srgbClr val="183044"/>
                          </a:solidFill>
                          <a:latin typeface="Arial"/>
                          <a:ea typeface="Arial"/>
                          <a:cs typeface="Arial"/>
                        </a:rPr>
                        <a:t>Income</a:t>
                      </a:r>
                    </a:p>
                  </a:txBody>
                  <a:tcPr marL="91440" marR="91440" marT="45720" marB="45720">
                    <a:lnL w="9525">
                      <a:solidFill>
                        <a:srgbClr val="D6E0E5"/>
                      </a:solidFill>
                      <a:prstDash val="solid"/>
                    </a:lnL>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650" b="0">
                          <a:solidFill>
                            <a:srgbClr val="183044"/>
                          </a:solidFill>
                          <a:latin typeface="Arial"/>
                          <a:ea typeface="Arial"/>
                          <a:cs typeface="Arial"/>
                        </a:rPr>
                        <a:t>4.43</a:t>
                      </a:r>
                    </a:p>
                  </a:txBody>
                  <a:tcPr marL="91440" marR="91440" marT="45720" marB="45720">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650" b="0">
                          <a:solidFill>
                            <a:srgbClr val="183044"/>
                          </a:solidFill>
                          <a:latin typeface="Arial"/>
                          <a:ea typeface="Arial"/>
                          <a:cs typeface="Arial"/>
                        </a:rPr>
                        <a:t>&lt;0.001</a:t>
                      </a:r>
                    </a:p>
                  </a:txBody>
                  <a:tcPr marL="91440" marR="91440" marT="45720" marB="45720">
                    <a:lnR w="9525">
                      <a:solidFill>
                        <a:srgbClr val="D6E0E5"/>
                      </a:solidFill>
                      <a:prstDash val="solid"/>
                    </a:lnR>
                    <a:lnB w="9525">
                      <a:solidFill>
                        <a:srgbClr val="D6E0E5"/>
                      </a:solidFill>
                      <a:prstDash val="solid"/>
                    </a:lnB>
                    <a:solidFill>
                      <a:srgbClr val="FFFFFF"/>
                    </a:solidFill>
                  </a:tcPr>
                </a:tc>
              </a:tr>
              <a:tr h="400050">
                <a:tc>
                  <a:txBody>
                    <a:bodyPr>
                      <a:noAutofit/>
                    </a:bodyPr>
                    <a:lstStyle/>
                    <a:p>
                      <a:pPr algn="l"/>
                      <a:r>
                        <a:rPr sz="1650" b="0">
                          <a:solidFill>
                            <a:srgbClr val="183044"/>
                          </a:solidFill>
                          <a:latin typeface="Arial"/>
                          <a:ea typeface="Arial"/>
                          <a:cs typeface="Arial"/>
                        </a:rPr>
                        <a:t>Education</a:t>
                      </a:r>
                    </a:p>
                  </a:txBody>
                  <a:tcPr marL="91440" marR="91440" marT="45720" marB="45720">
                    <a:lnL w="9525">
                      <a:solidFill>
                        <a:srgbClr val="D6E0E5"/>
                      </a:solidFill>
                      <a:prstDash val="solid"/>
                    </a:lnL>
                    <a:lnR w="9525">
                      <a:solidFill>
                        <a:srgbClr val="D6E0E5"/>
                      </a:solidFill>
                      <a:prstDash val="solid"/>
                    </a:lnR>
                    <a:lnB w="9525">
                      <a:solidFill>
                        <a:srgbClr val="D6E0E5"/>
                      </a:solidFill>
                      <a:prstDash val="solid"/>
                    </a:lnB>
                    <a:solidFill>
                      <a:srgbClr val="EAF2F5"/>
                    </a:solidFill>
                  </a:tcPr>
                </a:tc>
                <a:tc>
                  <a:txBody>
                    <a:bodyPr>
                      <a:noAutofit/>
                    </a:bodyPr>
                    <a:lstStyle/>
                    <a:p>
                      <a:pPr algn="ctr"/>
                      <a:r>
                        <a:rPr sz="1650" b="0">
                          <a:solidFill>
                            <a:srgbClr val="183044"/>
                          </a:solidFill>
                          <a:latin typeface="Arial"/>
                          <a:ea typeface="Arial"/>
                          <a:cs typeface="Arial"/>
                        </a:rPr>
                        <a:t>8.03</a:t>
                      </a:r>
                    </a:p>
                  </a:txBody>
                  <a:tcPr marL="91440" marR="91440" marT="45720" marB="45720">
                    <a:lnR w="9525">
                      <a:solidFill>
                        <a:srgbClr val="D6E0E5"/>
                      </a:solidFill>
                      <a:prstDash val="solid"/>
                    </a:lnR>
                    <a:lnB w="9525">
                      <a:solidFill>
                        <a:srgbClr val="D6E0E5"/>
                      </a:solidFill>
                      <a:prstDash val="solid"/>
                    </a:lnB>
                    <a:solidFill>
                      <a:srgbClr val="EAF2F5"/>
                    </a:solidFill>
                  </a:tcPr>
                </a:tc>
                <a:tc>
                  <a:txBody>
                    <a:bodyPr>
                      <a:noAutofit/>
                    </a:bodyPr>
                    <a:lstStyle/>
                    <a:p>
                      <a:pPr algn="ctr"/>
                      <a:r>
                        <a:rPr sz="1650" b="0">
                          <a:solidFill>
                            <a:srgbClr val="183044"/>
                          </a:solidFill>
                          <a:latin typeface="Arial"/>
                          <a:ea typeface="Arial"/>
                          <a:cs typeface="Arial"/>
                        </a:rPr>
                        <a:t>&lt;0.001</a:t>
                      </a:r>
                    </a:p>
                  </a:txBody>
                  <a:tcPr marL="91440" marR="91440" marT="45720" marB="45720">
                    <a:lnR w="9525">
                      <a:solidFill>
                        <a:srgbClr val="D6E0E5"/>
                      </a:solidFill>
                      <a:prstDash val="solid"/>
                    </a:lnR>
                    <a:lnB w="9525">
                      <a:solidFill>
                        <a:srgbClr val="D6E0E5"/>
                      </a:solidFill>
                      <a:prstDash val="solid"/>
                    </a:lnB>
                    <a:solidFill>
                      <a:srgbClr val="EAF2F5"/>
                    </a:solidFill>
                  </a:tcPr>
                </a:tc>
              </a:tr>
              <a:tr h="400050">
                <a:tc>
                  <a:txBody>
                    <a:bodyPr>
                      <a:noAutofit/>
                    </a:bodyPr>
                    <a:lstStyle/>
                    <a:p>
                      <a:pPr algn="l"/>
                      <a:r>
                        <a:rPr sz="1650" b="0">
                          <a:solidFill>
                            <a:srgbClr val="183044"/>
                          </a:solidFill>
                          <a:latin typeface="Arial"/>
                          <a:ea typeface="Arial"/>
                          <a:cs typeface="Arial"/>
                        </a:rPr>
                        <a:t>Smoking</a:t>
                      </a:r>
                    </a:p>
                  </a:txBody>
                  <a:tcPr marL="91440" marR="91440" marT="45720" marB="45720">
                    <a:lnL w="9525">
                      <a:solidFill>
                        <a:srgbClr val="D6E0E5"/>
                      </a:solidFill>
                      <a:prstDash val="solid"/>
                    </a:lnL>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650" b="0">
                          <a:solidFill>
                            <a:srgbClr val="183044"/>
                          </a:solidFill>
                          <a:latin typeface="Arial"/>
                          <a:ea typeface="Arial"/>
                          <a:cs typeface="Arial"/>
                        </a:rPr>
                        <a:t>0.07</a:t>
                      </a:r>
                    </a:p>
                  </a:txBody>
                  <a:tcPr marL="91440" marR="91440" marT="45720" marB="45720">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650" b="0">
                          <a:solidFill>
                            <a:srgbClr val="183044"/>
                          </a:solidFill>
                          <a:latin typeface="Arial"/>
                          <a:ea typeface="Arial"/>
                          <a:cs typeface="Arial"/>
                        </a:rPr>
                        <a:t>0.786</a:t>
                      </a:r>
                    </a:p>
                  </a:txBody>
                  <a:tcPr marL="91440" marR="91440" marT="45720" marB="45720">
                    <a:lnR w="9525">
                      <a:solidFill>
                        <a:srgbClr val="D6E0E5"/>
                      </a:solidFill>
                      <a:prstDash val="solid"/>
                    </a:lnR>
                    <a:lnB w="9525">
                      <a:solidFill>
                        <a:srgbClr val="D6E0E5"/>
                      </a:solidFill>
                      <a:prstDash val="solid"/>
                    </a:lnB>
                    <a:solidFill>
                      <a:srgbClr val="FFFFFF"/>
                    </a:solidFill>
                  </a:tcPr>
                </a:tc>
              </a:tr>
            </a:tbl>
          </a:graphicData>
        </a:graphic>
      </p:graphicFrame>
      <p:sp>
        <p:nvSpPr>
          <p:cNvPr id="11" name="text">
            <a:extLst xmlns:a="http://schemas.openxmlformats.org/drawingml/2006/main">
              <a:ext uri="{FF2B5EF4-FFF2-40B4-BE49-F238E27FC236}">
                <a16:creationId xmlns:a16="http://schemas.microsoft.com/office/drawing/2014/main" id="{B6EE2959-175E-411A-B781-49F2175918F6}"/>
              </a:ext>
            </a:extLst>
          </p:cNvPr>
          <p:cNvSpPr>
            <a:spLocks xmlns:a="http://schemas.openxmlformats.org/drawingml/2006/main" noGrp="1"/>
          </p:cNvSpPr>
          <p:nvPr/>
        </p:nvSpPr>
        <p:spPr>
          <a:xfrm xmlns:a="http://schemas.openxmlformats.org/drawingml/2006/main">
            <a:off x="5524500" y="1533525"/>
            <a:ext cx="62674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183044"/>
                </a:solidFill>
                <a:latin typeface="Arial"/>
                <a:ea typeface="Arial"/>
                <a:cs typeface="Arial"/>
              </a:defRPr>
            </a:defPPr>
          </a:lstStyle>
          <a:p xmlns:a="http://schemas.openxmlformats.org/drawingml/2006/main">
            <a:pPr>
              <a:defRPr sz="1875" b="1">
                <a:solidFill>
                  <a:srgbClr val="183044"/>
                </a:solidFill>
                <a:latin typeface="Arial"/>
                <a:ea typeface="Arial"/>
                <a:cs typeface="Arial"/>
              </a:defRPr>
            </a:pPr>
            <a:r>
              <a:rPr sz="1875" b="1">
                <a:solidFill>
                  <a:srgbClr val="183044"/>
                </a:solidFill>
                <a:latin typeface="Arial"/>
                <a:ea typeface="Arial"/>
                <a:cs typeface="Arial"/>
              </a:rPr>
              <a:t>Check the fitted model</a:t>
            </a:r>
          </a:p>
        </p:txBody>
      </p:sp>
      <p:pic>
        <p:nvPicPr>
          <p:cNvPr id="12" name="">
            <a:extLst xmlns:a="http://schemas.openxmlformats.org/drawingml/2006/main">
              <a:ext uri="{FF2B5EF4-FFF2-40B4-BE49-F238E27FC236}">
                <a16:creationId xmlns:a16="http://schemas.microsoft.com/office/drawing/2014/main" id="{145FF610-CADA-46FC-A7B8-303B248FE622}"/>
              </a:ext>
            </a:extLst>
          </p:cNvPr>
          <p:cNvPicPr>
            <a:picLocks xmlns:a="http://schemas.openxmlformats.org/drawingml/2006/main" noChangeAspect="1"/>
          </p:cNvPicPr>
          <p:nvPr/>
        </p:nvPicPr>
        <p:blipFill>
          <a:blip xmlns:r="http://schemas.openxmlformats.org/officeDocument/2006/relationships" xmlns:a="http://schemas.openxmlformats.org/drawingml/2006/main" r:embed="R80fee833d737424d"/>
          <a:stretch xmlns:a="http://schemas.openxmlformats.org/drawingml/2006/main"/>
        </p:blipFill>
        <p:spPr>
          <a:xfrm xmlns:a="http://schemas.openxmlformats.org/drawingml/2006/main">
            <a:off x="5495925" y="1924050"/>
            <a:ext cx="6267450" cy="3848100"/>
          </a:xfrm>
          <a:prstGeom xmlns:a="http://schemas.openxmlformats.org/drawingml/2006/main" prst="rect">
            <a:avLst/>
          </a:prstGeom>
        </p:spPr>
      </p:pic>
      <p:sp>
        <p:nvSpPr>
          <p:cNvPr id="13" name="text">
            <a:extLst xmlns:a="http://schemas.openxmlformats.org/drawingml/2006/main">
              <a:ext uri="{FF2B5EF4-FFF2-40B4-BE49-F238E27FC236}">
                <a16:creationId xmlns:a16="http://schemas.microsoft.com/office/drawing/2014/main" id="{C391ED33-5949-4F1B-ABC6-D6B883905542}"/>
              </a:ext>
            </a:extLst>
          </p:cNvPr>
          <p:cNvSpPr>
            <a:spLocks xmlns:a="http://schemas.openxmlformats.org/drawingml/2006/main" noGrp="1"/>
          </p:cNvSpPr>
          <p:nvPr/>
        </p:nvSpPr>
        <p:spPr>
          <a:xfrm xmlns:a="http://schemas.openxmlformats.org/drawingml/2006/main">
            <a:off x="5524500" y="5791200"/>
            <a:ext cx="62674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425" b="0">
                <a:solidFill>
                  <a:srgbClr val="415566"/>
                </a:solidFill>
                <a:latin typeface="Arial"/>
                <a:ea typeface="Arial"/>
                <a:cs typeface="Arial"/>
              </a:defRPr>
            </a:defPPr>
          </a:lstStyle>
          <a:p xmlns:a="http://schemas.openxmlformats.org/drawingml/2006/main">
            <a:pPr>
              <a:defRPr sz="1425" b="0">
                <a:solidFill>
                  <a:srgbClr val="415566"/>
                </a:solidFill>
                <a:latin typeface="Arial"/>
                <a:ea typeface="Arial"/>
                <a:cs typeface="Arial"/>
              </a:defRPr>
            </a:pPr>
            <a:r>
              <a:rPr sz="1425" b="0">
                <a:solidFill>
                  <a:srgbClr val="415566"/>
                </a:solidFill>
                <a:latin typeface="Arial"/>
                <a:ea typeface="Arial"/>
                <a:cs typeface="Arial"/>
              </a:rPr>
              <a:t>Residuals show uneven spread and a long upper tail.</a:t>
            </a:r>
          </a:p>
        </p:txBody>
      </p:sp>
      <p:sp>
        <p:nvSpPr>
          <p:cNvPr id="14" name="">
            <a:extLst xmlns:a="http://schemas.openxmlformats.org/drawingml/2006/main">
              <a:ext uri="{FF2B5EF4-FFF2-40B4-BE49-F238E27FC236}">
                <a16:creationId xmlns:a16="http://schemas.microsoft.com/office/drawing/2014/main" id="{8DE7F133-F0C7-47B0-B8CA-0947525ED840}"/>
              </a:ext>
            </a:extLst>
          </p:cNvPr>
          <p:cNvSpPr>
            <a:spLocks xmlns:a="http://schemas.openxmlformats.org/drawingml/2006/main" noGrp="1"/>
          </p:cNvSpPr>
          <p:nvPr/>
        </p:nvSpPr>
        <p:spPr>
          <a:xfrm xmlns:a="http://schemas.openxmlformats.org/drawingml/2006/main">
            <a:off x="400050" y="6153150"/>
            <a:ext cx="11391900" cy="19050"/>
          </a:xfrm>
          <a:prstGeom xmlns:a="http://schemas.openxmlformats.org/drawingml/2006/main" prst="rect">
            <a:avLst/>
          </a:prstGeom>
          <a:solidFill xmlns:a="http://schemas.openxmlformats.org/drawingml/2006/main">
            <a:srgbClr val="176D8C"/>
          </a:solidFill>
          <a:ln xmlns:a="http://schemas.openxmlformats.org/drawingml/2006/main" w="0">
            <a:noFill/>
          </a:ln>
        </p:spPr>
      </p:sp>
      <p:sp>
        <p:nvSpPr>
          <p:cNvPr id="15" name="text">
            <a:extLst xmlns:a="http://schemas.openxmlformats.org/drawingml/2006/main">
              <a:ext uri="{FF2B5EF4-FFF2-40B4-BE49-F238E27FC236}">
                <a16:creationId xmlns:a16="http://schemas.microsoft.com/office/drawing/2014/main" id="{6757CE31-9C01-427B-869D-5354A070B1F5}"/>
              </a:ext>
            </a:extLst>
          </p:cNvPr>
          <p:cNvSpPr>
            <a:spLocks xmlns:a="http://schemas.openxmlformats.org/drawingml/2006/main" noGrp="1"/>
          </p:cNvSpPr>
          <p:nvPr/>
        </p:nvSpPr>
        <p:spPr>
          <a:xfrm xmlns:a="http://schemas.openxmlformats.org/drawingml/2006/main">
            <a:off x="400050" y="6267450"/>
            <a:ext cx="1095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176D8C"/>
                </a:solidFill>
                <a:latin typeface="Arial"/>
                <a:ea typeface="Arial"/>
                <a:cs typeface="Arial"/>
              </a:defRPr>
            </a:defPPr>
          </a:lstStyle>
          <a:p xmlns:a="http://schemas.openxmlformats.org/drawingml/2006/main">
            <a:pPr>
              <a:defRPr sz="1650" b="1">
                <a:solidFill>
                  <a:srgbClr val="176D8C"/>
                </a:solidFill>
                <a:latin typeface="Arial"/>
                <a:ea typeface="Arial"/>
                <a:cs typeface="Arial"/>
              </a:defRPr>
            </a:pPr>
            <a:r>
              <a:rPr sz="1650" b="1">
                <a:solidFill>
                  <a:srgbClr val="176D8C"/>
                </a:solidFill>
                <a:latin typeface="Arial"/>
                <a:ea typeface="Arial"/>
                <a:cs typeface="Arial"/>
              </a:rPr>
              <a:t>Age, activity, income and education relate to BMI. The model explains only a small share of variation.</a:t>
            </a:r>
          </a:p>
        </p:txBody>
      </p:sp>
      <p:sp>
        <p:nvSpPr>
          <p:cNvPr id="16" name="text">
            <a:extLst xmlns:a="http://schemas.openxmlformats.org/drawingml/2006/main">
              <a:ext uri="{FF2B5EF4-FFF2-40B4-BE49-F238E27FC236}">
                <a16:creationId xmlns:a16="http://schemas.microsoft.com/office/drawing/2014/main" id="{1781C7A2-4CD7-4264-91AF-5EEFA45CFFEC}"/>
              </a:ext>
            </a:extLst>
          </p:cNvPr>
          <p:cNvSpPr>
            <a:spLocks xmlns:a="http://schemas.openxmlformats.org/drawingml/2006/main" noGrp="1"/>
          </p:cNvSpPr>
          <p:nvPr/>
        </p:nvSpPr>
        <p:spPr>
          <a:xfrm xmlns:a="http://schemas.openxmlformats.org/drawingml/2006/main">
            <a:off x="11353800" y="6581775"/>
            <a:ext cx="6572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050" b="0">
                <a:solidFill>
                  <a:srgbClr val="415566"/>
                </a:solidFill>
                <a:latin typeface="Arial"/>
                <a:ea typeface="Arial"/>
                <a:cs typeface="Arial"/>
              </a:defRPr>
            </a:defPPr>
          </a:lstStyle>
          <a:p xmlns:a="http://schemas.openxmlformats.org/drawingml/2006/main">
            <a:pPr>
              <a:defRPr sz="1050" b="0">
                <a:solidFill>
                  <a:srgbClr val="415566"/>
                </a:solidFill>
                <a:latin typeface="Arial"/>
                <a:ea typeface="Arial"/>
                <a:cs typeface="Arial"/>
              </a:defRPr>
            </a:pPr>
            <a:r>
              <a:rPr sz="1050" b="0">
                <a:solidFill>
                  <a:srgbClr val="415566"/>
                </a:solidFill>
                <a:latin typeface="Arial"/>
                <a:ea typeface="Arial"/>
                <a:cs typeface="Arial"/>
              </a:rPr>
              <a:t>6 / 12</a:t>
            </a:r>
          </a:p>
        </p:txBody>
      </p:sp>
    </p:spTree>
    <p:extLst>
      <p:ext uri="{BB962C8B-B14F-4D97-AF65-F5344CB8AC3E}">
        <p14:creationId xmlns:p14="http://schemas.microsoft.com/office/powerpoint/2010/main" val="454013134"/>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text">
            <a:extLst xmlns:a="http://schemas.openxmlformats.org/drawingml/2006/main">
              <a:ext uri="{FF2B5EF4-FFF2-40B4-BE49-F238E27FC236}">
                <a16:creationId xmlns:a16="http://schemas.microsoft.com/office/drawing/2014/main" id="{FA6E1E58-4908-4876-A5CF-D1784E89E3C4}"/>
              </a:ext>
            </a:extLst>
          </p:cNvPr>
          <p:cNvSpPr>
            <a:spLocks xmlns:a="http://schemas.openxmlformats.org/drawingml/2006/main" noGrp="1"/>
          </p:cNvSpPr>
          <p:nvPr/>
        </p:nvSpPr>
        <p:spPr>
          <a:xfrm xmlns:a="http://schemas.openxmlformats.org/drawingml/2006/main">
            <a:off x="590550" y="76200"/>
            <a:ext cx="112204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1">
                <a:solidFill>
                  <a:srgbClr val="176D8C"/>
                </a:solidFill>
                <a:latin typeface="Arial"/>
                <a:ea typeface="Arial"/>
                <a:cs typeface="Arial"/>
              </a:defRPr>
            </a:defPPr>
          </a:lstStyle>
          <a:p xmlns:a="http://schemas.openxmlformats.org/drawingml/2006/main">
            <a:pPr>
              <a:defRPr sz="1350" b="1">
                <a:solidFill>
                  <a:srgbClr val="176D8C"/>
                </a:solidFill>
                <a:latin typeface="Arial"/>
                <a:ea typeface="Arial"/>
                <a:cs typeface="Arial"/>
              </a:defRPr>
            </a:pPr>
            <a:r>
              <a:rPr sz="1350" b="1">
                <a:solidFill>
                  <a:srgbClr val="176D8C"/>
                </a:solidFill>
                <a:latin typeface="Arial"/>
                <a:ea typeface="Arial"/>
                <a:cs typeface="Arial"/>
              </a:rPr>
              <a:t>LAB 5: Binomial fitting     LAB 6: Normal and Poisson fitting</a:t>
            </a:r>
          </a:p>
        </p:txBody>
      </p:sp>
      <p:sp>
        <p:nvSpPr>
          <p:cNvPr id="2" name="">
            <a:extLst xmlns:a="http://schemas.openxmlformats.org/drawingml/2006/main">
              <a:ext uri="{FF2B5EF4-FFF2-40B4-BE49-F238E27FC236}">
                <a16:creationId xmlns:a16="http://schemas.microsoft.com/office/drawing/2014/main" id="{AFA73463-6041-4BCB-9704-B6B9FB5420EC}"/>
              </a:ext>
            </a:extLst>
          </p:cNvPr>
          <p:cNvSpPr>
            <a:spLocks xmlns:a="http://schemas.openxmlformats.org/drawingml/2006/main" noGrp="1"/>
          </p:cNvSpPr>
          <p:nvPr/>
        </p:nvSpPr>
        <p:spPr>
          <a:xfrm xmlns:a="http://schemas.openxmlformats.org/drawingml/2006/main">
            <a:off x="381000" y="381000"/>
            <a:ext cx="47625" cy="438150"/>
          </a:xfrm>
          <a:prstGeom xmlns:a="http://schemas.openxmlformats.org/drawingml/2006/main" prst="rect">
            <a:avLst/>
          </a:prstGeom>
          <a:solidFill xmlns:a="http://schemas.openxmlformats.org/drawingml/2006/main">
            <a:srgbClr val="176D8C"/>
          </a:solidFill>
          <a:ln xmlns:a="http://schemas.openxmlformats.org/drawingml/2006/main" w="0">
            <a:noFill/>
          </a:ln>
        </p:spPr>
      </p:sp>
      <p:sp>
        <p:nvSpPr>
          <p:cNvPr id="3" name="text">
            <a:extLst xmlns:a="http://schemas.openxmlformats.org/drawingml/2006/main">
              <a:ext uri="{FF2B5EF4-FFF2-40B4-BE49-F238E27FC236}">
                <a16:creationId xmlns:a16="http://schemas.microsoft.com/office/drawing/2014/main" id="{C9F2BC33-42FC-496F-AD6D-417E994613AC}"/>
              </a:ext>
            </a:extLst>
          </p:cNvPr>
          <p:cNvSpPr>
            <a:spLocks xmlns:a="http://schemas.openxmlformats.org/drawingml/2006/main" noGrp="1"/>
          </p:cNvSpPr>
          <p:nvPr/>
        </p:nvSpPr>
        <p:spPr>
          <a:xfrm xmlns:a="http://schemas.openxmlformats.org/drawingml/2006/main">
            <a:off x="590550" y="342900"/>
            <a:ext cx="112204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1">
                <a:solidFill>
                  <a:srgbClr val="183044"/>
                </a:solidFill>
                <a:latin typeface="Arial"/>
                <a:ea typeface="Arial"/>
                <a:cs typeface="Arial"/>
              </a:defRPr>
            </a:defPPr>
          </a:lstStyle>
          <a:p xmlns:a="http://schemas.openxmlformats.org/drawingml/2006/main">
            <a:pPr>
              <a:defRPr sz="2850" b="1">
                <a:solidFill>
                  <a:srgbClr val="183044"/>
                </a:solidFill>
                <a:latin typeface="Arial"/>
                <a:ea typeface="Arial"/>
                <a:cs typeface="Arial"/>
              </a:defRPr>
            </a:pPr>
            <a:r>
              <a:rPr sz="2850" b="1">
                <a:solidFill>
                  <a:srgbClr val="183044"/>
                </a:solidFill>
                <a:latin typeface="Arial"/>
                <a:ea typeface="Arial"/>
                <a:cs typeface="Arial"/>
              </a:rPr>
              <a:t>Fitting probability distributions</a:t>
            </a:r>
          </a:p>
        </p:txBody>
      </p:sp>
      <p:sp>
        <p:nvSpPr>
          <p:cNvPr id="4" name="text">
            <a:extLst xmlns:a="http://schemas.openxmlformats.org/drawingml/2006/main">
              <a:ext uri="{FF2B5EF4-FFF2-40B4-BE49-F238E27FC236}">
                <a16:creationId xmlns:a16="http://schemas.microsoft.com/office/drawing/2014/main" id="{D2CF7B26-0920-421B-B52A-9DA72687F2D5}"/>
              </a:ext>
            </a:extLst>
          </p:cNvPr>
          <p:cNvSpPr>
            <a:spLocks xmlns:a="http://schemas.openxmlformats.org/drawingml/2006/main" noGrp="1"/>
          </p:cNvSpPr>
          <p:nvPr/>
        </p:nvSpPr>
        <p:spPr>
          <a:xfrm xmlns:a="http://schemas.openxmlformats.org/drawingml/2006/main">
            <a:off x="400050" y="971550"/>
            <a:ext cx="113919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415566"/>
                </a:solidFill>
                <a:latin typeface="Arial"/>
                <a:ea typeface="Arial"/>
                <a:cs typeface="Arial"/>
              </a:defRPr>
            </a:defPPr>
          </a:lstStyle>
          <a:p xmlns:a="http://schemas.openxmlformats.org/drawingml/2006/main">
            <a:pPr>
              <a:defRPr sz="1725" b="0">
                <a:solidFill>
                  <a:srgbClr val="415566"/>
                </a:solidFill>
                <a:latin typeface="Arial"/>
                <a:ea typeface="Arial"/>
                <a:cs typeface="Arial"/>
              </a:defRPr>
            </a:pPr>
            <a:r>
              <a:rPr sz="1725" b="0">
                <a:solidFill>
                  <a:srgbClr val="415566"/>
                </a:solidFill>
                <a:latin typeface="Arial"/>
                <a:ea typeface="Arial"/>
                <a:cs typeface="Arial"/>
              </a:rPr>
              <a:t>Compare the observed pattern with the pattern each model expects.</a:t>
            </a:r>
          </a:p>
        </p:txBody>
      </p:sp>
      <p:sp>
        <p:nvSpPr>
          <p:cNvPr id="5" name="text">
            <a:extLst xmlns:a="http://schemas.openxmlformats.org/drawingml/2006/main">
              <a:ext uri="{FF2B5EF4-FFF2-40B4-BE49-F238E27FC236}">
                <a16:creationId xmlns:a16="http://schemas.microsoft.com/office/drawing/2014/main" id="{3D57C5F7-570F-49A9-BF62-6D583EEDB2E4}"/>
              </a:ext>
            </a:extLst>
          </p:cNvPr>
          <p:cNvSpPr>
            <a:spLocks xmlns:a="http://schemas.openxmlformats.org/drawingml/2006/main" noGrp="1"/>
          </p:cNvSpPr>
          <p:nvPr/>
        </p:nvSpPr>
        <p:spPr>
          <a:xfrm xmlns:a="http://schemas.openxmlformats.org/drawingml/2006/main">
            <a:off x="400050" y="1600200"/>
            <a:ext cx="3581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176D8C"/>
                </a:solidFill>
                <a:latin typeface="Arial"/>
                <a:ea typeface="Arial"/>
                <a:cs typeface="Arial"/>
              </a:defRPr>
            </a:defPPr>
          </a:lstStyle>
          <a:p xmlns:a="http://schemas.openxmlformats.org/drawingml/2006/main">
            <a:pPr>
              <a:defRPr sz="2100" b="1">
                <a:solidFill>
                  <a:srgbClr val="176D8C"/>
                </a:solidFill>
                <a:latin typeface="Arial"/>
                <a:ea typeface="Arial"/>
                <a:cs typeface="Arial"/>
              </a:defRPr>
            </a:pPr>
            <a:r>
              <a:rPr sz="2100" b="1">
                <a:solidFill>
                  <a:srgbClr val="176D8C"/>
                </a:solidFill>
                <a:latin typeface="Arial"/>
                <a:ea typeface="Arial"/>
                <a:cs typeface="Arial"/>
              </a:rPr>
              <a:t>Binomial</a:t>
            </a:r>
          </a:p>
        </p:txBody>
      </p:sp>
      <p:sp>
        <p:nvSpPr>
          <p:cNvPr id="6" name="text">
            <a:extLst xmlns:a="http://schemas.openxmlformats.org/drawingml/2006/main">
              <a:ext uri="{FF2B5EF4-FFF2-40B4-BE49-F238E27FC236}">
                <a16:creationId xmlns:a16="http://schemas.microsoft.com/office/drawing/2014/main" id="{31DED968-E515-46D5-B8F5-E113C6633203}"/>
              </a:ext>
            </a:extLst>
          </p:cNvPr>
          <p:cNvSpPr>
            <a:spLocks xmlns:a="http://schemas.openxmlformats.org/drawingml/2006/main" noGrp="1"/>
          </p:cNvSpPr>
          <p:nvPr/>
        </p:nvSpPr>
        <p:spPr>
          <a:xfrm xmlns:a="http://schemas.openxmlformats.org/drawingml/2006/main">
            <a:off x="400050" y="2085975"/>
            <a:ext cx="3581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83044"/>
                </a:solidFill>
                <a:latin typeface="Arial"/>
                <a:ea typeface="Arial"/>
                <a:cs typeface="Arial"/>
              </a:defRPr>
            </a:defPPr>
          </a:lstStyle>
          <a:p xmlns:a="http://schemas.openxmlformats.org/drawingml/2006/main">
            <a:pPr>
              <a:defRPr sz="1575" b="0">
                <a:solidFill>
                  <a:srgbClr val="183044"/>
                </a:solidFill>
                <a:latin typeface="Arial"/>
                <a:ea typeface="Arial"/>
                <a:cs typeface="Arial"/>
              </a:defRPr>
            </a:pPr>
            <a:r>
              <a:rPr sz="1575" b="0">
                <a:solidFill>
                  <a:srgbClr val="183044"/>
                </a:solidFill>
                <a:latin typeface="Arial"/>
                <a:ea typeface="Arial"/>
                <a:cs typeface="Arial"/>
              </a:rPr>
              <a:t>Positive cases in groups of 10.</a:t>
            </a:r>
          </a:p>
          <a:p xmlns:a="http://schemas.openxmlformats.org/drawingml/2006/main">
            <a:pPr>
              <a:defRPr sz="1575" b="0">
                <a:solidFill>
                  <a:srgbClr val="183044"/>
                </a:solidFill>
                <a:latin typeface="Arial"/>
                <a:ea typeface="Arial"/>
                <a:cs typeface="Arial"/>
              </a:defRPr>
            </a:pPr>
            <a:r>
              <a:rPr sz="1575" b="0">
                <a:solidFill>
                  <a:srgbClr val="183044"/>
                </a:solidFill>
                <a:latin typeface="Arial"/>
                <a:ea typeface="Arial"/>
                <a:cs typeface="Arial"/>
              </a:rPr>
              <a:t>p = 0.156, 300 groups.</a:t>
            </a:r>
          </a:p>
        </p:txBody>
      </p:sp>
      <p:sp>
        <p:nvSpPr>
          <p:cNvPr id="7" name="text">
            <a:extLst xmlns:a="http://schemas.openxmlformats.org/drawingml/2006/main">
              <a:ext uri="{FF2B5EF4-FFF2-40B4-BE49-F238E27FC236}">
                <a16:creationId xmlns:a16="http://schemas.microsoft.com/office/drawing/2014/main" id="{CAE545F7-D6D9-40E5-89C1-71E1DC74A790}"/>
              </a:ext>
            </a:extLst>
          </p:cNvPr>
          <p:cNvSpPr>
            <a:spLocks xmlns:a="http://schemas.openxmlformats.org/drawingml/2006/main" noGrp="1"/>
          </p:cNvSpPr>
          <p:nvPr/>
        </p:nvSpPr>
        <p:spPr>
          <a:xfrm xmlns:a="http://schemas.openxmlformats.org/drawingml/2006/main">
            <a:off x="400050" y="5305425"/>
            <a:ext cx="3581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76D8C"/>
                </a:solidFill>
                <a:latin typeface="Arial"/>
                <a:ea typeface="Arial"/>
                <a:cs typeface="Arial"/>
              </a:defRPr>
            </a:defPPr>
          </a:lstStyle>
          <a:p xmlns:a="http://schemas.openxmlformats.org/drawingml/2006/main">
            <a:pPr>
              <a:defRPr sz="1725" b="1">
                <a:solidFill>
                  <a:srgbClr val="176D8C"/>
                </a:solidFill>
                <a:latin typeface="Arial"/>
                <a:ea typeface="Arial"/>
                <a:cs typeface="Arial"/>
              </a:defRPr>
            </a:pPr>
            <a:r>
              <a:rPr sz="1725" b="1">
                <a:solidFill>
                  <a:srgbClr val="176D8C"/>
                </a:solidFill>
                <a:latin typeface="Arial"/>
                <a:ea typeface="Arial"/>
                <a:cs typeface="Arial"/>
              </a:rPr>
              <a:t>Test p = 0.962</a:t>
            </a:r>
          </a:p>
        </p:txBody>
      </p:sp>
      <p:sp>
        <p:nvSpPr>
          <p:cNvPr id="8" name="text">
            <a:extLst xmlns:a="http://schemas.openxmlformats.org/drawingml/2006/main">
              <a:ext uri="{FF2B5EF4-FFF2-40B4-BE49-F238E27FC236}">
                <a16:creationId xmlns:a16="http://schemas.microsoft.com/office/drawing/2014/main" id="{1E202832-4552-40A1-9FAB-B425F80378A4}"/>
              </a:ext>
            </a:extLst>
          </p:cNvPr>
          <p:cNvSpPr>
            <a:spLocks xmlns:a="http://schemas.openxmlformats.org/drawingml/2006/main" noGrp="1"/>
          </p:cNvSpPr>
          <p:nvPr/>
        </p:nvSpPr>
        <p:spPr>
          <a:xfrm xmlns:a="http://schemas.openxmlformats.org/drawingml/2006/main">
            <a:off x="400050" y="5648325"/>
            <a:ext cx="35814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83044"/>
                </a:solidFill>
                <a:latin typeface="Arial"/>
                <a:ea typeface="Arial"/>
                <a:cs typeface="Arial"/>
              </a:defRPr>
            </a:defPPr>
          </a:lstStyle>
          <a:p xmlns:a="http://schemas.openxmlformats.org/drawingml/2006/main">
            <a:pPr>
              <a:defRPr sz="1575" b="0">
                <a:solidFill>
                  <a:srgbClr val="183044"/>
                </a:solidFill>
                <a:latin typeface="Arial"/>
                <a:ea typeface="Arial"/>
                <a:cs typeface="Arial"/>
              </a:defRPr>
            </a:pPr>
            <a:r>
              <a:rPr sz="1575" b="0">
                <a:solidFill>
                  <a:srgbClr val="183044"/>
                </a:solidFill>
                <a:latin typeface="Arial"/>
                <a:ea typeface="Arial"/>
                <a:cs typeface="Arial"/>
              </a:rPr>
              <a:t>Fits the grouped counts reasonably.</a:t>
            </a:r>
          </a:p>
        </p:txBody>
      </p:sp>
      <p:sp>
        <p:nvSpPr>
          <p:cNvPr id="9" name="text">
            <a:extLst xmlns:a="http://schemas.openxmlformats.org/drawingml/2006/main">
              <a:ext uri="{FF2B5EF4-FFF2-40B4-BE49-F238E27FC236}">
                <a16:creationId xmlns:a16="http://schemas.microsoft.com/office/drawing/2014/main" id="{F8C12143-6368-4C63-B6E0-04DDB5B03321}"/>
              </a:ext>
            </a:extLst>
          </p:cNvPr>
          <p:cNvSpPr>
            <a:spLocks xmlns:a="http://schemas.openxmlformats.org/drawingml/2006/main" noGrp="1"/>
          </p:cNvSpPr>
          <p:nvPr/>
        </p:nvSpPr>
        <p:spPr>
          <a:xfrm xmlns:a="http://schemas.openxmlformats.org/drawingml/2006/main">
            <a:off x="4276725" y="1600200"/>
            <a:ext cx="3581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176D8C"/>
                </a:solidFill>
                <a:latin typeface="Arial"/>
                <a:ea typeface="Arial"/>
                <a:cs typeface="Arial"/>
              </a:defRPr>
            </a:defPPr>
          </a:lstStyle>
          <a:p xmlns:a="http://schemas.openxmlformats.org/drawingml/2006/main">
            <a:pPr>
              <a:defRPr sz="2100" b="1">
                <a:solidFill>
                  <a:srgbClr val="176D8C"/>
                </a:solidFill>
                <a:latin typeface="Arial"/>
                <a:ea typeface="Arial"/>
                <a:cs typeface="Arial"/>
              </a:defRPr>
            </a:pPr>
            <a:r>
              <a:rPr sz="2100" b="1">
                <a:solidFill>
                  <a:srgbClr val="176D8C"/>
                </a:solidFill>
                <a:latin typeface="Arial"/>
                <a:ea typeface="Arial"/>
                <a:cs typeface="Arial"/>
              </a:rPr>
              <a:t>Normal</a:t>
            </a:r>
          </a:p>
        </p:txBody>
      </p:sp>
      <p:sp>
        <p:nvSpPr>
          <p:cNvPr id="10" name="text">
            <a:extLst xmlns:a="http://schemas.openxmlformats.org/drawingml/2006/main">
              <a:ext uri="{FF2B5EF4-FFF2-40B4-BE49-F238E27FC236}">
                <a16:creationId xmlns:a16="http://schemas.microsoft.com/office/drawing/2014/main" id="{87FDD356-9998-43CF-87A2-E781427FA3A6}"/>
              </a:ext>
            </a:extLst>
          </p:cNvPr>
          <p:cNvSpPr>
            <a:spLocks xmlns:a="http://schemas.openxmlformats.org/drawingml/2006/main" noGrp="1"/>
          </p:cNvSpPr>
          <p:nvPr/>
        </p:nvSpPr>
        <p:spPr>
          <a:xfrm xmlns:a="http://schemas.openxmlformats.org/drawingml/2006/main">
            <a:off x="4276725" y="2085975"/>
            <a:ext cx="3581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83044"/>
                </a:solidFill>
                <a:latin typeface="Arial"/>
                <a:ea typeface="Arial"/>
                <a:cs typeface="Arial"/>
              </a:defRPr>
            </a:defPPr>
          </a:lstStyle>
          <a:p xmlns:a="http://schemas.openxmlformats.org/drawingml/2006/main">
            <a:pPr>
              <a:defRPr sz="1575" b="0">
                <a:solidFill>
                  <a:srgbClr val="183044"/>
                </a:solidFill>
                <a:latin typeface="Arial"/>
                <a:ea typeface="Arial"/>
                <a:cs typeface="Arial"/>
              </a:defRPr>
            </a:pPr>
            <a:r>
              <a:rPr sz="1575" b="0">
                <a:solidFill>
                  <a:srgbClr val="183044"/>
                </a:solidFill>
                <a:latin typeface="Arial"/>
                <a:ea typeface="Arial"/>
                <a:cs typeface="Arial"/>
              </a:rPr>
              <a:t>BMI: mean 28.40, SD 6.35.</a:t>
            </a:r>
          </a:p>
          <a:p xmlns:a="http://schemas.openxmlformats.org/drawingml/2006/main">
            <a:pPr>
              <a:defRPr sz="1575" b="0">
                <a:solidFill>
                  <a:srgbClr val="183044"/>
                </a:solidFill>
                <a:latin typeface="Arial"/>
                <a:ea typeface="Arial"/>
                <a:cs typeface="Arial"/>
              </a:defRPr>
            </a:pPr>
            <a:r>
              <a:rPr sz="1575" b="0">
                <a:solidFill>
                  <a:srgbClr val="183044"/>
                </a:solidFill>
                <a:latin typeface="Arial"/>
                <a:ea typeface="Arial"/>
                <a:cs typeface="Arial"/>
              </a:rPr>
              <a:t>The curve misses the long tail.</a:t>
            </a:r>
          </a:p>
        </p:txBody>
      </p:sp>
      <p:sp>
        <p:nvSpPr>
          <p:cNvPr id="11" name="text">
            <a:extLst xmlns:a="http://schemas.openxmlformats.org/drawingml/2006/main">
              <a:ext uri="{FF2B5EF4-FFF2-40B4-BE49-F238E27FC236}">
                <a16:creationId xmlns:a16="http://schemas.microsoft.com/office/drawing/2014/main" id="{6BF8089E-2CFE-4A07-8463-47121DD1595A}"/>
              </a:ext>
            </a:extLst>
          </p:cNvPr>
          <p:cNvSpPr>
            <a:spLocks xmlns:a="http://schemas.openxmlformats.org/drawingml/2006/main" noGrp="1"/>
          </p:cNvSpPr>
          <p:nvPr/>
        </p:nvSpPr>
        <p:spPr>
          <a:xfrm xmlns:a="http://schemas.openxmlformats.org/drawingml/2006/main">
            <a:off x="4276725" y="5305425"/>
            <a:ext cx="3581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76D8C"/>
                </a:solidFill>
                <a:latin typeface="Arial"/>
                <a:ea typeface="Arial"/>
                <a:cs typeface="Arial"/>
              </a:defRPr>
            </a:defPPr>
          </a:lstStyle>
          <a:p xmlns:a="http://schemas.openxmlformats.org/drawingml/2006/main">
            <a:pPr>
              <a:defRPr sz="1725" b="1">
                <a:solidFill>
                  <a:srgbClr val="176D8C"/>
                </a:solidFill>
                <a:latin typeface="Arial"/>
                <a:ea typeface="Arial"/>
                <a:cs typeface="Arial"/>
              </a:defRPr>
            </a:pPr>
            <a:r>
              <a:rPr sz="1725" b="1">
                <a:solidFill>
                  <a:srgbClr val="176D8C"/>
                </a:solidFill>
                <a:latin typeface="Arial"/>
                <a:ea typeface="Arial"/>
                <a:cs typeface="Arial"/>
              </a:rPr>
              <a:t>Test p &lt; 0.001</a:t>
            </a:r>
          </a:p>
        </p:txBody>
      </p:sp>
      <p:sp>
        <p:nvSpPr>
          <p:cNvPr id="12" name="text">
            <a:extLst xmlns:a="http://schemas.openxmlformats.org/drawingml/2006/main">
              <a:ext uri="{FF2B5EF4-FFF2-40B4-BE49-F238E27FC236}">
                <a16:creationId xmlns:a16="http://schemas.microsoft.com/office/drawing/2014/main" id="{6AEFBA8C-5F84-4106-80FA-6E1BCF58CA8E}"/>
              </a:ext>
            </a:extLst>
          </p:cNvPr>
          <p:cNvSpPr>
            <a:spLocks xmlns:a="http://schemas.openxmlformats.org/drawingml/2006/main" noGrp="1"/>
          </p:cNvSpPr>
          <p:nvPr/>
        </p:nvSpPr>
        <p:spPr>
          <a:xfrm xmlns:a="http://schemas.openxmlformats.org/drawingml/2006/main">
            <a:off x="4276725" y="5648325"/>
            <a:ext cx="35814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83044"/>
                </a:solidFill>
                <a:latin typeface="Arial"/>
                <a:ea typeface="Arial"/>
                <a:cs typeface="Arial"/>
              </a:defRPr>
            </a:defPPr>
          </a:lstStyle>
          <a:p xmlns:a="http://schemas.openxmlformats.org/drawingml/2006/main">
            <a:pPr>
              <a:defRPr sz="1575" b="0">
                <a:solidFill>
                  <a:srgbClr val="183044"/>
                </a:solidFill>
                <a:latin typeface="Arial"/>
                <a:ea typeface="Arial"/>
                <a:cs typeface="Arial"/>
              </a:defRPr>
            </a:pPr>
            <a:r>
              <a:rPr sz="1575" b="0">
                <a:solidFill>
                  <a:srgbClr val="183044"/>
                </a:solidFill>
                <a:latin typeface="Arial"/>
                <a:ea typeface="Arial"/>
                <a:cs typeface="Arial"/>
              </a:rPr>
              <a:t>BMI is not normally distributed.</a:t>
            </a:r>
          </a:p>
        </p:txBody>
      </p:sp>
      <p:sp>
        <p:nvSpPr>
          <p:cNvPr id="13" name="text">
            <a:extLst xmlns:a="http://schemas.openxmlformats.org/drawingml/2006/main">
              <a:ext uri="{FF2B5EF4-FFF2-40B4-BE49-F238E27FC236}">
                <a16:creationId xmlns:a16="http://schemas.microsoft.com/office/drawing/2014/main" id="{F13DA261-4908-4220-A5A9-A2CA72375EA7}"/>
              </a:ext>
            </a:extLst>
          </p:cNvPr>
          <p:cNvSpPr>
            <a:spLocks xmlns:a="http://schemas.openxmlformats.org/drawingml/2006/main" noGrp="1"/>
          </p:cNvSpPr>
          <p:nvPr/>
        </p:nvSpPr>
        <p:spPr>
          <a:xfrm xmlns:a="http://schemas.openxmlformats.org/drawingml/2006/main">
            <a:off x="8153400" y="1600200"/>
            <a:ext cx="3581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176D8C"/>
                </a:solidFill>
                <a:latin typeface="Arial"/>
                <a:ea typeface="Arial"/>
                <a:cs typeface="Arial"/>
              </a:defRPr>
            </a:defPPr>
          </a:lstStyle>
          <a:p xmlns:a="http://schemas.openxmlformats.org/drawingml/2006/main">
            <a:pPr>
              <a:defRPr sz="2100" b="1">
                <a:solidFill>
                  <a:srgbClr val="176D8C"/>
                </a:solidFill>
                <a:latin typeface="Arial"/>
                <a:ea typeface="Arial"/>
                <a:cs typeface="Arial"/>
              </a:defRPr>
            </a:pPr>
            <a:r>
              <a:rPr sz="2100" b="1">
                <a:solidFill>
                  <a:srgbClr val="176D8C"/>
                </a:solidFill>
                <a:latin typeface="Arial"/>
                <a:ea typeface="Arial"/>
                <a:cs typeface="Arial"/>
              </a:rPr>
              <a:t>Poisson</a:t>
            </a:r>
          </a:p>
        </p:txBody>
      </p:sp>
      <p:sp>
        <p:nvSpPr>
          <p:cNvPr id="14" name="text">
            <a:extLst xmlns:a="http://schemas.openxmlformats.org/drawingml/2006/main">
              <a:ext uri="{FF2B5EF4-FFF2-40B4-BE49-F238E27FC236}">
                <a16:creationId xmlns:a16="http://schemas.microsoft.com/office/drawing/2014/main" id="{A285340B-DF59-47D9-8948-E5B9F34B2E04}"/>
              </a:ext>
            </a:extLst>
          </p:cNvPr>
          <p:cNvSpPr>
            <a:spLocks xmlns:a="http://schemas.openxmlformats.org/drawingml/2006/main" noGrp="1"/>
          </p:cNvSpPr>
          <p:nvPr/>
        </p:nvSpPr>
        <p:spPr>
          <a:xfrm xmlns:a="http://schemas.openxmlformats.org/drawingml/2006/main">
            <a:off x="8153400" y="2085975"/>
            <a:ext cx="35814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83044"/>
                </a:solidFill>
                <a:latin typeface="Arial"/>
                <a:ea typeface="Arial"/>
                <a:cs typeface="Arial"/>
              </a:defRPr>
            </a:defPPr>
          </a:lstStyle>
          <a:p xmlns:a="http://schemas.openxmlformats.org/drawingml/2006/main">
            <a:pPr>
              <a:defRPr sz="1575" b="0">
                <a:solidFill>
                  <a:srgbClr val="183044"/>
                </a:solidFill>
                <a:latin typeface="Arial"/>
                <a:ea typeface="Arial"/>
                <a:cs typeface="Arial"/>
              </a:defRPr>
            </a:pPr>
            <a:r>
              <a:rPr sz="1575" b="0">
                <a:solidFill>
                  <a:srgbClr val="183044"/>
                </a:solidFill>
                <a:latin typeface="Arial"/>
                <a:ea typeface="Arial"/>
                <a:cs typeface="Arial"/>
              </a:rPr>
              <a:t>Physical-health days: mean 4.15,</a:t>
            </a:r>
          </a:p>
          <a:p xmlns:a="http://schemas.openxmlformats.org/drawingml/2006/main">
            <a:pPr>
              <a:defRPr sz="1575" b="0">
                <a:solidFill>
                  <a:srgbClr val="183044"/>
                </a:solidFill>
                <a:latin typeface="Arial"/>
                <a:ea typeface="Arial"/>
                <a:cs typeface="Arial"/>
              </a:defRPr>
            </a:pPr>
            <a:r>
              <a:rPr sz="1575" b="0">
                <a:solidFill>
                  <a:srgbClr val="183044"/>
                </a:solidFill>
                <a:latin typeface="Arial"/>
                <a:ea typeface="Arial"/>
                <a:cs typeface="Arial"/>
              </a:rPr>
              <a:t>variance 74.24. Many zeros.</a:t>
            </a:r>
          </a:p>
        </p:txBody>
      </p:sp>
      <p:sp>
        <p:nvSpPr>
          <p:cNvPr id="15" name="text">
            <a:extLst xmlns:a="http://schemas.openxmlformats.org/drawingml/2006/main">
              <a:ext uri="{FF2B5EF4-FFF2-40B4-BE49-F238E27FC236}">
                <a16:creationId xmlns:a16="http://schemas.microsoft.com/office/drawing/2014/main" id="{323039B2-DC94-4C03-928C-95F1A0A12BB2}"/>
              </a:ext>
            </a:extLst>
          </p:cNvPr>
          <p:cNvSpPr>
            <a:spLocks xmlns:a="http://schemas.openxmlformats.org/drawingml/2006/main" noGrp="1"/>
          </p:cNvSpPr>
          <p:nvPr/>
        </p:nvSpPr>
        <p:spPr>
          <a:xfrm xmlns:a="http://schemas.openxmlformats.org/drawingml/2006/main">
            <a:off x="8153400" y="5305425"/>
            <a:ext cx="3581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76D8C"/>
                </a:solidFill>
                <a:latin typeface="Arial"/>
                <a:ea typeface="Arial"/>
                <a:cs typeface="Arial"/>
              </a:defRPr>
            </a:defPPr>
          </a:lstStyle>
          <a:p xmlns:a="http://schemas.openxmlformats.org/drawingml/2006/main">
            <a:pPr>
              <a:defRPr sz="1725" b="1">
                <a:solidFill>
                  <a:srgbClr val="176D8C"/>
                </a:solidFill>
                <a:latin typeface="Arial"/>
                <a:ea typeface="Arial"/>
                <a:cs typeface="Arial"/>
              </a:defRPr>
            </a:pPr>
            <a:r>
              <a:rPr sz="1725" b="1">
                <a:solidFill>
                  <a:srgbClr val="176D8C"/>
                </a:solidFill>
                <a:latin typeface="Arial"/>
                <a:ea typeface="Arial"/>
                <a:cs typeface="Arial"/>
              </a:rPr>
              <a:t>Test p &lt; 0.001</a:t>
            </a:r>
          </a:p>
        </p:txBody>
      </p:sp>
      <p:sp>
        <p:nvSpPr>
          <p:cNvPr id="16" name="text">
            <a:extLst xmlns:a="http://schemas.openxmlformats.org/drawingml/2006/main">
              <a:ext uri="{FF2B5EF4-FFF2-40B4-BE49-F238E27FC236}">
                <a16:creationId xmlns:a16="http://schemas.microsoft.com/office/drawing/2014/main" id="{800B17F5-1CD7-4BD6-BA9B-4436FA415FA5}"/>
              </a:ext>
            </a:extLst>
          </p:cNvPr>
          <p:cNvSpPr>
            <a:spLocks xmlns:a="http://schemas.openxmlformats.org/drawingml/2006/main" noGrp="1"/>
          </p:cNvSpPr>
          <p:nvPr/>
        </p:nvSpPr>
        <p:spPr>
          <a:xfrm xmlns:a="http://schemas.openxmlformats.org/drawingml/2006/main">
            <a:off x="8153400" y="5648325"/>
            <a:ext cx="35814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83044"/>
                </a:solidFill>
                <a:latin typeface="Arial"/>
                <a:ea typeface="Arial"/>
                <a:cs typeface="Arial"/>
              </a:defRPr>
            </a:defPPr>
          </a:lstStyle>
          <a:p xmlns:a="http://schemas.openxmlformats.org/drawingml/2006/main">
            <a:pPr>
              <a:defRPr sz="1575" b="0">
                <a:solidFill>
                  <a:srgbClr val="183044"/>
                </a:solidFill>
                <a:latin typeface="Arial"/>
                <a:ea typeface="Arial"/>
                <a:cs typeface="Arial"/>
              </a:defRPr>
            </a:pPr>
            <a:r>
              <a:rPr sz="1575" b="0">
                <a:solidFill>
                  <a:srgbClr val="183044"/>
                </a:solidFill>
                <a:latin typeface="Arial"/>
                <a:ea typeface="Arial"/>
                <a:cs typeface="Arial"/>
              </a:rPr>
              <a:t>Variance is far above the mean.</a:t>
            </a:r>
          </a:p>
        </p:txBody>
      </p:sp>
      <p:graphicFrame>
        <p:nvGraphicFramePr>
          <p:cNvPr id="17" name="Chart">
            <a:extLst xmlns:a="http://schemas.openxmlformats.org/drawingml/2006/main">
              <a:ext uri="{FF2B5EF4-FFF2-40B4-BE49-F238E27FC236}">
                <a16:creationId xmlns:a16="http://schemas.microsoft.com/office/drawing/2014/main" id="{86330080-0894-4EC0-B904-DC1E50112A28}"/>
              </a:ext>
            </a:extLst>
          </p:cNvPr>
          <p:cNvGraphicFramePr/>
          <p:nvPr/>
        </p:nvGraphicFramePr>
        <p:xfrm>
          <a:off xmlns:a="http://schemas.openxmlformats.org/drawingml/2006/main" x="257175" y="2867025"/>
          <a:ext xmlns:a="http://schemas.openxmlformats.org/drawingml/2006/main" cx="3657600" cy="2200275"/>
        </p:xfrm>
        <a:graphic xmlns:a="http://schemas.openxmlformats.org/drawingml/2006/main">
          <a:graphicData uri="http://schemas.openxmlformats.org/drawingml/2006/chart">
            <c:chart xmlns:r="http://schemas.openxmlformats.org/officeDocument/2006/relationships" xmlns:c="http://schemas.openxmlformats.org/drawingml/2006/chart" r:id="R277e23564b364742"/>
          </a:graphicData>
        </a:graphic>
      </p:graphicFrame>
      <p:pic>
        <p:nvPicPr>
          <p:cNvPr id="18" name="">
            <a:extLst xmlns:a="http://schemas.openxmlformats.org/drawingml/2006/main">
              <a:ext uri="{FF2B5EF4-FFF2-40B4-BE49-F238E27FC236}">
                <a16:creationId xmlns:a16="http://schemas.microsoft.com/office/drawing/2014/main" id="{5B8C530F-0B93-4925-B4BC-269E240F7989}"/>
              </a:ext>
            </a:extLst>
          </p:cNvPr>
          <p:cNvPicPr>
            <a:picLocks xmlns:a="http://schemas.openxmlformats.org/drawingml/2006/main" noChangeAspect="1"/>
          </p:cNvPicPr>
          <p:nvPr/>
        </p:nvPicPr>
        <p:blipFill>
          <a:blip xmlns:r="http://schemas.openxmlformats.org/officeDocument/2006/relationships" xmlns:a="http://schemas.openxmlformats.org/drawingml/2006/main" r:embed="Rcc4cf6ce57b648ee"/>
          <a:stretch xmlns:a="http://schemas.openxmlformats.org/drawingml/2006/main"/>
        </p:blipFill>
        <p:spPr>
          <a:xfrm xmlns:a="http://schemas.openxmlformats.org/drawingml/2006/main">
            <a:off x="4276725" y="2771775"/>
            <a:ext cx="3524250" cy="2457450"/>
          </a:xfrm>
          <a:prstGeom xmlns:a="http://schemas.openxmlformats.org/drawingml/2006/main" prst="rect">
            <a:avLst/>
          </a:prstGeom>
        </p:spPr>
      </p:pic>
      <p:graphicFrame>
        <p:nvGraphicFramePr>
          <p:cNvPr id="19" name="Chart">
            <a:extLst xmlns:a="http://schemas.openxmlformats.org/drawingml/2006/main">
              <a:ext uri="{FF2B5EF4-FFF2-40B4-BE49-F238E27FC236}">
                <a16:creationId xmlns:a16="http://schemas.microsoft.com/office/drawing/2014/main" id="{2C4A34B0-6E47-4F7E-8029-0ACA4AF43A5B}"/>
              </a:ext>
            </a:extLst>
          </p:cNvPr>
          <p:cNvGraphicFramePr/>
          <p:nvPr/>
        </p:nvGraphicFramePr>
        <p:xfrm>
          <a:off xmlns:a="http://schemas.openxmlformats.org/drawingml/2006/main" x="8124825" y="2867025"/>
          <a:ext xmlns:a="http://schemas.openxmlformats.org/drawingml/2006/main" cx="3714750" cy="2200275"/>
        </p:xfrm>
        <a:graphic xmlns:a="http://schemas.openxmlformats.org/drawingml/2006/main">
          <a:graphicData uri="http://schemas.openxmlformats.org/drawingml/2006/chart">
            <c:chart xmlns:r="http://schemas.openxmlformats.org/officeDocument/2006/relationships" xmlns:c="http://schemas.openxmlformats.org/drawingml/2006/chart" r:id="Rdaeb00e8f19d4beb"/>
          </a:graphicData>
        </a:graphic>
      </p:graphicFrame>
      <p:sp>
        <p:nvSpPr>
          <p:cNvPr id="20" name="">
            <a:extLst xmlns:a="http://schemas.openxmlformats.org/drawingml/2006/main">
              <a:ext uri="{FF2B5EF4-FFF2-40B4-BE49-F238E27FC236}">
                <a16:creationId xmlns:a16="http://schemas.microsoft.com/office/drawing/2014/main" id="{C3FBB22D-98BE-4DE9-BADB-FDBE490D9EB2}"/>
              </a:ext>
            </a:extLst>
          </p:cNvPr>
          <p:cNvSpPr>
            <a:spLocks xmlns:a="http://schemas.openxmlformats.org/drawingml/2006/main" noGrp="1"/>
          </p:cNvSpPr>
          <p:nvPr/>
        </p:nvSpPr>
        <p:spPr>
          <a:xfrm xmlns:a="http://schemas.openxmlformats.org/drawingml/2006/main">
            <a:off x="400050" y="6153150"/>
            <a:ext cx="11391900" cy="19050"/>
          </a:xfrm>
          <a:prstGeom xmlns:a="http://schemas.openxmlformats.org/drawingml/2006/main" prst="rect">
            <a:avLst/>
          </a:prstGeom>
          <a:solidFill xmlns:a="http://schemas.openxmlformats.org/drawingml/2006/main">
            <a:srgbClr val="176D8C"/>
          </a:solidFill>
          <a:ln xmlns:a="http://schemas.openxmlformats.org/drawingml/2006/main" w="0">
            <a:noFill/>
          </a:ln>
        </p:spPr>
      </p:sp>
      <p:sp>
        <p:nvSpPr>
          <p:cNvPr id="21" name="text">
            <a:extLst xmlns:a="http://schemas.openxmlformats.org/drawingml/2006/main">
              <a:ext uri="{FF2B5EF4-FFF2-40B4-BE49-F238E27FC236}">
                <a16:creationId xmlns:a16="http://schemas.microsoft.com/office/drawing/2014/main" id="{D764A1E6-3BD9-49FF-AADE-AA0B62EA7C2F}"/>
              </a:ext>
            </a:extLst>
          </p:cNvPr>
          <p:cNvSpPr>
            <a:spLocks xmlns:a="http://schemas.openxmlformats.org/drawingml/2006/main" noGrp="1"/>
          </p:cNvSpPr>
          <p:nvPr/>
        </p:nvSpPr>
        <p:spPr>
          <a:xfrm xmlns:a="http://schemas.openxmlformats.org/drawingml/2006/main">
            <a:off x="400050" y="6267450"/>
            <a:ext cx="1095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176D8C"/>
                </a:solidFill>
                <a:latin typeface="Arial"/>
                <a:ea typeface="Arial"/>
                <a:cs typeface="Arial"/>
              </a:defRPr>
            </a:defPPr>
          </a:lstStyle>
          <a:p xmlns:a="http://schemas.openxmlformats.org/drawingml/2006/main">
            <a:pPr>
              <a:defRPr sz="1650" b="1">
                <a:solidFill>
                  <a:srgbClr val="176D8C"/>
                </a:solidFill>
                <a:latin typeface="Arial"/>
                <a:ea typeface="Arial"/>
                <a:cs typeface="Arial"/>
              </a:defRPr>
            </a:pPr>
            <a:r>
              <a:rPr sz="1650" b="1">
                <a:solidFill>
                  <a:srgbClr val="176D8C"/>
                </a:solidFill>
                <a:latin typeface="Arial"/>
                <a:ea typeface="Arial"/>
                <a:cs typeface="Arial"/>
              </a:rPr>
              <a:t>A useful analysis explains why a model fits or fails.</a:t>
            </a:r>
          </a:p>
        </p:txBody>
      </p:sp>
      <p:sp>
        <p:nvSpPr>
          <p:cNvPr id="22" name="text">
            <a:extLst xmlns:a="http://schemas.openxmlformats.org/drawingml/2006/main">
              <a:ext uri="{FF2B5EF4-FFF2-40B4-BE49-F238E27FC236}">
                <a16:creationId xmlns:a16="http://schemas.microsoft.com/office/drawing/2014/main" id="{E506CDF2-8668-4497-8FEA-2CD7A746D951}"/>
              </a:ext>
            </a:extLst>
          </p:cNvPr>
          <p:cNvSpPr>
            <a:spLocks xmlns:a="http://schemas.openxmlformats.org/drawingml/2006/main" noGrp="1"/>
          </p:cNvSpPr>
          <p:nvPr/>
        </p:nvSpPr>
        <p:spPr>
          <a:xfrm xmlns:a="http://schemas.openxmlformats.org/drawingml/2006/main">
            <a:off x="11353800" y="6581775"/>
            <a:ext cx="6572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050" b="0">
                <a:solidFill>
                  <a:srgbClr val="415566"/>
                </a:solidFill>
                <a:latin typeface="Arial"/>
                <a:ea typeface="Arial"/>
                <a:cs typeface="Arial"/>
              </a:defRPr>
            </a:defPPr>
          </a:lstStyle>
          <a:p xmlns:a="http://schemas.openxmlformats.org/drawingml/2006/main">
            <a:pPr>
              <a:defRPr sz="1050" b="0">
                <a:solidFill>
                  <a:srgbClr val="415566"/>
                </a:solidFill>
                <a:latin typeface="Arial"/>
                <a:ea typeface="Arial"/>
                <a:cs typeface="Arial"/>
              </a:defRPr>
            </a:pPr>
            <a:r>
              <a:rPr sz="1050" b="0">
                <a:solidFill>
                  <a:srgbClr val="415566"/>
                </a:solidFill>
                <a:latin typeface="Arial"/>
                <a:ea typeface="Arial"/>
                <a:cs typeface="Arial"/>
              </a:rPr>
              <a:t>7 / 12</a:t>
            </a:r>
          </a:p>
        </p:txBody>
      </p:sp>
    </p:spTree>
    <p:extLst>
      <p:ext uri="{BB962C8B-B14F-4D97-AF65-F5344CB8AC3E}">
        <p14:creationId xmlns:p14="http://schemas.microsoft.com/office/powerpoint/2010/main" val="477851231"/>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text">
            <a:extLst xmlns:a="http://schemas.openxmlformats.org/drawingml/2006/main">
              <a:ext uri="{FF2B5EF4-FFF2-40B4-BE49-F238E27FC236}">
                <a16:creationId xmlns:a16="http://schemas.microsoft.com/office/drawing/2014/main" id="{90852A46-D532-415D-B2AB-AD28046189CF}"/>
              </a:ext>
            </a:extLst>
          </p:cNvPr>
          <p:cNvSpPr>
            <a:spLocks xmlns:a="http://schemas.openxmlformats.org/drawingml/2006/main" noGrp="1"/>
          </p:cNvSpPr>
          <p:nvPr/>
        </p:nvSpPr>
        <p:spPr>
          <a:xfrm xmlns:a="http://schemas.openxmlformats.org/drawingml/2006/main">
            <a:off x="590550" y="76200"/>
            <a:ext cx="112204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1">
                <a:solidFill>
                  <a:srgbClr val="176D8C"/>
                </a:solidFill>
                <a:latin typeface="Arial"/>
                <a:ea typeface="Arial"/>
                <a:cs typeface="Arial"/>
              </a:defRPr>
            </a:defPPr>
          </a:lstStyle>
          <a:p xmlns:a="http://schemas.openxmlformats.org/drawingml/2006/main">
            <a:pPr>
              <a:defRPr sz="1350" b="1">
                <a:solidFill>
                  <a:srgbClr val="176D8C"/>
                </a:solidFill>
                <a:latin typeface="Arial"/>
                <a:ea typeface="Arial"/>
                <a:cs typeface="Arial"/>
              </a:defRPr>
            </a:pPr>
            <a:r>
              <a:rPr sz="1350" b="1">
                <a:solidFill>
                  <a:srgbClr val="176D8C"/>
                </a:solidFill>
                <a:latin typeface="Arial"/>
                <a:ea typeface="Arial"/>
                <a:cs typeface="Arial"/>
              </a:rPr>
              <a:t>LAB 7: One-sample mean/proportion tests     LAB 8: Two-sample mean/proportion tests</a:t>
            </a:r>
          </a:p>
        </p:txBody>
      </p:sp>
      <p:sp>
        <p:nvSpPr>
          <p:cNvPr id="2" name="">
            <a:extLst xmlns:a="http://schemas.openxmlformats.org/drawingml/2006/main">
              <a:ext uri="{FF2B5EF4-FFF2-40B4-BE49-F238E27FC236}">
                <a16:creationId xmlns:a16="http://schemas.microsoft.com/office/drawing/2014/main" id="{7A25C072-7123-4BA6-86C1-DEB9361A79C6}"/>
              </a:ext>
            </a:extLst>
          </p:cNvPr>
          <p:cNvSpPr>
            <a:spLocks xmlns:a="http://schemas.openxmlformats.org/drawingml/2006/main" noGrp="1"/>
          </p:cNvSpPr>
          <p:nvPr/>
        </p:nvSpPr>
        <p:spPr>
          <a:xfrm xmlns:a="http://schemas.openxmlformats.org/drawingml/2006/main">
            <a:off x="381000" y="381000"/>
            <a:ext cx="47625" cy="438150"/>
          </a:xfrm>
          <a:prstGeom xmlns:a="http://schemas.openxmlformats.org/drawingml/2006/main" prst="rect">
            <a:avLst/>
          </a:prstGeom>
          <a:solidFill xmlns:a="http://schemas.openxmlformats.org/drawingml/2006/main">
            <a:srgbClr val="176D8C"/>
          </a:solidFill>
          <a:ln xmlns:a="http://schemas.openxmlformats.org/drawingml/2006/main" w="0">
            <a:noFill/>
          </a:ln>
        </p:spPr>
      </p:sp>
      <p:sp>
        <p:nvSpPr>
          <p:cNvPr id="3" name="text">
            <a:extLst xmlns:a="http://schemas.openxmlformats.org/drawingml/2006/main">
              <a:ext uri="{FF2B5EF4-FFF2-40B4-BE49-F238E27FC236}">
                <a16:creationId xmlns:a16="http://schemas.microsoft.com/office/drawing/2014/main" id="{5A5E8E20-2E0B-4F14-944C-CA514E292AAB}"/>
              </a:ext>
            </a:extLst>
          </p:cNvPr>
          <p:cNvSpPr>
            <a:spLocks xmlns:a="http://schemas.openxmlformats.org/drawingml/2006/main" noGrp="1"/>
          </p:cNvSpPr>
          <p:nvPr/>
        </p:nvSpPr>
        <p:spPr>
          <a:xfrm xmlns:a="http://schemas.openxmlformats.org/drawingml/2006/main">
            <a:off x="590550" y="342900"/>
            <a:ext cx="112204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1">
                <a:solidFill>
                  <a:srgbClr val="183044"/>
                </a:solidFill>
                <a:latin typeface="Arial"/>
                <a:ea typeface="Arial"/>
                <a:cs typeface="Arial"/>
              </a:defRPr>
            </a:defPPr>
          </a:lstStyle>
          <a:p xmlns:a="http://schemas.openxmlformats.org/drawingml/2006/main">
            <a:pPr>
              <a:defRPr sz="2850" b="1">
                <a:solidFill>
                  <a:srgbClr val="183044"/>
                </a:solidFill>
                <a:latin typeface="Arial"/>
                <a:ea typeface="Arial"/>
                <a:cs typeface="Arial"/>
              </a:defRPr>
            </a:pPr>
            <a:r>
              <a:rPr sz="2850" b="1">
                <a:solidFill>
                  <a:srgbClr val="183044"/>
                </a:solidFill>
                <a:latin typeface="Arial"/>
                <a:ea typeface="Arial"/>
                <a:cs typeface="Arial"/>
              </a:rPr>
              <a:t>One- and two-sample hypothesis tests</a:t>
            </a:r>
          </a:p>
        </p:txBody>
      </p:sp>
      <p:sp>
        <p:nvSpPr>
          <p:cNvPr id="4" name="text">
            <a:extLst xmlns:a="http://schemas.openxmlformats.org/drawingml/2006/main">
              <a:ext uri="{FF2B5EF4-FFF2-40B4-BE49-F238E27FC236}">
                <a16:creationId xmlns:a16="http://schemas.microsoft.com/office/drawing/2014/main" id="{833099E6-B866-46AC-AB44-795A9A0DA9F9}"/>
              </a:ext>
            </a:extLst>
          </p:cNvPr>
          <p:cNvSpPr>
            <a:spLocks xmlns:a="http://schemas.openxmlformats.org/drawingml/2006/main" noGrp="1"/>
          </p:cNvSpPr>
          <p:nvPr/>
        </p:nvSpPr>
        <p:spPr>
          <a:xfrm xmlns:a="http://schemas.openxmlformats.org/drawingml/2006/main">
            <a:off x="400050" y="971550"/>
            <a:ext cx="113919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415566"/>
                </a:solidFill>
                <a:latin typeface="Arial"/>
                <a:ea typeface="Arial"/>
                <a:cs typeface="Arial"/>
              </a:defRPr>
            </a:defPPr>
          </a:lstStyle>
          <a:p xmlns:a="http://schemas.openxmlformats.org/drawingml/2006/main">
            <a:pPr>
              <a:defRPr sz="1725" b="0">
                <a:solidFill>
                  <a:srgbClr val="415566"/>
                </a:solidFill>
                <a:latin typeface="Arial"/>
                <a:ea typeface="Arial"/>
                <a:cs typeface="Arial"/>
              </a:defRPr>
            </a:pPr>
            <a:r>
              <a:rPr sz="1725" b="0">
                <a:solidFill>
                  <a:srgbClr val="415566"/>
                </a:solidFill>
                <a:latin typeface="Arial"/>
                <a:ea typeface="Arial"/>
                <a:cs typeface="Arial"/>
              </a:rPr>
              <a:t>Lab 7 compares a sample with a reference. Lab 8 compares two groups. We use α = 0.05.</a:t>
            </a:r>
          </a:p>
        </p:txBody>
      </p:sp>
      <p:graphicFrame>
        <p:nvGraphicFramePr>
          <p:cNvPr id="5" name="">
            <a:extLst xmlns:a="http://schemas.openxmlformats.org/drawingml/2006/main">
              <a:ext uri="{FF2B5EF4-FFF2-40B4-BE49-F238E27FC236}">
                <a16:creationId xmlns:a16="http://schemas.microsoft.com/office/drawing/2014/main" id="{8B1F0AE6-9EEE-4692-BC5E-C88AAB561096}"/>
              </a:ext>
            </a:extLst>
          </p:cNvPr>
          <p:cNvGraphicFramePr/>
          <p:nvPr/>
        </p:nvGraphicFramePr>
        <p:xfrm>
          <a:off xmlns:a="http://schemas.openxmlformats.org/drawingml/2006/main" x="400050" y="1581150"/>
          <a:ext xmlns:a="http://schemas.openxmlformats.org/drawingml/2006/main" cx="11391900" cy="2009775"/>
        </p:xfrm>
        <a:graphic xmlns:a="http://schemas.openxmlformats.org/drawingml/2006/main">
          <a:graphicData uri="http://schemas.openxmlformats.org/drawingml/2006/table">
            <a:tbl>
              <a:tblPr/>
              <a:tblGrid>
                <a:gridCol w="3705225"/>
                <a:gridCol w="2314575"/>
                <a:gridCol w="3905250"/>
                <a:gridCol w="1466850"/>
              </a:tblGrid>
              <a:tr h="401955">
                <a:tc>
                  <a:txBody>
                    <a:bodyPr>
                      <a:noAutofit/>
                    </a:bodyPr>
                    <a:lstStyle/>
                    <a:p>
                      <a:pPr algn="l"/>
                      <a:r>
                        <a:rPr sz="1650" b="1">
                          <a:solidFill>
                            <a:srgbClr val="FFFFFF"/>
                          </a:solidFill>
                          <a:latin typeface="Arial"/>
                          <a:ea typeface="Arial"/>
                          <a:cs typeface="Arial"/>
                        </a:rPr>
                        <a:t>Question / comparison</a:t>
                      </a:r>
                    </a:p>
                  </a:txBody>
                  <a:tcPr marL="91440" marR="91440" marT="45720" marB="45720">
                    <a:lnL w="9525">
                      <a:solidFill>
                        <a:srgbClr val="D6E0E5"/>
                      </a:solidFill>
                      <a:prstDash val="solid"/>
                    </a:lnL>
                    <a:lnR w="9525">
                      <a:solidFill>
                        <a:srgbClr val="D6E0E5"/>
                      </a:solidFill>
                      <a:prstDash val="solid"/>
                    </a:lnR>
                    <a:lnT w="9525">
                      <a:solidFill>
                        <a:srgbClr val="D6E0E5"/>
                      </a:solidFill>
                      <a:prstDash val="solid"/>
                    </a:lnT>
                    <a:lnB w="9525">
                      <a:solidFill>
                        <a:srgbClr val="D6E0E5"/>
                      </a:solidFill>
                      <a:prstDash val="solid"/>
                    </a:lnB>
                    <a:solidFill>
                      <a:srgbClr val="176D8C"/>
                    </a:solidFill>
                  </a:tcPr>
                </a:tc>
                <a:tc>
                  <a:txBody>
                    <a:bodyPr>
                      <a:noAutofit/>
                    </a:bodyPr>
                    <a:lstStyle/>
                    <a:p>
                      <a:pPr algn="ctr"/>
                      <a:r>
                        <a:rPr sz="1650" b="1">
                          <a:solidFill>
                            <a:srgbClr val="FFFFFF"/>
                          </a:solidFill>
                          <a:latin typeface="Arial"/>
                          <a:ea typeface="Arial"/>
                          <a:cs typeface="Arial"/>
                        </a:rPr>
                        <a:t>Method</a:t>
                      </a:r>
                    </a:p>
                  </a:txBody>
                  <a:tcPr marL="91440" marR="91440" marT="45720" marB="45720">
                    <a:lnR w="9525">
                      <a:solidFill>
                        <a:srgbClr val="D6E0E5"/>
                      </a:solidFill>
                      <a:prstDash val="solid"/>
                    </a:lnR>
                    <a:lnT w="9525">
                      <a:solidFill>
                        <a:srgbClr val="D6E0E5"/>
                      </a:solidFill>
                      <a:prstDash val="solid"/>
                    </a:lnT>
                    <a:lnB w="9525">
                      <a:solidFill>
                        <a:srgbClr val="D6E0E5"/>
                      </a:solidFill>
                      <a:prstDash val="solid"/>
                    </a:lnB>
                    <a:solidFill>
                      <a:srgbClr val="176D8C"/>
                    </a:solidFill>
                  </a:tcPr>
                </a:tc>
                <a:tc>
                  <a:txBody>
                    <a:bodyPr>
                      <a:noAutofit/>
                    </a:bodyPr>
                    <a:lstStyle/>
                    <a:p>
                      <a:pPr algn="ctr"/>
                      <a:r>
                        <a:rPr sz="1650" b="1">
                          <a:solidFill>
                            <a:srgbClr val="FFFFFF"/>
                          </a:solidFill>
                          <a:latin typeface="Arial"/>
                          <a:ea typeface="Arial"/>
                          <a:cs typeface="Arial"/>
                        </a:rPr>
                        <a:t>Result</a:t>
                      </a:r>
                    </a:p>
                  </a:txBody>
                  <a:tcPr marL="91440" marR="91440" marT="45720" marB="45720">
                    <a:lnR w="9525">
                      <a:solidFill>
                        <a:srgbClr val="D6E0E5"/>
                      </a:solidFill>
                      <a:prstDash val="solid"/>
                    </a:lnR>
                    <a:lnT w="9525">
                      <a:solidFill>
                        <a:srgbClr val="D6E0E5"/>
                      </a:solidFill>
                      <a:prstDash val="solid"/>
                    </a:lnT>
                    <a:lnB w="9525">
                      <a:solidFill>
                        <a:srgbClr val="D6E0E5"/>
                      </a:solidFill>
                      <a:prstDash val="solid"/>
                    </a:lnB>
                    <a:solidFill>
                      <a:srgbClr val="176D8C"/>
                    </a:solidFill>
                  </a:tcPr>
                </a:tc>
                <a:tc>
                  <a:txBody>
                    <a:bodyPr>
                      <a:noAutofit/>
                    </a:bodyPr>
                    <a:lstStyle/>
                    <a:p>
                      <a:pPr algn="ctr"/>
                      <a:r>
                        <a:rPr sz="1650" b="1">
                          <a:solidFill>
                            <a:srgbClr val="FFFFFF"/>
                          </a:solidFill>
                          <a:latin typeface="Arial"/>
                          <a:ea typeface="Arial"/>
                          <a:cs typeface="Arial"/>
                        </a:rPr>
                        <a:t>p</a:t>
                      </a:r>
                    </a:p>
                  </a:txBody>
                  <a:tcPr marL="91440" marR="91440" marT="45720" marB="45720">
                    <a:lnR w="9525">
                      <a:solidFill>
                        <a:srgbClr val="D6E0E5"/>
                      </a:solidFill>
                      <a:prstDash val="solid"/>
                    </a:lnR>
                    <a:lnT w="9525">
                      <a:solidFill>
                        <a:srgbClr val="D6E0E5"/>
                      </a:solidFill>
                      <a:prstDash val="solid"/>
                    </a:lnT>
                    <a:lnB w="9525">
                      <a:solidFill>
                        <a:srgbClr val="D6E0E5"/>
                      </a:solidFill>
                      <a:prstDash val="solid"/>
                    </a:lnB>
                    <a:solidFill>
                      <a:srgbClr val="176D8C"/>
                    </a:solidFill>
                  </a:tcPr>
                </a:tc>
              </a:tr>
              <a:tr h="401955">
                <a:tc>
                  <a:txBody>
                    <a:bodyPr>
                      <a:noAutofit/>
                    </a:bodyPr>
                    <a:lstStyle/>
                    <a:p>
                      <a:pPr algn="l"/>
                      <a:r>
                        <a:rPr sz="1650" b="0">
                          <a:solidFill>
                            <a:srgbClr val="183044"/>
                          </a:solidFill>
                          <a:latin typeface="Arial"/>
                          <a:ea typeface="Arial"/>
                          <a:cs typeface="Arial"/>
                        </a:rPr>
                        <a:t>Mean BMI vs 27</a:t>
                      </a:r>
                    </a:p>
                  </a:txBody>
                  <a:tcPr marL="91440" marR="91440" marT="45720" marB="45720">
                    <a:lnL w="9525">
                      <a:solidFill>
                        <a:srgbClr val="D6E0E5"/>
                      </a:solidFill>
                      <a:prstDash val="solid"/>
                    </a:lnL>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650" b="0">
                          <a:solidFill>
                            <a:srgbClr val="183044"/>
                          </a:solidFill>
                          <a:latin typeface="Arial"/>
                          <a:ea typeface="Arial"/>
                          <a:cs typeface="Arial"/>
                        </a:rPr>
                        <a:t>One-sample t</a:t>
                      </a:r>
                    </a:p>
                  </a:txBody>
                  <a:tcPr marL="91440" marR="91440" marT="45720" marB="45720">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650" b="0">
                          <a:solidFill>
                            <a:srgbClr val="183044"/>
                          </a:solidFill>
                          <a:latin typeface="Arial"/>
                          <a:ea typeface="Arial"/>
                          <a:cs typeface="Arial"/>
                        </a:rPr>
                        <a:t>28.40 (above 27)</a:t>
                      </a:r>
                    </a:p>
                  </a:txBody>
                  <a:tcPr marL="91440" marR="91440" marT="45720" marB="45720">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650" b="0">
                          <a:solidFill>
                            <a:srgbClr val="183044"/>
                          </a:solidFill>
                          <a:latin typeface="Arial"/>
                          <a:ea typeface="Arial"/>
                          <a:cs typeface="Arial"/>
                        </a:rPr>
                        <a:t>&lt;0.001</a:t>
                      </a:r>
                    </a:p>
                  </a:txBody>
                  <a:tcPr marL="91440" marR="91440" marT="45720" marB="45720">
                    <a:lnR w="9525">
                      <a:solidFill>
                        <a:srgbClr val="D6E0E5"/>
                      </a:solidFill>
                      <a:prstDash val="solid"/>
                    </a:lnR>
                    <a:lnB w="9525">
                      <a:solidFill>
                        <a:srgbClr val="D6E0E5"/>
                      </a:solidFill>
                      <a:prstDash val="solid"/>
                    </a:lnB>
                    <a:solidFill>
                      <a:srgbClr val="FFFFFF"/>
                    </a:solidFill>
                  </a:tcPr>
                </a:tc>
              </a:tr>
              <a:tr h="401955">
                <a:tc>
                  <a:txBody>
                    <a:bodyPr>
                      <a:noAutofit/>
                    </a:bodyPr>
                    <a:lstStyle/>
                    <a:p>
                      <a:pPr algn="l"/>
                      <a:r>
                        <a:rPr sz="1650" b="0">
                          <a:solidFill>
                            <a:srgbClr val="183044"/>
                          </a:solidFill>
                          <a:latin typeface="Arial"/>
                          <a:ea typeface="Arial"/>
                          <a:cs typeface="Arial"/>
                        </a:rPr>
                        <a:t>Positive share vs 11%</a:t>
                      </a:r>
                    </a:p>
                  </a:txBody>
                  <a:tcPr marL="91440" marR="91440" marT="45720" marB="45720">
                    <a:lnL w="9525">
                      <a:solidFill>
                        <a:srgbClr val="D6E0E5"/>
                      </a:solidFill>
                      <a:prstDash val="solid"/>
                    </a:lnL>
                    <a:lnR w="9525">
                      <a:solidFill>
                        <a:srgbClr val="D6E0E5"/>
                      </a:solidFill>
                      <a:prstDash val="solid"/>
                    </a:lnR>
                    <a:lnB w="9525">
                      <a:solidFill>
                        <a:srgbClr val="D6E0E5"/>
                      </a:solidFill>
                      <a:prstDash val="solid"/>
                    </a:lnB>
                    <a:solidFill>
                      <a:srgbClr val="EAF2F5"/>
                    </a:solidFill>
                  </a:tcPr>
                </a:tc>
                <a:tc>
                  <a:txBody>
                    <a:bodyPr>
                      <a:noAutofit/>
                    </a:bodyPr>
                    <a:lstStyle/>
                    <a:p>
                      <a:pPr algn="ctr"/>
                      <a:r>
                        <a:rPr sz="1650" b="0">
                          <a:solidFill>
                            <a:srgbClr val="183044"/>
                          </a:solidFill>
                          <a:latin typeface="Arial"/>
                          <a:ea typeface="Arial"/>
                          <a:cs typeface="Arial"/>
                        </a:rPr>
                        <a:t>One proportion</a:t>
                      </a:r>
                    </a:p>
                  </a:txBody>
                  <a:tcPr marL="91440" marR="91440" marT="45720" marB="45720">
                    <a:lnR w="9525">
                      <a:solidFill>
                        <a:srgbClr val="D6E0E5"/>
                      </a:solidFill>
                      <a:prstDash val="solid"/>
                    </a:lnR>
                    <a:lnB w="9525">
                      <a:solidFill>
                        <a:srgbClr val="D6E0E5"/>
                      </a:solidFill>
                      <a:prstDash val="solid"/>
                    </a:lnB>
                    <a:solidFill>
                      <a:srgbClr val="EAF2F5"/>
                    </a:solidFill>
                  </a:tcPr>
                </a:tc>
                <a:tc>
                  <a:txBody>
                    <a:bodyPr>
                      <a:noAutofit/>
                    </a:bodyPr>
                    <a:lstStyle/>
                    <a:p>
                      <a:pPr algn="ctr"/>
                      <a:r>
                        <a:rPr sz="1650" b="0">
                          <a:solidFill>
                            <a:srgbClr val="183044"/>
                          </a:solidFill>
                          <a:latin typeface="Arial"/>
                          <a:ea typeface="Arial"/>
                          <a:cs typeface="Arial"/>
                        </a:rPr>
                        <a:t>15.63% (above 11%)</a:t>
                      </a:r>
                    </a:p>
                  </a:txBody>
                  <a:tcPr marL="91440" marR="91440" marT="45720" marB="45720">
                    <a:lnR w="9525">
                      <a:solidFill>
                        <a:srgbClr val="D6E0E5"/>
                      </a:solidFill>
                      <a:prstDash val="solid"/>
                    </a:lnR>
                    <a:lnB w="9525">
                      <a:solidFill>
                        <a:srgbClr val="D6E0E5"/>
                      </a:solidFill>
                      <a:prstDash val="solid"/>
                    </a:lnB>
                    <a:solidFill>
                      <a:srgbClr val="EAF2F5"/>
                    </a:solidFill>
                  </a:tcPr>
                </a:tc>
                <a:tc>
                  <a:txBody>
                    <a:bodyPr>
                      <a:noAutofit/>
                    </a:bodyPr>
                    <a:lstStyle/>
                    <a:p>
                      <a:pPr algn="ctr"/>
                      <a:r>
                        <a:rPr sz="1650" b="0">
                          <a:solidFill>
                            <a:srgbClr val="183044"/>
                          </a:solidFill>
                          <a:latin typeface="Arial"/>
                          <a:ea typeface="Arial"/>
                          <a:cs typeface="Arial"/>
                        </a:rPr>
                        <a:t>&lt;0.001</a:t>
                      </a:r>
                    </a:p>
                  </a:txBody>
                  <a:tcPr marL="91440" marR="91440" marT="45720" marB="45720">
                    <a:lnR w="9525">
                      <a:solidFill>
                        <a:srgbClr val="D6E0E5"/>
                      </a:solidFill>
                      <a:prstDash val="solid"/>
                    </a:lnR>
                    <a:lnB w="9525">
                      <a:solidFill>
                        <a:srgbClr val="D6E0E5"/>
                      </a:solidFill>
                      <a:prstDash val="solid"/>
                    </a:lnB>
                    <a:solidFill>
                      <a:srgbClr val="EAF2F5"/>
                    </a:solidFill>
                  </a:tcPr>
                </a:tc>
              </a:tr>
              <a:tr h="401955">
                <a:tc>
                  <a:txBody>
                    <a:bodyPr>
                      <a:noAutofit/>
                    </a:bodyPr>
                    <a:lstStyle/>
                    <a:p>
                      <a:pPr algn="l"/>
                      <a:r>
                        <a:rPr sz="1650" b="0">
                          <a:solidFill>
                            <a:srgbClr val="183044"/>
                          </a:solidFill>
                          <a:latin typeface="Arial"/>
                          <a:ea typeface="Arial"/>
                          <a:cs typeface="Arial"/>
                        </a:rPr>
                        <a:t>BMI: female − male</a:t>
                      </a:r>
                    </a:p>
                  </a:txBody>
                  <a:tcPr marL="91440" marR="91440" marT="45720" marB="45720">
                    <a:lnL w="9525">
                      <a:solidFill>
                        <a:srgbClr val="D6E0E5"/>
                      </a:solidFill>
                      <a:prstDash val="solid"/>
                    </a:lnL>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650" b="0">
                          <a:solidFill>
                            <a:srgbClr val="183044"/>
                          </a:solidFill>
                          <a:latin typeface="Arial"/>
                          <a:ea typeface="Arial"/>
                          <a:cs typeface="Arial"/>
                        </a:rPr>
                        <a:t>Welch t</a:t>
                      </a:r>
                    </a:p>
                  </a:txBody>
                  <a:tcPr marL="91440" marR="91440" marT="45720" marB="45720">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650" b="0">
                          <a:solidFill>
                            <a:srgbClr val="183044"/>
                          </a:solidFill>
                          <a:latin typeface="Arial"/>
                          <a:ea typeface="Arial"/>
                          <a:cs typeface="Arial"/>
                        </a:rPr>
                        <a:t>-0.65 BMI units</a:t>
                      </a:r>
                    </a:p>
                  </a:txBody>
                  <a:tcPr marL="91440" marR="91440" marT="45720" marB="45720">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650" b="0">
                          <a:solidFill>
                            <a:srgbClr val="183044"/>
                          </a:solidFill>
                          <a:latin typeface="Arial"/>
                          <a:ea typeface="Arial"/>
                          <a:cs typeface="Arial"/>
                        </a:rPr>
                        <a:t>0.004</a:t>
                      </a:r>
                    </a:p>
                  </a:txBody>
                  <a:tcPr marL="91440" marR="91440" marT="45720" marB="45720">
                    <a:lnR w="9525">
                      <a:solidFill>
                        <a:srgbClr val="D6E0E5"/>
                      </a:solidFill>
                      <a:prstDash val="solid"/>
                    </a:lnR>
                    <a:lnB w="9525">
                      <a:solidFill>
                        <a:srgbClr val="D6E0E5"/>
                      </a:solidFill>
                      <a:prstDash val="solid"/>
                    </a:lnB>
                    <a:solidFill>
                      <a:srgbClr val="FFFFFF"/>
                    </a:solidFill>
                  </a:tcPr>
                </a:tc>
              </a:tr>
              <a:tr h="401955">
                <a:tc>
                  <a:txBody>
                    <a:bodyPr>
                      <a:noAutofit/>
                    </a:bodyPr>
                    <a:lstStyle/>
                    <a:p>
                      <a:pPr algn="l"/>
                      <a:r>
                        <a:rPr sz="1650" b="0">
                          <a:solidFill>
                            <a:srgbClr val="183044"/>
                          </a:solidFill>
                          <a:latin typeface="Arial"/>
                          <a:ea typeface="Arial"/>
                          <a:cs typeface="Arial"/>
                        </a:rPr>
                        <a:t>Positive share: never / ever smoked</a:t>
                      </a:r>
                    </a:p>
                  </a:txBody>
                  <a:tcPr marL="91440" marR="91440" marT="45720" marB="45720">
                    <a:lnL w="9525">
                      <a:solidFill>
                        <a:srgbClr val="D6E0E5"/>
                      </a:solidFill>
                      <a:prstDash val="solid"/>
                    </a:lnL>
                    <a:lnR w="9525">
                      <a:solidFill>
                        <a:srgbClr val="D6E0E5"/>
                      </a:solidFill>
                      <a:prstDash val="solid"/>
                    </a:lnR>
                    <a:lnB w="9525">
                      <a:solidFill>
                        <a:srgbClr val="D6E0E5"/>
                      </a:solidFill>
                      <a:prstDash val="solid"/>
                    </a:lnB>
                    <a:solidFill>
                      <a:srgbClr val="EAF2F5"/>
                    </a:solidFill>
                  </a:tcPr>
                </a:tc>
                <a:tc>
                  <a:txBody>
                    <a:bodyPr>
                      <a:noAutofit/>
                    </a:bodyPr>
                    <a:lstStyle/>
                    <a:p>
                      <a:pPr algn="ctr"/>
                      <a:r>
                        <a:rPr sz="1650" b="0">
                          <a:solidFill>
                            <a:srgbClr val="183044"/>
                          </a:solidFill>
                          <a:latin typeface="Arial"/>
                          <a:ea typeface="Arial"/>
                          <a:cs typeface="Arial"/>
                        </a:rPr>
                        <a:t>Two proportions</a:t>
                      </a:r>
                    </a:p>
                  </a:txBody>
                  <a:tcPr marL="91440" marR="91440" marT="45720" marB="45720">
                    <a:lnR w="9525">
                      <a:solidFill>
                        <a:srgbClr val="D6E0E5"/>
                      </a:solidFill>
                      <a:prstDash val="solid"/>
                    </a:lnR>
                    <a:lnB w="9525">
                      <a:solidFill>
                        <a:srgbClr val="D6E0E5"/>
                      </a:solidFill>
                      <a:prstDash val="solid"/>
                    </a:lnB>
                    <a:solidFill>
                      <a:srgbClr val="EAF2F5"/>
                    </a:solidFill>
                  </a:tcPr>
                </a:tc>
                <a:tc>
                  <a:txBody>
                    <a:bodyPr>
                      <a:noAutofit/>
                    </a:bodyPr>
                    <a:lstStyle/>
                    <a:p>
                      <a:pPr algn="ctr"/>
                      <a:r>
                        <a:rPr sz="1650" b="0">
                          <a:solidFill>
                            <a:srgbClr val="183044"/>
                          </a:solidFill>
                          <a:latin typeface="Arial"/>
                          <a:ea typeface="Arial"/>
                          <a:cs typeface="Arial"/>
                        </a:rPr>
                        <a:t>14.09% / 17.36%</a:t>
                      </a:r>
                    </a:p>
                  </a:txBody>
                  <a:tcPr marL="91440" marR="91440" marT="45720" marB="45720">
                    <a:lnR w="9525">
                      <a:solidFill>
                        <a:srgbClr val="D6E0E5"/>
                      </a:solidFill>
                      <a:prstDash val="solid"/>
                    </a:lnR>
                    <a:lnB w="9525">
                      <a:solidFill>
                        <a:srgbClr val="D6E0E5"/>
                      </a:solidFill>
                      <a:prstDash val="solid"/>
                    </a:lnB>
                    <a:solidFill>
                      <a:srgbClr val="EAF2F5"/>
                    </a:solidFill>
                  </a:tcPr>
                </a:tc>
                <a:tc>
                  <a:txBody>
                    <a:bodyPr>
                      <a:noAutofit/>
                    </a:bodyPr>
                    <a:lstStyle/>
                    <a:p>
                      <a:pPr algn="ctr"/>
                      <a:r>
                        <a:rPr sz="1650" b="0">
                          <a:solidFill>
                            <a:srgbClr val="183044"/>
                          </a:solidFill>
                          <a:latin typeface="Arial"/>
                          <a:ea typeface="Arial"/>
                          <a:cs typeface="Arial"/>
                        </a:rPr>
                        <a:t>0.016</a:t>
                      </a:r>
                    </a:p>
                  </a:txBody>
                  <a:tcPr marL="91440" marR="91440" marT="45720" marB="45720">
                    <a:lnR w="9525">
                      <a:solidFill>
                        <a:srgbClr val="D6E0E5"/>
                      </a:solidFill>
                      <a:prstDash val="solid"/>
                    </a:lnR>
                    <a:lnB w="9525">
                      <a:solidFill>
                        <a:srgbClr val="D6E0E5"/>
                      </a:solidFill>
                      <a:prstDash val="solid"/>
                    </a:lnB>
                    <a:solidFill>
                      <a:srgbClr val="EAF2F5"/>
                    </a:solidFill>
                  </a:tcPr>
                </a:tc>
              </a:tr>
            </a:tbl>
          </a:graphicData>
        </a:graphic>
      </p:graphicFrame>
      <p:sp>
        <p:nvSpPr>
          <p:cNvPr id="6" name="text">
            <a:extLst xmlns:a="http://schemas.openxmlformats.org/drawingml/2006/main">
              <a:ext uri="{FF2B5EF4-FFF2-40B4-BE49-F238E27FC236}">
                <a16:creationId xmlns:a16="http://schemas.microsoft.com/office/drawing/2014/main" id="{94273A72-0B19-4897-A9EC-44D637AFECD7}"/>
              </a:ext>
            </a:extLst>
          </p:cNvPr>
          <p:cNvSpPr>
            <a:spLocks xmlns:a="http://schemas.openxmlformats.org/drawingml/2006/main" noGrp="1"/>
          </p:cNvSpPr>
          <p:nvPr/>
        </p:nvSpPr>
        <p:spPr>
          <a:xfrm xmlns:a="http://schemas.openxmlformats.org/drawingml/2006/main">
            <a:off x="400050" y="3752850"/>
            <a:ext cx="55054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76D8C"/>
                </a:solidFill>
                <a:latin typeface="Arial"/>
                <a:ea typeface="Arial"/>
                <a:cs typeface="Arial"/>
              </a:defRPr>
            </a:defPPr>
          </a:lstStyle>
          <a:p xmlns:a="http://schemas.openxmlformats.org/drawingml/2006/main">
            <a:pPr>
              <a:defRPr sz="1725" b="1">
                <a:solidFill>
                  <a:srgbClr val="176D8C"/>
                </a:solidFill>
                <a:latin typeface="Arial"/>
                <a:ea typeface="Arial"/>
                <a:cs typeface="Arial"/>
              </a:defRPr>
            </a:pPr>
            <a:r>
              <a:rPr sz="1725" b="1">
                <a:solidFill>
                  <a:srgbClr val="176D8C"/>
                </a:solidFill>
                <a:latin typeface="Arial"/>
                <a:ea typeface="Arial"/>
                <a:cs typeface="Arial"/>
              </a:rPr>
              <a:t>BMI: compare female and male means</a:t>
            </a:r>
          </a:p>
        </p:txBody>
      </p:sp>
      <p:sp>
        <p:nvSpPr>
          <p:cNvPr id="7" name="text">
            <a:extLst xmlns:a="http://schemas.openxmlformats.org/drawingml/2006/main">
              <a:ext uri="{FF2B5EF4-FFF2-40B4-BE49-F238E27FC236}">
                <a16:creationId xmlns:a16="http://schemas.microsoft.com/office/drawing/2014/main" id="{678B919E-C6EA-4D6E-9DAD-06C5ADC5A3FD}"/>
              </a:ext>
            </a:extLst>
          </p:cNvPr>
          <p:cNvSpPr>
            <a:spLocks xmlns:a="http://schemas.openxmlformats.org/drawingml/2006/main" noGrp="1"/>
          </p:cNvSpPr>
          <p:nvPr/>
        </p:nvSpPr>
        <p:spPr>
          <a:xfrm xmlns:a="http://schemas.openxmlformats.org/drawingml/2006/main">
            <a:off x="6362700" y="3752850"/>
            <a:ext cx="54483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76D8C"/>
                </a:solidFill>
                <a:latin typeface="Arial"/>
                <a:ea typeface="Arial"/>
                <a:cs typeface="Arial"/>
              </a:defRPr>
            </a:defPPr>
          </a:lstStyle>
          <a:p xmlns:a="http://schemas.openxmlformats.org/drawingml/2006/main">
            <a:pPr>
              <a:defRPr sz="1725" b="1">
                <a:solidFill>
                  <a:srgbClr val="176D8C"/>
                </a:solidFill>
                <a:latin typeface="Arial"/>
                <a:ea typeface="Arial"/>
                <a:cs typeface="Arial"/>
              </a:defRPr>
            </a:pPr>
            <a:r>
              <a:rPr sz="1725" b="1">
                <a:solidFill>
                  <a:srgbClr val="176D8C"/>
                </a:solidFill>
                <a:latin typeface="Arial"/>
                <a:ea typeface="Arial"/>
                <a:cs typeface="Arial"/>
              </a:rPr>
              <a:t>Positive status: compare smoking groups</a:t>
            </a:r>
          </a:p>
        </p:txBody>
      </p:sp>
      <p:graphicFrame>
        <p:nvGraphicFramePr>
          <p:cNvPr id="8" name="Chart">
            <a:extLst xmlns:a="http://schemas.openxmlformats.org/drawingml/2006/main">
              <a:ext uri="{FF2B5EF4-FFF2-40B4-BE49-F238E27FC236}">
                <a16:creationId xmlns:a16="http://schemas.microsoft.com/office/drawing/2014/main" id="{BA68659A-0CE8-4F86-BF0E-31050D8FD53F}"/>
              </a:ext>
            </a:extLst>
          </p:cNvPr>
          <p:cNvGraphicFramePr/>
          <p:nvPr/>
        </p:nvGraphicFramePr>
        <p:xfrm>
          <a:off xmlns:a="http://schemas.openxmlformats.org/drawingml/2006/main" x="257175" y="4086225"/>
          <a:ext xmlns:a="http://schemas.openxmlformats.org/drawingml/2006/main" cx="5572125" cy="1495425"/>
        </p:xfrm>
        <a:graphic xmlns:a="http://schemas.openxmlformats.org/drawingml/2006/main">
          <a:graphicData uri="http://schemas.openxmlformats.org/drawingml/2006/chart">
            <c:chart xmlns:r="http://schemas.openxmlformats.org/officeDocument/2006/relationships" xmlns:c="http://schemas.openxmlformats.org/drawingml/2006/chart" r:id="R1b041a56ed3c4c78"/>
          </a:graphicData>
        </a:graphic>
      </p:graphicFrame>
      <p:graphicFrame>
        <p:nvGraphicFramePr>
          <p:cNvPr id="9" name="Chart">
            <a:extLst xmlns:a="http://schemas.openxmlformats.org/drawingml/2006/main">
              <a:ext uri="{FF2B5EF4-FFF2-40B4-BE49-F238E27FC236}">
                <a16:creationId xmlns:a16="http://schemas.microsoft.com/office/drawing/2014/main" id="{3318E1B7-8F14-4810-BD3E-B6AC66BECBD1}"/>
              </a:ext>
            </a:extLst>
          </p:cNvPr>
          <p:cNvGraphicFramePr/>
          <p:nvPr/>
        </p:nvGraphicFramePr>
        <p:xfrm>
          <a:off xmlns:a="http://schemas.openxmlformats.org/drawingml/2006/main" x="6229350" y="4086225"/>
          <a:ext xmlns:a="http://schemas.openxmlformats.org/drawingml/2006/main" cx="5572125" cy="1495425"/>
        </p:xfrm>
        <a:graphic xmlns:a="http://schemas.openxmlformats.org/drawingml/2006/main">
          <a:graphicData uri="http://schemas.openxmlformats.org/drawingml/2006/chart">
            <c:chart xmlns:r="http://schemas.openxmlformats.org/officeDocument/2006/relationships" xmlns:c="http://schemas.openxmlformats.org/drawingml/2006/chart" r:id="R5fb1f737396e4f2b"/>
          </a:graphicData>
        </a:graphic>
      </p:graphicFrame>
      <p:sp>
        <p:nvSpPr>
          <p:cNvPr id="10" name="text">
            <a:extLst xmlns:a="http://schemas.openxmlformats.org/drawingml/2006/main">
              <a:ext uri="{FF2B5EF4-FFF2-40B4-BE49-F238E27FC236}">
                <a16:creationId xmlns:a16="http://schemas.microsoft.com/office/drawing/2014/main" id="{78BBDFEE-BAA2-4AD4-BE53-365DE40E8429}"/>
              </a:ext>
            </a:extLst>
          </p:cNvPr>
          <p:cNvSpPr>
            <a:spLocks xmlns:a="http://schemas.openxmlformats.org/drawingml/2006/main" noGrp="1"/>
          </p:cNvSpPr>
          <p:nvPr/>
        </p:nvSpPr>
        <p:spPr>
          <a:xfrm xmlns:a="http://schemas.openxmlformats.org/drawingml/2006/main">
            <a:off x="400050" y="5600700"/>
            <a:ext cx="5524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183044"/>
                </a:solidFill>
                <a:latin typeface="Arial"/>
                <a:ea typeface="Arial"/>
                <a:cs typeface="Arial"/>
              </a:defRPr>
            </a:defPPr>
          </a:lstStyle>
          <a:p xmlns:a="http://schemas.openxmlformats.org/drawingml/2006/main">
            <a:pPr>
              <a:defRPr sz="1500" b="0">
                <a:solidFill>
                  <a:srgbClr val="183044"/>
                </a:solidFill>
                <a:latin typeface="Arial"/>
                <a:ea typeface="Arial"/>
                <a:cs typeface="Arial"/>
              </a:defRPr>
            </a:pPr>
            <a:r>
              <a:rPr sz="1500" b="0">
                <a:solidFill>
                  <a:srgbClr val="183044"/>
                </a:solidFill>
                <a:latin typeface="Arial"/>
                <a:ea typeface="Arial"/>
                <a:cs typeface="Arial"/>
              </a:rPr>
              <a:t>Female − male: -0.65 BMI units.</a:t>
            </a:r>
          </a:p>
          <a:p xmlns:a="http://schemas.openxmlformats.org/drawingml/2006/main">
            <a:pPr>
              <a:defRPr sz="1500" b="0">
                <a:solidFill>
                  <a:srgbClr val="183044"/>
                </a:solidFill>
                <a:latin typeface="Arial"/>
                <a:ea typeface="Arial"/>
                <a:cs typeface="Arial"/>
              </a:defRPr>
            </a:pPr>
            <a:r>
              <a:rPr sz="1500" b="0">
                <a:solidFill>
                  <a:srgbClr val="183044"/>
                </a:solidFill>
                <a:latin typeface="Arial"/>
                <a:ea typeface="Arial"/>
                <a:cs typeface="Arial"/>
              </a:rPr>
              <a:t>95% CI: -1.10 to -0.20.</a:t>
            </a:r>
          </a:p>
        </p:txBody>
      </p:sp>
      <p:sp>
        <p:nvSpPr>
          <p:cNvPr id="11" name="text">
            <a:extLst xmlns:a="http://schemas.openxmlformats.org/drawingml/2006/main">
              <a:ext uri="{FF2B5EF4-FFF2-40B4-BE49-F238E27FC236}">
                <a16:creationId xmlns:a16="http://schemas.microsoft.com/office/drawing/2014/main" id="{1AE16857-2365-49DB-9EB0-7E676521FDA1}"/>
              </a:ext>
            </a:extLst>
          </p:cNvPr>
          <p:cNvSpPr>
            <a:spLocks xmlns:a="http://schemas.openxmlformats.org/drawingml/2006/main" noGrp="1"/>
          </p:cNvSpPr>
          <p:nvPr/>
        </p:nvSpPr>
        <p:spPr>
          <a:xfrm xmlns:a="http://schemas.openxmlformats.org/drawingml/2006/main">
            <a:off x="6362700" y="5600700"/>
            <a:ext cx="54483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183044"/>
                </a:solidFill>
                <a:latin typeface="Arial"/>
                <a:ea typeface="Arial"/>
                <a:cs typeface="Arial"/>
              </a:defRPr>
            </a:defPPr>
          </a:lstStyle>
          <a:p xmlns:a="http://schemas.openxmlformats.org/drawingml/2006/main">
            <a:pPr>
              <a:defRPr sz="1500" b="0">
                <a:solidFill>
                  <a:srgbClr val="183044"/>
                </a:solidFill>
                <a:latin typeface="Arial"/>
                <a:ea typeface="Arial"/>
                <a:cs typeface="Arial"/>
              </a:defRPr>
            </a:pPr>
            <a:r>
              <a:rPr sz="1500" b="0">
                <a:solidFill>
                  <a:srgbClr val="183044"/>
                </a:solidFill>
                <a:latin typeface="Arial"/>
                <a:ea typeface="Arial"/>
                <a:cs typeface="Arial"/>
              </a:rPr>
              <a:t>Never − ever: -3.27 percentage points.</a:t>
            </a:r>
          </a:p>
          <a:p xmlns:a="http://schemas.openxmlformats.org/drawingml/2006/main">
            <a:pPr>
              <a:defRPr sz="1500" b="0">
                <a:solidFill>
                  <a:srgbClr val="183044"/>
                </a:solidFill>
                <a:latin typeface="Arial"/>
                <a:ea typeface="Arial"/>
                <a:cs typeface="Arial"/>
              </a:defRPr>
            </a:pPr>
            <a:r>
              <a:rPr sz="1500" b="0">
                <a:solidFill>
                  <a:srgbClr val="183044"/>
                </a:solidFill>
                <a:latin typeface="Arial"/>
                <a:ea typeface="Arial"/>
                <a:cs typeface="Arial"/>
              </a:rPr>
              <a:t>95% CI: -5.95 to -0.59 points.</a:t>
            </a:r>
          </a:p>
        </p:txBody>
      </p:sp>
      <p:sp>
        <p:nvSpPr>
          <p:cNvPr id="12" name="">
            <a:extLst xmlns:a="http://schemas.openxmlformats.org/drawingml/2006/main">
              <a:ext uri="{FF2B5EF4-FFF2-40B4-BE49-F238E27FC236}">
                <a16:creationId xmlns:a16="http://schemas.microsoft.com/office/drawing/2014/main" id="{0509DFF3-7A80-4B97-8540-A51E7248920E}"/>
              </a:ext>
            </a:extLst>
          </p:cNvPr>
          <p:cNvSpPr>
            <a:spLocks xmlns:a="http://schemas.openxmlformats.org/drawingml/2006/main" noGrp="1"/>
          </p:cNvSpPr>
          <p:nvPr/>
        </p:nvSpPr>
        <p:spPr>
          <a:xfrm xmlns:a="http://schemas.openxmlformats.org/drawingml/2006/main">
            <a:off x="400050" y="6153150"/>
            <a:ext cx="11391900" cy="19050"/>
          </a:xfrm>
          <a:prstGeom xmlns:a="http://schemas.openxmlformats.org/drawingml/2006/main" prst="rect">
            <a:avLst/>
          </a:prstGeom>
          <a:solidFill xmlns:a="http://schemas.openxmlformats.org/drawingml/2006/main">
            <a:srgbClr val="176D8C"/>
          </a:solidFill>
          <a:ln xmlns:a="http://schemas.openxmlformats.org/drawingml/2006/main" w="0">
            <a:noFill/>
          </a:ln>
        </p:spPr>
      </p:sp>
      <p:sp>
        <p:nvSpPr>
          <p:cNvPr id="13" name="text">
            <a:extLst xmlns:a="http://schemas.openxmlformats.org/drawingml/2006/main">
              <a:ext uri="{FF2B5EF4-FFF2-40B4-BE49-F238E27FC236}">
                <a16:creationId xmlns:a16="http://schemas.microsoft.com/office/drawing/2014/main" id="{4A6C3F03-B3C7-4E91-954F-E9BDB8094764}"/>
              </a:ext>
            </a:extLst>
          </p:cNvPr>
          <p:cNvSpPr>
            <a:spLocks xmlns:a="http://schemas.openxmlformats.org/drawingml/2006/main" noGrp="1"/>
          </p:cNvSpPr>
          <p:nvPr/>
        </p:nvSpPr>
        <p:spPr>
          <a:xfrm xmlns:a="http://schemas.openxmlformats.org/drawingml/2006/main">
            <a:off x="400050" y="6267450"/>
            <a:ext cx="1095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176D8C"/>
                </a:solidFill>
                <a:latin typeface="Arial"/>
                <a:ea typeface="Arial"/>
                <a:cs typeface="Arial"/>
              </a:defRPr>
            </a:defPPr>
          </a:lstStyle>
          <a:p xmlns:a="http://schemas.openxmlformats.org/drawingml/2006/main">
            <a:pPr>
              <a:defRPr sz="1650" b="1">
                <a:solidFill>
                  <a:srgbClr val="176D8C"/>
                </a:solidFill>
                <a:latin typeface="Arial"/>
                <a:ea typeface="Arial"/>
                <a:cs typeface="Arial"/>
              </a:defRPr>
            </a:pPr>
            <a:r>
              <a:rPr sz="1650" b="1">
                <a:solidFill>
                  <a:srgbClr val="176D8C"/>
                </a:solidFill>
                <a:latin typeface="Arial"/>
                <a:ea typeface="Arial"/>
                <a:cs typeface="Arial"/>
              </a:rPr>
              <a:t>All four tests find differences at p &lt; 0.05. References 27 and 11% are classroom assumptions.</a:t>
            </a:r>
          </a:p>
        </p:txBody>
      </p:sp>
      <p:sp>
        <p:nvSpPr>
          <p:cNvPr id="14" name="text">
            <a:extLst xmlns:a="http://schemas.openxmlformats.org/drawingml/2006/main">
              <a:ext uri="{FF2B5EF4-FFF2-40B4-BE49-F238E27FC236}">
                <a16:creationId xmlns:a16="http://schemas.microsoft.com/office/drawing/2014/main" id="{1B53797B-697E-48E0-9BF6-E590AAB909CF}"/>
              </a:ext>
            </a:extLst>
          </p:cNvPr>
          <p:cNvSpPr>
            <a:spLocks xmlns:a="http://schemas.openxmlformats.org/drawingml/2006/main" noGrp="1"/>
          </p:cNvSpPr>
          <p:nvPr/>
        </p:nvSpPr>
        <p:spPr>
          <a:xfrm xmlns:a="http://schemas.openxmlformats.org/drawingml/2006/main">
            <a:off x="11353800" y="6581775"/>
            <a:ext cx="6572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050" b="0">
                <a:solidFill>
                  <a:srgbClr val="415566"/>
                </a:solidFill>
                <a:latin typeface="Arial"/>
                <a:ea typeface="Arial"/>
                <a:cs typeface="Arial"/>
              </a:defRPr>
            </a:defPPr>
          </a:lstStyle>
          <a:p xmlns:a="http://schemas.openxmlformats.org/drawingml/2006/main">
            <a:pPr>
              <a:defRPr sz="1050" b="0">
                <a:solidFill>
                  <a:srgbClr val="415566"/>
                </a:solidFill>
                <a:latin typeface="Arial"/>
                <a:ea typeface="Arial"/>
                <a:cs typeface="Arial"/>
              </a:defRPr>
            </a:pPr>
            <a:r>
              <a:rPr sz="1050" b="0">
                <a:solidFill>
                  <a:srgbClr val="415566"/>
                </a:solidFill>
                <a:latin typeface="Arial"/>
                <a:ea typeface="Arial"/>
                <a:cs typeface="Arial"/>
              </a:rPr>
              <a:t>8 / 12</a:t>
            </a:r>
          </a:p>
        </p:txBody>
      </p:sp>
    </p:spTree>
    <p:extLst>
      <p:ext uri="{BB962C8B-B14F-4D97-AF65-F5344CB8AC3E}">
        <p14:creationId xmlns:p14="http://schemas.microsoft.com/office/powerpoint/2010/main" val="201257187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text">
            <a:extLst xmlns:a="http://schemas.openxmlformats.org/drawingml/2006/main">
              <a:ext uri="{FF2B5EF4-FFF2-40B4-BE49-F238E27FC236}">
                <a16:creationId xmlns:a16="http://schemas.microsoft.com/office/drawing/2014/main" id="{79C0DFA0-6201-4B0A-A137-4B9B5A3DF8ED}"/>
              </a:ext>
            </a:extLst>
          </p:cNvPr>
          <p:cNvSpPr>
            <a:spLocks xmlns:a="http://schemas.openxmlformats.org/drawingml/2006/main" noGrp="1"/>
          </p:cNvSpPr>
          <p:nvPr/>
        </p:nvSpPr>
        <p:spPr>
          <a:xfrm xmlns:a="http://schemas.openxmlformats.org/drawingml/2006/main">
            <a:off x="590550" y="76200"/>
            <a:ext cx="112204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1">
                <a:solidFill>
                  <a:srgbClr val="176D8C"/>
                </a:solidFill>
                <a:latin typeface="Arial"/>
                <a:ea typeface="Arial"/>
                <a:cs typeface="Arial"/>
              </a:defRPr>
            </a:defPPr>
          </a:lstStyle>
          <a:p xmlns:a="http://schemas.openxmlformats.org/drawingml/2006/main">
            <a:pPr>
              <a:defRPr sz="1350" b="1">
                <a:solidFill>
                  <a:srgbClr val="176D8C"/>
                </a:solidFill>
                <a:latin typeface="Arial"/>
                <a:ea typeface="Arial"/>
                <a:cs typeface="Arial"/>
              </a:defRPr>
            </a:pPr>
            <a:r>
              <a:rPr sz="1350" b="1">
                <a:solidFill>
                  <a:srgbClr val="176D8C"/>
                </a:solidFill>
                <a:latin typeface="Arial"/>
                <a:ea typeface="Arial"/>
                <a:cs typeface="Arial"/>
              </a:rPr>
              <a:t>LAB 9: Independent and dependent (paired) t-tests</a:t>
            </a:r>
          </a:p>
        </p:txBody>
      </p:sp>
      <p:sp>
        <p:nvSpPr>
          <p:cNvPr id="2" name="">
            <a:extLst xmlns:a="http://schemas.openxmlformats.org/drawingml/2006/main">
              <a:ext uri="{FF2B5EF4-FFF2-40B4-BE49-F238E27FC236}">
                <a16:creationId xmlns:a16="http://schemas.microsoft.com/office/drawing/2014/main" id="{FC65B5FA-577B-4AFE-96B8-2C7F8BAFAC72}"/>
              </a:ext>
            </a:extLst>
          </p:cNvPr>
          <p:cNvSpPr>
            <a:spLocks xmlns:a="http://schemas.openxmlformats.org/drawingml/2006/main" noGrp="1"/>
          </p:cNvSpPr>
          <p:nvPr/>
        </p:nvSpPr>
        <p:spPr>
          <a:xfrm xmlns:a="http://schemas.openxmlformats.org/drawingml/2006/main">
            <a:off x="381000" y="381000"/>
            <a:ext cx="47625" cy="438150"/>
          </a:xfrm>
          <a:prstGeom xmlns:a="http://schemas.openxmlformats.org/drawingml/2006/main" prst="rect">
            <a:avLst/>
          </a:prstGeom>
          <a:solidFill xmlns:a="http://schemas.openxmlformats.org/drawingml/2006/main">
            <a:srgbClr val="176D8C"/>
          </a:solidFill>
          <a:ln xmlns:a="http://schemas.openxmlformats.org/drawingml/2006/main" w="0">
            <a:noFill/>
          </a:ln>
        </p:spPr>
      </p:sp>
      <p:sp>
        <p:nvSpPr>
          <p:cNvPr id="3" name="text">
            <a:extLst xmlns:a="http://schemas.openxmlformats.org/drawingml/2006/main">
              <a:ext uri="{FF2B5EF4-FFF2-40B4-BE49-F238E27FC236}">
                <a16:creationId xmlns:a16="http://schemas.microsoft.com/office/drawing/2014/main" id="{60FA32F6-215A-4EF6-8D23-C69FBC88746E}"/>
              </a:ext>
            </a:extLst>
          </p:cNvPr>
          <p:cNvSpPr>
            <a:spLocks xmlns:a="http://schemas.openxmlformats.org/drawingml/2006/main" noGrp="1"/>
          </p:cNvSpPr>
          <p:nvPr/>
        </p:nvSpPr>
        <p:spPr>
          <a:xfrm xmlns:a="http://schemas.openxmlformats.org/drawingml/2006/main">
            <a:off x="590550" y="342900"/>
            <a:ext cx="112204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1">
                <a:solidFill>
                  <a:srgbClr val="183044"/>
                </a:solidFill>
                <a:latin typeface="Arial"/>
                <a:ea typeface="Arial"/>
                <a:cs typeface="Arial"/>
              </a:defRPr>
            </a:defPPr>
          </a:lstStyle>
          <a:p xmlns:a="http://schemas.openxmlformats.org/drawingml/2006/main">
            <a:pPr>
              <a:defRPr sz="2850" b="1">
                <a:solidFill>
                  <a:srgbClr val="183044"/>
                </a:solidFill>
                <a:latin typeface="Arial"/>
                <a:ea typeface="Arial"/>
                <a:cs typeface="Arial"/>
              </a:defRPr>
            </a:pPr>
            <a:r>
              <a:rPr sz="2850" b="1">
                <a:solidFill>
                  <a:srgbClr val="183044"/>
                </a:solidFill>
                <a:latin typeface="Arial"/>
                <a:ea typeface="Arial"/>
                <a:cs typeface="Arial"/>
              </a:rPr>
              <a:t>Independent and paired t-tests</a:t>
            </a:r>
          </a:p>
        </p:txBody>
      </p:sp>
      <p:sp>
        <p:nvSpPr>
          <p:cNvPr id="4" name="text">
            <a:extLst xmlns:a="http://schemas.openxmlformats.org/drawingml/2006/main">
              <a:ext uri="{FF2B5EF4-FFF2-40B4-BE49-F238E27FC236}">
                <a16:creationId xmlns:a16="http://schemas.microsoft.com/office/drawing/2014/main" id="{E99C7607-45DD-4400-AC88-67DAEC754171}"/>
              </a:ext>
            </a:extLst>
          </p:cNvPr>
          <p:cNvSpPr>
            <a:spLocks xmlns:a="http://schemas.openxmlformats.org/drawingml/2006/main" noGrp="1"/>
          </p:cNvSpPr>
          <p:nvPr/>
        </p:nvSpPr>
        <p:spPr>
          <a:xfrm xmlns:a="http://schemas.openxmlformats.org/drawingml/2006/main">
            <a:off x="400050" y="971550"/>
            <a:ext cx="113919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415566"/>
                </a:solidFill>
                <a:latin typeface="Arial"/>
                <a:ea typeface="Arial"/>
                <a:cs typeface="Arial"/>
              </a:defRPr>
            </a:defPPr>
          </a:lstStyle>
          <a:p xmlns:a="http://schemas.openxmlformats.org/drawingml/2006/main">
            <a:pPr>
              <a:defRPr sz="1725" b="0">
                <a:solidFill>
                  <a:srgbClr val="415566"/>
                </a:solidFill>
                <a:latin typeface="Arial"/>
                <a:ea typeface="Arial"/>
                <a:cs typeface="Arial"/>
              </a:defRPr>
            </a:pPr>
            <a:r>
              <a:rPr sz="1725" b="0">
                <a:solidFill>
                  <a:srgbClr val="415566"/>
                </a:solidFill>
                <a:latin typeface="Arial"/>
                <a:ea typeface="Arial"/>
                <a:cs typeface="Arial"/>
              </a:rPr>
              <a:t>Independent tests compare different people. Paired tests compare the same person before and after.</a:t>
            </a:r>
          </a:p>
        </p:txBody>
      </p:sp>
      <p:sp>
        <p:nvSpPr>
          <p:cNvPr id="5" name="text">
            <a:extLst xmlns:a="http://schemas.openxmlformats.org/drawingml/2006/main">
              <a:ext uri="{FF2B5EF4-FFF2-40B4-BE49-F238E27FC236}">
                <a16:creationId xmlns:a16="http://schemas.microsoft.com/office/drawing/2014/main" id="{D12E9587-EB2A-46AE-A13C-402AE3D9FE84}"/>
              </a:ext>
            </a:extLst>
          </p:cNvPr>
          <p:cNvSpPr>
            <a:spLocks xmlns:a="http://schemas.openxmlformats.org/drawingml/2006/main" noGrp="1"/>
          </p:cNvSpPr>
          <p:nvPr/>
        </p:nvSpPr>
        <p:spPr>
          <a:xfrm xmlns:a="http://schemas.openxmlformats.org/drawingml/2006/main">
            <a:off x="400050" y="1581150"/>
            <a:ext cx="5514975"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176D8C"/>
                </a:solidFill>
                <a:latin typeface="Arial"/>
                <a:ea typeface="Arial"/>
                <a:cs typeface="Arial"/>
              </a:defRPr>
            </a:defPPr>
          </a:lstStyle>
          <a:p xmlns:a="http://schemas.openxmlformats.org/drawingml/2006/main">
            <a:pPr>
              <a:defRPr sz="1800" b="1">
                <a:solidFill>
                  <a:srgbClr val="176D8C"/>
                </a:solidFill>
                <a:latin typeface="Arial"/>
                <a:ea typeface="Arial"/>
                <a:cs typeface="Arial"/>
              </a:defRPr>
            </a:pPr>
            <a:r>
              <a:rPr sz="1800" b="1">
                <a:solidFill>
                  <a:srgbClr val="176D8C"/>
                </a:solidFill>
                <a:latin typeface="Arial"/>
                <a:ea typeface="Arial"/>
                <a:cs typeface="Arial"/>
              </a:rPr>
              <a:t>Independent: different respondents</a:t>
            </a:r>
          </a:p>
        </p:txBody>
      </p:sp>
      <p:sp>
        <p:nvSpPr>
          <p:cNvPr id="6" name="text">
            <a:extLst xmlns:a="http://schemas.openxmlformats.org/drawingml/2006/main">
              <a:ext uri="{FF2B5EF4-FFF2-40B4-BE49-F238E27FC236}">
                <a16:creationId xmlns:a16="http://schemas.microsoft.com/office/drawing/2014/main" id="{2BABFF2E-8518-42B9-83D5-34DFAC8D71AC}"/>
              </a:ext>
            </a:extLst>
          </p:cNvPr>
          <p:cNvSpPr>
            <a:spLocks xmlns:a="http://schemas.openxmlformats.org/drawingml/2006/main" noGrp="1"/>
          </p:cNvSpPr>
          <p:nvPr/>
        </p:nvSpPr>
        <p:spPr>
          <a:xfrm xmlns:a="http://schemas.openxmlformats.org/drawingml/2006/main">
            <a:off x="6362700" y="1581150"/>
            <a:ext cx="54483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176D8C"/>
                </a:solidFill>
                <a:latin typeface="Arial"/>
                <a:ea typeface="Arial"/>
                <a:cs typeface="Arial"/>
              </a:defRPr>
            </a:defPPr>
          </a:lstStyle>
          <a:p xmlns:a="http://schemas.openxmlformats.org/drawingml/2006/main">
            <a:pPr>
              <a:defRPr sz="1800" b="1">
                <a:solidFill>
                  <a:srgbClr val="176D8C"/>
                </a:solidFill>
                <a:latin typeface="Arial"/>
                <a:ea typeface="Arial"/>
                <a:cs typeface="Arial"/>
              </a:defRPr>
            </a:pPr>
            <a:r>
              <a:rPr sz="1800" b="1">
                <a:solidFill>
                  <a:srgbClr val="176D8C"/>
                </a:solidFill>
                <a:latin typeface="Arial"/>
                <a:ea typeface="Arial"/>
                <a:cs typeface="Arial"/>
              </a:rPr>
              <a:t>Paired: the same 29 CBT patients</a:t>
            </a:r>
          </a:p>
        </p:txBody>
      </p:sp>
      <p:sp>
        <p:nvSpPr>
          <p:cNvPr id="7" name="text">
            <a:extLst xmlns:a="http://schemas.openxmlformats.org/drawingml/2006/main">
              <a:ext uri="{FF2B5EF4-FFF2-40B4-BE49-F238E27FC236}">
                <a16:creationId xmlns:a16="http://schemas.microsoft.com/office/drawing/2014/main" id="{9B25D049-95A6-48FE-A3CC-35B93EB487A3}"/>
              </a:ext>
            </a:extLst>
          </p:cNvPr>
          <p:cNvSpPr>
            <a:spLocks xmlns:a="http://schemas.openxmlformats.org/drawingml/2006/main" noGrp="1"/>
          </p:cNvSpPr>
          <p:nvPr/>
        </p:nvSpPr>
        <p:spPr>
          <a:xfrm xmlns:a="http://schemas.openxmlformats.org/drawingml/2006/main">
            <a:off x="400050" y="2009775"/>
            <a:ext cx="55054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83044"/>
                </a:solidFill>
                <a:latin typeface="Arial"/>
                <a:ea typeface="Arial"/>
                <a:cs typeface="Arial"/>
              </a:defRPr>
            </a:defPPr>
          </a:lstStyle>
          <a:p xmlns:a="http://schemas.openxmlformats.org/drawingml/2006/main">
            <a:pPr>
              <a:defRPr sz="1575" b="0">
                <a:solidFill>
                  <a:srgbClr val="183044"/>
                </a:solidFill>
                <a:latin typeface="Arial"/>
                <a:ea typeface="Arial"/>
                <a:cs typeface="Arial"/>
              </a:defRPr>
            </a:pPr>
            <a:r>
              <a:rPr sz="1575" b="0">
                <a:solidFill>
                  <a:srgbClr val="183044"/>
                </a:solidFill>
                <a:latin typeface="Arial"/>
                <a:ea typeface="Arial"/>
                <a:cs typeface="Arial"/>
              </a:rPr>
              <a:t>BRFSS: 1,667 females and 1,333 males.</a:t>
            </a:r>
          </a:p>
          <a:p xmlns:a="http://schemas.openxmlformats.org/drawingml/2006/main">
            <a:pPr>
              <a:defRPr sz="1575" b="0">
                <a:solidFill>
                  <a:srgbClr val="183044"/>
                </a:solidFill>
                <a:latin typeface="Arial"/>
                <a:ea typeface="Arial"/>
                <a:cs typeface="Arial"/>
              </a:defRPr>
            </a:pPr>
            <a:r>
              <a:rPr sz="1575" b="0">
                <a:solidFill>
                  <a:srgbClr val="183044"/>
                </a:solidFill>
                <a:latin typeface="Arial"/>
                <a:ea typeface="Arial"/>
                <a:cs typeface="Arial"/>
              </a:rPr>
              <a:t>Compare physical poor-health days.</a:t>
            </a:r>
          </a:p>
        </p:txBody>
      </p:sp>
      <p:sp>
        <p:nvSpPr>
          <p:cNvPr id="8" name="text">
            <a:extLst xmlns:a="http://schemas.openxmlformats.org/drawingml/2006/main">
              <a:ext uri="{FF2B5EF4-FFF2-40B4-BE49-F238E27FC236}">
                <a16:creationId xmlns:a16="http://schemas.microsoft.com/office/drawing/2014/main" id="{65933F61-7BF5-4F7F-A486-D3EE21C187E5}"/>
              </a:ext>
            </a:extLst>
          </p:cNvPr>
          <p:cNvSpPr>
            <a:spLocks xmlns:a="http://schemas.openxmlformats.org/drawingml/2006/main" noGrp="1"/>
          </p:cNvSpPr>
          <p:nvPr/>
        </p:nvSpPr>
        <p:spPr>
          <a:xfrm xmlns:a="http://schemas.openxmlformats.org/drawingml/2006/main">
            <a:off x="6362700" y="2009775"/>
            <a:ext cx="54483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83044"/>
                </a:solidFill>
                <a:latin typeface="Arial"/>
                <a:ea typeface="Arial"/>
                <a:cs typeface="Arial"/>
              </a:defRPr>
            </a:defPPr>
          </a:lstStyle>
          <a:p xmlns:a="http://schemas.openxmlformats.org/drawingml/2006/main">
            <a:pPr>
              <a:defRPr sz="1575" b="0">
                <a:solidFill>
                  <a:srgbClr val="183044"/>
                </a:solidFill>
                <a:latin typeface="Arial"/>
                <a:ea typeface="Arial"/>
                <a:cs typeface="Arial"/>
              </a:defRPr>
            </a:pPr>
            <a:r>
              <a:rPr sz="1575" b="0">
                <a:solidFill>
                  <a:srgbClr val="183044"/>
                </a:solidFill>
                <a:latin typeface="Arial"/>
                <a:ea typeface="Arial"/>
                <a:cs typeface="Arial"/>
              </a:rPr>
              <a:t>MASS dataset: before/after weights (lb).</a:t>
            </a:r>
          </a:p>
          <a:p xmlns:a="http://schemas.openxmlformats.org/drawingml/2006/main">
            <a:pPr>
              <a:defRPr sz="1575" b="0">
                <a:solidFill>
                  <a:srgbClr val="183044"/>
                </a:solidFill>
                <a:latin typeface="Arial"/>
                <a:ea typeface="Arial"/>
                <a:cs typeface="Arial"/>
              </a:defRPr>
            </a:pPr>
            <a:r>
              <a:rPr sz="1575" b="0">
                <a:solidFill>
                  <a:srgbClr val="183044"/>
                </a:solidFill>
                <a:latin typeface="Arial"/>
                <a:ea typeface="Arial"/>
                <a:cs typeface="Arial"/>
              </a:rPr>
              <a:t>Blue lines: patients. Orange line: mean.</a:t>
            </a:r>
          </a:p>
        </p:txBody>
      </p:sp>
      <p:graphicFrame>
        <p:nvGraphicFramePr>
          <p:cNvPr id="9" name="Chart">
            <a:extLst xmlns:a="http://schemas.openxmlformats.org/drawingml/2006/main">
              <a:ext uri="{FF2B5EF4-FFF2-40B4-BE49-F238E27FC236}">
                <a16:creationId xmlns:a16="http://schemas.microsoft.com/office/drawing/2014/main" id="{A888EE45-C91D-4C66-9D7A-7826A444BF8B}"/>
              </a:ext>
            </a:extLst>
          </p:cNvPr>
          <p:cNvGraphicFramePr/>
          <p:nvPr/>
        </p:nvGraphicFramePr>
        <p:xfrm>
          <a:off xmlns:a="http://schemas.openxmlformats.org/drawingml/2006/main" x="257175" y="2647950"/>
          <a:ext xmlns:a="http://schemas.openxmlformats.org/drawingml/2006/main" cx="5572125" cy="1943100"/>
        </p:xfrm>
        <a:graphic xmlns:a="http://schemas.openxmlformats.org/drawingml/2006/main">
          <a:graphicData uri="http://schemas.openxmlformats.org/drawingml/2006/chart">
            <c:chart xmlns:r="http://schemas.openxmlformats.org/officeDocument/2006/relationships" xmlns:c="http://schemas.openxmlformats.org/drawingml/2006/chart" r:id="R5e9bd1732b304e27"/>
          </a:graphicData>
        </a:graphic>
      </p:graphicFrame>
      <p:graphicFrame>
        <p:nvGraphicFramePr>
          <p:cNvPr id="10" name="Chart">
            <a:extLst xmlns:a="http://schemas.openxmlformats.org/drawingml/2006/main">
              <a:ext uri="{FF2B5EF4-FFF2-40B4-BE49-F238E27FC236}">
                <a16:creationId xmlns:a16="http://schemas.microsoft.com/office/drawing/2014/main" id="{874CE457-7EAF-4715-950B-18D291887976}"/>
              </a:ext>
            </a:extLst>
          </p:cNvPr>
          <p:cNvGraphicFramePr/>
          <p:nvPr/>
        </p:nvGraphicFramePr>
        <p:xfrm>
          <a:off xmlns:a="http://schemas.openxmlformats.org/drawingml/2006/main" x="6229350" y="2647950"/>
          <a:ext xmlns:a="http://schemas.openxmlformats.org/drawingml/2006/main" cx="5572125" cy="1943100"/>
        </p:xfrm>
        <a:graphic xmlns:a="http://schemas.openxmlformats.org/drawingml/2006/main">
          <a:graphicData uri="http://schemas.openxmlformats.org/drawingml/2006/chart">
            <c:chart xmlns:r="http://schemas.openxmlformats.org/officeDocument/2006/relationships" xmlns:c="http://schemas.openxmlformats.org/drawingml/2006/chart" r:id="Rbb22eb425ef54c93"/>
          </a:graphicData>
        </a:graphic>
      </p:graphicFrame>
      <p:graphicFrame>
        <p:nvGraphicFramePr>
          <p:cNvPr id="11" name="">
            <a:extLst xmlns:a="http://schemas.openxmlformats.org/drawingml/2006/main">
              <a:ext uri="{FF2B5EF4-FFF2-40B4-BE49-F238E27FC236}">
                <a16:creationId xmlns:a16="http://schemas.microsoft.com/office/drawing/2014/main" id="{DE376977-0CA6-4D78-BC5B-A04DA9327F8F}"/>
              </a:ext>
            </a:extLst>
          </p:cNvPr>
          <p:cNvGraphicFramePr/>
          <p:nvPr/>
        </p:nvGraphicFramePr>
        <p:xfrm>
          <a:off xmlns:a="http://schemas.openxmlformats.org/drawingml/2006/main" x="400050" y="4743450"/>
          <a:ext xmlns:a="http://schemas.openxmlformats.org/drawingml/2006/main" cx="5486400" cy="1257300"/>
        </p:xfrm>
        <a:graphic xmlns:a="http://schemas.openxmlformats.org/drawingml/2006/main">
          <a:graphicData uri="http://schemas.openxmlformats.org/drawingml/2006/table">
            <a:tbl>
              <a:tblPr/>
              <a:tblGrid>
                <a:gridCol w="2828925"/>
                <a:gridCol w="2657475"/>
              </a:tblGrid>
              <a:tr h="314325">
                <a:tc>
                  <a:txBody>
                    <a:bodyPr>
                      <a:noAutofit/>
                    </a:bodyPr>
                    <a:lstStyle/>
                    <a:p>
                      <a:pPr algn="l"/>
                      <a:r>
                        <a:rPr sz="1500" b="1">
                          <a:solidFill>
                            <a:srgbClr val="FFFFFF"/>
                          </a:solidFill>
                          <a:latin typeface="Arial"/>
                          <a:ea typeface="Arial"/>
                          <a:cs typeface="Arial"/>
                        </a:rPr>
                        <a:t>Independent Welch t-test</a:t>
                      </a:r>
                    </a:p>
                  </a:txBody>
                  <a:tcPr marL="91440" marR="91440" marT="45720" marB="45720">
                    <a:lnL w="9525">
                      <a:solidFill>
                        <a:srgbClr val="D6E0E5"/>
                      </a:solidFill>
                      <a:prstDash val="solid"/>
                    </a:lnL>
                    <a:lnR w="9525">
                      <a:solidFill>
                        <a:srgbClr val="D6E0E5"/>
                      </a:solidFill>
                      <a:prstDash val="solid"/>
                    </a:lnR>
                    <a:lnT w="9525">
                      <a:solidFill>
                        <a:srgbClr val="D6E0E5"/>
                      </a:solidFill>
                      <a:prstDash val="solid"/>
                    </a:lnT>
                    <a:lnB w="9525">
                      <a:solidFill>
                        <a:srgbClr val="D6E0E5"/>
                      </a:solidFill>
                      <a:prstDash val="solid"/>
                    </a:lnB>
                    <a:solidFill>
                      <a:srgbClr val="176D8C"/>
                    </a:solidFill>
                  </a:tcPr>
                </a:tc>
                <a:tc>
                  <a:txBody>
                    <a:bodyPr>
                      <a:noAutofit/>
                    </a:bodyPr>
                    <a:lstStyle/>
                    <a:p>
                      <a:pPr algn="ctr"/>
                      <a:r>
                        <a:rPr sz="1500" b="1">
                          <a:solidFill>
                            <a:srgbClr val="FFFFFF"/>
                          </a:solidFill>
                          <a:latin typeface="Arial"/>
                          <a:ea typeface="Arial"/>
                          <a:cs typeface="Arial"/>
                        </a:rPr>
                        <a:t>Result</a:t>
                      </a:r>
                    </a:p>
                  </a:txBody>
                  <a:tcPr marL="91440" marR="91440" marT="45720" marB="45720">
                    <a:lnR w="9525">
                      <a:solidFill>
                        <a:srgbClr val="D6E0E5"/>
                      </a:solidFill>
                      <a:prstDash val="solid"/>
                    </a:lnR>
                    <a:lnT w="9525">
                      <a:solidFill>
                        <a:srgbClr val="D6E0E5"/>
                      </a:solidFill>
                      <a:prstDash val="solid"/>
                    </a:lnT>
                    <a:lnB w="9525">
                      <a:solidFill>
                        <a:srgbClr val="D6E0E5"/>
                      </a:solidFill>
                      <a:prstDash val="solid"/>
                    </a:lnB>
                    <a:solidFill>
                      <a:srgbClr val="176D8C"/>
                    </a:solidFill>
                  </a:tcPr>
                </a:tc>
              </a:tr>
              <a:tr h="314325">
                <a:tc>
                  <a:txBody>
                    <a:bodyPr>
                      <a:noAutofit/>
                    </a:bodyPr>
                    <a:lstStyle/>
                    <a:p>
                      <a:pPr algn="l"/>
                      <a:r>
                        <a:rPr sz="1500" b="0">
                          <a:solidFill>
                            <a:srgbClr val="183044"/>
                          </a:solidFill>
                          <a:latin typeface="Arial"/>
                          <a:ea typeface="Arial"/>
                          <a:cs typeface="Arial"/>
                        </a:rPr>
                        <a:t>Female − male</a:t>
                      </a:r>
                    </a:p>
                  </a:txBody>
                  <a:tcPr marL="91440" marR="91440" marT="45720" marB="45720">
                    <a:lnL w="9525">
                      <a:solidFill>
                        <a:srgbClr val="D6E0E5"/>
                      </a:solidFill>
                      <a:prstDash val="solid"/>
                    </a:lnL>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500" b="0">
                          <a:solidFill>
                            <a:srgbClr val="183044"/>
                          </a:solidFill>
                          <a:latin typeface="Arial"/>
                          <a:ea typeface="Arial"/>
                          <a:cs typeface="Arial"/>
                        </a:rPr>
                        <a:t>+1.25 days</a:t>
                      </a:r>
                    </a:p>
                  </a:txBody>
                  <a:tcPr marL="91440" marR="91440" marT="45720" marB="45720">
                    <a:lnR w="9525">
                      <a:solidFill>
                        <a:srgbClr val="D6E0E5"/>
                      </a:solidFill>
                      <a:prstDash val="solid"/>
                    </a:lnR>
                    <a:lnB w="9525">
                      <a:solidFill>
                        <a:srgbClr val="D6E0E5"/>
                      </a:solidFill>
                      <a:prstDash val="solid"/>
                    </a:lnB>
                    <a:solidFill>
                      <a:srgbClr val="FFFFFF"/>
                    </a:solidFill>
                  </a:tcPr>
                </a:tc>
              </a:tr>
              <a:tr h="314325">
                <a:tc>
                  <a:txBody>
                    <a:bodyPr>
                      <a:noAutofit/>
                    </a:bodyPr>
                    <a:lstStyle/>
                    <a:p>
                      <a:pPr algn="l"/>
                      <a:r>
                        <a:rPr sz="1500" b="0">
                          <a:solidFill>
                            <a:srgbClr val="183044"/>
                          </a:solidFill>
                          <a:latin typeface="Arial"/>
                          <a:ea typeface="Arial"/>
                          <a:cs typeface="Arial"/>
                        </a:rPr>
                        <a:t>95% CI</a:t>
                      </a:r>
                    </a:p>
                  </a:txBody>
                  <a:tcPr marL="91440" marR="91440" marT="45720" marB="45720">
                    <a:lnL w="9525">
                      <a:solidFill>
                        <a:srgbClr val="D6E0E5"/>
                      </a:solidFill>
                      <a:prstDash val="solid"/>
                    </a:lnL>
                    <a:lnR w="9525">
                      <a:solidFill>
                        <a:srgbClr val="D6E0E5"/>
                      </a:solidFill>
                      <a:prstDash val="solid"/>
                    </a:lnR>
                    <a:lnB w="9525">
                      <a:solidFill>
                        <a:srgbClr val="D6E0E5"/>
                      </a:solidFill>
                      <a:prstDash val="solid"/>
                    </a:lnB>
                    <a:solidFill>
                      <a:srgbClr val="EAF2F5"/>
                    </a:solidFill>
                  </a:tcPr>
                </a:tc>
                <a:tc>
                  <a:txBody>
                    <a:bodyPr>
                      <a:noAutofit/>
                    </a:bodyPr>
                    <a:lstStyle/>
                    <a:p>
                      <a:pPr algn="ctr"/>
                      <a:r>
                        <a:rPr sz="1500" b="0">
                          <a:solidFill>
                            <a:srgbClr val="183044"/>
                          </a:solidFill>
                          <a:latin typeface="Arial"/>
                          <a:ea typeface="Arial"/>
                          <a:cs typeface="Arial"/>
                        </a:rPr>
                        <a:t>+0.63 to +1.86 days</a:t>
                      </a:r>
                    </a:p>
                  </a:txBody>
                  <a:tcPr marL="91440" marR="91440" marT="45720" marB="45720">
                    <a:lnR w="9525">
                      <a:solidFill>
                        <a:srgbClr val="D6E0E5"/>
                      </a:solidFill>
                      <a:prstDash val="solid"/>
                    </a:lnR>
                    <a:lnB w="9525">
                      <a:solidFill>
                        <a:srgbClr val="D6E0E5"/>
                      </a:solidFill>
                      <a:prstDash val="solid"/>
                    </a:lnB>
                    <a:solidFill>
                      <a:srgbClr val="EAF2F5"/>
                    </a:solidFill>
                  </a:tcPr>
                </a:tc>
              </a:tr>
              <a:tr h="314325">
                <a:tc>
                  <a:txBody>
                    <a:bodyPr>
                      <a:noAutofit/>
                    </a:bodyPr>
                    <a:lstStyle/>
                    <a:p>
                      <a:pPr algn="l"/>
                      <a:r>
                        <a:rPr sz="1500" b="0">
                          <a:solidFill>
                            <a:srgbClr val="183044"/>
                          </a:solidFill>
                          <a:latin typeface="Arial"/>
                          <a:ea typeface="Arial"/>
                          <a:cs typeface="Arial"/>
                        </a:rPr>
                        <a:t>p</a:t>
                      </a:r>
                    </a:p>
                  </a:txBody>
                  <a:tcPr marL="91440" marR="91440" marT="45720" marB="45720">
                    <a:lnL w="9525">
                      <a:solidFill>
                        <a:srgbClr val="D6E0E5"/>
                      </a:solidFill>
                      <a:prstDash val="solid"/>
                    </a:lnL>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500" b="0">
                          <a:solidFill>
                            <a:srgbClr val="183044"/>
                          </a:solidFill>
                          <a:latin typeface="Arial"/>
                          <a:ea typeface="Arial"/>
                          <a:cs typeface="Arial"/>
                        </a:rPr>
                        <a:t>&lt;0.001</a:t>
                      </a:r>
                    </a:p>
                  </a:txBody>
                  <a:tcPr marL="91440" marR="91440" marT="45720" marB="45720">
                    <a:lnR w="9525">
                      <a:solidFill>
                        <a:srgbClr val="D6E0E5"/>
                      </a:solidFill>
                      <a:prstDash val="solid"/>
                    </a:lnR>
                    <a:lnB w="9525">
                      <a:solidFill>
                        <a:srgbClr val="D6E0E5"/>
                      </a:solidFill>
                      <a:prstDash val="solid"/>
                    </a:lnB>
                    <a:solidFill>
                      <a:srgbClr val="FFFFFF"/>
                    </a:solidFill>
                  </a:tcPr>
                </a:tc>
              </a:tr>
            </a:tbl>
          </a:graphicData>
        </a:graphic>
      </p:graphicFrame>
      <p:graphicFrame>
        <p:nvGraphicFramePr>
          <p:cNvPr id="12" name="">
            <a:extLst xmlns:a="http://schemas.openxmlformats.org/drawingml/2006/main">
              <a:ext uri="{FF2B5EF4-FFF2-40B4-BE49-F238E27FC236}">
                <a16:creationId xmlns:a16="http://schemas.microsoft.com/office/drawing/2014/main" id="{ABA14E95-31E1-4E7B-8B69-F98A3CF36FC1}"/>
              </a:ext>
            </a:extLst>
          </p:cNvPr>
          <p:cNvGraphicFramePr/>
          <p:nvPr/>
        </p:nvGraphicFramePr>
        <p:xfrm>
          <a:off xmlns:a="http://schemas.openxmlformats.org/drawingml/2006/main" x="6362700" y="4743450"/>
          <a:ext xmlns:a="http://schemas.openxmlformats.org/drawingml/2006/main" cx="5448300" cy="1257300"/>
        </p:xfrm>
        <a:graphic xmlns:a="http://schemas.openxmlformats.org/drawingml/2006/main">
          <a:graphicData uri="http://schemas.openxmlformats.org/drawingml/2006/table">
            <a:tbl>
              <a:tblPr/>
              <a:tblGrid>
                <a:gridCol w="2800350"/>
                <a:gridCol w="2647950"/>
              </a:tblGrid>
              <a:tr h="314325">
                <a:tc>
                  <a:txBody>
                    <a:bodyPr>
                      <a:noAutofit/>
                    </a:bodyPr>
                    <a:lstStyle/>
                    <a:p>
                      <a:pPr algn="l"/>
                      <a:r>
                        <a:rPr sz="1500" b="1">
                          <a:solidFill>
                            <a:srgbClr val="FFFFFF"/>
                          </a:solidFill>
                          <a:latin typeface="Arial"/>
                          <a:ea typeface="Arial"/>
                          <a:cs typeface="Arial"/>
                        </a:rPr>
                        <a:t>Paired t-test: after − before</a:t>
                      </a:r>
                    </a:p>
                  </a:txBody>
                  <a:tcPr marL="91440" marR="91440" marT="45720" marB="45720">
                    <a:lnL w="9525">
                      <a:solidFill>
                        <a:srgbClr val="D6E0E5"/>
                      </a:solidFill>
                      <a:prstDash val="solid"/>
                    </a:lnL>
                    <a:lnR w="9525">
                      <a:solidFill>
                        <a:srgbClr val="D6E0E5"/>
                      </a:solidFill>
                      <a:prstDash val="solid"/>
                    </a:lnR>
                    <a:lnT w="9525">
                      <a:solidFill>
                        <a:srgbClr val="D6E0E5"/>
                      </a:solidFill>
                      <a:prstDash val="solid"/>
                    </a:lnT>
                    <a:lnB w="9525">
                      <a:solidFill>
                        <a:srgbClr val="D6E0E5"/>
                      </a:solidFill>
                      <a:prstDash val="solid"/>
                    </a:lnB>
                    <a:solidFill>
                      <a:srgbClr val="176D8C"/>
                    </a:solidFill>
                  </a:tcPr>
                </a:tc>
                <a:tc>
                  <a:txBody>
                    <a:bodyPr>
                      <a:noAutofit/>
                    </a:bodyPr>
                    <a:lstStyle/>
                    <a:p>
                      <a:pPr algn="ctr"/>
                      <a:r>
                        <a:rPr sz="1500" b="1">
                          <a:solidFill>
                            <a:srgbClr val="FFFFFF"/>
                          </a:solidFill>
                          <a:latin typeface="Arial"/>
                          <a:ea typeface="Arial"/>
                          <a:cs typeface="Arial"/>
                        </a:rPr>
                        <a:t>Result</a:t>
                      </a:r>
                    </a:p>
                  </a:txBody>
                  <a:tcPr marL="91440" marR="91440" marT="45720" marB="45720">
                    <a:lnR w="9525">
                      <a:solidFill>
                        <a:srgbClr val="D6E0E5"/>
                      </a:solidFill>
                      <a:prstDash val="solid"/>
                    </a:lnR>
                    <a:lnT w="9525">
                      <a:solidFill>
                        <a:srgbClr val="D6E0E5"/>
                      </a:solidFill>
                      <a:prstDash val="solid"/>
                    </a:lnT>
                    <a:lnB w="9525">
                      <a:solidFill>
                        <a:srgbClr val="D6E0E5"/>
                      </a:solidFill>
                      <a:prstDash val="solid"/>
                    </a:lnB>
                    <a:solidFill>
                      <a:srgbClr val="176D8C"/>
                    </a:solidFill>
                  </a:tcPr>
                </a:tc>
              </a:tr>
              <a:tr h="314325">
                <a:tc>
                  <a:txBody>
                    <a:bodyPr>
                      <a:noAutofit/>
                    </a:bodyPr>
                    <a:lstStyle/>
                    <a:p>
                      <a:pPr algn="l"/>
                      <a:r>
                        <a:rPr sz="1500" b="0">
                          <a:solidFill>
                            <a:srgbClr val="183044"/>
                          </a:solidFill>
                          <a:latin typeface="Arial"/>
                          <a:ea typeface="Arial"/>
                          <a:cs typeface="Arial"/>
                        </a:rPr>
                        <a:t>Mean change</a:t>
                      </a:r>
                    </a:p>
                  </a:txBody>
                  <a:tcPr marL="91440" marR="91440" marT="45720" marB="45720">
                    <a:lnL w="9525">
                      <a:solidFill>
                        <a:srgbClr val="D6E0E5"/>
                      </a:solidFill>
                      <a:prstDash val="solid"/>
                    </a:lnL>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500" b="0">
                          <a:solidFill>
                            <a:srgbClr val="183044"/>
                          </a:solidFill>
                          <a:latin typeface="Arial"/>
                          <a:ea typeface="Arial"/>
                          <a:cs typeface="Arial"/>
                        </a:rPr>
                        <a:t>+3.01 lb</a:t>
                      </a:r>
                    </a:p>
                  </a:txBody>
                  <a:tcPr marL="91440" marR="91440" marT="45720" marB="45720">
                    <a:lnR w="9525">
                      <a:solidFill>
                        <a:srgbClr val="D6E0E5"/>
                      </a:solidFill>
                      <a:prstDash val="solid"/>
                    </a:lnR>
                    <a:lnB w="9525">
                      <a:solidFill>
                        <a:srgbClr val="D6E0E5"/>
                      </a:solidFill>
                      <a:prstDash val="solid"/>
                    </a:lnB>
                    <a:solidFill>
                      <a:srgbClr val="FFFFFF"/>
                    </a:solidFill>
                  </a:tcPr>
                </a:tc>
              </a:tr>
              <a:tr h="314325">
                <a:tc>
                  <a:txBody>
                    <a:bodyPr>
                      <a:noAutofit/>
                    </a:bodyPr>
                    <a:lstStyle/>
                    <a:p>
                      <a:pPr algn="l"/>
                      <a:r>
                        <a:rPr sz="1500" b="0">
                          <a:solidFill>
                            <a:srgbClr val="183044"/>
                          </a:solidFill>
                          <a:latin typeface="Arial"/>
                          <a:ea typeface="Arial"/>
                          <a:cs typeface="Arial"/>
                        </a:rPr>
                        <a:t>95% CI</a:t>
                      </a:r>
                    </a:p>
                  </a:txBody>
                  <a:tcPr marL="91440" marR="91440" marT="45720" marB="45720">
                    <a:lnL w="9525">
                      <a:solidFill>
                        <a:srgbClr val="D6E0E5"/>
                      </a:solidFill>
                      <a:prstDash val="solid"/>
                    </a:lnL>
                    <a:lnR w="9525">
                      <a:solidFill>
                        <a:srgbClr val="D6E0E5"/>
                      </a:solidFill>
                      <a:prstDash val="solid"/>
                    </a:lnR>
                    <a:lnB w="9525">
                      <a:solidFill>
                        <a:srgbClr val="D6E0E5"/>
                      </a:solidFill>
                      <a:prstDash val="solid"/>
                    </a:lnB>
                    <a:solidFill>
                      <a:srgbClr val="EAF2F5"/>
                    </a:solidFill>
                  </a:tcPr>
                </a:tc>
                <a:tc>
                  <a:txBody>
                    <a:bodyPr>
                      <a:noAutofit/>
                    </a:bodyPr>
                    <a:lstStyle/>
                    <a:p>
                      <a:pPr algn="ctr"/>
                      <a:r>
                        <a:rPr sz="1500" b="0">
                          <a:solidFill>
                            <a:srgbClr val="183044"/>
                          </a:solidFill>
                          <a:latin typeface="Arial"/>
                          <a:ea typeface="Arial"/>
                          <a:cs typeface="Arial"/>
                        </a:rPr>
                        <a:t>+0.23 to +5.79 lb</a:t>
                      </a:r>
                    </a:p>
                  </a:txBody>
                  <a:tcPr marL="91440" marR="91440" marT="45720" marB="45720">
                    <a:lnR w="9525">
                      <a:solidFill>
                        <a:srgbClr val="D6E0E5"/>
                      </a:solidFill>
                      <a:prstDash val="solid"/>
                    </a:lnR>
                    <a:lnB w="9525">
                      <a:solidFill>
                        <a:srgbClr val="D6E0E5"/>
                      </a:solidFill>
                      <a:prstDash val="solid"/>
                    </a:lnB>
                    <a:solidFill>
                      <a:srgbClr val="EAF2F5"/>
                    </a:solidFill>
                  </a:tcPr>
                </a:tc>
              </a:tr>
              <a:tr h="314325">
                <a:tc>
                  <a:txBody>
                    <a:bodyPr>
                      <a:noAutofit/>
                    </a:bodyPr>
                    <a:lstStyle/>
                    <a:p>
                      <a:pPr algn="l"/>
                      <a:r>
                        <a:rPr sz="1500" b="0">
                          <a:solidFill>
                            <a:srgbClr val="183044"/>
                          </a:solidFill>
                          <a:latin typeface="Arial"/>
                          <a:ea typeface="Arial"/>
                          <a:cs typeface="Arial"/>
                        </a:rPr>
                        <a:t>p</a:t>
                      </a:r>
                    </a:p>
                  </a:txBody>
                  <a:tcPr marL="91440" marR="91440" marT="45720" marB="45720">
                    <a:lnL w="9525">
                      <a:solidFill>
                        <a:srgbClr val="D6E0E5"/>
                      </a:solidFill>
                      <a:prstDash val="solid"/>
                    </a:lnL>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500" b="0">
                          <a:solidFill>
                            <a:srgbClr val="183044"/>
                          </a:solidFill>
                          <a:latin typeface="Arial"/>
                          <a:ea typeface="Arial"/>
                          <a:cs typeface="Arial"/>
                        </a:rPr>
                        <a:t>0.035</a:t>
                      </a:r>
                    </a:p>
                  </a:txBody>
                  <a:tcPr marL="91440" marR="91440" marT="45720" marB="45720">
                    <a:lnR w="9525">
                      <a:solidFill>
                        <a:srgbClr val="D6E0E5"/>
                      </a:solidFill>
                      <a:prstDash val="solid"/>
                    </a:lnR>
                    <a:lnB w="9525">
                      <a:solidFill>
                        <a:srgbClr val="D6E0E5"/>
                      </a:solidFill>
                      <a:prstDash val="solid"/>
                    </a:lnB>
                    <a:solidFill>
                      <a:srgbClr val="FFFFFF"/>
                    </a:solidFill>
                  </a:tcPr>
                </a:tc>
              </a:tr>
            </a:tbl>
          </a:graphicData>
        </a:graphic>
      </p:graphicFrame>
      <p:sp>
        <p:nvSpPr>
          <p:cNvPr id="13" name="">
            <a:extLst xmlns:a="http://schemas.openxmlformats.org/drawingml/2006/main">
              <a:ext uri="{FF2B5EF4-FFF2-40B4-BE49-F238E27FC236}">
                <a16:creationId xmlns:a16="http://schemas.microsoft.com/office/drawing/2014/main" id="{EC869672-6A95-4EC2-A374-119FDAE17F57}"/>
              </a:ext>
            </a:extLst>
          </p:cNvPr>
          <p:cNvSpPr>
            <a:spLocks xmlns:a="http://schemas.openxmlformats.org/drawingml/2006/main" noGrp="1"/>
          </p:cNvSpPr>
          <p:nvPr/>
        </p:nvSpPr>
        <p:spPr>
          <a:xfrm xmlns:a="http://schemas.openxmlformats.org/drawingml/2006/main">
            <a:off x="400050" y="6153150"/>
            <a:ext cx="11391900" cy="19050"/>
          </a:xfrm>
          <a:prstGeom xmlns:a="http://schemas.openxmlformats.org/drawingml/2006/main" prst="rect">
            <a:avLst/>
          </a:prstGeom>
          <a:solidFill xmlns:a="http://schemas.openxmlformats.org/drawingml/2006/main">
            <a:srgbClr val="176D8C"/>
          </a:solidFill>
          <a:ln xmlns:a="http://schemas.openxmlformats.org/drawingml/2006/main" w="0">
            <a:noFill/>
          </a:ln>
        </p:spPr>
      </p:sp>
      <p:sp>
        <p:nvSpPr>
          <p:cNvPr id="14" name="text">
            <a:extLst xmlns:a="http://schemas.openxmlformats.org/drawingml/2006/main">
              <a:ext uri="{FF2B5EF4-FFF2-40B4-BE49-F238E27FC236}">
                <a16:creationId xmlns:a16="http://schemas.microsoft.com/office/drawing/2014/main" id="{D744B79D-6661-43BE-9878-C43F27099D4C}"/>
              </a:ext>
            </a:extLst>
          </p:cNvPr>
          <p:cNvSpPr>
            <a:spLocks xmlns:a="http://schemas.openxmlformats.org/drawingml/2006/main" noGrp="1"/>
          </p:cNvSpPr>
          <p:nvPr/>
        </p:nvSpPr>
        <p:spPr>
          <a:xfrm xmlns:a="http://schemas.openxmlformats.org/drawingml/2006/main">
            <a:off x="400050" y="6267450"/>
            <a:ext cx="1095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176D8C"/>
                </a:solidFill>
                <a:latin typeface="Arial"/>
                <a:ea typeface="Arial"/>
                <a:cs typeface="Arial"/>
              </a:defRPr>
            </a:defPPr>
          </a:lstStyle>
          <a:p xmlns:a="http://schemas.openxmlformats.org/drawingml/2006/main">
            <a:pPr>
              <a:defRPr sz="1650" b="1">
                <a:solidFill>
                  <a:srgbClr val="176D8C"/>
                </a:solidFill>
                <a:latin typeface="Arial"/>
                <a:ea typeface="Arial"/>
                <a:cs typeface="Arial"/>
              </a:defRPr>
            </a:pPr>
            <a:r>
              <a:rPr sz="1650" b="1">
                <a:solidFill>
                  <a:srgbClr val="176D8C"/>
                </a:solidFill>
                <a:latin typeface="Arial"/>
                <a:ea typeface="Arial"/>
                <a:cs typeface="Arial"/>
              </a:rPr>
              <a:t>Females report more poor-health days on average. The paired average weight increases by 3.01 lb.</a:t>
            </a:r>
          </a:p>
        </p:txBody>
      </p:sp>
      <p:sp>
        <p:nvSpPr>
          <p:cNvPr id="15" name="text">
            <a:extLst xmlns:a="http://schemas.openxmlformats.org/drawingml/2006/main">
              <a:ext uri="{FF2B5EF4-FFF2-40B4-BE49-F238E27FC236}">
                <a16:creationId xmlns:a16="http://schemas.microsoft.com/office/drawing/2014/main" id="{19E8ED7A-B7CC-45E0-8FB2-776BB3E1CF11}"/>
              </a:ext>
            </a:extLst>
          </p:cNvPr>
          <p:cNvSpPr>
            <a:spLocks xmlns:a="http://schemas.openxmlformats.org/drawingml/2006/main" noGrp="1"/>
          </p:cNvSpPr>
          <p:nvPr/>
        </p:nvSpPr>
        <p:spPr>
          <a:xfrm xmlns:a="http://schemas.openxmlformats.org/drawingml/2006/main">
            <a:off x="11353800" y="6581775"/>
            <a:ext cx="6572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050" b="0">
                <a:solidFill>
                  <a:srgbClr val="415566"/>
                </a:solidFill>
                <a:latin typeface="Arial"/>
                <a:ea typeface="Arial"/>
                <a:cs typeface="Arial"/>
              </a:defRPr>
            </a:defPPr>
          </a:lstStyle>
          <a:p xmlns:a="http://schemas.openxmlformats.org/drawingml/2006/main">
            <a:pPr>
              <a:defRPr sz="1050" b="0">
                <a:solidFill>
                  <a:srgbClr val="415566"/>
                </a:solidFill>
                <a:latin typeface="Arial"/>
                <a:ea typeface="Arial"/>
                <a:cs typeface="Arial"/>
              </a:defRPr>
            </a:pPr>
            <a:r>
              <a:rPr sz="1050" b="0">
                <a:solidFill>
                  <a:srgbClr val="415566"/>
                </a:solidFill>
                <a:latin typeface="Arial"/>
                <a:ea typeface="Arial"/>
                <a:cs typeface="Arial"/>
              </a:rPr>
              <a:t>9 / 12</a:t>
            </a:r>
          </a:p>
        </p:txBody>
      </p:sp>
    </p:spTree>
    <p:extLst>
      <p:ext uri="{BB962C8B-B14F-4D97-AF65-F5344CB8AC3E}">
        <p14:creationId xmlns:p14="http://schemas.microsoft.com/office/powerpoint/2010/main" val="462896351"/>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text">
            <a:extLst xmlns:a="http://schemas.openxmlformats.org/drawingml/2006/main">
              <a:ext uri="{FF2B5EF4-FFF2-40B4-BE49-F238E27FC236}">
                <a16:creationId xmlns:a16="http://schemas.microsoft.com/office/drawing/2014/main" id="{A916BE59-6900-42CE-98BA-9C42003B2963}"/>
              </a:ext>
            </a:extLst>
          </p:cNvPr>
          <p:cNvSpPr>
            <a:spLocks xmlns:a="http://schemas.openxmlformats.org/drawingml/2006/main" noGrp="1"/>
          </p:cNvSpPr>
          <p:nvPr/>
        </p:nvSpPr>
        <p:spPr>
          <a:xfrm xmlns:a="http://schemas.openxmlformats.org/drawingml/2006/main">
            <a:off x="590550" y="76200"/>
            <a:ext cx="112204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1">
                <a:solidFill>
                  <a:srgbClr val="176D8C"/>
                </a:solidFill>
                <a:latin typeface="Arial"/>
                <a:ea typeface="Arial"/>
                <a:cs typeface="Arial"/>
              </a:defRPr>
            </a:defPPr>
          </a:lstStyle>
          <a:p xmlns:a="http://schemas.openxmlformats.org/drawingml/2006/main">
            <a:pPr>
              <a:defRPr sz="1350" b="1">
                <a:solidFill>
                  <a:srgbClr val="176D8C"/>
                </a:solidFill>
                <a:latin typeface="Arial"/>
                <a:ea typeface="Arial"/>
                <a:cs typeface="Arial"/>
              </a:defRPr>
            </a:pPr>
            <a:r>
              <a:rPr sz="1350" b="1">
                <a:solidFill>
                  <a:srgbClr val="176D8C"/>
                </a:solidFill>
                <a:latin typeface="Arial"/>
                <a:ea typeface="Arial"/>
                <a:cs typeface="Arial"/>
              </a:rPr>
              <a:t>LAB 10: Chi-square goodness of fit and contingency tables</a:t>
            </a:r>
          </a:p>
        </p:txBody>
      </p:sp>
      <p:sp>
        <p:nvSpPr>
          <p:cNvPr id="2" name="">
            <a:extLst xmlns:a="http://schemas.openxmlformats.org/drawingml/2006/main">
              <a:ext uri="{FF2B5EF4-FFF2-40B4-BE49-F238E27FC236}">
                <a16:creationId xmlns:a16="http://schemas.microsoft.com/office/drawing/2014/main" id="{B29009FB-76B1-4066-A0E7-DCD5E3A8FF40}"/>
              </a:ext>
            </a:extLst>
          </p:cNvPr>
          <p:cNvSpPr>
            <a:spLocks xmlns:a="http://schemas.openxmlformats.org/drawingml/2006/main" noGrp="1"/>
          </p:cNvSpPr>
          <p:nvPr/>
        </p:nvSpPr>
        <p:spPr>
          <a:xfrm xmlns:a="http://schemas.openxmlformats.org/drawingml/2006/main">
            <a:off x="381000" y="381000"/>
            <a:ext cx="47625" cy="438150"/>
          </a:xfrm>
          <a:prstGeom xmlns:a="http://schemas.openxmlformats.org/drawingml/2006/main" prst="rect">
            <a:avLst/>
          </a:prstGeom>
          <a:solidFill xmlns:a="http://schemas.openxmlformats.org/drawingml/2006/main">
            <a:srgbClr val="176D8C"/>
          </a:solidFill>
          <a:ln xmlns:a="http://schemas.openxmlformats.org/drawingml/2006/main" w="0">
            <a:noFill/>
          </a:ln>
        </p:spPr>
      </p:sp>
      <p:sp>
        <p:nvSpPr>
          <p:cNvPr id="3" name="text">
            <a:extLst xmlns:a="http://schemas.openxmlformats.org/drawingml/2006/main">
              <a:ext uri="{FF2B5EF4-FFF2-40B4-BE49-F238E27FC236}">
                <a16:creationId xmlns:a16="http://schemas.microsoft.com/office/drawing/2014/main" id="{5BA0DE5D-E526-4B86-96AA-AAF545765C05}"/>
              </a:ext>
            </a:extLst>
          </p:cNvPr>
          <p:cNvSpPr>
            <a:spLocks xmlns:a="http://schemas.openxmlformats.org/drawingml/2006/main" noGrp="1"/>
          </p:cNvSpPr>
          <p:nvPr/>
        </p:nvSpPr>
        <p:spPr>
          <a:xfrm xmlns:a="http://schemas.openxmlformats.org/drawingml/2006/main">
            <a:off x="590550" y="342900"/>
            <a:ext cx="112204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1">
                <a:solidFill>
                  <a:srgbClr val="183044"/>
                </a:solidFill>
                <a:latin typeface="Arial"/>
                <a:ea typeface="Arial"/>
                <a:cs typeface="Arial"/>
              </a:defRPr>
            </a:defPPr>
          </a:lstStyle>
          <a:p xmlns:a="http://schemas.openxmlformats.org/drawingml/2006/main">
            <a:pPr>
              <a:defRPr sz="2850" b="1">
                <a:solidFill>
                  <a:srgbClr val="183044"/>
                </a:solidFill>
                <a:latin typeface="Arial"/>
                <a:ea typeface="Arial"/>
                <a:cs typeface="Arial"/>
              </a:defRPr>
            </a:pPr>
            <a:r>
              <a:rPr sz="2850" b="1">
                <a:solidFill>
                  <a:srgbClr val="183044"/>
                </a:solidFill>
                <a:latin typeface="Arial"/>
                <a:ea typeface="Arial"/>
                <a:cs typeface="Arial"/>
              </a:rPr>
              <a:t>Chi-square: category patterns and relationships</a:t>
            </a:r>
          </a:p>
        </p:txBody>
      </p:sp>
      <p:sp>
        <p:nvSpPr>
          <p:cNvPr id="4" name="text">
            <a:extLst xmlns:a="http://schemas.openxmlformats.org/drawingml/2006/main">
              <a:ext uri="{FF2B5EF4-FFF2-40B4-BE49-F238E27FC236}">
                <a16:creationId xmlns:a16="http://schemas.microsoft.com/office/drawing/2014/main" id="{CAB3574C-BC59-47B1-866B-468F5FF7B065}"/>
              </a:ext>
            </a:extLst>
          </p:cNvPr>
          <p:cNvSpPr>
            <a:spLocks xmlns:a="http://schemas.openxmlformats.org/drawingml/2006/main" noGrp="1"/>
          </p:cNvSpPr>
          <p:nvPr/>
        </p:nvSpPr>
        <p:spPr>
          <a:xfrm xmlns:a="http://schemas.openxmlformats.org/drawingml/2006/main">
            <a:off x="400050" y="971550"/>
            <a:ext cx="113919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415566"/>
                </a:solidFill>
                <a:latin typeface="Arial"/>
                <a:ea typeface="Arial"/>
                <a:cs typeface="Arial"/>
              </a:defRPr>
            </a:defPPr>
          </a:lstStyle>
          <a:p xmlns:a="http://schemas.openxmlformats.org/drawingml/2006/main">
            <a:pPr>
              <a:defRPr sz="1725" b="0">
                <a:solidFill>
                  <a:srgbClr val="415566"/>
                </a:solidFill>
                <a:latin typeface="Arial"/>
                <a:ea typeface="Arial"/>
                <a:cs typeface="Arial"/>
              </a:defRPr>
            </a:pPr>
            <a:r>
              <a:rPr sz="1725" b="0">
                <a:solidFill>
                  <a:srgbClr val="415566"/>
                </a:solidFill>
                <a:latin typeface="Arial"/>
                <a:ea typeface="Arial"/>
                <a:cs typeface="Arial"/>
              </a:rPr>
              <a:t>Goodness of fit checks category counts. Independence tests check whether two categories are related.</a:t>
            </a:r>
          </a:p>
        </p:txBody>
      </p:sp>
      <p:graphicFrame>
        <p:nvGraphicFramePr>
          <p:cNvPr id="5" name="">
            <a:extLst xmlns:a="http://schemas.openxmlformats.org/drawingml/2006/main">
              <a:ext uri="{FF2B5EF4-FFF2-40B4-BE49-F238E27FC236}">
                <a16:creationId xmlns:a16="http://schemas.microsoft.com/office/drawing/2014/main" id="{3D1A69DC-88FA-4858-9A84-0E2DD5467A55}"/>
              </a:ext>
            </a:extLst>
          </p:cNvPr>
          <p:cNvGraphicFramePr/>
          <p:nvPr/>
        </p:nvGraphicFramePr>
        <p:xfrm>
          <a:off xmlns:a="http://schemas.openxmlformats.org/drawingml/2006/main" x="400050" y="1676400"/>
          <a:ext xmlns:a="http://schemas.openxmlformats.org/drawingml/2006/main" cx="11391900" cy="1628775"/>
        </p:xfrm>
        <a:graphic xmlns:a="http://schemas.openxmlformats.org/drawingml/2006/main">
          <a:graphicData uri="http://schemas.openxmlformats.org/drawingml/2006/table">
            <a:tbl>
              <a:tblPr/>
              <a:tblGrid>
                <a:gridCol w="7886700"/>
                <a:gridCol w="1752600"/>
                <a:gridCol w="1752600"/>
              </a:tblGrid>
              <a:tr h="407194">
                <a:tc>
                  <a:txBody>
                    <a:bodyPr>
                      <a:noAutofit/>
                    </a:bodyPr>
                    <a:lstStyle/>
                    <a:p>
                      <a:pPr algn="l"/>
                      <a:r>
                        <a:rPr sz="1725" b="1">
                          <a:solidFill>
                            <a:srgbClr val="FFFFFF"/>
                          </a:solidFill>
                          <a:latin typeface="Arial"/>
                          <a:ea typeface="Arial"/>
                          <a:cs typeface="Arial"/>
                        </a:rPr>
                        <a:t>Test</a:t>
                      </a:r>
                    </a:p>
                  </a:txBody>
                  <a:tcPr marL="91440" marR="91440" marT="45720" marB="45720">
                    <a:lnL w="9525">
                      <a:solidFill>
                        <a:srgbClr val="D6E0E5"/>
                      </a:solidFill>
                      <a:prstDash val="solid"/>
                    </a:lnL>
                    <a:lnR w="9525">
                      <a:solidFill>
                        <a:srgbClr val="D6E0E5"/>
                      </a:solidFill>
                      <a:prstDash val="solid"/>
                    </a:lnR>
                    <a:lnT w="9525">
                      <a:solidFill>
                        <a:srgbClr val="D6E0E5"/>
                      </a:solidFill>
                      <a:prstDash val="solid"/>
                    </a:lnT>
                    <a:lnB w="9525">
                      <a:solidFill>
                        <a:srgbClr val="D6E0E5"/>
                      </a:solidFill>
                      <a:prstDash val="solid"/>
                    </a:lnB>
                    <a:solidFill>
                      <a:srgbClr val="176D8C"/>
                    </a:solidFill>
                  </a:tcPr>
                </a:tc>
                <a:tc>
                  <a:txBody>
                    <a:bodyPr>
                      <a:noAutofit/>
                    </a:bodyPr>
                    <a:lstStyle/>
                    <a:p>
                      <a:pPr algn="ctr"/>
                      <a:r>
                        <a:rPr sz="1725" b="1">
                          <a:solidFill>
                            <a:srgbClr val="FFFFFF"/>
                          </a:solidFill>
                          <a:latin typeface="Arial"/>
                          <a:ea typeface="Arial"/>
                          <a:cs typeface="Arial"/>
                        </a:rPr>
                        <a:t>χ²</a:t>
                      </a:r>
                    </a:p>
                  </a:txBody>
                  <a:tcPr marL="91440" marR="91440" marT="45720" marB="45720">
                    <a:lnR w="9525">
                      <a:solidFill>
                        <a:srgbClr val="D6E0E5"/>
                      </a:solidFill>
                      <a:prstDash val="solid"/>
                    </a:lnR>
                    <a:lnT w="9525">
                      <a:solidFill>
                        <a:srgbClr val="D6E0E5"/>
                      </a:solidFill>
                      <a:prstDash val="solid"/>
                    </a:lnT>
                    <a:lnB w="9525">
                      <a:solidFill>
                        <a:srgbClr val="D6E0E5"/>
                      </a:solidFill>
                      <a:prstDash val="solid"/>
                    </a:lnB>
                    <a:solidFill>
                      <a:srgbClr val="176D8C"/>
                    </a:solidFill>
                  </a:tcPr>
                </a:tc>
                <a:tc>
                  <a:txBody>
                    <a:bodyPr>
                      <a:noAutofit/>
                    </a:bodyPr>
                    <a:lstStyle/>
                    <a:p>
                      <a:pPr algn="ctr"/>
                      <a:r>
                        <a:rPr sz="1725" b="1">
                          <a:solidFill>
                            <a:srgbClr val="FFFFFF"/>
                          </a:solidFill>
                          <a:latin typeface="Arial"/>
                          <a:ea typeface="Arial"/>
                          <a:cs typeface="Arial"/>
                        </a:rPr>
                        <a:t>p</a:t>
                      </a:r>
                    </a:p>
                  </a:txBody>
                  <a:tcPr marL="91440" marR="91440" marT="45720" marB="45720">
                    <a:lnR w="9525">
                      <a:solidFill>
                        <a:srgbClr val="D6E0E5"/>
                      </a:solidFill>
                      <a:prstDash val="solid"/>
                    </a:lnR>
                    <a:lnT w="9525">
                      <a:solidFill>
                        <a:srgbClr val="D6E0E5"/>
                      </a:solidFill>
                      <a:prstDash val="solid"/>
                    </a:lnT>
                    <a:lnB w="9525">
                      <a:solidFill>
                        <a:srgbClr val="D6E0E5"/>
                      </a:solidFill>
                      <a:prstDash val="solid"/>
                    </a:lnB>
                    <a:solidFill>
                      <a:srgbClr val="176D8C"/>
                    </a:solidFill>
                  </a:tcPr>
                </a:tc>
              </a:tr>
              <a:tr h="407194">
                <a:tc>
                  <a:txBody>
                    <a:bodyPr>
                      <a:noAutofit/>
                    </a:bodyPr>
                    <a:lstStyle/>
                    <a:p>
                      <a:pPr algn="l"/>
                      <a:r>
                        <a:rPr sz="1725" b="0">
                          <a:solidFill>
                            <a:srgbClr val="183044"/>
                          </a:solidFill>
                          <a:latin typeface="Arial"/>
                          <a:ea typeface="Arial"/>
                          <a:cs typeface="Arial"/>
                        </a:rPr>
                        <a:t>Age groups: equal frequency (GOF)</a:t>
                      </a:r>
                    </a:p>
                  </a:txBody>
                  <a:tcPr marL="91440" marR="91440" marT="45720" marB="45720">
                    <a:lnL w="9525">
                      <a:solidFill>
                        <a:srgbClr val="D6E0E5"/>
                      </a:solidFill>
                      <a:prstDash val="solid"/>
                    </a:lnL>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725" b="0">
                          <a:solidFill>
                            <a:srgbClr val="183044"/>
                          </a:solidFill>
                          <a:latin typeface="Arial"/>
                          <a:ea typeface="Arial"/>
                          <a:cs typeface="Arial"/>
                        </a:rPr>
                        <a:t>678.12</a:t>
                      </a:r>
                    </a:p>
                  </a:txBody>
                  <a:tcPr marL="91440" marR="91440" marT="45720" marB="45720">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725" b="0">
                          <a:solidFill>
                            <a:srgbClr val="183044"/>
                          </a:solidFill>
                          <a:latin typeface="Arial"/>
                          <a:ea typeface="Arial"/>
                          <a:cs typeface="Arial"/>
                        </a:rPr>
                        <a:t>&lt;0.001</a:t>
                      </a:r>
                    </a:p>
                  </a:txBody>
                  <a:tcPr marL="91440" marR="91440" marT="45720" marB="45720">
                    <a:lnR w="9525">
                      <a:solidFill>
                        <a:srgbClr val="D6E0E5"/>
                      </a:solidFill>
                      <a:prstDash val="solid"/>
                    </a:lnR>
                    <a:lnB w="9525">
                      <a:solidFill>
                        <a:srgbClr val="D6E0E5"/>
                      </a:solidFill>
                      <a:prstDash val="solid"/>
                    </a:lnB>
                    <a:solidFill>
                      <a:srgbClr val="FFFFFF"/>
                    </a:solidFill>
                  </a:tcPr>
                </a:tc>
              </a:tr>
              <a:tr h="407194">
                <a:tc>
                  <a:txBody>
                    <a:bodyPr>
                      <a:noAutofit/>
                    </a:bodyPr>
                    <a:lstStyle/>
                    <a:p>
                      <a:pPr algn="l"/>
                      <a:r>
                        <a:rPr sz="1725" b="0">
                          <a:solidFill>
                            <a:srgbClr val="183044"/>
                          </a:solidFill>
                          <a:latin typeface="Arial"/>
                          <a:ea typeface="Arial"/>
                          <a:cs typeface="Arial"/>
                        </a:rPr>
                        <a:t>Status × high BP</a:t>
                      </a:r>
                    </a:p>
                  </a:txBody>
                  <a:tcPr marL="91440" marR="91440" marT="45720" marB="45720">
                    <a:lnL w="9525">
                      <a:solidFill>
                        <a:srgbClr val="D6E0E5"/>
                      </a:solidFill>
                      <a:prstDash val="solid"/>
                    </a:lnL>
                    <a:lnR w="9525">
                      <a:solidFill>
                        <a:srgbClr val="D6E0E5"/>
                      </a:solidFill>
                      <a:prstDash val="solid"/>
                    </a:lnR>
                    <a:lnB w="9525">
                      <a:solidFill>
                        <a:srgbClr val="D6E0E5"/>
                      </a:solidFill>
                      <a:prstDash val="solid"/>
                    </a:lnB>
                    <a:solidFill>
                      <a:srgbClr val="EAF2F5"/>
                    </a:solidFill>
                  </a:tcPr>
                </a:tc>
                <a:tc>
                  <a:txBody>
                    <a:bodyPr>
                      <a:noAutofit/>
                    </a:bodyPr>
                    <a:lstStyle/>
                    <a:p>
                      <a:pPr algn="ctr"/>
                      <a:r>
                        <a:rPr sz="1725" b="0">
                          <a:solidFill>
                            <a:srgbClr val="183044"/>
                          </a:solidFill>
                          <a:latin typeface="Arial"/>
                          <a:ea typeface="Arial"/>
                          <a:cs typeface="Arial"/>
                        </a:rPr>
                        <a:t>226.28</a:t>
                      </a:r>
                    </a:p>
                  </a:txBody>
                  <a:tcPr marL="91440" marR="91440" marT="45720" marB="45720">
                    <a:lnR w="9525">
                      <a:solidFill>
                        <a:srgbClr val="D6E0E5"/>
                      </a:solidFill>
                      <a:prstDash val="solid"/>
                    </a:lnR>
                    <a:lnB w="9525">
                      <a:solidFill>
                        <a:srgbClr val="D6E0E5"/>
                      </a:solidFill>
                      <a:prstDash val="solid"/>
                    </a:lnB>
                    <a:solidFill>
                      <a:srgbClr val="EAF2F5"/>
                    </a:solidFill>
                  </a:tcPr>
                </a:tc>
                <a:tc>
                  <a:txBody>
                    <a:bodyPr>
                      <a:noAutofit/>
                    </a:bodyPr>
                    <a:lstStyle/>
                    <a:p>
                      <a:pPr algn="ctr"/>
                      <a:r>
                        <a:rPr sz="1725" b="0">
                          <a:solidFill>
                            <a:srgbClr val="183044"/>
                          </a:solidFill>
                          <a:latin typeface="Arial"/>
                          <a:ea typeface="Arial"/>
                          <a:cs typeface="Arial"/>
                        </a:rPr>
                        <a:t>&lt;0.001</a:t>
                      </a:r>
                    </a:p>
                  </a:txBody>
                  <a:tcPr marL="91440" marR="91440" marT="45720" marB="45720">
                    <a:lnR w="9525">
                      <a:solidFill>
                        <a:srgbClr val="D6E0E5"/>
                      </a:solidFill>
                      <a:prstDash val="solid"/>
                    </a:lnR>
                    <a:lnB w="9525">
                      <a:solidFill>
                        <a:srgbClr val="D6E0E5"/>
                      </a:solidFill>
                      <a:prstDash val="solid"/>
                    </a:lnB>
                    <a:solidFill>
                      <a:srgbClr val="EAF2F5"/>
                    </a:solidFill>
                  </a:tcPr>
                </a:tc>
              </a:tr>
              <a:tr h="407194">
                <a:tc>
                  <a:txBody>
                    <a:bodyPr>
                      <a:noAutofit/>
                    </a:bodyPr>
                    <a:lstStyle/>
                    <a:p>
                      <a:pPr algn="l"/>
                      <a:r>
                        <a:rPr sz="1725" b="0">
                          <a:solidFill>
                            <a:srgbClr val="183044"/>
                          </a:solidFill>
                          <a:latin typeface="Arial"/>
                          <a:ea typeface="Arial"/>
                          <a:cs typeface="Arial"/>
                        </a:rPr>
                        <a:t>Status × smoking</a:t>
                      </a:r>
                    </a:p>
                  </a:txBody>
                  <a:tcPr marL="91440" marR="91440" marT="45720" marB="45720">
                    <a:lnL w="9525">
                      <a:solidFill>
                        <a:srgbClr val="D6E0E5"/>
                      </a:solidFill>
                      <a:prstDash val="solid"/>
                    </a:lnL>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725" b="0">
                          <a:solidFill>
                            <a:srgbClr val="183044"/>
                          </a:solidFill>
                          <a:latin typeface="Arial"/>
                          <a:ea typeface="Arial"/>
                          <a:cs typeface="Arial"/>
                        </a:rPr>
                        <a:t>6.07</a:t>
                      </a:r>
                    </a:p>
                  </a:txBody>
                  <a:tcPr marL="91440" marR="91440" marT="45720" marB="45720">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725" b="0">
                          <a:solidFill>
                            <a:srgbClr val="183044"/>
                          </a:solidFill>
                          <a:latin typeface="Arial"/>
                          <a:ea typeface="Arial"/>
                          <a:cs typeface="Arial"/>
                        </a:rPr>
                        <a:t>0.014</a:t>
                      </a:r>
                    </a:p>
                  </a:txBody>
                  <a:tcPr marL="91440" marR="91440" marT="45720" marB="45720">
                    <a:lnR w="9525">
                      <a:solidFill>
                        <a:srgbClr val="D6E0E5"/>
                      </a:solidFill>
                      <a:prstDash val="solid"/>
                    </a:lnR>
                    <a:lnB w="9525">
                      <a:solidFill>
                        <a:srgbClr val="D6E0E5"/>
                      </a:solidFill>
                      <a:prstDash val="solid"/>
                    </a:lnB>
                    <a:solidFill>
                      <a:srgbClr val="FFFFFF"/>
                    </a:solidFill>
                  </a:tcPr>
                </a:tc>
              </a:tr>
            </a:tbl>
          </a:graphicData>
        </a:graphic>
      </p:graphicFrame>
      <p:sp>
        <p:nvSpPr>
          <p:cNvPr id="6" name="text">
            <a:extLst xmlns:a="http://schemas.openxmlformats.org/drawingml/2006/main">
              <a:ext uri="{FF2B5EF4-FFF2-40B4-BE49-F238E27FC236}">
                <a16:creationId xmlns:a16="http://schemas.microsoft.com/office/drawing/2014/main" id="{4457BF2C-77C5-4EAE-90B6-EEF117144CB1}"/>
              </a:ext>
            </a:extLst>
          </p:cNvPr>
          <p:cNvSpPr>
            <a:spLocks xmlns:a="http://schemas.openxmlformats.org/drawingml/2006/main" noGrp="1"/>
          </p:cNvSpPr>
          <p:nvPr/>
        </p:nvSpPr>
        <p:spPr>
          <a:xfrm xmlns:a="http://schemas.openxmlformats.org/drawingml/2006/main">
            <a:off x="400050" y="3524250"/>
            <a:ext cx="54673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176D8C"/>
                </a:solidFill>
                <a:latin typeface="Arial"/>
                <a:ea typeface="Arial"/>
                <a:cs typeface="Arial"/>
              </a:defRPr>
            </a:defPPr>
          </a:lstStyle>
          <a:p xmlns:a="http://schemas.openxmlformats.org/drawingml/2006/main">
            <a:pPr>
              <a:defRPr sz="1800" b="1">
                <a:solidFill>
                  <a:srgbClr val="176D8C"/>
                </a:solidFill>
                <a:latin typeface="Arial"/>
                <a:ea typeface="Arial"/>
                <a:cs typeface="Arial"/>
              </a:defRPr>
            </a:pPr>
            <a:r>
              <a:rPr sz="1800" b="1">
                <a:solidFill>
                  <a:srgbClr val="176D8C"/>
                </a:solidFill>
                <a:latin typeface="Arial"/>
                <a:ea typeface="Arial"/>
                <a:cs typeface="Arial"/>
              </a:rPr>
              <a:t>Blood pressure: larger difference</a:t>
            </a:r>
          </a:p>
        </p:txBody>
      </p:sp>
      <p:sp>
        <p:nvSpPr>
          <p:cNvPr id="7" name="text">
            <a:extLst xmlns:a="http://schemas.openxmlformats.org/drawingml/2006/main">
              <a:ext uri="{FF2B5EF4-FFF2-40B4-BE49-F238E27FC236}">
                <a16:creationId xmlns:a16="http://schemas.microsoft.com/office/drawing/2014/main" id="{B5ACA52F-0CC0-4612-BD65-2F5C143B6BC8}"/>
              </a:ext>
            </a:extLst>
          </p:cNvPr>
          <p:cNvSpPr>
            <a:spLocks xmlns:a="http://schemas.openxmlformats.org/drawingml/2006/main" noGrp="1"/>
          </p:cNvSpPr>
          <p:nvPr/>
        </p:nvSpPr>
        <p:spPr>
          <a:xfrm xmlns:a="http://schemas.openxmlformats.org/drawingml/2006/main">
            <a:off x="6362700" y="3524250"/>
            <a:ext cx="544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176D8C"/>
                </a:solidFill>
                <a:latin typeface="Arial"/>
                <a:ea typeface="Arial"/>
                <a:cs typeface="Arial"/>
              </a:defRPr>
            </a:defPPr>
          </a:lstStyle>
          <a:p xmlns:a="http://schemas.openxmlformats.org/drawingml/2006/main">
            <a:pPr>
              <a:defRPr sz="1800" b="1">
                <a:solidFill>
                  <a:srgbClr val="176D8C"/>
                </a:solidFill>
                <a:latin typeface="Arial"/>
                <a:ea typeface="Arial"/>
                <a:cs typeface="Arial"/>
              </a:defRPr>
            </a:pPr>
            <a:r>
              <a:rPr sz="1800" b="1">
                <a:solidFill>
                  <a:srgbClr val="176D8C"/>
                </a:solidFill>
                <a:latin typeface="Arial"/>
                <a:ea typeface="Arial"/>
                <a:cs typeface="Arial"/>
              </a:rPr>
              <a:t>Smoking: smaller difference</a:t>
            </a:r>
          </a:p>
        </p:txBody>
      </p:sp>
      <p:graphicFrame>
        <p:nvGraphicFramePr>
          <p:cNvPr id="8" name="Chart">
            <a:extLst xmlns:a="http://schemas.openxmlformats.org/drawingml/2006/main">
              <a:ext uri="{FF2B5EF4-FFF2-40B4-BE49-F238E27FC236}">
                <a16:creationId xmlns:a16="http://schemas.microsoft.com/office/drawing/2014/main" id="{D8B8B8BE-7C4D-4E01-A831-A169EBBEEEDD}"/>
              </a:ext>
            </a:extLst>
          </p:cNvPr>
          <p:cNvGraphicFramePr/>
          <p:nvPr/>
        </p:nvGraphicFramePr>
        <p:xfrm>
          <a:off xmlns:a="http://schemas.openxmlformats.org/drawingml/2006/main" x="257175" y="3886200"/>
          <a:ext xmlns:a="http://schemas.openxmlformats.org/drawingml/2006/main" cx="5553075" cy="1933575"/>
        </p:xfrm>
        <a:graphic xmlns:a="http://schemas.openxmlformats.org/drawingml/2006/main">
          <a:graphicData uri="http://schemas.openxmlformats.org/drawingml/2006/chart">
            <c:chart xmlns:r="http://schemas.openxmlformats.org/officeDocument/2006/relationships" xmlns:c="http://schemas.openxmlformats.org/drawingml/2006/chart" r:id="Rb41f3ec505b74251"/>
          </a:graphicData>
        </a:graphic>
      </p:graphicFrame>
      <p:graphicFrame>
        <p:nvGraphicFramePr>
          <p:cNvPr id="9" name="Chart">
            <a:extLst xmlns:a="http://schemas.openxmlformats.org/drawingml/2006/main">
              <a:ext uri="{FF2B5EF4-FFF2-40B4-BE49-F238E27FC236}">
                <a16:creationId xmlns:a16="http://schemas.microsoft.com/office/drawing/2014/main" id="{C2C1303B-3A04-4B96-9793-DC651BFE7D54}"/>
              </a:ext>
            </a:extLst>
          </p:cNvPr>
          <p:cNvGraphicFramePr/>
          <p:nvPr/>
        </p:nvGraphicFramePr>
        <p:xfrm>
          <a:off xmlns:a="http://schemas.openxmlformats.org/drawingml/2006/main" x="6229350" y="3886200"/>
          <a:ext xmlns:a="http://schemas.openxmlformats.org/drawingml/2006/main" cx="5553075" cy="1933575"/>
        </p:xfrm>
        <a:graphic xmlns:a="http://schemas.openxmlformats.org/drawingml/2006/main">
          <a:graphicData uri="http://schemas.openxmlformats.org/drawingml/2006/chart">
            <c:chart xmlns:r="http://schemas.openxmlformats.org/officeDocument/2006/relationships" xmlns:c="http://schemas.openxmlformats.org/drawingml/2006/chart" r:id="R82ef118aeb77453d"/>
          </a:graphicData>
        </a:graphic>
      </p:graphicFrame>
      <p:sp>
        <p:nvSpPr>
          <p:cNvPr id="10" name="text">
            <a:extLst xmlns:a="http://schemas.openxmlformats.org/drawingml/2006/main">
              <a:ext uri="{FF2B5EF4-FFF2-40B4-BE49-F238E27FC236}">
                <a16:creationId xmlns:a16="http://schemas.microsoft.com/office/drawing/2014/main" id="{36C63494-83D6-4C82-BE29-9281449F4656}"/>
              </a:ext>
            </a:extLst>
          </p:cNvPr>
          <p:cNvSpPr>
            <a:spLocks xmlns:a="http://schemas.openxmlformats.org/drawingml/2006/main" noGrp="1"/>
          </p:cNvSpPr>
          <p:nvPr/>
        </p:nvSpPr>
        <p:spPr>
          <a:xfrm xmlns:a="http://schemas.openxmlformats.org/drawingml/2006/main">
            <a:off x="400050" y="5819775"/>
            <a:ext cx="54578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1">
                <a:solidFill>
                  <a:srgbClr val="183044"/>
                </a:solidFill>
                <a:latin typeface="Arial"/>
                <a:ea typeface="Arial"/>
                <a:cs typeface="Arial"/>
              </a:defRPr>
            </a:defPPr>
          </a:lstStyle>
          <a:p xmlns:a="http://schemas.openxmlformats.org/drawingml/2006/main">
            <a:pPr>
              <a:defRPr sz="1575" b="1">
                <a:solidFill>
                  <a:srgbClr val="183044"/>
                </a:solidFill>
                <a:latin typeface="Arial"/>
                <a:ea typeface="Arial"/>
                <a:cs typeface="Arial"/>
              </a:defRPr>
            </a:pPr>
            <a:r>
              <a:rPr sz="1575" b="1">
                <a:solidFill>
                  <a:srgbClr val="183044"/>
                </a:solidFill>
                <a:latin typeface="Arial"/>
                <a:ea typeface="Arial"/>
                <a:cs typeface="Arial"/>
              </a:rPr>
              <a:t>Association size: V = 0.275</a:t>
            </a:r>
          </a:p>
        </p:txBody>
      </p:sp>
      <p:sp>
        <p:nvSpPr>
          <p:cNvPr id="11" name="text">
            <a:extLst xmlns:a="http://schemas.openxmlformats.org/drawingml/2006/main">
              <a:ext uri="{FF2B5EF4-FFF2-40B4-BE49-F238E27FC236}">
                <a16:creationId xmlns:a16="http://schemas.microsoft.com/office/drawing/2014/main" id="{A22894D4-79D9-4D7E-ACDB-263B6771C5D2}"/>
              </a:ext>
            </a:extLst>
          </p:cNvPr>
          <p:cNvSpPr>
            <a:spLocks xmlns:a="http://schemas.openxmlformats.org/drawingml/2006/main" noGrp="1"/>
          </p:cNvSpPr>
          <p:nvPr/>
        </p:nvSpPr>
        <p:spPr>
          <a:xfrm xmlns:a="http://schemas.openxmlformats.org/drawingml/2006/main">
            <a:off x="6362700" y="5819775"/>
            <a:ext cx="54483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1">
                <a:solidFill>
                  <a:srgbClr val="183044"/>
                </a:solidFill>
                <a:latin typeface="Arial"/>
                <a:ea typeface="Arial"/>
                <a:cs typeface="Arial"/>
              </a:defRPr>
            </a:defPPr>
          </a:lstStyle>
          <a:p xmlns:a="http://schemas.openxmlformats.org/drawingml/2006/main">
            <a:pPr>
              <a:defRPr sz="1575" b="1">
                <a:solidFill>
                  <a:srgbClr val="183044"/>
                </a:solidFill>
                <a:latin typeface="Arial"/>
                <a:ea typeface="Arial"/>
                <a:cs typeface="Arial"/>
              </a:defRPr>
            </a:pPr>
            <a:r>
              <a:rPr sz="1575" b="1">
                <a:solidFill>
                  <a:srgbClr val="183044"/>
                </a:solidFill>
                <a:latin typeface="Arial"/>
                <a:ea typeface="Arial"/>
                <a:cs typeface="Arial"/>
              </a:rPr>
              <a:t>Association size: V = 0.045</a:t>
            </a:r>
          </a:p>
        </p:txBody>
      </p:sp>
      <p:sp>
        <p:nvSpPr>
          <p:cNvPr id="12" name="">
            <a:extLst xmlns:a="http://schemas.openxmlformats.org/drawingml/2006/main">
              <a:ext uri="{FF2B5EF4-FFF2-40B4-BE49-F238E27FC236}">
                <a16:creationId xmlns:a16="http://schemas.microsoft.com/office/drawing/2014/main" id="{283841FA-BBDC-47CC-A76F-0557A3C14721}"/>
              </a:ext>
            </a:extLst>
          </p:cNvPr>
          <p:cNvSpPr>
            <a:spLocks xmlns:a="http://schemas.openxmlformats.org/drawingml/2006/main" noGrp="1"/>
          </p:cNvSpPr>
          <p:nvPr/>
        </p:nvSpPr>
        <p:spPr>
          <a:xfrm xmlns:a="http://schemas.openxmlformats.org/drawingml/2006/main">
            <a:off x="400050" y="6153150"/>
            <a:ext cx="11391900" cy="19050"/>
          </a:xfrm>
          <a:prstGeom xmlns:a="http://schemas.openxmlformats.org/drawingml/2006/main" prst="rect">
            <a:avLst/>
          </a:prstGeom>
          <a:solidFill xmlns:a="http://schemas.openxmlformats.org/drawingml/2006/main">
            <a:srgbClr val="176D8C"/>
          </a:solidFill>
          <a:ln xmlns:a="http://schemas.openxmlformats.org/drawingml/2006/main" w="0">
            <a:noFill/>
          </a:ln>
        </p:spPr>
      </p:sp>
      <p:sp>
        <p:nvSpPr>
          <p:cNvPr id="13" name="text">
            <a:extLst xmlns:a="http://schemas.openxmlformats.org/drawingml/2006/main">
              <a:ext uri="{FF2B5EF4-FFF2-40B4-BE49-F238E27FC236}">
                <a16:creationId xmlns:a16="http://schemas.microsoft.com/office/drawing/2014/main" id="{7D32BE5C-8A6D-41DC-9EBD-40A6CA12E448}"/>
              </a:ext>
            </a:extLst>
          </p:cNvPr>
          <p:cNvSpPr>
            <a:spLocks xmlns:a="http://schemas.openxmlformats.org/drawingml/2006/main" noGrp="1"/>
          </p:cNvSpPr>
          <p:nvPr/>
        </p:nvSpPr>
        <p:spPr>
          <a:xfrm xmlns:a="http://schemas.openxmlformats.org/drawingml/2006/main">
            <a:off x="400050" y="6267450"/>
            <a:ext cx="1095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176D8C"/>
                </a:solidFill>
                <a:latin typeface="Arial"/>
                <a:ea typeface="Arial"/>
                <a:cs typeface="Arial"/>
              </a:defRPr>
            </a:defPPr>
          </a:lstStyle>
          <a:p xmlns:a="http://schemas.openxmlformats.org/drawingml/2006/main">
            <a:pPr>
              <a:defRPr sz="1650" b="1">
                <a:solidFill>
                  <a:srgbClr val="176D8C"/>
                </a:solidFill>
                <a:latin typeface="Arial"/>
                <a:ea typeface="Arial"/>
                <a:cs typeface="Arial"/>
              </a:defRPr>
            </a:pPr>
            <a:r>
              <a:rPr sz="1650" b="1">
                <a:solidFill>
                  <a:srgbClr val="176D8C"/>
                </a:solidFill>
                <a:latin typeface="Arial"/>
                <a:ea typeface="Arial"/>
                <a:cs typeface="Arial"/>
              </a:rPr>
              <a:t>Positive status is more closely related to high blood pressure than to ever-smoking in this sample.</a:t>
            </a:r>
          </a:p>
        </p:txBody>
      </p:sp>
      <p:sp>
        <p:nvSpPr>
          <p:cNvPr id="14" name="text">
            <a:extLst xmlns:a="http://schemas.openxmlformats.org/drawingml/2006/main">
              <a:ext uri="{FF2B5EF4-FFF2-40B4-BE49-F238E27FC236}">
                <a16:creationId xmlns:a16="http://schemas.microsoft.com/office/drawing/2014/main" id="{176ADA65-C452-47BD-96CA-CCABEB679D75}"/>
              </a:ext>
            </a:extLst>
          </p:cNvPr>
          <p:cNvSpPr>
            <a:spLocks xmlns:a="http://schemas.openxmlformats.org/drawingml/2006/main" noGrp="1"/>
          </p:cNvSpPr>
          <p:nvPr/>
        </p:nvSpPr>
        <p:spPr>
          <a:xfrm xmlns:a="http://schemas.openxmlformats.org/drawingml/2006/main">
            <a:off x="11353800" y="6581775"/>
            <a:ext cx="6572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050" b="0">
                <a:solidFill>
                  <a:srgbClr val="415566"/>
                </a:solidFill>
                <a:latin typeface="Arial"/>
                <a:ea typeface="Arial"/>
                <a:cs typeface="Arial"/>
              </a:defRPr>
            </a:defPPr>
          </a:lstStyle>
          <a:p xmlns:a="http://schemas.openxmlformats.org/drawingml/2006/main">
            <a:pPr>
              <a:defRPr sz="1050" b="0">
                <a:solidFill>
                  <a:srgbClr val="415566"/>
                </a:solidFill>
                <a:latin typeface="Arial"/>
                <a:ea typeface="Arial"/>
                <a:cs typeface="Arial"/>
              </a:defRPr>
            </a:pPr>
            <a:r>
              <a:rPr sz="1050" b="0">
                <a:solidFill>
                  <a:srgbClr val="415566"/>
                </a:solidFill>
                <a:latin typeface="Arial"/>
                <a:ea typeface="Arial"/>
                <a:cs typeface="Arial"/>
              </a:rPr>
              <a:t>10 / 12</a:t>
            </a:r>
          </a:p>
        </p:txBody>
      </p:sp>
    </p:spTree>
    <p:extLst>
      <p:ext uri="{BB962C8B-B14F-4D97-AF65-F5344CB8AC3E}">
        <p14:creationId xmlns:p14="http://schemas.microsoft.com/office/powerpoint/2010/main" val="1096323673"/>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text">
            <a:extLst xmlns:a="http://schemas.openxmlformats.org/drawingml/2006/main">
              <a:ext uri="{FF2B5EF4-FFF2-40B4-BE49-F238E27FC236}">
                <a16:creationId xmlns:a16="http://schemas.microsoft.com/office/drawing/2014/main" id="{DCD5A546-CB2D-4AB5-9556-38B9A3661259}"/>
              </a:ext>
            </a:extLst>
          </p:cNvPr>
          <p:cNvSpPr>
            <a:spLocks xmlns:a="http://schemas.openxmlformats.org/drawingml/2006/main" noGrp="1"/>
          </p:cNvSpPr>
          <p:nvPr/>
        </p:nvSpPr>
        <p:spPr>
          <a:xfrm xmlns:a="http://schemas.openxmlformats.org/drawingml/2006/main">
            <a:off x="590550" y="76200"/>
            <a:ext cx="112204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1">
                <a:solidFill>
                  <a:srgbClr val="176D8C"/>
                </a:solidFill>
                <a:latin typeface="Arial"/>
                <a:ea typeface="Arial"/>
                <a:cs typeface="Arial"/>
              </a:defRPr>
            </a:defPPr>
          </a:lstStyle>
          <a:p xmlns:a="http://schemas.openxmlformats.org/drawingml/2006/main">
            <a:pPr>
              <a:defRPr sz="1350" b="1">
                <a:solidFill>
                  <a:srgbClr val="176D8C"/>
                </a:solidFill>
                <a:latin typeface="Arial"/>
                <a:ea typeface="Arial"/>
                <a:cs typeface="Arial"/>
              </a:defRPr>
            </a:pPr>
            <a:r>
              <a:rPr sz="1350" b="1">
                <a:solidFill>
                  <a:srgbClr val="176D8C"/>
                </a:solidFill>
                <a:latin typeface="Arial"/>
                <a:ea typeface="Arial"/>
                <a:cs typeface="Arial"/>
              </a:rPr>
              <a:t>LAB 11: CRD, RBD and Latin Square analysis (observational illustrations)</a:t>
            </a:r>
          </a:p>
        </p:txBody>
      </p:sp>
      <p:sp>
        <p:nvSpPr>
          <p:cNvPr id="2" name="">
            <a:extLst xmlns:a="http://schemas.openxmlformats.org/drawingml/2006/main">
              <a:ext uri="{FF2B5EF4-FFF2-40B4-BE49-F238E27FC236}">
                <a16:creationId xmlns:a16="http://schemas.microsoft.com/office/drawing/2014/main" id="{B2FB1B1A-9ED2-432E-B300-8E3BB88AB296}"/>
              </a:ext>
            </a:extLst>
          </p:cNvPr>
          <p:cNvSpPr>
            <a:spLocks xmlns:a="http://schemas.openxmlformats.org/drawingml/2006/main" noGrp="1"/>
          </p:cNvSpPr>
          <p:nvPr/>
        </p:nvSpPr>
        <p:spPr>
          <a:xfrm xmlns:a="http://schemas.openxmlformats.org/drawingml/2006/main">
            <a:off x="381000" y="381000"/>
            <a:ext cx="47625" cy="438150"/>
          </a:xfrm>
          <a:prstGeom xmlns:a="http://schemas.openxmlformats.org/drawingml/2006/main" prst="rect">
            <a:avLst/>
          </a:prstGeom>
          <a:solidFill xmlns:a="http://schemas.openxmlformats.org/drawingml/2006/main">
            <a:srgbClr val="176D8C"/>
          </a:solidFill>
          <a:ln xmlns:a="http://schemas.openxmlformats.org/drawingml/2006/main" w="0">
            <a:noFill/>
          </a:ln>
        </p:spPr>
      </p:sp>
      <p:sp>
        <p:nvSpPr>
          <p:cNvPr id="3" name="text">
            <a:extLst xmlns:a="http://schemas.openxmlformats.org/drawingml/2006/main">
              <a:ext uri="{FF2B5EF4-FFF2-40B4-BE49-F238E27FC236}">
                <a16:creationId xmlns:a16="http://schemas.microsoft.com/office/drawing/2014/main" id="{A7EE8045-3519-40E4-80F8-1051015D85E3}"/>
              </a:ext>
            </a:extLst>
          </p:cNvPr>
          <p:cNvSpPr>
            <a:spLocks xmlns:a="http://schemas.openxmlformats.org/drawingml/2006/main" noGrp="1"/>
          </p:cNvSpPr>
          <p:nvPr/>
        </p:nvSpPr>
        <p:spPr>
          <a:xfrm xmlns:a="http://schemas.openxmlformats.org/drawingml/2006/main">
            <a:off x="590550" y="342900"/>
            <a:ext cx="112204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1">
                <a:solidFill>
                  <a:srgbClr val="183044"/>
                </a:solidFill>
                <a:latin typeface="Arial"/>
                <a:ea typeface="Arial"/>
                <a:cs typeface="Arial"/>
              </a:defRPr>
            </a:defPPr>
          </a:lstStyle>
          <a:p xmlns:a="http://schemas.openxmlformats.org/drawingml/2006/main">
            <a:pPr>
              <a:defRPr sz="2850" b="1">
                <a:solidFill>
                  <a:srgbClr val="183044"/>
                </a:solidFill>
                <a:latin typeface="Arial"/>
                <a:ea typeface="Arial"/>
                <a:cs typeface="Arial"/>
              </a:defRPr>
            </a:pPr>
            <a:r>
              <a:rPr sz="2850" b="1">
                <a:solidFill>
                  <a:srgbClr val="183044"/>
                </a:solidFill>
                <a:latin typeface="Arial"/>
                <a:ea typeface="Arial"/>
                <a:cs typeface="Arial"/>
              </a:rPr>
              <a:t>CRD, RBD and Latin Square using health records</a:t>
            </a:r>
          </a:p>
        </p:txBody>
      </p:sp>
      <p:sp>
        <p:nvSpPr>
          <p:cNvPr id="4" name="text">
            <a:extLst xmlns:a="http://schemas.openxmlformats.org/drawingml/2006/main">
              <a:ext uri="{FF2B5EF4-FFF2-40B4-BE49-F238E27FC236}">
                <a16:creationId xmlns:a16="http://schemas.microsoft.com/office/drawing/2014/main" id="{B5558757-4097-4581-A719-8823A9E706A8}"/>
              </a:ext>
            </a:extLst>
          </p:cNvPr>
          <p:cNvSpPr>
            <a:spLocks xmlns:a="http://schemas.openxmlformats.org/drawingml/2006/main" noGrp="1"/>
          </p:cNvSpPr>
          <p:nvPr/>
        </p:nvSpPr>
        <p:spPr>
          <a:xfrm xmlns:a="http://schemas.openxmlformats.org/drawingml/2006/main">
            <a:off x="400050" y="971550"/>
            <a:ext cx="113919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415566"/>
                </a:solidFill>
                <a:latin typeface="Arial"/>
                <a:ea typeface="Arial"/>
                <a:cs typeface="Arial"/>
              </a:defRPr>
            </a:defPPr>
          </a:lstStyle>
          <a:p xmlns:a="http://schemas.openxmlformats.org/drawingml/2006/main">
            <a:pPr>
              <a:defRPr sz="1725" b="0">
                <a:solidFill>
                  <a:srgbClr val="415566"/>
                </a:solidFill>
                <a:latin typeface="Arial"/>
                <a:ea typeface="Arial"/>
                <a:cs typeface="Arial"/>
              </a:defRPr>
            </a:pPr>
            <a:r>
              <a:rPr sz="1725" b="0">
                <a:solidFill>
                  <a:srgbClr val="415566"/>
                </a:solidFill>
                <a:latin typeface="Arial"/>
                <a:ea typeface="Arial"/>
                <a:cs typeface="Arial"/>
              </a:rPr>
              <a:t>BMI is the response. Education is the group factor. Age and income form blocks in matched subsets.</a:t>
            </a:r>
          </a:p>
        </p:txBody>
      </p:sp>
      <p:graphicFrame>
        <p:nvGraphicFramePr>
          <p:cNvPr id="5" name="">
            <a:extLst xmlns:a="http://schemas.openxmlformats.org/drawingml/2006/main">
              <a:ext uri="{FF2B5EF4-FFF2-40B4-BE49-F238E27FC236}">
                <a16:creationId xmlns:a16="http://schemas.microsoft.com/office/drawing/2014/main" id="{33DE3E1E-1491-4357-9E6A-4F72F15F4BEF}"/>
              </a:ext>
            </a:extLst>
          </p:cNvPr>
          <p:cNvGraphicFramePr/>
          <p:nvPr/>
        </p:nvGraphicFramePr>
        <p:xfrm>
          <a:off xmlns:a="http://schemas.openxmlformats.org/drawingml/2006/main" x="400050" y="1581150"/>
          <a:ext xmlns:a="http://schemas.openxmlformats.org/drawingml/2006/main" cx="11391900" cy="1400175"/>
        </p:xfrm>
        <a:graphic xmlns:a="http://schemas.openxmlformats.org/drawingml/2006/main">
          <a:graphicData uri="http://schemas.openxmlformats.org/drawingml/2006/table">
            <a:tbl>
              <a:tblPr/>
              <a:tblGrid>
                <a:gridCol w="6581775"/>
                <a:gridCol w="1438275"/>
                <a:gridCol w="1771650"/>
                <a:gridCol w="1600200"/>
              </a:tblGrid>
              <a:tr h="350044">
                <a:tc>
                  <a:txBody>
                    <a:bodyPr>
                      <a:noAutofit/>
                    </a:bodyPr>
                    <a:lstStyle/>
                    <a:p>
                      <a:pPr algn="l"/>
                      <a:r>
                        <a:rPr sz="1650" b="1">
                          <a:solidFill>
                            <a:srgbClr val="FFFFFF"/>
                          </a:solidFill>
                          <a:latin typeface="Arial"/>
                          <a:ea typeface="Arial"/>
                          <a:cs typeface="Arial"/>
                        </a:rPr>
                        <a:t>Analysis of education groups</a:t>
                      </a:r>
                    </a:p>
                  </a:txBody>
                  <a:tcPr marL="91440" marR="91440" marT="45720" marB="45720">
                    <a:lnL w="9525">
                      <a:solidFill>
                        <a:srgbClr val="D6E0E5"/>
                      </a:solidFill>
                      <a:prstDash val="solid"/>
                    </a:lnL>
                    <a:lnR w="9525">
                      <a:solidFill>
                        <a:srgbClr val="D6E0E5"/>
                      </a:solidFill>
                      <a:prstDash val="solid"/>
                    </a:lnR>
                    <a:lnT w="9525">
                      <a:solidFill>
                        <a:srgbClr val="D6E0E5"/>
                      </a:solidFill>
                      <a:prstDash val="solid"/>
                    </a:lnT>
                    <a:lnB w="9525">
                      <a:solidFill>
                        <a:srgbClr val="D6E0E5"/>
                      </a:solidFill>
                      <a:prstDash val="solid"/>
                    </a:lnB>
                    <a:solidFill>
                      <a:srgbClr val="176D8C"/>
                    </a:solidFill>
                  </a:tcPr>
                </a:tc>
                <a:tc>
                  <a:txBody>
                    <a:bodyPr>
                      <a:noAutofit/>
                    </a:bodyPr>
                    <a:lstStyle/>
                    <a:p>
                      <a:pPr algn="ctr"/>
                      <a:r>
                        <a:rPr sz="1650" b="1">
                          <a:solidFill>
                            <a:srgbClr val="FFFFFF"/>
                          </a:solidFill>
                          <a:latin typeface="Arial"/>
                          <a:ea typeface="Arial"/>
                          <a:cs typeface="Arial"/>
                        </a:rPr>
                        <a:t>Rows</a:t>
                      </a:r>
                    </a:p>
                  </a:txBody>
                  <a:tcPr marL="91440" marR="91440" marT="45720" marB="45720">
                    <a:lnR w="9525">
                      <a:solidFill>
                        <a:srgbClr val="D6E0E5"/>
                      </a:solidFill>
                      <a:prstDash val="solid"/>
                    </a:lnR>
                    <a:lnT w="9525">
                      <a:solidFill>
                        <a:srgbClr val="D6E0E5"/>
                      </a:solidFill>
                      <a:prstDash val="solid"/>
                    </a:lnT>
                    <a:lnB w="9525">
                      <a:solidFill>
                        <a:srgbClr val="D6E0E5"/>
                      </a:solidFill>
                      <a:prstDash val="solid"/>
                    </a:lnB>
                    <a:solidFill>
                      <a:srgbClr val="176D8C"/>
                    </a:solidFill>
                  </a:tcPr>
                </a:tc>
                <a:tc>
                  <a:txBody>
                    <a:bodyPr>
                      <a:noAutofit/>
                    </a:bodyPr>
                    <a:lstStyle/>
                    <a:p>
                      <a:pPr algn="ctr"/>
                      <a:r>
                        <a:rPr sz="1650" b="1">
                          <a:solidFill>
                            <a:srgbClr val="FFFFFF"/>
                          </a:solidFill>
                          <a:latin typeface="Arial"/>
                          <a:ea typeface="Arial"/>
                          <a:cs typeface="Arial"/>
                        </a:rPr>
                        <a:t>F</a:t>
                      </a:r>
                    </a:p>
                  </a:txBody>
                  <a:tcPr marL="91440" marR="91440" marT="45720" marB="45720">
                    <a:lnR w="9525">
                      <a:solidFill>
                        <a:srgbClr val="D6E0E5"/>
                      </a:solidFill>
                      <a:prstDash val="solid"/>
                    </a:lnR>
                    <a:lnT w="9525">
                      <a:solidFill>
                        <a:srgbClr val="D6E0E5"/>
                      </a:solidFill>
                      <a:prstDash val="solid"/>
                    </a:lnT>
                    <a:lnB w="9525">
                      <a:solidFill>
                        <a:srgbClr val="D6E0E5"/>
                      </a:solidFill>
                      <a:prstDash val="solid"/>
                    </a:lnB>
                    <a:solidFill>
                      <a:srgbClr val="176D8C"/>
                    </a:solidFill>
                  </a:tcPr>
                </a:tc>
                <a:tc>
                  <a:txBody>
                    <a:bodyPr>
                      <a:noAutofit/>
                    </a:bodyPr>
                    <a:lstStyle/>
                    <a:p>
                      <a:pPr algn="ctr"/>
                      <a:r>
                        <a:rPr sz="1650" b="1">
                          <a:solidFill>
                            <a:srgbClr val="FFFFFF"/>
                          </a:solidFill>
                          <a:latin typeface="Arial"/>
                          <a:ea typeface="Arial"/>
                          <a:cs typeface="Arial"/>
                        </a:rPr>
                        <a:t>p</a:t>
                      </a:r>
                    </a:p>
                  </a:txBody>
                  <a:tcPr marL="91440" marR="91440" marT="45720" marB="45720">
                    <a:lnR w="9525">
                      <a:solidFill>
                        <a:srgbClr val="D6E0E5"/>
                      </a:solidFill>
                      <a:prstDash val="solid"/>
                    </a:lnR>
                    <a:lnT w="9525">
                      <a:solidFill>
                        <a:srgbClr val="D6E0E5"/>
                      </a:solidFill>
                      <a:prstDash val="solid"/>
                    </a:lnT>
                    <a:lnB w="9525">
                      <a:solidFill>
                        <a:srgbClr val="D6E0E5"/>
                      </a:solidFill>
                      <a:prstDash val="solid"/>
                    </a:lnB>
                    <a:solidFill>
                      <a:srgbClr val="176D8C"/>
                    </a:solidFill>
                  </a:tcPr>
                </a:tc>
              </a:tr>
              <a:tr h="350044">
                <a:tc>
                  <a:txBody>
                    <a:bodyPr>
                      <a:noAutofit/>
                    </a:bodyPr>
                    <a:lstStyle/>
                    <a:p>
                      <a:pPr algn="l"/>
                      <a:r>
                        <a:rPr sz="1650" b="0">
                          <a:solidFill>
                            <a:srgbClr val="183044"/>
                          </a:solidFill>
                          <a:latin typeface="Arial"/>
                          <a:ea typeface="Arial"/>
                          <a:cs typeface="Arial"/>
                        </a:rPr>
                        <a:t>CRD-form: one-way ANOVA</a:t>
                      </a:r>
                    </a:p>
                  </a:txBody>
                  <a:tcPr marL="91440" marR="91440" marT="45720" marB="45720">
                    <a:lnL w="9525">
                      <a:solidFill>
                        <a:srgbClr val="D6E0E5"/>
                      </a:solidFill>
                      <a:prstDash val="solid"/>
                    </a:lnL>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650" b="0">
                          <a:solidFill>
                            <a:srgbClr val="183044"/>
                          </a:solidFill>
                          <a:latin typeface="Arial"/>
                          <a:ea typeface="Arial"/>
                          <a:cs typeface="Arial"/>
                        </a:rPr>
                        <a:t>3000</a:t>
                      </a:r>
                    </a:p>
                  </a:txBody>
                  <a:tcPr marL="91440" marR="91440" marT="45720" marB="45720">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650" b="0">
                          <a:solidFill>
                            <a:srgbClr val="183044"/>
                          </a:solidFill>
                          <a:latin typeface="Arial"/>
                          <a:ea typeface="Arial"/>
                          <a:cs typeface="Arial"/>
                        </a:rPr>
                        <a:t>14.41</a:t>
                      </a:r>
                    </a:p>
                  </a:txBody>
                  <a:tcPr marL="91440" marR="91440" marT="45720" marB="45720">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650" b="0">
                          <a:solidFill>
                            <a:srgbClr val="183044"/>
                          </a:solidFill>
                          <a:latin typeface="Arial"/>
                          <a:ea typeface="Arial"/>
                          <a:cs typeface="Arial"/>
                        </a:rPr>
                        <a:t>&lt;0.001</a:t>
                      </a:r>
                    </a:p>
                  </a:txBody>
                  <a:tcPr marL="91440" marR="91440" marT="45720" marB="45720">
                    <a:lnR w="9525">
                      <a:solidFill>
                        <a:srgbClr val="D6E0E5"/>
                      </a:solidFill>
                      <a:prstDash val="solid"/>
                    </a:lnR>
                    <a:lnB w="9525">
                      <a:solidFill>
                        <a:srgbClr val="D6E0E5"/>
                      </a:solidFill>
                      <a:prstDash val="solid"/>
                    </a:lnB>
                    <a:solidFill>
                      <a:srgbClr val="FFFFFF"/>
                    </a:solidFill>
                  </a:tcPr>
                </a:tc>
              </a:tr>
              <a:tr h="350044">
                <a:tc>
                  <a:txBody>
                    <a:bodyPr>
                      <a:noAutofit/>
                    </a:bodyPr>
                    <a:lstStyle/>
                    <a:p>
                      <a:pPr algn="l"/>
                      <a:r>
                        <a:rPr sz="1650" b="0">
                          <a:solidFill>
                            <a:srgbClr val="183044"/>
                          </a:solidFill>
                          <a:latin typeface="Arial"/>
                          <a:ea typeface="Arial"/>
                          <a:cs typeface="Arial"/>
                        </a:rPr>
                        <a:t>RBD layout: account for age</a:t>
                      </a:r>
                    </a:p>
                  </a:txBody>
                  <a:tcPr marL="91440" marR="91440" marT="45720" marB="45720">
                    <a:lnL w="9525">
                      <a:solidFill>
                        <a:srgbClr val="D6E0E5"/>
                      </a:solidFill>
                      <a:prstDash val="solid"/>
                    </a:lnL>
                    <a:lnR w="9525">
                      <a:solidFill>
                        <a:srgbClr val="D6E0E5"/>
                      </a:solidFill>
                      <a:prstDash val="solid"/>
                    </a:lnR>
                    <a:lnB w="9525">
                      <a:solidFill>
                        <a:srgbClr val="D6E0E5"/>
                      </a:solidFill>
                      <a:prstDash val="solid"/>
                    </a:lnB>
                    <a:solidFill>
                      <a:srgbClr val="EAF2F5"/>
                    </a:solidFill>
                  </a:tcPr>
                </a:tc>
                <a:tc>
                  <a:txBody>
                    <a:bodyPr>
                      <a:noAutofit/>
                    </a:bodyPr>
                    <a:lstStyle/>
                    <a:p>
                      <a:pPr algn="ctr"/>
                      <a:r>
                        <a:rPr sz="1650" b="0">
                          <a:solidFill>
                            <a:srgbClr val="183044"/>
                          </a:solidFill>
                          <a:latin typeface="Arial"/>
                          <a:ea typeface="Arial"/>
                          <a:cs typeface="Arial"/>
                        </a:rPr>
                        <a:t>160</a:t>
                      </a:r>
                    </a:p>
                  </a:txBody>
                  <a:tcPr marL="91440" marR="91440" marT="45720" marB="45720">
                    <a:lnR w="9525">
                      <a:solidFill>
                        <a:srgbClr val="D6E0E5"/>
                      </a:solidFill>
                      <a:prstDash val="solid"/>
                    </a:lnR>
                    <a:lnB w="9525">
                      <a:solidFill>
                        <a:srgbClr val="D6E0E5"/>
                      </a:solidFill>
                      <a:prstDash val="solid"/>
                    </a:lnB>
                    <a:solidFill>
                      <a:srgbClr val="EAF2F5"/>
                    </a:solidFill>
                  </a:tcPr>
                </a:tc>
                <a:tc>
                  <a:txBody>
                    <a:bodyPr>
                      <a:noAutofit/>
                    </a:bodyPr>
                    <a:lstStyle/>
                    <a:p>
                      <a:pPr algn="ctr"/>
                      <a:r>
                        <a:rPr sz="1650" b="0">
                          <a:solidFill>
                            <a:srgbClr val="183044"/>
                          </a:solidFill>
                          <a:latin typeface="Arial"/>
                          <a:ea typeface="Arial"/>
                          <a:cs typeface="Arial"/>
                        </a:rPr>
                        <a:t>3.14</a:t>
                      </a:r>
                    </a:p>
                  </a:txBody>
                  <a:tcPr marL="91440" marR="91440" marT="45720" marB="45720">
                    <a:lnR w="9525">
                      <a:solidFill>
                        <a:srgbClr val="D6E0E5"/>
                      </a:solidFill>
                      <a:prstDash val="solid"/>
                    </a:lnR>
                    <a:lnB w="9525">
                      <a:solidFill>
                        <a:srgbClr val="D6E0E5"/>
                      </a:solidFill>
                      <a:prstDash val="solid"/>
                    </a:lnB>
                    <a:solidFill>
                      <a:srgbClr val="EAF2F5"/>
                    </a:solidFill>
                  </a:tcPr>
                </a:tc>
                <a:tc>
                  <a:txBody>
                    <a:bodyPr>
                      <a:noAutofit/>
                    </a:bodyPr>
                    <a:lstStyle/>
                    <a:p>
                      <a:pPr algn="ctr"/>
                      <a:r>
                        <a:rPr sz="1650" b="0">
                          <a:solidFill>
                            <a:srgbClr val="183044"/>
                          </a:solidFill>
                          <a:latin typeface="Arial"/>
                          <a:ea typeface="Arial"/>
                          <a:cs typeface="Arial"/>
                        </a:rPr>
                        <a:t>0.027</a:t>
                      </a:r>
                    </a:p>
                  </a:txBody>
                  <a:tcPr marL="91440" marR="91440" marT="45720" marB="45720">
                    <a:lnR w="9525">
                      <a:solidFill>
                        <a:srgbClr val="D6E0E5"/>
                      </a:solidFill>
                      <a:prstDash val="solid"/>
                    </a:lnR>
                    <a:lnB w="9525">
                      <a:solidFill>
                        <a:srgbClr val="D6E0E5"/>
                      </a:solidFill>
                      <a:prstDash val="solid"/>
                    </a:lnB>
                    <a:solidFill>
                      <a:srgbClr val="EAF2F5"/>
                    </a:solidFill>
                  </a:tcPr>
                </a:tc>
              </a:tr>
              <a:tr h="350044">
                <a:tc>
                  <a:txBody>
                    <a:bodyPr>
                      <a:noAutofit/>
                    </a:bodyPr>
                    <a:lstStyle/>
                    <a:p>
                      <a:pPr algn="l"/>
                      <a:r>
                        <a:rPr sz="1650" b="0">
                          <a:solidFill>
                            <a:srgbClr val="183044"/>
                          </a:solidFill>
                          <a:latin typeface="Arial"/>
                          <a:ea typeface="Arial"/>
                          <a:cs typeface="Arial"/>
                        </a:rPr>
                        <a:t>Latin Square layout: age + income</a:t>
                      </a:r>
                    </a:p>
                  </a:txBody>
                  <a:tcPr marL="91440" marR="91440" marT="45720" marB="45720">
                    <a:lnL w="9525">
                      <a:solidFill>
                        <a:srgbClr val="D6E0E5"/>
                      </a:solidFill>
                      <a:prstDash val="solid"/>
                    </a:lnL>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650" b="0">
                          <a:solidFill>
                            <a:srgbClr val="183044"/>
                          </a:solidFill>
                          <a:latin typeface="Arial"/>
                          <a:ea typeface="Arial"/>
                          <a:cs typeface="Arial"/>
                        </a:rPr>
                        <a:t>16</a:t>
                      </a:r>
                    </a:p>
                  </a:txBody>
                  <a:tcPr marL="91440" marR="91440" marT="45720" marB="45720">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650" b="0">
                          <a:solidFill>
                            <a:srgbClr val="183044"/>
                          </a:solidFill>
                          <a:latin typeface="Arial"/>
                          <a:ea typeface="Arial"/>
                          <a:cs typeface="Arial"/>
                        </a:rPr>
                        <a:t>3.28</a:t>
                      </a:r>
                    </a:p>
                  </a:txBody>
                  <a:tcPr marL="91440" marR="91440" marT="45720" marB="45720">
                    <a:lnR w="9525">
                      <a:solidFill>
                        <a:srgbClr val="D6E0E5"/>
                      </a:solidFill>
                      <a:prstDash val="solid"/>
                    </a:lnR>
                    <a:lnB w="9525">
                      <a:solidFill>
                        <a:srgbClr val="D6E0E5"/>
                      </a:solidFill>
                      <a:prstDash val="solid"/>
                    </a:lnB>
                    <a:solidFill>
                      <a:srgbClr val="FFFFFF"/>
                    </a:solidFill>
                  </a:tcPr>
                </a:tc>
                <a:tc>
                  <a:txBody>
                    <a:bodyPr>
                      <a:noAutofit/>
                    </a:bodyPr>
                    <a:lstStyle/>
                    <a:p>
                      <a:pPr algn="ctr"/>
                      <a:r>
                        <a:rPr sz="1650" b="0">
                          <a:solidFill>
                            <a:srgbClr val="183044"/>
                          </a:solidFill>
                          <a:latin typeface="Arial"/>
                          <a:ea typeface="Arial"/>
                          <a:cs typeface="Arial"/>
                        </a:rPr>
                        <a:t>0.100</a:t>
                      </a:r>
                    </a:p>
                  </a:txBody>
                  <a:tcPr marL="91440" marR="91440" marT="45720" marB="45720">
                    <a:lnR w="9525">
                      <a:solidFill>
                        <a:srgbClr val="D6E0E5"/>
                      </a:solidFill>
                      <a:prstDash val="solid"/>
                    </a:lnR>
                    <a:lnB w="9525">
                      <a:solidFill>
                        <a:srgbClr val="D6E0E5"/>
                      </a:solidFill>
                      <a:prstDash val="solid"/>
                    </a:lnB>
                    <a:solidFill>
                      <a:srgbClr val="FFFFFF"/>
                    </a:solidFill>
                  </a:tcPr>
                </a:tc>
              </a:tr>
            </a:tbl>
          </a:graphicData>
        </a:graphic>
      </p:graphicFrame>
      <p:sp>
        <p:nvSpPr>
          <p:cNvPr id="6" name="text">
            <a:extLst xmlns:a="http://schemas.openxmlformats.org/drawingml/2006/main">
              <a:ext uri="{FF2B5EF4-FFF2-40B4-BE49-F238E27FC236}">
                <a16:creationId xmlns:a16="http://schemas.microsoft.com/office/drawing/2014/main" id="{CD558C6C-E6C0-4C82-8E11-BDB50A95FC48}"/>
              </a:ext>
            </a:extLst>
          </p:cNvPr>
          <p:cNvSpPr>
            <a:spLocks xmlns:a="http://schemas.openxmlformats.org/drawingml/2006/main" noGrp="1"/>
          </p:cNvSpPr>
          <p:nvPr/>
        </p:nvSpPr>
        <p:spPr>
          <a:xfrm xmlns:a="http://schemas.openxmlformats.org/drawingml/2006/main">
            <a:off x="400050" y="3152775"/>
            <a:ext cx="113919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183044"/>
                </a:solidFill>
                <a:latin typeface="Arial"/>
                <a:ea typeface="Arial"/>
                <a:cs typeface="Arial"/>
              </a:defRPr>
            </a:defPPr>
          </a:lstStyle>
          <a:p xmlns:a="http://schemas.openxmlformats.org/drawingml/2006/main">
            <a:pPr>
              <a:defRPr sz="1500" b="0">
                <a:solidFill>
                  <a:srgbClr val="183044"/>
                </a:solidFill>
                <a:latin typeface="Arial"/>
                <a:ea typeface="Arial"/>
                <a:cs typeface="Arial"/>
              </a:defRPr>
            </a:pPr>
            <a:r>
              <a:rPr sz="1500" b="0">
                <a:solidFill>
                  <a:srgbClr val="183044"/>
                </a:solidFill>
                <a:latin typeface="Arial"/>
                <a:ea typeface="Arial"/>
                <a:cs typeface="Arial"/>
              </a:rPr>
              <a:t>Full-sample checks: Welch p &lt; 0.001. Holm: graduates differ from high school and some college (p &lt; 0.001).</a:t>
            </a:r>
          </a:p>
        </p:txBody>
      </p:sp>
      <p:sp>
        <p:nvSpPr>
          <p:cNvPr id="7" name="">
            <a:extLst xmlns:a="http://schemas.openxmlformats.org/drawingml/2006/main">
              <a:ext uri="{FF2B5EF4-FFF2-40B4-BE49-F238E27FC236}">
                <a16:creationId xmlns:a16="http://schemas.microsoft.com/office/drawing/2014/main" id="{F24920CA-8EA7-44D1-BC72-6DC68CE8B24A}"/>
              </a:ext>
            </a:extLst>
          </p:cNvPr>
          <p:cNvSpPr>
            <a:spLocks xmlns:a="http://schemas.openxmlformats.org/drawingml/2006/main" noGrp="1"/>
          </p:cNvSpPr>
          <p:nvPr/>
        </p:nvSpPr>
        <p:spPr>
          <a:xfrm xmlns:a="http://schemas.openxmlformats.org/drawingml/2006/main">
            <a:off x="400050" y="3514725"/>
            <a:ext cx="11391900" cy="19050"/>
          </a:xfrm>
          <a:prstGeom xmlns:a="http://schemas.openxmlformats.org/drawingml/2006/main" prst="rect">
            <a:avLst/>
          </a:prstGeom>
          <a:solidFill xmlns:a="http://schemas.openxmlformats.org/drawingml/2006/main">
            <a:srgbClr val="CCDCE4"/>
          </a:solidFill>
          <a:ln xmlns:a="http://schemas.openxmlformats.org/drawingml/2006/main" w="0">
            <a:noFill/>
          </a:ln>
        </p:spPr>
      </p:sp>
      <p:sp>
        <p:nvSpPr>
          <p:cNvPr id="8" name="text">
            <a:extLst xmlns:a="http://schemas.openxmlformats.org/drawingml/2006/main">
              <a:ext uri="{FF2B5EF4-FFF2-40B4-BE49-F238E27FC236}">
                <a16:creationId xmlns:a16="http://schemas.microsoft.com/office/drawing/2014/main" id="{D1C10E86-86CE-4EB4-9C23-A354EFD56C72}"/>
              </a:ext>
            </a:extLst>
          </p:cNvPr>
          <p:cNvSpPr>
            <a:spLocks xmlns:a="http://schemas.openxmlformats.org/drawingml/2006/main" noGrp="1"/>
          </p:cNvSpPr>
          <p:nvPr/>
        </p:nvSpPr>
        <p:spPr>
          <a:xfrm xmlns:a="http://schemas.openxmlformats.org/drawingml/2006/main">
            <a:off x="400050" y="3667125"/>
            <a:ext cx="5476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176D8C"/>
                </a:solidFill>
                <a:latin typeface="Arial"/>
                <a:ea typeface="Arial"/>
                <a:cs typeface="Arial"/>
              </a:defRPr>
            </a:defPPr>
          </a:lstStyle>
          <a:p xmlns:a="http://schemas.openxmlformats.org/drawingml/2006/main">
            <a:pPr>
              <a:defRPr sz="1800" b="1">
                <a:solidFill>
                  <a:srgbClr val="176D8C"/>
                </a:solidFill>
                <a:latin typeface="Arial"/>
                <a:ea typeface="Arial"/>
                <a:cs typeface="Arial"/>
              </a:defRPr>
            </a:pPr>
            <a:r>
              <a:rPr sz="1800" b="1">
                <a:solidFill>
                  <a:srgbClr val="176D8C"/>
                </a:solidFill>
                <a:latin typeface="Arial"/>
                <a:ea typeface="Arial"/>
                <a:cs typeface="Arial"/>
              </a:rPr>
              <a:t>RBD layout: four age blocks</a:t>
            </a:r>
          </a:p>
        </p:txBody>
      </p:sp>
      <p:sp>
        <p:nvSpPr>
          <p:cNvPr id="9" name="text">
            <a:extLst xmlns:a="http://schemas.openxmlformats.org/drawingml/2006/main">
              <a:ext uri="{FF2B5EF4-FFF2-40B4-BE49-F238E27FC236}">
                <a16:creationId xmlns:a16="http://schemas.microsoft.com/office/drawing/2014/main" id="{5818AC06-9787-47EB-8A64-139D87557251}"/>
              </a:ext>
            </a:extLst>
          </p:cNvPr>
          <p:cNvSpPr>
            <a:spLocks xmlns:a="http://schemas.openxmlformats.org/drawingml/2006/main" noGrp="1"/>
          </p:cNvSpPr>
          <p:nvPr/>
        </p:nvSpPr>
        <p:spPr>
          <a:xfrm xmlns:a="http://schemas.openxmlformats.org/drawingml/2006/main">
            <a:off x="6362700" y="3667125"/>
            <a:ext cx="544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176D8C"/>
                </a:solidFill>
                <a:latin typeface="Arial"/>
                <a:ea typeface="Arial"/>
                <a:cs typeface="Arial"/>
              </a:defRPr>
            </a:defPPr>
          </a:lstStyle>
          <a:p xmlns:a="http://schemas.openxmlformats.org/drawingml/2006/main">
            <a:pPr>
              <a:defRPr sz="1800" b="1">
                <a:solidFill>
                  <a:srgbClr val="176D8C"/>
                </a:solidFill>
                <a:latin typeface="Arial"/>
                <a:ea typeface="Arial"/>
                <a:cs typeface="Arial"/>
              </a:defRPr>
            </a:pPr>
            <a:r>
              <a:rPr sz="1800" b="1">
                <a:solidFill>
                  <a:srgbClr val="176D8C"/>
                </a:solidFill>
                <a:latin typeface="Arial"/>
                <a:ea typeface="Arial"/>
                <a:cs typeface="Arial"/>
              </a:rPr>
              <a:t>Latin Square: age and income blocks</a:t>
            </a:r>
          </a:p>
        </p:txBody>
      </p:sp>
      <p:graphicFrame>
        <p:nvGraphicFramePr>
          <p:cNvPr id="10" name="Chart">
            <a:extLst xmlns:a="http://schemas.openxmlformats.org/drawingml/2006/main">
              <a:ext uri="{FF2B5EF4-FFF2-40B4-BE49-F238E27FC236}">
                <a16:creationId xmlns:a16="http://schemas.microsoft.com/office/drawing/2014/main" id="{F0C93F1F-FCAD-4D2D-B7CE-438E2A7CA26B}"/>
              </a:ext>
            </a:extLst>
          </p:cNvPr>
          <p:cNvGraphicFramePr/>
          <p:nvPr/>
        </p:nvGraphicFramePr>
        <p:xfrm>
          <a:off xmlns:a="http://schemas.openxmlformats.org/drawingml/2006/main" x="257175" y="4124325"/>
          <a:ext xmlns:a="http://schemas.openxmlformats.org/drawingml/2006/main" cx="5572125" cy="1590675"/>
        </p:xfrm>
        <a:graphic xmlns:a="http://schemas.openxmlformats.org/drawingml/2006/main">
          <a:graphicData uri="http://schemas.openxmlformats.org/drawingml/2006/chart">
            <c:chart xmlns:r="http://schemas.openxmlformats.org/officeDocument/2006/relationships" xmlns:c="http://schemas.openxmlformats.org/drawingml/2006/chart" r:id="R9f79c71bbdea4082"/>
          </a:graphicData>
        </a:graphic>
      </p:graphicFrame>
      <p:sp>
        <p:nvSpPr>
          <p:cNvPr id="11" name="text">
            <a:extLst xmlns:a="http://schemas.openxmlformats.org/drawingml/2006/main">
              <a:ext uri="{FF2B5EF4-FFF2-40B4-BE49-F238E27FC236}">
                <a16:creationId xmlns:a16="http://schemas.microsoft.com/office/drawing/2014/main" id="{45B9CFC9-9928-49A5-9129-BF0219CBAC10}"/>
              </a:ext>
            </a:extLst>
          </p:cNvPr>
          <p:cNvSpPr>
            <a:spLocks xmlns:a="http://schemas.openxmlformats.org/drawingml/2006/main" noGrp="1"/>
          </p:cNvSpPr>
          <p:nvPr/>
        </p:nvSpPr>
        <p:spPr>
          <a:xfrm xmlns:a="http://schemas.openxmlformats.org/drawingml/2006/main">
            <a:off x="400050" y="5857875"/>
            <a:ext cx="547687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183044"/>
                </a:solidFill>
                <a:latin typeface="Arial"/>
                <a:ea typeface="Arial"/>
                <a:cs typeface="Arial"/>
              </a:defRPr>
            </a:defPPr>
          </a:lstStyle>
          <a:p xmlns:a="http://schemas.openxmlformats.org/drawingml/2006/main">
            <a:pPr>
              <a:defRPr sz="1500" b="0">
                <a:solidFill>
                  <a:srgbClr val="183044"/>
                </a:solidFill>
                <a:latin typeface="Arial"/>
                <a:ea typeface="Arial"/>
                <a:cs typeface="Arial"/>
              </a:defRPr>
            </a:pPr>
            <a:r>
              <a:rPr sz="1500" b="0">
                <a:solidFill>
                  <a:srgbClr val="183044"/>
                </a:solidFill>
                <a:latin typeface="Arial"/>
                <a:ea typeface="Arial"/>
                <a:cs typeface="Arial"/>
              </a:rPr>
              <a:t>10 respondents in every age × education cell.</a:t>
            </a:r>
          </a:p>
        </p:txBody>
      </p:sp>
      <p:sp>
        <p:nvSpPr>
          <p:cNvPr id="12" name="text">
            <a:extLst xmlns:a="http://schemas.openxmlformats.org/drawingml/2006/main">
              <a:ext uri="{FF2B5EF4-FFF2-40B4-BE49-F238E27FC236}">
                <a16:creationId xmlns:a16="http://schemas.microsoft.com/office/drawing/2014/main" id="{42ADF299-5FBA-4DEF-B843-893BD50A979B}"/>
              </a:ext>
            </a:extLst>
          </p:cNvPr>
          <p:cNvSpPr>
            <a:spLocks xmlns:a="http://schemas.openxmlformats.org/drawingml/2006/main" noGrp="1"/>
          </p:cNvSpPr>
          <p:nvPr/>
        </p:nvSpPr>
        <p:spPr>
          <a:xfrm xmlns:a="http://schemas.openxmlformats.org/drawingml/2006/main">
            <a:off x="6362700" y="4086225"/>
            <a:ext cx="1143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1">
                <a:solidFill>
                  <a:srgbClr val="183044"/>
                </a:solidFill>
                <a:latin typeface="Arial"/>
                <a:ea typeface="Arial"/>
                <a:cs typeface="Arial"/>
              </a:defRPr>
            </a:defPPr>
          </a:lstStyle>
          <a:p xmlns:a="http://schemas.openxmlformats.org/drawingml/2006/main">
            <a:pPr>
              <a:defRPr sz="1350" b="1">
                <a:solidFill>
                  <a:srgbClr val="183044"/>
                </a:solidFill>
                <a:latin typeface="Arial"/>
                <a:ea typeface="Arial"/>
                <a:cs typeface="Arial"/>
              </a:defRPr>
            </a:pPr>
            <a:r>
              <a:rPr sz="1350" b="1">
                <a:solidFill>
                  <a:srgbClr val="183044"/>
                </a:solidFill>
                <a:latin typeface="Arial"/>
                <a:ea typeface="Arial"/>
                <a:cs typeface="Arial"/>
              </a:rPr>
              <a:t>Age</a:t>
            </a:r>
          </a:p>
        </p:txBody>
      </p:sp>
      <p:sp>
        <p:nvSpPr>
          <p:cNvPr id="13" name="text">
            <a:extLst xmlns:a="http://schemas.openxmlformats.org/drawingml/2006/main">
              <a:ext uri="{FF2B5EF4-FFF2-40B4-BE49-F238E27FC236}">
                <a16:creationId xmlns:a16="http://schemas.microsoft.com/office/drawing/2014/main" id="{34E0FD9B-6145-48DC-B695-0F413AD68DE1}"/>
              </a:ext>
            </a:extLst>
          </p:cNvPr>
          <p:cNvSpPr>
            <a:spLocks xmlns:a="http://schemas.openxmlformats.org/drawingml/2006/main" noGrp="1"/>
          </p:cNvSpPr>
          <p:nvPr/>
        </p:nvSpPr>
        <p:spPr>
          <a:xfrm xmlns:a="http://schemas.openxmlformats.org/drawingml/2006/main">
            <a:off x="7620000" y="4086225"/>
            <a:ext cx="95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1">
                <a:solidFill>
                  <a:srgbClr val="183044"/>
                </a:solidFill>
                <a:latin typeface="Arial"/>
                <a:ea typeface="Arial"/>
                <a:cs typeface="Arial"/>
              </a:defRPr>
            </a:defPPr>
          </a:lstStyle>
          <a:p xmlns:a="http://schemas.openxmlformats.org/drawingml/2006/main">
            <a:pPr>
              <a:defRPr sz="1275" b="1">
                <a:solidFill>
                  <a:srgbClr val="183044"/>
                </a:solidFill>
                <a:latin typeface="Arial"/>
                <a:ea typeface="Arial"/>
                <a:cs typeface="Arial"/>
              </a:defRPr>
            </a:pPr>
            <a:r>
              <a:rPr sz="1275" b="1">
                <a:solidFill>
                  <a:srgbClr val="183044"/>
                </a:solidFill>
                <a:latin typeface="Arial"/>
                <a:ea typeface="Arial"/>
                <a:cs typeface="Arial"/>
              </a:rPr>
              <a:t>&lt;20k</a:t>
            </a:r>
          </a:p>
        </p:txBody>
      </p:sp>
      <p:sp>
        <p:nvSpPr>
          <p:cNvPr id="14" name="text">
            <a:extLst xmlns:a="http://schemas.openxmlformats.org/drawingml/2006/main">
              <a:ext uri="{FF2B5EF4-FFF2-40B4-BE49-F238E27FC236}">
                <a16:creationId xmlns:a16="http://schemas.microsoft.com/office/drawing/2014/main" id="{DF835DA1-4B86-4E7D-B24B-89586F2B9267}"/>
              </a:ext>
            </a:extLst>
          </p:cNvPr>
          <p:cNvSpPr>
            <a:spLocks xmlns:a="http://schemas.openxmlformats.org/drawingml/2006/main" noGrp="1"/>
          </p:cNvSpPr>
          <p:nvPr/>
        </p:nvSpPr>
        <p:spPr>
          <a:xfrm xmlns:a="http://schemas.openxmlformats.org/drawingml/2006/main">
            <a:off x="8572500" y="4086225"/>
            <a:ext cx="95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1">
                <a:solidFill>
                  <a:srgbClr val="183044"/>
                </a:solidFill>
                <a:latin typeface="Arial"/>
                <a:ea typeface="Arial"/>
                <a:cs typeface="Arial"/>
              </a:defRPr>
            </a:defPPr>
          </a:lstStyle>
          <a:p xmlns:a="http://schemas.openxmlformats.org/drawingml/2006/main">
            <a:pPr>
              <a:defRPr sz="1275" b="1">
                <a:solidFill>
                  <a:srgbClr val="183044"/>
                </a:solidFill>
                <a:latin typeface="Arial"/>
                <a:ea typeface="Arial"/>
                <a:cs typeface="Arial"/>
              </a:defRPr>
            </a:pPr>
            <a:r>
              <a:rPr sz="1275" b="1">
                <a:solidFill>
                  <a:srgbClr val="183044"/>
                </a:solidFill>
                <a:latin typeface="Arial"/>
                <a:ea typeface="Arial"/>
                <a:cs typeface="Arial"/>
              </a:rPr>
              <a:t>20–35k</a:t>
            </a:r>
          </a:p>
        </p:txBody>
      </p:sp>
      <p:sp>
        <p:nvSpPr>
          <p:cNvPr id="15" name="text">
            <a:extLst xmlns:a="http://schemas.openxmlformats.org/drawingml/2006/main">
              <a:ext uri="{FF2B5EF4-FFF2-40B4-BE49-F238E27FC236}">
                <a16:creationId xmlns:a16="http://schemas.microsoft.com/office/drawing/2014/main" id="{E87CBD1C-46B2-4444-B735-F62391640F3C}"/>
              </a:ext>
            </a:extLst>
          </p:cNvPr>
          <p:cNvSpPr>
            <a:spLocks xmlns:a="http://schemas.openxmlformats.org/drawingml/2006/main" noGrp="1"/>
          </p:cNvSpPr>
          <p:nvPr/>
        </p:nvSpPr>
        <p:spPr>
          <a:xfrm xmlns:a="http://schemas.openxmlformats.org/drawingml/2006/main">
            <a:off x="9525000" y="4086225"/>
            <a:ext cx="95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1">
                <a:solidFill>
                  <a:srgbClr val="183044"/>
                </a:solidFill>
                <a:latin typeface="Arial"/>
                <a:ea typeface="Arial"/>
                <a:cs typeface="Arial"/>
              </a:defRPr>
            </a:defPPr>
          </a:lstStyle>
          <a:p xmlns:a="http://schemas.openxmlformats.org/drawingml/2006/main">
            <a:pPr>
              <a:defRPr sz="1275" b="1">
                <a:solidFill>
                  <a:srgbClr val="183044"/>
                </a:solidFill>
                <a:latin typeface="Arial"/>
                <a:ea typeface="Arial"/>
                <a:cs typeface="Arial"/>
              </a:defRPr>
            </a:pPr>
            <a:r>
              <a:rPr sz="1275" b="1">
                <a:solidFill>
                  <a:srgbClr val="183044"/>
                </a:solidFill>
                <a:latin typeface="Arial"/>
                <a:ea typeface="Arial"/>
                <a:cs typeface="Arial"/>
              </a:rPr>
              <a:t>35–75k</a:t>
            </a:r>
          </a:p>
        </p:txBody>
      </p:sp>
      <p:sp>
        <p:nvSpPr>
          <p:cNvPr id="16" name="text">
            <a:extLst xmlns:a="http://schemas.openxmlformats.org/drawingml/2006/main">
              <a:ext uri="{FF2B5EF4-FFF2-40B4-BE49-F238E27FC236}">
                <a16:creationId xmlns:a16="http://schemas.microsoft.com/office/drawing/2014/main" id="{B853CD73-EA91-40DD-8915-71A26D4AC666}"/>
              </a:ext>
            </a:extLst>
          </p:cNvPr>
          <p:cNvSpPr>
            <a:spLocks xmlns:a="http://schemas.openxmlformats.org/drawingml/2006/main" noGrp="1"/>
          </p:cNvSpPr>
          <p:nvPr/>
        </p:nvSpPr>
        <p:spPr>
          <a:xfrm xmlns:a="http://schemas.openxmlformats.org/drawingml/2006/main">
            <a:off x="10477500" y="4086225"/>
            <a:ext cx="952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1">
                <a:solidFill>
                  <a:srgbClr val="183044"/>
                </a:solidFill>
                <a:latin typeface="Arial"/>
                <a:ea typeface="Arial"/>
                <a:cs typeface="Arial"/>
              </a:defRPr>
            </a:defPPr>
          </a:lstStyle>
          <a:p xmlns:a="http://schemas.openxmlformats.org/drawingml/2006/main">
            <a:pPr>
              <a:defRPr sz="1275" b="1">
                <a:solidFill>
                  <a:srgbClr val="183044"/>
                </a:solidFill>
                <a:latin typeface="Arial"/>
                <a:ea typeface="Arial"/>
                <a:cs typeface="Arial"/>
              </a:defRPr>
            </a:pPr>
            <a:r>
              <a:rPr sz="1275" b="1">
                <a:solidFill>
                  <a:srgbClr val="183044"/>
                </a:solidFill>
                <a:latin typeface="Arial"/>
                <a:ea typeface="Arial"/>
                <a:cs typeface="Arial"/>
              </a:rPr>
              <a:t>75k+</a:t>
            </a:r>
          </a:p>
        </p:txBody>
      </p:sp>
      <p:sp>
        <p:nvSpPr>
          <p:cNvPr id="17" name="text">
            <a:extLst xmlns:a="http://schemas.openxmlformats.org/drawingml/2006/main">
              <a:ext uri="{FF2B5EF4-FFF2-40B4-BE49-F238E27FC236}">
                <a16:creationId xmlns:a16="http://schemas.microsoft.com/office/drawing/2014/main" id="{5DB873A6-78EA-454D-8128-F14D278EAF65}"/>
              </a:ext>
            </a:extLst>
          </p:cNvPr>
          <p:cNvSpPr>
            <a:spLocks xmlns:a="http://schemas.openxmlformats.org/drawingml/2006/main" noGrp="1"/>
          </p:cNvSpPr>
          <p:nvPr/>
        </p:nvSpPr>
        <p:spPr>
          <a:xfrm xmlns:a="http://schemas.openxmlformats.org/drawingml/2006/main">
            <a:off x="6362700" y="4467225"/>
            <a:ext cx="12096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183044"/>
                </a:solidFill>
                <a:latin typeface="Arial"/>
                <a:ea typeface="Arial"/>
                <a:cs typeface="Arial"/>
              </a:defRPr>
            </a:defPPr>
          </a:lstStyle>
          <a:p xmlns:a="http://schemas.openxmlformats.org/drawingml/2006/main">
            <a:pPr>
              <a:defRPr sz="1500" b="0">
                <a:solidFill>
                  <a:srgbClr val="183044"/>
                </a:solidFill>
                <a:latin typeface="Arial"/>
                <a:ea typeface="Arial"/>
                <a:cs typeface="Arial"/>
              </a:defRPr>
            </a:pPr>
            <a:r>
              <a:rPr sz="1500" b="0">
                <a:solidFill>
                  <a:srgbClr val="183044"/>
                </a:solidFill>
                <a:latin typeface="Arial"/>
                <a:ea typeface="Arial"/>
                <a:cs typeface="Arial"/>
              </a:rPr>
              <a:t>18–39</a:t>
            </a:r>
          </a:p>
        </p:txBody>
      </p:sp>
      <p:sp>
        <p:nvSpPr>
          <p:cNvPr id="18" name="text">
            <a:extLst xmlns:a="http://schemas.openxmlformats.org/drawingml/2006/main">
              <a:ext uri="{FF2B5EF4-FFF2-40B4-BE49-F238E27FC236}">
                <a16:creationId xmlns:a16="http://schemas.microsoft.com/office/drawing/2014/main" id="{CC941876-B2F9-42F6-BAFE-BCFCF5FB76A0}"/>
              </a:ext>
            </a:extLst>
          </p:cNvPr>
          <p:cNvSpPr>
            <a:spLocks xmlns:a="http://schemas.openxmlformats.org/drawingml/2006/main" noGrp="1"/>
          </p:cNvSpPr>
          <p:nvPr/>
        </p:nvSpPr>
        <p:spPr>
          <a:xfrm xmlns:a="http://schemas.openxmlformats.org/drawingml/2006/main">
            <a:off x="6362700" y="4829175"/>
            <a:ext cx="12096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183044"/>
                </a:solidFill>
                <a:latin typeface="Arial"/>
                <a:ea typeface="Arial"/>
                <a:cs typeface="Arial"/>
              </a:defRPr>
            </a:defPPr>
          </a:lstStyle>
          <a:p xmlns:a="http://schemas.openxmlformats.org/drawingml/2006/main">
            <a:pPr>
              <a:defRPr sz="1500" b="0">
                <a:solidFill>
                  <a:srgbClr val="183044"/>
                </a:solidFill>
                <a:latin typeface="Arial"/>
                <a:ea typeface="Arial"/>
                <a:cs typeface="Arial"/>
              </a:defRPr>
            </a:pPr>
            <a:r>
              <a:rPr sz="1500" b="0">
                <a:solidFill>
                  <a:srgbClr val="183044"/>
                </a:solidFill>
                <a:latin typeface="Arial"/>
                <a:ea typeface="Arial"/>
                <a:cs typeface="Arial"/>
              </a:rPr>
              <a:t>40–54</a:t>
            </a:r>
          </a:p>
        </p:txBody>
      </p:sp>
      <p:sp>
        <p:nvSpPr>
          <p:cNvPr id="19" name="text">
            <a:extLst xmlns:a="http://schemas.openxmlformats.org/drawingml/2006/main">
              <a:ext uri="{FF2B5EF4-FFF2-40B4-BE49-F238E27FC236}">
                <a16:creationId xmlns:a16="http://schemas.microsoft.com/office/drawing/2014/main" id="{A49A9832-7220-45B6-B3B8-276E88242E45}"/>
              </a:ext>
            </a:extLst>
          </p:cNvPr>
          <p:cNvSpPr>
            <a:spLocks xmlns:a="http://schemas.openxmlformats.org/drawingml/2006/main" noGrp="1"/>
          </p:cNvSpPr>
          <p:nvPr/>
        </p:nvSpPr>
        <p:spPr>
          <a:xfrm xmlns:a="http://schemas.openxmlformats.org/drawingml/2006/main">
            <a:off x="6362700" y="5191125"/>
            <a:ext cx="12096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183044"/>
                </a:solidFill>
                <a:latin typeface="Arial"/>
                <a:ea typeface="Arial"/>
                <a:cs typeface="Arial"/>
              </a:defRPr>
            </a:defPPr>
          </a:lstStyle>
          <a:p xmlns:a="http://schemas.openxmlformats.org/drawingml/2006/main">
            <a:pPr>
              <a:defRPr sz="1500" b="0">
                <a:solidFill>
                  <a:srgbClr val="183044"/>
                </a:solidFill>
                <a:latin typeface="Arial"/>
                <a:ea typeface="Arial"/>
                <a:cs typeface="Arial"/>
              </a:defRPr>
            </a:pPr>
            <a:r>
              <a:rPr sz="1500" b="0">
                <a:solidFill>
                  <a:srgbClr val="183044"/>
                </a:solidFill>
                <a:latin typeface="Arial"/>
                <a:ea typeface="Arial"/>
                <a:cs typeface="Arial"/>
              </a:rPr>
              <a:t>55–69</a:t>
            </a:r>
          </a:p>
        </p:txBody>
      </p:sp>
      <p:sp>
        <p:nvSpPr>
          <p:cNvPr id="20" name="text">
            <a:extLst xmlns:a="http://schemas.openxmlformats.org/drawingml/2006/main">
              <a:ext uri="{FF2B5EF4-FFF2-40B4-BE49-F238E27FC236}">
                <a16:creationId xmlns:a16="http://schemas.microsoft.com/office/drawing/2014/main" id="{BF65BDDD-7238-45B7-900D-47C5353DAF79}"/>
              </a:ext>
            </a:extLst>
          </p:cNvPr>
          <p:cNvSpPr>
            <a:spLocks xmlns:a="http://schemas.openxmlformats.org/drawingml/2006/main" noGrp="1"/>
          </p:cNvSpPr>
          <p:nvPr/>
        </p:nvSpPr>
        <p:spPr>
          <a:xfrm xmlns:a="http://schemas.openxmlformats.org/drawingml/2006/main">
            <a:off x="6362700" y="5553075"/>
            <a:ext cx="120967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0">
                <a:solidFill>
                  <a:srgbClr val="183044"/>
                </a:solidFill>
                <a:latin typeface="Arial"/>
                <a:ea typeface="Arial"/>
                <a:cs typeface="Arial"/>
              </a:defRPr>
            </a:defPPr>
          </a:lstStyle>
          <a:p xmlns:a="http://schemas.openxmlformats.org/drawingml/2006/main">
            <a:pPr>
              <a:defRPr sz="1500" b="0">
                <a:solidFill>
                  <a:srgbClr val="183044"/>
                </a:solidFill>
                <a:latin typeface="Arial"/>
                <a:ea typeface="Arial"/>
                <a:cs typeface="Arial"/>
              </a:defRPr>
            </a:pPr>
            <a:r>
              <a:rPr sz="1500" b="0">
                <a:solidFill>
                  <a:srgbClr val="183044"/>
                </a:solidFill>
                <a:latin typeface="Arial"/>
                <a:ea typeface="Arial"/>
                <a:cs typeface="Arial"/>
              </a:rPr>
              <a:t>70+</a:t>
            </a:r>
          </a:p>
        </p:txBody>
      </p:sp>
      <p:graphicFrame>
        <p:nvGraphicFramePr>
          <p:cNvPr id="21" name="">
            <a:extLst xmlns:a="http://schemas.openxmlformats.org/drawingml/2006/main">
              <a:ext uri="{FF2B5EF4-FFF2-40B4-BE49-F238E27FC236}">
                <a16:creationId xmlns:a16="http://schemas.microsoft.com/office/drawing/2014/main" id="{F025724A-3473-4434-ABAF-D2C2D5113EBB}"/>
              </a:ext>
            </a:extLst>
          </p:cNvPr>
          <p:cNvGraphicFramePr/>
          <p:nvPr/>
        </p:nvGraphicFramePr>
        <p:xfrm>
          <a:off xmlns:a="http://schemas.openxmlformats.org/drawingml/2006/main" x="7620000" y="4429125"/>
          <a:ext xmlns:a="http://schemas.openxmlformats.org/drawingml/2006/main" cx="3810000" cy="1447800"/>
        </p:xfrm>
        <a:graphic xmlns:a="http://schemas.openxmlformats.org/drawingml/2006/main">
          <a:graphicData uri="http://schemas.openxmlformats.org/drawingml/2006/table">
            <a:tbl>
              <a:tblPr/>
              <a:tblGrid>
                <a:gridCol w="952500"/>
                <a:gridCol w="952500"/>
                <a:gridCol w="952500"/>
                <a:gridCol w="952500"/>
              </a:tblGrid>
              <a:tr h="361950">
                <a:tc>
                  <a:txBody>
                    <a:bodyPr>
                      <a:noAutofit/>
                    </a:bodyPr>
                    <a:lstStyle/>
                    <a:p>
                      <a:pPr algn="ctr"/>
                      <a:r>
                        <a:rPr sz="1650" b="1">
                          <a:solidFill>
                            <a:srgbClr val="FFFFFF"/>
                          </a:solidFill>
                          <a:latin typeface="Arial"/>
                          <a:ea typeface="Arial"/>
                          <a:cs typeface="Arial"/>
                        </a:rPr>
                        <a:t>A</a:t>
                      </a:r>
                    </a:p>
                  </a:txBody>
                  <a:tcPr marL="91440" marR="91440" marT="45720" marB="45720">
                    <a:lnL w="9525">
                      <a:solidFill>
                        <a:srgbClr val="D6E0E5"/>
                      </a:solidFill>
                      <a:prstDash val="solid"/>
                    </a:lnL>
                    <a:lnR w="9525">
                      <a:solidFill>
                        <a:srgbClr val="D6E0E5"/>
                      </a:solidFill>
                      <a:prstDash val="solid"/>
                    </a:lnR>
                    <a:lnT w="9525">
                      <a:solidFill>
                        <a:srgbClr val="D6E0E5"/>
                      </a:solidFill>
                      <a:prstDash val="solid"/>
                    </a:lnT>
                    <a:lnB w="9525">
                      <a:solidFill>
                        <a:srgbClr val="D6E0E5"/>
                      </a:solidFill>
                      <a:prstDash val="solid"/>
                    </a:lnB>
                    <a:solidFill>
                      <a:srgbClr val="176D8C"/>
                    </a:solidFill>
                  </a:tcPr>
                </a:tc>
                <a:tc>
                  <a:txBody>
                    <a:bodyPr>
                      <a:noAutofit/>
                    </a:bodyPr>
                    <a:lstStyle/>
                    <a:p>
                      <a:pPr algn="ctr"/>
                      <a:r>
                        <a:rPr sz="1650" b="1">
                          <a:solidFill>
                            <a:srgbClr val="183044"/>
                          </a:solidFill>
                          <a:latin typeface="Arial"/>
                          <a:ea typeface="Arial"/>
                          <a:cs typeface="Arial"/>
                        </a:rPr>
                        <a:t>B</a:t>
                      </a:r>
                    </a:p>
                  </a:txBody>
                  <a:tcPr marL="91440" marR="91440" marT="45720" marB="45720">
                    <a:lnR w="9525">
                      <a:solidFill>
                        <a:srgbClr val="D6E0E5"/>
                      </a:solidFill>
                      <a:prstDash val="solid"/>
                    </a:lnR>
                    <a:lnT w="9525">
                      <a:solidFill>
                        <a:srgbClr val="D6E0E5"/>
                      </a:solidFill>
                      <a:prstDash val="solid"/>
                    </a:lnT>
                    <a:lnB w="9525">
                      <a:solidFill>
                        <a:srgbClr val="D6E0E5"/>
                      </a:solidFill>
                      <a:prstDash val="solid"/>
                    </a:lnB>
                    <a:solidFill>
                      <a:srgbClr val="D0E4ED"/>
                    </a:solidFill>
                  </a:tcPr>
                </a:tc>
                <a:tc>
                  <a:txBody>
                    <a:bodyPr>
                      <a:noAutofit/>
                    </a:bodyPr>
                    <a:lstStyle/>
                    <a:p>
                      <a:pPr algn="ctr"/>
                      <a:r>
                        <a:rPr sz="1650" b="1">
                          <a:solidFill>
                            <a:srgbClr val="183044"/>
                          </a:solidFill>
                          <a:latin typeface="Arial"/>
                          <a:ea typeface="Arial"/>
                          <a:cs typeface="Arial"/>
                        </a:rPr>
                        <a:t>C</a:t>
                      </a:r>
                    </a:p>
                  </a:txBody>
                  <a:tcPr marL="91440" marR="91440" marT="45720" marB="45720">
                    <a:lnR w="9525">
                      <a:solidFill>
                        <a:srgbClr val="D6E0E5"/>
                      </a:solidFill>
                      <a:prstDash val="solid"/>
                    </a:lnR>
                    <a:lnT w="9525">
                      <a:solidFill>
                        <a:srgbClr val="D6E0E5"/>
                      </a:solidFill>
                      <a:prstDash val="solid"/>
                    </a:lnT>
                    <a:lnB w="9525">
                      <a:solidFill>
                        <a:srgbClr val="D6E0E5"/>
                      </a:solidFill>
                      <a:prstDash val="solid"/>
                    </a:lnB>
                    <a:solidFill>
                      <a:srgbClr val="B9D6E2"/>
                    </a:solidFill>
                  </a:tcPr>
                </a:tc>
                <a:tc>
                  <a:txBody>
                    <a:bodyPr>
                      <a:noAutofit/>
                    </a:bodyPr>
                    <a:lstStyle/>
                    <a:p>
                      <a:pPr algn="ctr"/>
                      <a:r>
                        <a:rPr sz="1650" b="1">
                          <a:solidFill>
                            <a:srgbClr val="183044"/>
                          </a:solidFill>
                          <a:latin typeface="Arial"/>
                          <a:ea typeface="Arial"/>
                          <a:cs typeface="Arial"/>
                        </a:rPr>
                        <a:t>D</a:t>
                      </a:r>
                    </a:p>
                  </a:txBody>
                  <a:tcPr marL="91440" marR="91440" marT="45720" marB="45720">
                    <a:lnR w="9525">
                      <a:solidFill>
                        <a:srgbClr val="D6E0E5"/>
                      </a:solidFill>
                      <a:prstDash val="solid"/>
                    </a:lnR>
                    <a:lnT w="9525">
                      <a:solidFill>
                        <a:srgbClr val="D6E0E5"/>
                      </a:solidFill>
                      <a:prstDash val="solid"/>
                    </a:lnT>
                    <a:lnB w="9525">
                      <a:solidFill>
                        <a:srgbClr val="D6E0E5"/>
                      </a:solidFill>
                      <a:prstDash val="solid"/>
                    </a:lnB>
                    <a:solidFill>
                      <a:srgbClr val="EAF2F5"/>
                    </a:solidFill>
                  </a:tcPr>
                </a:tc>
              </a:tr>
              <a:tr h="361950">
                <a:tc>
                  <a:txBody>
                    <a:bodyPr>
                      <a:noAutofit/>
                    </a:bodyPr>
                    <a:lstStyle/>
                    <a:p>
                      <a:pPr algn="ctr"/>
                      <a:r>
                        <a:rPr sz="1650" b="1">
                          <a:solidFill>
                            <a:srgbClr val="183044"/>
                          </a:solidFill>
                          <a:latin typeface="Arial"/>
                          <a:ea typeface="Arial"/>
                          <a:cs typeface="Arial"/>
                        </a:rPr>
                        <a:t>B</a:t>
                      </a:r>
                    </a:p>
                  </a:txBody>
                  <a:tcPr marL="91440" marR="91440" marT="45720" marB="45720">
                    <a:lnL w="9525">
                      <a:solidFill>
                        <a:srgbClr val="D6E0E5"/>
                      </a:solidFill>
                      <a:prstDash val="solid"/>
                    </a:lnL>
                    <a:lnR w="9525">
                      <a:solidFill>
                        <a:srgbClr val="D6E0E5"/>
                      </a:solidFill>
                      <a:prstDash val="solid"/>
                    </a:lnR>
                    <a:lnB w="9525">
                      <a:solidFill>
                        <a:srgbClr val="D6E0E5"/>
                      </a:solidFill>
                      <a:prstDash val="solid"/>
                    </a:lnB>
                    <a:solidFill>
                      <a:srgbClr val="D0E4ED"/>
                    </a:solidFill>
                  </a:tcPr>
                </a:tc>
                <a:tc>
                  <a:txBody>
                    <a:bodyPr>
                      <a:noAutofit/>
                    </a:bodyPr>
                    <a:lstStyle/>
                    <a:p>
                      <a:pPr algn="ctr"/>
                      <a:r>
                        <a:rPr sz="1650" b="1">
                          <a:solidFill>
                            <a:srgbClr val="183044"/>
                          </a:solidFill>
                          <a:latin typeface="Arial"/>
                          <a:ea typeface="Arial"/>
                          <a:cs typeface="Arial"/>
                        </a:rPr>
                        <a:t>C</a:t>
                      </a:r>
                    </a:p>
                  </a:txBody>
                  <a:tcPr marL="91440" marR="91440" marT="45720" marB="45720">
                    <a:lnR w="9525">
                      <a:solidFill>
                        <a:srgbClr val="D6E0E5"/>
                      </a:solidFill>
                      <a:prstDash val="solid"/>
                    </a:lnR>
                    <a:lnB w="9525">
                      <a:solidFill>
                        <a:srgbClr val="D6E0E5"/>
                      </a:solidFill>
                      <a:prstDash val="solid"/>
                    </a:lnB>
                    <a:solidFill>
                      <a:srgbClr val="B9D6E2"/>
                    </a:solidFill>
                  </a:tcPr>
                </a:tc>
                <a:tc>
                  <a:txBody>
                    <a:bodyPr>
                      <a:noAutofit/>
                    </a:bodyPr>
                    <a:lstStyle/>
                    <a:p>
                      <a:pPr algn="ctr"/>
                      <a:r>
                        <a:rPr sz="1650" b="1">
                          <a:solidFill>
                            <a:srgbClr val="183044"/>
                          </a:solidFill>
                          <a:latin typeface="Arial"/>
                          <a:ea typeface="Arial"/>
                          <a:cs typeface="Arial"/>
                        </a:rPr>
                        <a:t>D</a:t>
                      </a:r>
                    </a:p>
                  </a:txBody>
                  <a:tcPr marL="91440" marR="91440" marT="45720" marB="45720">
                    <a:lnR w="9525">
                      <a:solidFill>
                        <a:srgbClr val="D6E0E5"/>
                      </a:solidFill>
                      <a:prstDash val="solid"/>
                    </a:lnR>
                    <a:lnB w="9525">
                      <a:solidFill>
                        <a:srgbClr val="D6E0E5"/>
                      </a:solidFill>
                      <a:prstDash val="solid"/>
                    </a:lnB>
                    <a:solidFill>
                      <a:srgbClr val="EAF2F5"/>
                    </a:solidFill>
                  </a:tcPr>
                </a:tc>
                <a:tc>
                  <a:txBody>
                    <a:bodyPr>
                      <a:noAutofit/>
                    </a:bodyPr>
                    <a:lstStyle/>
                    <a:p>
                      <a:pPr algn="ctr"/>
                      <a:r>
                        <a:rPr sz="1650" b="1">
                          <a:solidFill>
                            <a:srgbClr val="FFFFFF"/>
                          </a:solidFill>
                          <a:latin typeface="Arial"/>
                          <a:ea typeface="Arial"/>
                          <a:cs typeface="Arial"/>
                        </a:rPr>
                        <a:t>A</a:t>
                      </a:r>
                    </a:p>
                  </a:txBody>
                  <a:tcPr marL="91440" marR="91440" marT="45720" marB="45720">
                    <a:lnR w="9525">
                      <a:solidFill>
                        <a:srgbClr val="D6E0E5"/>
                      </a:solidFill>
                      <a:prstDash val="solid"/>
                    </a:lnR>
                    <a:lnB w="9525">
                      <a:solidFill>
                        <a:srgbClr val="D6E0E5"/>
                      </a:solidFill>
                      <a:prstDash val="solid"/>
                    </a:lnB>
                    <a:solidFill>
                      <a:srgbClr val="176D8C"/>
                    </a:solidFill>
                  </a:tcPr>
                </a:tc>
              </a:tr>
              <a:tr h="361950">
                <a:tc>
                  <a:txBody>
                    <a:bodyPr>
                      <a:noAutofit/>
                    </a:bodyPr>
                    <a:lstStyle/>
                    <a:p>
                      <a:pPr algn="ctr"/>
                      <a:r>
                        <a:rPr sz="1650" b="1">
                          <a:solidFill>
                            <a:srgbClr val="183044"/>
                          </a:solidFill>
                          <a:latin typeface="Arial"/>
                          <a:ea typeface="Arial"/>
                          <a:cs typeface="Arial"/>
                        </a:rPr>
                        <a:t>C</a:t>
                      </a:r>
                    </a:p>
                  </a:txBody>
                  <a:tcPr marL="91440" marR="91440" marT="45720" marB="45720">
                    <a:lnL w="9525">
                      <a:solidFill>
                        <a:srgbClr val="D6E0E5"/>
                      </a:solidFill>
                      <a:prstDash val="solid"/>
                    </a:lnL>
                    <a:lnR w="9525">
                      <a:solidFill>
                        <a:srgbClr val="D6E0E5"/>
                      </a:solidFill>
                      <a:prstDash val="solid"/>
                    </a:lnR>
                    <a:lnB w="9525">
                      <a:solidFill>
                        <a:srgbClr val="D6E0E5"/>
                      </a:solidFill>
                      <a:prstDash val="solid"/>
                    </a:lnB>
                    <a:solidFill>
                      <a:srgbClr val="B9D6E2"/>
                    </a:solidFill>
                  </a:tcPr>
                </a:tc>
                <a:tc>
                  <a:txBody>
                    <a:bodyPr>
                      <a:noAutofit/>
                    </a:bodyPr>
                    <a:lstStyle/>
                    <a:p>
                      <a:pPr algn="ctr"/>
                      <a:r>
                        <a:rPr sz="1650" b="1">
                          <a:solidFill>
                            <a:srgbClr val="183044"/>
                          </a:solidFill>
                          <a:latin typeface="Arial"/>
                          <a:ea typeface="Arial"/>
                          <a:cs typeface="Arial"/>
                        </a:rPr>
                        <a:t>D</a:t>
                      </a:r>
                    </a:p>
                  </a:txBody>
                  <a:tcPr marL="91440" marR="91440" marT="45720" marB="45720">
                    <a:lnR w="9525">
                      <a:solidFill>
                        <a:srgbClr val="D6E0E5"/>
                      </a:solidFill>
                      <a:prstDash val="solid"/>
                    </a:lnR>
                    <a:lnB w="9525">
                      <a:solidFill>
                        <a:srgbClr val="D6E0E5"/>
                      </a:solidFill>
                      <a:prstDash val="solid"/>
                    </a:lnB>
                    <a:solidFill>
                      <a:srgbClr val="EAF2F5"/>
                    </a:solidFill>
                  </a:tcPr>
                </a:tc>
                <a:tc>
                  <a:txBody>
                    <a:bodyPr>
                      <a:noAutofit/>
                    </a:bodyPr>
                    <a:lstStyle/>
                    <a:p>
                      <a:pPr algn="ctr"/>
                      <a:r>
                        <a:rPr sz="1650" b="1">
                          <a:solidFill>
                            <a:srgbClr val="FFFFFF"/>
                          </a:solidFill>
                          <a:latin typeface="Arial"/>
                          <a:ea typeface="Arial"/>
                          <a:cs typeface="Arial"/>
                        </a:rPr>
                        <a:t>A</a:t>
                      </a:r>
                    </a:p>
                  </a:txBody>
                  <a:tcPr marL="91440" marR="91440" marT="45720" marB="45720">
                    <a:lnR w="9525">
                      <a:solidFill>
                        <a:srgbClr val="D6E0E5"/>
                      </a:solidFill>
                      <a:prstDash val="solid"/>
                    </a:lnR>
                    <a:lnB w="9525">
                      <a:solidFill>
                        <a:srgbClr val="D6E0E5"/>
                      </a:solidFill>
                      <a:prstDash val="solid"/>
                    </a:lnB>
                    <a:solidFill>
                      <a:srgbClr val="176D8C"/>
                    </a:solidFill>
                  </a:tcPr>
                </a:tc>
                <a:tc>
                  <a:txBody>
                    <a:bodyPr>
                      <a:noAutofit/>
                    </a:bodyPr>
                    <a:lstStyle/>
                    <a:p>
                      <a:pPr algn="ctr"/>
                      <a:r>
                        <a:rPr sz="1650" b="1">
                          <a:solidFill>
                            <a:srgbClr val="183044"/>
                          </a:solidFill>
                          <a:latin typeface="Arial"/>
                          <a:ea typeface="Arial"/>
                          <a:cs typeface="Arial"/>
                        </a:rPr>
                        <a:t>B</a:t>
                      </a:r>
                    </a:p>
                  </a:txBody>
                  <a:tcPr marL="91440" marR="91440" marT="45720" marB="45720">
                    <a:lnR w="9525">
                      <a:solidFill>
                        <a:srgbClr val="D6E0E5"/>
                      </a:solidFill>
                      <a:prstDash val="solid"/>
                    </a:lnR>
                    <a:lnB w="9525">
                      <a:solidFill>
                        <a:srgbClr val="D6E0E5"/>
                      </a:solidFill>
                      <a:prstDash val="solid"/>
                    </a:lnB>
                    <a:solidFill>
                      <a:srgbClr val="D0E4ED"/>
                    </a:solidFill>
                  </a:tcPr>
                </a:tc>
              </a:tr>
              <a:tr h="361950">
                <a:tc>
                  <a:txBody>
                    <a:bodyPr>
                      <a:noAutofit/>
                    </a:bodyPr>
                    <a:lstStyle/>
                    <a:p>
                      <a:pPr algn="ctr"/>
                      <a:r>
                        <a:rPr sz="1650" b="1">
                          <a:solidFill>
                            <a:srgbClr val="183044"/>
                          </a:solidFill>
                          <a:latin typeface="Arial"/>
                          <a:ea typeface="Arial"/>
                          <a:cs typeface="Arial"/>
                        </a:rPr>
                        <a:t>D</a:t>
                      </a:r>
                    </a:p>
                  </a:txBody>
                  <a:tcPr marL="91440" marR="91440" marT="45720" marB="45720">
                    <a:lnL w="9525">
                      <a:solidFill>
                        <a:srgbClr val="D6E0E5"/>
                      </a:solidFill>
                      <a:prstDash val="solid"/>
                    </a:lnL>
                    <a:lnR w="9525">
                      <a:solidFill>
                        <a:srgbClr val="D6E0E5"/>
                      </a:solidFill>
                      <a:prstDash val="solid"/>
                    </a:lnR>
                    <a:lnB w="9525">
                      <a:solidFill>
                        <a:srgbClr val="D6E0E5"/>
                      </a:solidFill>
                      <a:prstDash val="solid"/>
                    </a:lnB>
                    <a:solidFill>
                      <a:srgbClr val="EAF2F5"/>
                    </a:solidFill>
                  </a:tcPr>
                </a:tc>
                <a:tc>
                  <a:txBody>
                    <a:bodyPr>
                      <a:noAutofit/>
                    </a:bodyPr>
                    <a:lstStyle/>
                    <a:p>
                      <a:pPr algn="ctr"/>
                      <a:r>
                        <a:rPr sz="1650" b="1">
                          <a:solidFill>
                            <a:srgbClr val="FFFFFF"/>
                          </a:solidFill>
                          <a:latin typeface="Arial"/>
                          <a:ea typeface="Arial"/>
                          <a:cs typeface="Arial"/>
                        </a:rPr>
                        <a:t>A</a:t>
                      </a:r>
                    </a:p>
                  </a:txBody>
                  <a:tcPr marL="91440" marR="91440" marT="45720" marB="45720">
                    <a:lnR w="9525">
                      <a:solidFill>
                        <a:srgbClr val="D6E0E5"/>
                      </a:solidFill>
                      <a:prstDash val="solid"/>
                    </a:lnR>
                    <a:lnB w="9525">
                      <a:solidFill>
                        <a:srgbClr val="D6E0E5"/>
                      </a:solidFill>
                      <a:prstDash val="solid"/>
                    </a:lnB>
                    <a:solidFill>
                      <a:srgbClr val="176D8C"/>
                    </a:solidFill>
                  </a:tcPr>
                </a:tc>
                <a:tc>
                  <a:txBody>
                    <a:bodyPr>
                      <a:noAutofit/>
                    </a:bodyPr>
                    <a:lstStyle/>
                    <a:p>
                      <a:pPr algn="ctr"/>
                      <a:r>
                        <a:rPr sz="1650" b="1">
                          <a:solidFill>
                            <a:srgbClr val="183044"/>
                          </a:solidFill>
                          <a:latin typeface="Arial"/>
                          <a:ea typeface="Arial"/>
                          <a:cs typeface="Arial"/>
                        </a:rPr>
                        <a:t>B</a:t>
                      </a:r>
                    </a:p>
                  </a:txBody>
                  <a:tcPr marL="91440" marR="91440" marT="45720" marB="45720">
                    <a:lnR w="9525">
                      <a:solidFill>
                        <a:srgbClr val="D6E0E5"/>
                      </a:solidFill>
                      <a:prstDash val="solid"/>
                    </a:lnR>
                    <a:lnB w="9525">
                      <a:solidFill>
                        <a:srgbClr val="D6E0E5"/>
                      </a:solidFill>
                      <a:prstDash val="solid"/>
                    </a:lnB>
                    <a:solidFill>
                      <a:srgbClr val="D0E4ED"/>
                    </a:solidFill>
                  </a:tcPr>
                </a:tc>
                <a:tc>
                  <a:txBody>
                    <a:bodyPr>
                      <a:noAutofit/>
                    </a:bodyPr>
                    <a:lstStyle/>
                    <a:p>
                      <a:pPr algn="ctr"/>
                      <a:r>
                        <a:rPr sz="1650" b="1">
                          <a:solidFill>
                            <a:srgbClr val="183044"/>
                          </a:solidFill>
                          <a:latin typeface="Arial"/>
                          <a:ea typeface="Arial"/>
                          <a:cs typeface="Arial"/>
                        </a:rPr>
                        <a:t>C</a:t>
                      </a:r>
                    </a:p>
                  </a:txBody>
                  <a:tcPr marL="91440" marR="91440" marT="45720" marB="45720">
                    <a:lnR w="9525">
                      <a:solidFill>
                        <a:srgbClr val="D6E0E5"/>
                      </a:solidFill>
                      <a:prstDash val="solid"/>
                    </a:lnR>
                    <a:lnB w="9525">
                      <a:solidFill>
                        <a:srgbClr val="D6E0E5"/>
                      </a:solidFill>
                      <a:prstDash val="solid"/>
                    </a:lnB>
                    <a:solidFill>
                      <a:srgbClr val="B9D6E2"/>
                    </a:solidFill>
                  </a:tcPr>
                </a:tc>
              </a:tr>
            </a:tbl>
          </a:graphicData>
        </a:graphic>
      </p:graphicFrame>
      <p:sp>
        <p:nvSpPr>
          <p:cNvPr id="22" name="text">
            <a:extLst xmlns:a="http://schemas.openxmlformats.org/drawingml/2006/main">
              <a:ext uri="{FF2B5EF4-FFF2-40B4-BE49-F238E27FC236}">
                <a16:creationId xmlns:a16="http://schemas.microsoft.com/office/drawing/2014/main" id="{7099BA5C-21A9-497E-ADDF-4CBDCD5B9E52}"/>
              </a:ext>
            </a:extLst>
          </p:cNvPr>
          <p:cNvSpPr>
            <a:spLocks xmlns:a="http://schemas.openxmlformats.org/drawingml/2006/main" noGrp="1"/>
          </p:cNvSpPr>
          <p:nvPr/>
        </p:nvSpPr>
        <p:spPr>
          <a:xfrm xmlns:a="http://schemas.openxmlformats.org/drawingml/2006/main">
            <a:off x="6362700" y="5924550"/>
            <a:ext cx="54483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183044"/>
                </a:solidFill>
                <a:latin typeface="Arial"/>
                <a:ea typeface="Arial"/>
                <a:cs typeface="Arial"/>
              </a:defRPr>
            </a:defPPr>
          </a:lstStyle>
          <a:p xmlns:a="http://schemas.openxmlformats.org/drawingml/2006/main">
            <a:pPr>
              <a:defRPr sz="1200" b="0">
                <a:solidFill>
                  <a:srgbClr val="183044"/>
                </a:solidFill>
                <a:latin typeface="Arial"/>
                <a:ea typeface="Arial"/>
                <a:cs typeface="Arial"/>
              </a:defRPr>
            </a:pPr>
            <a:r>
              <a:rPr sz="1200" b="0">
                <a:solidFill>
                  <a:srgbClr val="183044"/>
                </a:solidFill>
                <a:latin typeface="Arial"/>
                <a:ea typeface="Arial"/>
                <a:cs typeface="Arial"/>
              </a:rPr>
              <a:t>A Some HS, B High school, C Some college, D Graduate.</a:t>
            </a:r>
          </a:p>
        </p:txBody>
      </p:sp>
      <p:sp>
        <p:nvSpPr>
          <p:cNvPr id="23" name="">
            <a:extLst xmlns:a="http://schemas.openxmlformats.org/drawingml/2006/main">
              <a:ext uri="{FF2B5EF4-FFF2-40B4-BE49-F238E27FC236}">
                <a16:creationId xmlns:a16="http://schemas.microsoft.com/office/drawing/2014/main" id="{B971E844-6979-4FB3-8142-A032F7C73189}"/>
              </a:ext>
            </a:extLst>
          </p:cNvPr>
          <p:cNvSpPr>
            <a:spLocks xmlns:a="http://schemas.openxmlformats.org/drawingml/2006/main" noGrp="1"/>
          </p:cNvSpPr>
          <p:nvPr/>
        </p:nvSpPr>
        <p:spPr>
          <a:xfrm xmlns:a="http://schemas.openxmlformats.org/drawingml/2006/main">
            <a:off x="400050" y="6153150"/>
            <a:ext cx="11391900" cy="19050"/>
          </a:xfrm>
          <a:prstGeom xmlns:a="http://schemas.openxmlformats.org/drawingml/2006/main" prst="rect">
            <a:avLst/>
          </a:prstGeom>
          <a:solidFill xmlns:a="http://schemas.openxmlformats.org/drawingml/2006/main">
            <a:srgbClr val="176D8C"/>
          </a:solidFill>
          <a:ln xmlns:a="http://schemas.openxmlformats.org/drawingml/2006/main" w="0">
            <a:noFill/>
          </a:ln>
        </p:spPr>
      </p:sp>
      <p:sp>
        <p:nvSpPr>
          <p:cNvPr id="24" name="text">
            <a:extLst xmlns:a="http://schemas.openxmlformats.org/drawingml/2006/main">
              <a:ext uri="{FF2B5EF4-FFF2-40B4-BE49-F238E27FC236}">
                <a16:creationId xmlns:a16="http://schemas.microsoft.com/office/drawing/2014/main" id="{884D8E43-D7FE-4F03-A5B1-3E3B785B2F6F}"/>
              </a:ext>
            </a:extLst>
          </p:cNvPr>
          <p:cNvSpPr>
            <a:spLocks xmlns:a="http://schemas.openxmlformats.org/drawingml/2006/main" noGrp="1"/>
          </p:cNvSpPr>
          <p:nvPr/>
        </p:nvSpPr>
        <p:spPr>
          <a:xfrm xmlns:a="http://schemas.openxmlformats.org/drawingml/2006/main">
            <a:off x="400050" y="6267450"/>
            <a:ext cx="1095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176D8C"/>
                </a:solidFill>
                <a:latin typeface="Arial"/>
                <a:ea typeface="Arial"/>
                <a:cs typeface="Arial"/>
              </a:defRPr>
            </a:defPPr>
          </a:lstStyle>
          <a:p xmlns:a="http://schemas.openxmlformats.org/drawingml/2006/main">
            <a:pPr>
              <a:defRPr sz="1650" b="1">
                <a:solidFill>
                  <a:srgbClr val="176D8C"/>
                </a:solidFill>
                <a:latin typeface="Arial"/>
                <a:ea typeface="Arial"/>
                <a:cs typeface="Arial"/>
              </a:defRPr>
            </a:pPr>
            <a:r>
              <a:rPr sz="1650" b="1">
                <a:solidFill>
                  <a:srgbClr val="176D8C"/>
                </a:solidFill>
                <a:latin typeface="Arial"/>
                <a:ea typeface="Arial"/>
                <a:cs typeface="Arial"/>
              </a:rPr>
              <a:t>All records come from BRFSS. Observational layouts: education was not randomly assigned.</a:t>
            </a:r>
          </a:p>
        </p:txBody>
      </p:sp>
      <p:sp>
        <p:nvSpPr>
          <p:cNvPr id="25" name="text">
            <a:extLst xmlns:a="http://schemas.openxmlformats.org/drawingml/2006/main">
              <a:ext uri="{FF2B5EF4-FFF2-40B4-BE49-F238E27FC236}">
                <a16:creationId xmlns:a16="http://schemas.microsoft.com/office/drawing/2014/main" id="{E073B5B5-34B8-46F5-95B5-699CCB505C44}"/>
              </a:ext>
            </a:extLst>
          </p:cNvPr>
          <p:cNvSpPr>
            <a:spLocks xmlns:a="http://schemas.openxmlformats.org/drawingml/2006/main" noGrp="1"/>
          </p:cNvSpPr>
          <p:nvPr/>
        </p:nvSpPr>
        <p:spPr>
          <a:xfrm xmlns:a="http://schemas.openxmlformats.org/drawingml/2006/main">
            <a:off x="11353800" y="6581775"/>
            <a:ext cx="6572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050" b="0">
                <a:solidFill>
                  <a:srgbClr val="415566"/>
                </a:solidFill>
                <a:latin typeface="Arial"/>
                <a:ea typeface="Arial"/>
                <a:cs typeface="Arial"/>
              </a:defRPr>
            </a:defPPr>
          </a:lstStyle>
          <a:p xmlns:a="http://schemas.openxmlformats.org/drawingml/2006/main">
            <a:pPr>
              <a:defRPr sz="1050" b="0">
                <a:solidFill>
                  <a:srgbClr val="415566"/>
                </a:solidFill>
                <a:latin typeface="Arial"/>
                <a:ea typeface="Arial"/>
                <a:cs typeface="Arial"/>
              </a:defRPr>
            </a:pPr>
            <a:r>
              <a:rPr sz="1050" b="0">
                <a:solidFill>
                  <a:srgbClr val="415566"/>
                </a:solidFill>
                <a:latin typeface="Arial"/>
                <a:ea typeface="Arial"/>
                <a:cs typeface="Arial"/>
              </a:rPr>
              <a:t>11 / 12</a:t>
            </a:r>
          </a:p>
        </p:txBody>
      </p:sp>
    </p:spTree>
    <p:extLst>
      <p:ext uri="{BB962C8B-B14F-4D97-AF65-F5344CB8AC3E}">
        <p14:creationId xmlns:p14="http://schemas.microsoft.com/office/powerpoint/2010/main" val="1473584409"/>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text">
            <a:extLst xmlns:a="http://schemas.openxmlformats.org/drawingml/2006/main">
              <a:ext uri="{FF2B5EF4-FFF2-40B4-BE49-F238E27FC236}">
                <a16:creationId xmlns:a16="http://schemas.microsoft.com/office/drawing/2014/main" id="{5E8CC6F6-0D09-4438-8B08-D6572625CB33}"/>
              </a:ext>
            </a:extLst>
          </p:cNvPr>
          <p:cNvSpPr>
            <a:spLocks xmlns:a="http://schemas.openxmlformats.org/drawingml/2006/main" noGrp="1"/>
          </p:cNvSpPr>
          <p:nvPr/>
        </p:nvSpPr>
        <p:spPr>
          <a:xfrm xmlns:a="http://schemas.openxmlformats.org/drawingml/2006/main">
            <a:off x="590550" y="76200"/>
            <a:ext cx="112204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350" b="1">
                <a:solidFill>
                  <a:srgbClr val="176D8C"/>
                </a:solidFill>
                <a:latin typeface="Arial"/>
                <a:ea typeface="Arial"/>
                <a:cs typeface="Arial"/>
              </a:defRPr>
            </a:defPPr>
          </a:lstStyle>
          <a:p xmlns:a="http://schemas.openxmlformats.org/drawingml/2006/main">
            <a:pPr>
              <a:defRPr sz="1350" b="1">
                <a:solidFill>
                  <a:srgbClr val="176D8C"/>
                </a:solidFill>
                <a:latin typeface="Arial"/>
                <a:ea typeface="Arial"/>
                <a:cs typeface="Arial"/>
              </a:defRPr>
            </a:pPr>
            <a:r>
              <a:rPr sz="1350" b="1">
                <a:solidFill>
                  <a:srgbClr val="176D8C"/>
                </a:solidFill>
                <a:latin typeface="Arial"/>
                <a:ea typeface="Arial"/>
                <a:cs typeface="Arial"/>
              </a:rPr>
              <a:t>LABS 1–11: Findings, limitations and next steps</a:t>
            </a:r>
          </a:p>
        </p:txBody>
      </p:sp>
      <p:sp>
        <p:nvSpPr>
          <p:cNvPr id="2" name="">
            <a:extLst xmlns:a="http://schemas.openxmlformats.org/drawingml/2006/main">
              <a:ext uri="{FF2B5EF4-FFF2-40B4-BE49-F238E27FC236}">
                <a16:creationId xmlns:a16="http://schemas.microsoft.com/office/drawing/2014/main" id="{4BD4190C-7911-4C74-A457-241F17F80A3E}"/>
              </a:ext>
            </a:extLst>
          </p:cNvPr>
          <p:cNvSpPr>
            <a:spLocks xmlns:a="http://schemas.openxmlformats.org/drawingml/2006/main" noGrp="1"/>
          </p:cNvSpPr>
          <p:nvPr/>
        </p:nvSpPr>
        <p:spPr>
          <a:xfrm xmlns:a="http://schemas.openxmlformats.org/drawingml/2006/main">
            <a:off x="381000" y="381000"/>
            <a:ext cx="47625" cy="438150"/>
          </a:xfrm>
          <a:prstGeom xmlns:a="http://schemas.openxmlformats.org/drawingml/2006/main" prst="rect">
            <a:avLst/>
          </a:prstGeom>
          <a:solidFill xmlns:a="http://schemas.openxmlformats.org/drawingml/2006/main">
            <a:srgbClr val="176D8C"/>
          </a:solidFill>
          <a:ln xmlns:a="http://schemas.openxmlformats.org/drawingml/2006/main" w="0">
            <a:noFill/>
          </a:ln>
        </p:spPr>
      </p:sp>
      <p:sp>
        <p:nvSpPr>
          <p:cNvPr id="3" name="text">
            <a:extLst xmlns:a="http://schemas.openxmlformats.org/drawingml/2006/main">
              <a:ext uri="{FF2B5EF4-FFF2-40B4-BE49-F238E27FC236}">
                <a16:creationId xmlns:a16="http://schemas.microsoft.com/office/drawing/2014/main" id="{800F8BDC-A85C-42C6-A0AB-26AA3BA797AD}"/>
              </a:ext>
            </a:extLst>
          </p:cNvPr>
          <p:cNvSpPr>
            <a:spLocks xmlns:a="http://schemas.openxmlformats.org/drawingml/2006/main" noGrp="1"/>
          </p:cNvSpPr>
          <p:nvPr/>
        </p:nvSpPr>
        <p:spPr>
          <a:xfrm xmlns:a="http://schemas.openxmlformats.org/drawingml/2006/main">
            <a:off x="590550" y="342900"/>
            <a:ext cx="112204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1">
                <a:solidFill>
                  <a:srgbClr val="183044"/>
                </a:solidFill>
                <a:latin typeface="Arial"/>
                <a:ea typeface="Arial"/>
                <a:cs typeface="Arial"/>
              </a:defRPr>
            </a:defPPr>
          </a:lstStyle>
          <a:p xmlns:a="http://schemas.openxmlformats.org/drawingml/2006/main">
            <a:pPr>
              <a:defRPr sz="2850" b="1">
                <a:solidFill>
                  <a:srgbClr val="183044"/>
                </a:solidFill>
                <a:latin typeface="Arial"/>
                <a:ea typeface="Arial"/>
                <a:cs typeface="Arial"/>
              </a:defRPr>
            </a:pPr>
            <a:r>
              <a:rPr sz="2850" b="1">
                <a:solidFill>
                  <a:srgbClr val="183044"/>
                </a:solidFill>
                <a:latin typeface="Arial"/>
                <a:ea typeface="Arial"/>
                <a:cs typeface="Arial"/>
              </a:rPr>
              <a:t>Conclusion: findings and next steps</a:t>
            </a:r>
          </a:p>
        </p:txBody>
      </p:sp>
      <p:sp>
        <p:nvSpPr>
          <p:cNvPr id="4" name="text">
            <a:extLst xmlns:a="http://schemas.openxmlformats.org/drawingml/2006/main">
              <a:ext uri="{FF2B5EF4-FFF2-40B4-BE49-F238E27FC236}">
                <a16:creationId xmlns:a16="http://schemas.microsoft.com/office/drawing/2014/main" id="{6B0C9704-CEEC-44AC-8E6F-F693070ED89C}"/>
              </a:ext>
            </a:extLst>
          </p:cNvPr>
          <p:cNvSpPr>
            <a:spLocks xmlns:a="http://schemas.openxmlformats.org/drawingml/2006/main" noGrp="1"/>
          </p:cNvSpPr>
          <p:nvPr/>
        </p:nvSpPr>
        <p:spPr>
          <a:xfrm xmlns:a="http://schemas.openxmlformats.org/drawingml/2006/main">
            <a:off x="400050" y="971550"/>
            <a:ext cx="113919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415566"/>
                </a:solidFill>
                <a:latin typeface="Arial"/>
                <a:ea typeface="Arial"/>
                <a:cs typeface="Arial"/>
              </a:defRPr>
            </a:defPPr>
          </a:lstStyle>
          <a:p xmlns:a="http://schemas.openxmlformats.org/drawingml/2006/main">
            <a:pPr>
              <a:defRPr sz="1725" b="0">
                <a:solidFill>
                  <a:srgbClr val="415566"/>
                </a:solidFill>
                <a:latin typeface="Arial"/>
                <a:ea typeface="Arial"/>
                <a:cs typeface="Arial"/>
              </a:defRPr>
            </a:pPr>
            <a:r>
              <a:rPr sz="1725" b="0">
                <a:solidFill>
                  <a:srgbClr val="415566"/>
                </a:solidFill>
                <a:latin typeface="Arial"/>
                <a:ea typeface="Arial"/>
                <a:cs typeface="Arial"/>
              </a:rPr>
              <a:t>We described health patterns and applied every course method using documented data.</a:t>
            </a:r>
          </a:p>
        </p:txBody>
      </p:sp>
      <p:sp>
        <p:nvSpPr>
          <p:cNvPr id="5" name="text">
            <a:extLst xmlns:a="http://schemas.openxmlformats.org/drawingml/2006/main">
              <a:ext uri="{FF2B5EF4-FFF2-40B4-BE49-F238E27FC236}">
                <a16:creationId xmlns:a16="http://schemas.microsoft.com/office/drawing/2014/main" id="{8EFFCC4D-7D2D-4736-9723-56BF14CA3E8A}"/>
              </a:ext>
            </a:extLst>
          </p:cNvPr>
          <p:cNvSpPr>
            <a:spLocks xmlns:a="http://schemas.openxmlformats.org/drawingml/2006/main" noGrp="1"/>
          </p:cNvSpPr>
          <p:nvPr/>
        </p:nvSpPr>
        <p:spPr>
          <a:xfrm xmlns:a="http://schemas.openxmlformats.org/drawingml/2006/main">
            <a:off x="400050" y="1581150"/>
            <a:ext cx="71437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176D8C"/>
                </a:solidFill>
                <a:latin typeface="Arial"/>
                <a:ea typeface="Arial"/>
                <a:cs typeface="Arial"/>
              </a:defRPr>
            </a:defPPr>
          </a:lstStyle>
          <a:p xmlns:a="http://schemas.openxmlformats.org/drawingml/2006/main">
            <a:pPr>
              <a:defRPr sz="1875" b="1">
                <a:solidFill>
                  <a:srgbClr val="176D8C"/>
                </a:solidFill>
                <a:latin typeface="Arial"/>
                <a:ea typeface="Arial"/>
                <a:cs typeface="Arial"/>
              </a:defRPr>
            </a:pPr>
            <a:r>
              <a:rPr sz="1875" b="1">
                <a:solidFill>
                  <a:srgbClr val="176D8C"/>
                </a:solidFill>
                <a:latin typeface="Arial"/>
                <a:ea typeface="Arial"/>
                <a:cs typeface="Arial"/>
              </a:rPr>
              <a:t>What we found</a:t>
            </a:r>
          </a:p>
        </p:txBody>
      </p:sp>
      <p:sp>
        <p:nvSpPr>
          <p:cNvPr id="6" name="text">
            <a:extLst xmlns:a="http://schemas.openxmlformats.org/drawingml/2006/main">
              <a:ext uri="{FF2B5EF4-FFF2-40B4-BE49-F238E27FC236}">
                <a16:creationId xmlns:a16="http://schemas.microsoft.com/office/drawing/2014/main" id="{BF7FCE62-0177-48B6-9243-E0F26AA7C7DB}"/>
              </a:ext>
            </a:extLst>
          </p:cNvPr>
          <p:cNvSpPr>
            <a:spLocks xmlns:a="http://schemas.openxmlformats.org/drawingml/2006/main" noGrp="1"/>
          </p:cNvSpPr>
          <p:nvPr/>
        </p:nvSpPr>
        <p:spPr>
          <a:xfrm xmlns:a="http://schemas.openxmlformats.org/drawingml/2006/main">
            <a:off x="400050" y="1990725"/>
            <a:ext cx="7124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83044"/>
                </a:solidFill>
                <a:latin typeface="Arial"/>
                <a:ea typeface="Arial"/>
                <a:cs typeface="Arial"/>
              </a:defRPr>
            </a:defPPr>
          </a:lstStyle>
          <a:p xmlns:a="http://schemas.openxmlformats.org/drawingml/2006/main">
            <a:pPr>
              <a:defRPr sz="1725" b="1">
                <a:solidFill>
                  <a:srgbClr val="183044"/>
                </a:solidFill>
                <a:latin typeface="Arial"/>
                <a:ea typeface="Arial"/>
                <a:cs typeface="Arial"/>
              </a:defRPr>
            </a:pPr>
            <a:r>
              <a:rPr sz="1725" b="1">
                <a:solidFill>
                  <a:srgbClr val="183044"/>
                </a:solidFill>
                <a:latin typeface="Arial"/>
                <a:ea typeface="Arial"/>
                <a:cs typeface="Arial"/>
              </a:rPr>
              <a:t>Higher average BMI in positive groups</a:t>
            </a:r>
          </a:p>
        </p:txBody>
      </p:sp>
      <p:sp>
        <p:nvSpPr>
          <p:cNvPr id="7" name="text">
            <a:extLst xmlns:a="http://schemas.openxmlformats.org/drawingml/2006/main">
              <a:ext uri="{FF2B5EF4-FFF2-40B4-BE49-F238E27FC236}">
                <a16:creationId xmlns:a16="http://schemas.microsoft.com/office/drawing/2014/main" id="{3DD73EA6-4B44-4FB2-B60A-E1EB46686C04}"/>
              </a:ext>
            </a:extLst>
          </p:cNvPr>
          <p:cNvSpPr>
            <a:spLocks xmlns:a="http://schemas.openxmlformats.org/drawingml/2006/main" noGrp="1"/>
          </p:cNvSpPr>
          <p:nvPr/>
        </p:nvSpPr>
        <p:spPr>
          <a:xfrm xmlns:a="http://schemas.openxmlformats.org/drawingml/2006/main">
            <a:off x="400050" y="2324100"/>
            <a:ext cx="71247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83044"/>
                </a:solidFill>
                <a:latin typeface="Arial"/>
                <a:ea typeface="Arial"/>
                <a:cs typeface="Arial"/>
              </a:defRPr>
            </a:defPPr>
          </a:lstStyle>
          <a:p xmlns:a="http://schemas.openxmlformats.org/drawingml/2006/main">
            <a:pPr>
              <a:defRPr sz="1575" b="0">
                <a:solidFill>
                  <a:srgbClr val="183044"/>
                </a:solidFill>
                <a:latin typeface="Arial"/>
                <a:ea typeface="Arial"/>
                <a:cs typeface="Arial"/>
              </a:defRPr>
            </a:pPr>
            <a:r>
              <a:rPr sz="1575" b="0">
                <a:solidFill>
                  <a:srgbClr val="183044"/>
                </a:solidFill>
                <a:latin typeface="Arial"/>
                <a:ea typeface="Arial"/>
                <a:cs typeface="Arial"/>
              </a:rPr>
              <a:t>27.72 without diabetes, 32.85 prediabetes, 31.98 diabetes.</a:t>
            </a:r>
          </a:p>
          <a:p xmlns:a="http://schemas.openxmlformats.org/drawingml/2006/main">
            <a:pPr>
              <a:defRPr sz="1575" b="0">
                <a:solidFill>
                  <a:srgbClr val="183044"/>
                </a:solidFill>
                <a:latin typeface="Arial"/>
                <a:ea typeface="Arial"/>
                <a:cs typeface="Arial"/>
              </a:defRPr>
            </a:pPr>
            <a:r>
              <a:rPr sz="1575" b="0">
                <a:solidFill>
                  <a:srgbClr val="183044"/>
                </a:solidFill>
                <a:latin typeface="Arial"/>
                <a:ea typeface="Arial"/>
                <a:cs typeface="Arial"/>
              </a:rPr>
              <a:t>Individual values still overlap.</a:t>
            </a:r>
          </a:p>
        </p:txBody>
      </p:sp>
      <p:sp>
        <p:nvSpPr>
          <p:cNvPr id="8" name="">
            <a:extLst xmlns:a="http://schemas.openxmlformats.org/drawingml/2006/main">
              <a:ext uri="{FF2B5EF4-FFF2-40B4-BE49-F238E27FC236}">
                <a16:creationId xmlns:a16="http://schemas.microsoft.com/office/drawing/2014/main" id="{523D1E69-C4C1-4066-84A7-6106B63C797F}"/>
              </a:ext>
            </a:extLst>
          </p:cNvPr>
          <p:cNvSpPr>
            <a:spLocks xmlns:a="http://schemas.openxmlformats.org/drawingml/2006/main" noGrp="1"/>
          </p:cNvSpPr>
          <p:nvPr/>
        </p:nvSpPr>
        <p:spPr>
          <a:xfrm xmlns:a="http://schemas.openxmlformats.org/drawingml/2006/main">
            <a:off x="400050" y="2886075"/>
            <a:ext cx="7124700" cy="19050"/>
          </a:xfrm>
          <a:prstGeom xmlns:a="http://schemas.openxmlformats.org/drawingml/2006/main" prst="rect">
            <a:avLst/>
          </a:prstGeom>
          <a:solidFill xmlns:a="http://schemas.openxmlformats.org/drawingml/2006/main">
            <a:srgbClr val="CCDCE4"/>
          </a:solidFill>
          <a:ln xmlns:a="http://schemas.openxmlformats.org/drawingml/2006/main" w="0">
            <a:noFill/>
          </a:ln>
        </p:spPr>
      </p:sp>
      <p:sp>
        <p:nvSpPr>
          <p:cNvPr id="9" name="text">
            <a:extLst xmlns:a="http://schemas.openxmlformats.org/drawingml/2006/main">
              <a:ext uri="{FF2B5EF4-FFF2-40B4-BE49-F238E27FC236}">
                <a16:creationId xmlns:a16="http://schemas.microsoft.com/office/drawing/2014/main" id="{218578E5-839E-4AD4-8123-C19FEBC6B65A}"/>
              </a:ext>
            </a:extLst>
          </p:cNvPr>
          <p:cNvSpPr>
            <a:spLocks xmlns:a="http://schemas.openxmlformats.org/drawingml/2006/main" noGrp="1"/>
          </p:cNvSpPr>
          <p:nvPr/>
        </p:nvSpPr>
        <p:spPr>
          <a:xfrm xmlns:a="http://schemas.openxmlformats.org/drawingml/2006/main">
            <a:off x="400050" y="2952750"/>
            <a:ext cx="7124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83044"/>
                </a:solidFill>
                <a:latin typeface="Arial"/>
                <a:ea typeface="Arial"/>
                <a:cs typeface="Arial"/>
              </a:defRPr>
            </a:defPPr>
          </a:lstStyle>
          <a:p xmlns:a="http://schemas.openxmlformats.org/drawingml/2006/main">
            <a:pPr>
              <a:defRPr sz="1725" b="1">
                <a:solidFill>
                  <a:srgbClr val="183044"/>
                </a:solidFill>
                <a:latin typeface="Arial"/>
                <a:ea typeface="Arial"/>
                <a:cs typeface="Arial"/>
              </a:defRPr>
            </a:pPr>
            <a:r>
              <a:rPr sz="1725" b="1">
                <a:solidFill>
                  <a:srgbClr val="183044"/>
                </a:solidFill>
                <a:latin typeface="Arial"/>
                <a:ea typeface="Arial"/>
                <a:cs typeface="Arial"/>
              </a:rPr>
              <a:t>Regression explains a small share</a:t>
            </a:r>
          </a:p>
        </p:txBody>
      </p:sp>
      <p:sp>
        <p:nvSpPr>
          <p:cNvPr id="10" name="text">
            <a:extLst xmlns:a="http://schemas.openxmlformats.org/drawingml/2006/main">
              <a:ext uri="{FF2B5EF4-FFF2-40B4-BE49-F238E27FC236}">
                <a16:creationId xmlns:a16="http://schemas.microsoft.com/office/drawing/2014/main" id="{0F114C27-16F1-4916-B826-A836DF331FD7}"/>
              </a:ext>
            </a:extLst>
          </p:cNvPr>
          <p:cNvSpPr>
            <a:spLocks xmlns:a="http://schemas.openxmlformats.org/drawingml/2006/main" noGrp="1"/>
          </p:cNvSpPr>
          <p:nvPr/>
        </p:nvSpPr>
        <p:spPr>
          <a:xfrm xmlns:a="http://schemas.openxmlformats.org/drawingml/2006/main">
            <a:off x="400050" y="3286125"/>
            <a:ext cx="71247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83044"/>
                </a:solidFill>
                <a:latin typeface="Arial"/>
                <a:ea typeface="Arial"/>
                <a:cs typeface="Arial"/>
              </a:defRPr>
            </a:defPPr>
          </a:lstStyle>
          <a:p xmlns:a="http://schemas.openxmlformats.org/drawingml/2006/main">
            <a:pPr>
              <a:defRPr sz="1575" b="0">
                <a:solidFill>
                  <a:srgbClr val="183044"/>
                </a:solidFill>
                <a:latin typeface="Arial"/>
                <a:ea typeface="Arial"/>
                <a:cs typeface="Arial"/>
              </a:defRPr>
            </a:pPr>
            <a:r>
              <a:rPr sz="1575" b="0">
                <a:solidFill>
                  <a:srgbClr val="183044"/>
                </a:solidFill>
                <a:latin typeface="Arial"/>
                <a:ea typeface="Arial"/>
                <a:cs typeface="Arial"/>
              </a:rPr>
              <a:t>R²: 1.03% (simple), 6.81% (multiple).</a:t>
            </a:r>
          </a:p>
          <a:p xmlns:a="http://schemas.openxmlformats.org/drawingml/2006/main">
            <a:pPr>
              <a:defRPr sz="1575" b="0">
                <a:solidFill>
                  <a:srgbClr val="183044"/>
                </a:solidFill>
                <a:latin typeface="Arial"/>
                <a:ea typeface="Arial"/>
                <a:cs typeface="Arial"/>
              </a:defRPr>
            </a:pPr>
            <a:r>
              <a:rPr sz="1575" b="0">
                <a:solidFill>
                  <a:srgbClr val="183044"/>
                </a:solidFill>
                <a:latin typeface="Arial"/>
                <a:ea typeface="Arial"/>
                <a:cs typeface="Arial"/>
              </a:rPr>
              <a:t>Most BMI variation remains unexplained.</a:t>
            </a:r>
          </a:p>
        </p:txBody>
      </p:sp>
      <p:sp>
        <p:nvSpPr>
          <p:cNvPr id="11" name="">
            <a:extLst xmlns:a="http://schemas.openxmlformats.org/drawingml/2006/main">
              <a:ext uri="{FF2B5EF4-FFF2-40B4-BE49-F238E27FC236}">
                <a16:creationId xmlns:a16="http://schemas.microsoft.com/office/drawing/2014/main" id="{F9649BDC-8C07-4697-BD62-96A5F61B3144}"/>
              </a:ext>
            </a:extLst>
          </p:cNvPr>
          <p:cNvSpPr>
            <a:spLocks xmlns:a="http://schemas.openxmlformats.org/drawingml/2006/main" noGrp="1"/>
          </p:cNvSpPr>
          <p:nvPr/>
        </p:nvSpPr>
        <p:spPr>
          <a:xfrm xmlns:a="http://schemas.openxmlformats.org/drawingml/2006/main">
            <a:off x="400050" y="3848100"/>
            <a:ext cx="7124700" cy="19050"/>
          </a:xfrm>
          <a:prstGeom xmlns:a="http://schemas.openxmlformats.org/drawingml/2006/main" prst="rect">
            <a:avLst/>
          </a:prstGeom>
          <a:solidFill xmlns:a="http://schemas.openxmlformats.org/drawingml/2006/main">
            <a:srgbClr val="CCDCE4"/>
          </a:solidFill>
          <a:ln xmlns:a="http://schemas.openxmlformats.org/drawingml/2006/main" w="0">
            <a:noFill/>
          </a:ln>
        </p:spPr>
      </p:sp>
      <p:sp>
        <p:nvSpPr>
          <p:cNvPr id="12" name="text">
            <a:extLst xmlns:a="http://schemas.openxmlformats.org/drawingml/2006/main">
              <a:ext uri="{FF2B5EF4-FFF2-40B4-BE49-F238E27FC236}">
                <a16:creationId xmlns:a16="http://schemas.microsoft.com/office/drawing/2014/main" id="{162856D2-46FC-49F2-924D-1CFC25C39C05}"/>
              </a:ext>
            </a:extLst>
          </p:cNvPr>
          <p:cNvSpPr>
            <a:spLocks xmlns:a="http://schemas.openxmlformats.org/drawingml/2006/main" noGrp="1"/>
          </p:cNvSpPr>
          <p:nvPr/>
        </p:nvSpPr>
        <p:spPr>
          <a:xfrm xmlns:a="http://schemas.openxmlformats.org/drawingml/2006/main">
            <a:off x="400050" y="3914775"/>
            <a:ext cx="7124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83044"/>
                </a:solidFill>
                <a:latin typeface="Arial"/>
                <a:ea typeface="Arial"/>
                <a:cs typeface="Arial"/>
              </a:defRPr>
            </a:defPPr>
          </a:lstStyle>
          <a:p xmlns:a="http://schemas.openxmlformats.org/drawingml/2006/main">
            <a:pPr>
              <a:defRPr sz="1725" b="1">
                <a:solidFill>
                  <a:srgbClr val="183044"/>
                </a:solidFill>
                <a:latin typeface="Arial"/>
                <a:ea typeface="Arial"/>
                <a:cs typeface="Arial"/>
              </a:defRPr>
            </a:pPr>
            <a:r>
              <a:rPr sz="1725" b="1">
                <a:solidFill>
                  <a:srgbClr val="183044"/>
                </a:solidFill>
                <a:latin typeface="Arial"/>
                <a:ea typeface="Arial"/>
                <a:cs typeface="Arial"/>
              </a:rPr>
              <a:t>Outliers and model checks matter</a:t>
            </a:r>
          </a:p>
        </p:txBody>
      </p:sp>
      <p:sp>
        <p:nvSpPr>
          <p:cNvPr id="13" name="text">
            <a:extLst xmlns:a="http://schemas.openxmlformats.org/drawingml/2006/main">
              <a:ext uri="{FF2B5EF4-FFF2-40B4-BE49-F238E27FC236}">
                <a16:creationId xmlns:a16="http://schemas.microsoft.com/office/drawing/2014/main" id="{47A195FD-DDF2-4391-955A-E2973605DF97}"/>
              </a:ext>
            </a:extLst>
          </p:cNvPr>
          <p:cNvSpPr>
            <a:spLocks xmlns:a="http://schemas.openxmlformats.org/drawingml/2006/main" noGrp="1"/>
          </p:cNvSpPr>
          <p:nvPr/>
        </p:nvSpPr>
        <p:spPr>
          <a:xfrm xmlns:a="http://schemas.openxmlformats.org/drawingml/2006/main">
            <a:off x="400050" y="4248150"/>
            <a:ext cx="71247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83044"/>
                </a:solidFill>
                <a:latin typeface="Arial"/>
                <a:ea typeface="Arial"/>
                <a:cs typeface="Arial"/>
              </a:defRPr>
            </a:defPPr>
          </a:lstStyle>
          <a:p xmlns:a="http://schemas.openxmlformats.org/drawingml/2006/main">
            <a:pPr>
              <a:defRPr sz="1575" b="0">
                <a:solidFill>
                  <a:srgbClr val="183044"/>
                </a:solidFill>
                <a:latin typeface="Arial"/>
                <a:ea typeface="Arial"/>
                <a:cs typeface="Arial"/>
              </a:defRPr>
            </a:pPr>
            <a:r>
              <a:rPr sz="1575" b="0">
                <a:solidFill>
                  <a:srgbClr val="183044"/>
                </a:solidFill>
                <a:latin typeface="Arial"/>
                <a:ea typeface="Arial"/>
                <a:cs typeface="Arial"/>
              </a:rPr>
              <a:t>Removing 114 flags lowers mean BMI from 28.40 to 27.65.</a:t>
            </a:r>
          </a:p>
          <a:p xmlns:a="http://schemas.openxmlformats.org/drawingml/2006/main">
            <a:pPr>
              <a:defRPr sz="1575" b="0">
                <a:solidFill>
                  <a:srgbClr val="183044"/>
                </a:solidFill>
                <a:latin typeface="Arial"/>
                <a:ea typeface="Arial"/>
                <a:cs typeface="Arial"/>
              </a:defRPr>
            </a:pPr>
            <a:r>
              <a:rPr sz="1575" b="0">
                <a:solidFill>
                  <a:srgbClr val="183044"/>
                </a:solidFill>
                <a:latin typeface="Arial"/>
                <a:ea typeface="Arial"/>
                <a:cs typeface="Arial"/>
              </a:rPr>
              <a:t>Binomial fits reasonably. Normal and Poisson fit poorly.</a:t>
            </a:r>
          </a:p>
        </p:txBody>
      </p:sp>
      <p:sp>
        <p:nvSpPr>
          <p:cNvPr id="14" name="">
            <a:extLst xmlns:a="http://schemas.openxmlformats.org/drawingml/2006/main">
              <a:ext uri="{FF2B5EF4-FFF2-40B4-BE49-F238E27FC236}">
                <a16:creationId xmlns:a16="http://schemas.microsoft.com/office/drawing/2014/main" id="{5CA2F648-11B7-4AF7-AF79-FC74731A85F6}"/>
              </a:ext>
            </a:extLst>
          </p:cNvPr>
          <p:cNvSpPr>
            <a:spLocks xmlns:a="http://schemas.openxmlformats.org/drawingml/2006/main" noGrp="1"/>
          </p:cNvSpPr>
          <p:nvPr/>
        </p:nvSpPr>
        <p:spPr>
          <a:xfrm xmlns:a="http://schemas.openxmlformats.org/drawingml/2006/main">
            <a:off x="400050" y="4810125"/>
            <a:ext cx="7124700" cy="19050"/>
          </a:xfrm>
          <a:prstGeom xmlns:a="http://schemas.openxmlformats.org/drawingml/2006/main" prst="rect">
            <a:avLst/>
          </a:prstGeom>
          <a:solidFill xmlns:a="http://schemas.openxmlformats.org/drawingml/2006/main">
            <a:srgbClr val="CCDCE4"/>
          </a:solidFill>
          <a:ln xmlns:a="http://schemas.openxmlformats.org/drawingml/2006/main" w="0">
            <a:noFill/>
          </a:ln>
        </p:spPr>
      </p:sp>
      <p:sp>
        <p:nvSpPr>
          <p:cNvPr id="15" name="text">
            <a:extLst xmlns:a="http://schemas.openxmlformats.org/drawingml/2006/main">
              <a:ext uri="{FF2B5EF4-FFF2-40B4-BE49-F238E27FC236}">
                <a16:creationId xmlns:a16="http://schemas.microsoft.com/office/drawing/2014/main" id="{A398971F-E573-4C6C-9DF9-177A5B9FC968}"/>
              </a:ext>
            </a:extLst>
          </p:cNvPr>
          <p:cNvSpPr>
            <a:spLocks xmlns:a="http://schemas.openxmlformats.org/drawingml/2006/main" noGrp="1"/>
          </p:cNvSpPr>
          <p:nvPr/>
        </p:nvSpPr>
        <p:spPr>
          <a:xfrm xmlns:a="http://schemas.openxmlformats.org/drawingml/2006/main">
            <a:off x="400050" y="4876800"/>
            <a:ext cx="7124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1">
                <a:solidFill>
                  <a:srgbClr val="183044"/>
                </a:solidFill>
                <a:latin typeface="Arial"/>
                <a:ea typeface="Arial"/>
                <a:cs typeface="Arial"/>
              </a:defRPr>
            </a:defPPr>
          </a:lstStyle>
          <a:p xmlns:a="http://schemas.openxmlformats.org/drawingml/2006/main">
            <a:pPr>
              <a:defRPr sz="1725" b="1">
                <a:solidFill>
                  <a:srgbClr val="183044"/>
                </a:solidFill>
                <a:latin typeface="Arial"/>
                <a:ea typeface="Arial"/>
                <a:cs typeface="Arial"/>
              </a:defRPr>
            </a:pPr>
            <a:r>
              <a:rPr sz="1725" b="1">
                <a:solidFill>
                  <a:srgbClr val="183044"/>
                </a:solidFill>
                <a:latin typeface="Arial"/>
                <a:ea typeface="Arial"/>
                <a:cs typeface="Arial"/>
              </a:rPr>
              <a:t>The design changes the comparison</a:t>
            </a:r>
          </a:p>
        </p:txBody>
      </p:sp>
      <p:sp>
        <p:nvSpPr>
          <p:cNvPr id="16" name="text">
            <a:extLst xmlns:a="http://schemas.openxmlformats.org/drawingml/2006/main">
              <a:ext uri="{FF2B5EF4-FFF2-40B4-BE49-F238E27FC236}">
                <a16:creationId xmlns:a16="http://schemas.microsoft.com/office/drawing/2014/main" id="{482316AA-1C40-4A02-A9FB-D115F9F4CB4C}"/>
              </a:ext>
            </a:extLst>
          </p:cNvPr>
          <p:cNvSpPr>
            <a:spLocks xmlns:a="http://schemas.openxmlformats.org/drawingml/2006/main" noGrp="1"/>
          </p:cNvSpPr>
          <p:nvPr/>
        </p:nvSpPr>
        <p:spPr>
          <a:xfrm xmlns:a="http://schemas.openxmlformats.org/drawingml/2006/main">
            <a:off x="400050" y="5210175"/>
            <a:ext cx="71247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83044"/>
                </a:solidFill>
                <a:latin typeface="Arial"/>
                <a:ea typeface="Arial"/>
                <a:cs typeface="Arial"/>
              </a:defRPr>
            </a:defPPr>
          </a:lstStyle>
          <a:p xmlns:a="http://schemas.openxmlformats.org/drawingml/2006/main">
            <a:pPr>
              <a:defRPr sz="1575" b="0">
                <a:solidFill>
                  <a:srgbClr val="183044"/>
                </a:solidFill>
                <a:latin typeface="Arial"/>
                <a:ea typeface="Arial"/>
                <a:cs typeface="Arial"/>
              </a:defRPr>
            </a:pPr>
            <a:r>
              <a:rPr sz="1575" b="0">
                <a:solidFill>
                  <a:srgbClr val="183044"/>
                </a:solidFill>
                <a:latin typeface="Arial"/>
                <a:ea typeface="Arial"/>
                <a:cs typeface="Arial"/>
              </a:rPr>
              <a:t>BP has a larger status association than smoking.</a:t>
            </a:r>
          </a:p>
          <a:p xmlns:a="http://schemas.openxmlformats.org/drawingml/2006/main">
            <a:pPr>
              <a:defRPr sz="1575" b="0">
                <a:solidFill>
                  <a:srgbClr val="183044"/>
                </a:solidFill>
                <a:latin typeface="Arial"/>
                <a:ea typeface="Arial"/>
                <a:cs typeface="Arial"/>
              </a:defRPr>
            </a:pPr>
            <a:r>
              <a:rPr sz="1575" b="0">
                <a:solidFill>
                  <a:srgbClr val="183044"/>
                </a:solidFill>
                <a:latin typeface="Arial"/>
                <a:ea typeface="Arial"/>
                <a:cs typeface="Arial"/>
              </a:rPr>
              <a:t>Blocks cut error by 44.8%. Wheat treatment C yields most.</a:t>
            </a:r>
          </a:p>
        </p:txBody>
      </p:sp>
      <p:sp>
        <p:nvSpPr>
          <p:cNvPr id="17" name="">
            <a:extLst xmlns:a="http://schemas.openxmlformats.org/drawingml/2006/main">
              <a:ext uri="{FF2B5EF4-FFF2-40B4-BE49-F238E27FC236}">
                <a16:creationId xmlns:a16="http://schemas.microsoft.com/office/drawing/2014/main" id="{01F165A8-2DC5-43FA-98D1-CA4232F7A88B}"/>
              </a:ext>
            </a:extLst>
          </p:cNvPr>
          <p:cNvSpPr>
            <a:spLocks xmlns:a="http://schemas.openxmlformats.org/drawingml/2006/main" noGrp="1"/>
          </p:cNvSpPr>
          <p:nvPr/>
        </p:nvSpPr>
        <p:spPr>
          <a:xfrm xmlns:a="http://schemas.openxmlformats.org/drawingml/2006/main">
            <a:off x="7839075" y="1619250"/>
            <a:ext cx="19050" cy="4210050"/>
          </a:xfrm>
          <a:prstGeom xmlns:a="http://schemas.openxmlformats.org/drawingml/2006/main" prst="rect">
            <a:avLst/>
          </a:prstGeom>
          <a:solidFill xmlns:a="http://schemas.openxmlformats.org/drawingml/2006/main">
            <a:srgbClr val="CCDCE4"/>
          </a:solidFill>
          <a:ln xmlns:a="http://schemas.openxmlformats.org/drawingml/2006/main" w="0">
            <a:noFill/>
          </a:ln>
        </p:spPr>
      </p:sp>
      <p:sp>
        <p:nvSpPr>
          <p:cNvPr id="18" name="text">
            <a:extLst xmlns:a="http://schemas.openxmlformats.org/drawingml/2006/main">
              <a:ext uri="{FF2B5EF4-FFF2-40B4-BE49-F238E27FC236}">
                <a16:creationId xmlns:a16="http://schemas.microsoft.com/office/drawing/2014/main" id="{A597FC9A-85A1-42F1-A94E-583EB8854203}"/>
              </a:ext>
            </a:extLst>
          </p:cNvPr>
          <p:cNvSpPr>
            <a:spLocks xmlns:a="http://schemas.openxmlformats.org/drawingml/2006/main" noGrp="1"/>
          </p:cNvSpPr>
          <p:nvPr/>
        </p:nvSpPr>
        <p:spPr>
          <a:xfrm xmlns:a="http://schemas.openxmlformats.org/drawingml/2006/main">
            <a:off x="8191500" y="1581150"/>
            <a:ext cx="3571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176D8C"/>
                </a:solidFill>
                <a:latin typeface="Arial"/>
                <a:ea typeface="Arial"/>
                <a:cs typeface="Arial"/>
              </a:defRPr>
            </a:defPPr>
          </a:lstStyle>
          <a:p xmlns:a="http://schemas.openxmlformats.org/drawingml/2006/main">
            <a:pPr>
              <a:defRPr sz="1875" b="1">
                <a:solidFill>
                  <a:srgbClr val="176D8C"/>
                </a:solidFill>
                <a:latin typeface="Arial"/>
                <a:ea typeface="Arial"/>
                <a:cs typeface="Arial"/>
              </a:defRPr>
            </a:pPr>
            <a:r>
              <a:rPr sz="1875" b="1">
                <a:solidFill>
                  <a:srgbClr val="176D8C"/>
                </a:solidFill>
                <a:latin typeface="Arial"/>
                <a:ea typeface="Arial"/>
                <a:cs typeface="Arial"/>
              </a:rPr>
              <a:t>Limits</a:t>
            </a:r>
          </a:p>
        </p:txBody>
      </p:sp>
      <p:sp>
        <p:nvSpPr>
          <p:cNvPr id="19" name="text">
            <a:extLst xmlns:a="http://schemas.openxmlformats.org/drawingml/2006/main">
              <a:ext uri="{FF2B5EF4-FFF2-40B4-BE49-F238E27FC236}">
                <a16:creationId xmlns:a16="http://schemas.microsoft.com/office/drawing/2014/main" id="{40D2E75D-792E-4630-9C2E-2AEC0936E32F}"/>
              </a:ext>
            </a:extLst>
          </p:cNvPr>
          <p:cNvSpPr>
            <a:spLocks xmlns:a="http://schemas.openxmlformats.org/drawingml/2006/main" noGrp="1"/>
          </p:cNvSpPr>
          <p:nvPr/>
        </p:nvSpPr>
        <p:spPr>
          <a:xfrm xmlns:a="http://schemas.openxmlformats.org/drawingml/2006/main">
            <a:off x="8191500" y="2038350"/>
            <a:ext cx="3590925"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83044"/>
                </a:solidFill>
                <a:latin typeface="Arial"/>
                <a:ea typeface="Arial"/>
                <a:cs typeface="Arial"/>
              </a:defRPr>
            </a:defPPr>
          </a:lstStyle>
          <a:p xmlns:a="http://schemas.openxmlformats.org/drawingml/2006/main">
            <a:pPr>
              <a:defRPr sz="1575" b="0">
                <a:solidFill>
                  <a:srgbClr val="183044"/>
                </a:solidFill>
                <a:latin typeface="Arial"/>
                <a:ea typeface="Arial"/>
                <a:cs typeface="Arial"/>
              </a:defRPr>
            </a:pPr>
            <a:r>
              <a:rPr sz="1575" b="0">
                <a:solidFill>
                  <a:srgbClr val="183044"/>
                </a:solidFill>
                <a:latin typeface="Arial"/>
                <a:ea typeface="Arial"/>
                <a:cs typeface="Arial"/>
              </a:rPr>
              <a:t>2015, self-reported data.</a:t>
            </a:r>
          </a:p>
          <a:p xmlns:a="http://schemas.openxmlformats.org/drawingml/2006/main">
            <a:pPr>
              <a:defRPr sz="1575" b="0">
                <a:solidFill>
                  <a:srgbClr val="183044"/>
                </a:solidFill>
                <a:latin typeface="Arial"/>
                <a:ea typeface="Arial"/>
                <a:cs typeface="Arial"/>
              </a:defRPr>
            </a:pPr>
            <a:r>
              <a:rPr sz="1575" b="0">
                <a:solidFill>
                  <a:srgbClr val="183044"/>
                </a:solidFill>
                <a:latin typeface="Arial"/>
                <a:ea typeface="Arial"/>
                <a:cs typeface="Arial"/>
              </a:rPr>
              <a:t>Small groups add uncertainty.</a:t>
            </a:r>
          </a:p>
          <a:p xmlns:a="http://schemas.openxmlformats.org/drawingml/2006/main">
            <a:pPr>
              <a:defRPr sz="1575" b="0">
                <a:solidFill>
                  <a:srgbClr val="183044"/>
                </a:solidFill>
                <a:latin typeface="Arial"/>
                <a:ea typeface="Arial"/>
                <a:cs typeface="Arial"/>
              </a:defRPr>
            </a:pPr>
            <a:r>
              <a:rPr sz="1575" b="0">
                <a:solidFill>
                  <a:srgbClr val="183044"/>
                </a:solidFill>
                <a:latin typeface="Arial"/>
                <a:ea typeface="Arial"/>
                <a:cs typeface="Arial"/>
              </a:rPr>
              <a:t>Associations do not prove causes.</a:t>
            </a:r>
          </a:p>
          <a:p xmlns:a="http://schemas.openxmlformats.org/drawingml/2006/main">
            <a:pPr>
              <a:defRPr sz="1575" b="0">
                <a:solidFill>
                  <a:srgbClr val="183044"/>
                </a:solidFill>
                <a:latin typeface="Arial"/>
                <a:ea typeface="Arial"/>
                <a:cs typeface="Arial"/>
              </a:defRPr>
            </a:pPr>
            <a:r>
              <a:rPr sz="1575" b="0">
                <a:solidFill>
                  <a:srgbClr val="183044"/>
                </a:solidFill>
                <a:latin typeface="Arial"/>
                <a:ea typeface="Arial"/>
                <a:cs typeface="Arial"/>
              </a:rPr>
              <a:t>Low R² limits prediction.</a:t>
            </a:r>
          </a:p>
        </p:txBody>
      </p:sp>
      <p:sp>
        <p:nvSpPr>
          <p:cNvPr id="20" name="text">
            <a:extLst xmlns:a="http://schemas.openxmlformats.org/drawingml/2006/main">
              <a:ext uri="{FF2B5EF4-FFF2-40B4-BE49-F238E27FC236}">
                <a16:creationId xmlns:a16="http://schemas.microsoft.com/office/drawing/2014/main" id="{72D42E79-1FCB-4D7E-B0E6-CC4A58934996}"/>
              </a:ext>
            </a:extLst>
          </p:cNvPr>
          <p:cNvSpPr>
            <a:spLocks xmlns:a="http://schemas.openxmlformats.org/drawingml/2006/main" noGrp="1"/>
          </p:cNvSpPr>
          <p:nvPr/>
        </p:nvSpPr>
        <p:spPr>
          <a:xfrm xmlns:a="http://schemas.openxmlformats.org/drawingml/2006/main">
            <a:off x="8191500" y="3724275"/>
            <a:ext cx="3571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176D8C"/>
                </a:solidFill>
                <a:latin typeface="Arial"/>
                <a:ea typeface="Arial"/>
                <a:cs typeface="Arial"/>
              </a:defRPr>
            </a:defPPr>
          </a:lstStyle>
          <a:p xmlns:a="http://schemas.openxmlformats.org/drawingml/2006/main">
            <a:pPr>
              <a:defRPr sz="1875" b="1">
                <a:solidFill>
                  <a:srgbClr val="176D8C"/>
                </a:solidFill>
                <a:latin typeface="Arial"/>
                <a:ea typeface="Arial"/>
                <a:cs typeface="Arial"/>
              </a:defRPr>
            </a:pPr>
            <a:r>
              <a:rPr sz="1875" b="1">
                <a:solidFill>
                  <a:srgbClr val="176D8C"/>
                </a:solidFill>
                <a:latin typeface="Arial"/>
                <a:ea typeface="Arial"/>
                <a:cs typeface="Arial"/>
              </a:rPr>
              <a:t>Next steps</a:t>
            </a:r>
          </a:p>
        </p:txBody>
      </p:sp>
      <p:sp>
        <p:nvSpPr>
          <p:cNvPr id="21" name="text">
            <a:extLst xmlns:a="http://schemas.openxmlformats.org/drawingml/2006/main">
              <a:ext uri="{FF2B5EF4-FFF2-40B4-BE49-F238E27FC236}">
                <a16:creationId xmlns:a16="http://schemas.microsoft.com/office/drawing/2014/main" id="{AF2B78C0-5475-4AE5-98E9-B1D054FD2043}"/>
              </a:ext>
            </a:extLst>
          </p:cNvPr>
          <p:cNvSpPr>
            <a:spLocks xmlns:a="http://schemas.openxmlformats.org/drawingml/2006/main" noGrp="1"/>
          </p:cNvSpPr>
          <p:nvPr/>
        </p:nvSpPr>
        <p:spPr>
          <a:xfrm xmlns:a="http://schemas.openxmlformats.org/drawingml/2006/main">
            <a:off x="8191500" y="4181475"/>
            <a:ext cx="3590925" cy="1485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75" b="0">
                <a:solidFill>
                  <a:srgbClr val="183044"/>
                </a:solidFill>
                <a:latin typeface="Arial"/>
                <a:ea typeface="Arial"/>
                <a:cs typeface="Arial"/>
              </a:defRPr>
            </a:defPPr>
          </a:lstStyle>
          <a:p xmlns:a="http://schemas.openxmlformats.org/drawingml/2006/main">
            <a:pPr>
              <a:defRPr sz="1575" b="0">
                <a:solidFill>
                  <a:srgbClr val="183044"/>
                </a:solidFill>
                <a:latin typeface="Arial"/>
                <a:ea typeface="Arial"/>
                <a:cs typeface="Arial"/>
              </a:defRPr>
            </a:pPr>
            <a:r>
              <a:rPr sz="1575" b="0">
                <a:solidFill>
                  <a:srgbClr val="183044"/>
                </a:solidFill>
                <a:latin typeface="Arial"/>
                <a:ea typeface="Arial"/>
                <a:cs typeface="Arial"/>
              </a:rPr>
              <a:t>Use newer, better measurements.</a:t>
            </a:r>
          </a:p>
          <a:p xmlns:a="http://schemas.openxmlformats.org/drawingml/2006/main">
            <a:pPr>
              <a:defRPr sz="1575" b="0">
                <a:solidFill>
                  <a:srgbClr val="183044"/>
                </a:solidFill>
                <a:latin typeface="Arial"/>
                <a:ea typeface="Arial"/>
                <a:cs typeface="Arial"/>
              </a:defRPr>
            </a:pPr>
            <a:r>
              <a:rPr sz="1575" b="0">
                <a:solidFill>
                  <a:srgbClr val="183044"/>
                </a:solidFill>
                <a:latin typeface="Arial"/>
                <a:ea typeface="Arial"/>
                <a:cs typeface="Arial"/>
              </a:rPr>
              <a:t>Add useful BMI predictors.</a:t>
            </a:r>
          </a:p>
          <a:p xmlns:a="http://schemas.openxmlformats.org/drawingml/2006/main">
            <a:pPr>
              <a:defRPr sz="1575" b="0">
                <a:solidFill>
                  <a:srgbClr val="183044"/>
                </a:solidFill>
                <a:latin typeface="Arial"/>
                <a:ea typeface="Arial"/>
                <a:cs typeface="Arial"/>
              </a:defRPr>
            </a:pPr>
            <a:r>
              <a:rPr sz="1575" b="0">
                <a:solidFill>
                  <a:srgbClr val="183044"/>
                </a:solidFill>
                <a:latin typeface="Arial"/>
                <a:ea typeface="Arial"/>
                <a:cs typeface="Arial"/>
              </a:rPr>
              <a:t>Evaluate on unseen data.</a:t>
            </a:r>
          </a:p>
          <a:p xmlns:a="http://schemas.openxmlformats.org/drawingml/2006/main">
            <a:pPr>
              <a:defRPr sz="1575" b="0">
                <a:solidFill>
                  <a:srgbClr val="183044"/>
                </a:solidFill>
                <a:latin typeface="Arial"/>
                <a:ea typeface="Arial"/>
                <a:cs typeface="Arial"/>
              </a:defRPr>
            </a:pPr>
            <a:r>
              <a:rPr sz="1575" b="0">
                <a:solidFill>
                  <a:srgbClr val="183044"/>
                </a:solidFill>
                <a:latin typeface="Arial"/>
                <a:ea typeface="Arial"/>
                <a:cs typeface="Arial"/>
              </a:rPr>
              <a:t>Repeat the model checks.</a:t>
            </a:r>
          </a:p>
        </p:txBody>
      </p:sp>
      <p:sp>
        <p:nvSpPr>
          <p:cNvPr id="22" name="">
            <a:extLst xmlns:a="http://schemas.openxmlformats.org/drawingml/2006/main">
              <a:ext uri="{FF2B5EF4-FFF2-40B4-BE49-F238E27FC236}">
                <a16:creationId xmlns:a16="http://schemas.microsoft.com/office/drawing/2014/main" id="{E4AE20F5-B6E2-412E-A935-B448C1659DBA}"/>
              </a:ext>
            </a:extLst>
          </p:cNvPr>
          <p:cNvSpPr>
            <a:spLocks xmlns:a="http://schemas.openxmlformats.org/drawingml/2006/main" noGrp="1"/>
          </p:cNvSpPr>
          <p:nvPr/>
        </p:nvSpPr>
        <p:spPr>
          <a:xfrm xmlns:a="http://schemas.openxmlformats.org/drawingml/2006/main">
            <a:off x="400050" y="6153150"/>
            <a:ext cx="11391900" cy="19050"/>
          </a:xfrm>
          <a:prstGeom xmlns:a="http://schemas.openxmlformats.org/drawingml/2006/main" prst="rect">
            <a:avLst/>
          </a:prstGeom>
          <a:solidFill xmlns:a="http://schemas.openxmlformats.org/drawingml/2006/main">
            <a:srgbClr val="176D8C"/>
          </a:solidFill>
          <a:ln xmlns:a="http://schemas.openxmlformats.org/drawingml/2006/main" w="0">
            <a:noFill/>
          </a:ln>
        </p:spPr>
      </p:sp>
      <p:sp>
        <p:nvSpPr>
          <p:cNvPr id="23" name="text">
            <a:extLst xmlns:a="http://schemas.openxmlformats.org/drawingml/2006/main">
              <a:ext uri="{FF2B5EF4-FFF2-40B4-BE49-F238E27FC236}">
                <a16:creationId xmlns:a16="http://schemas.microsoft.com/office/drawing/2014/main" id="{35A98771-A85B-4392-B796-B6B4B82A0CBB}"/>
              </a:ext>
            </a:extLst>
          </p:cNvPr>
          <p:cNvSpPr>
            <a:spLocks xmlns:a="http://schemas.openxmlformats.org/drawingml/2006/main" noGrp="1"/>
          </p:cNvSpPr>
          <p:nvPr/>
        </p:nvSpPr>
        <p:spPr>
          <a:xfrm xmlns:a="http://schemas.openxmlformats.org/drawingml/2006/main">
            <a:off x="400050" y="6267450"/>
            <a:ext cx="1095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176D8C"/>
                </a:solidFill>
                <a:latin typeface="Arial"/>
                <a:ea typeface="Arial"/>
                <a:cs typeface="Arial"/>
              </a:defRPr>
            </a:defPPr>
          </a:lstStyle>
          <a:p xmlns:a="http://schemas.openxmlformats.org/drawingml/2006/main">
            <a:pPr>
              <a:defRPr sz="1650" b="1">
                <a:solidFill>
                  <a:srgbClr val="176D8C"/>
                </a:solidFill>
                <a:latin typeface="Arial"/>
                <a:ea typeface="Arial"/>
                <a:cs typeface="Arial"/>
              </a:defRPr>
            </a:pPr>
            <a:r>
              <a:rPr sz="1650" b="1">
                <a:solidFill>
                  <a:srgbClr val="176D8C"/>
                </a:solidFill>
                <a:latin typeface="Arial"/>
                <a:ea typeface="Arial"/>
                <a:cs typeface="Arial"/>
              </a:rPr>
              <a:t>All 11 labs are covered. The findings follow the data and their limitations.</a:t>
            </a:r>
          </a:p>
        </p:txBody>
      </p:sp>
      <p:sp>
        <p:nvSpPr>
          <p:cNvPr id="24" name="text">
            <a:extLst xmlns:a="http://schemas.openxmlformats.org/drawingml/2006/main">
              <a:ext uri="{FF2B5EF4-FFF2-40B4-BE49-F238E27FC236}">
                <a16:creationId xmlns:a16="http://schemas.microsoft.com/office/drawing/2014/main" id="{24B50CEE-6ED2-4481-95B2-CFC599D453B8}"/>
              </a:ext>
            </a:extLst>
          </p:cNvPr>
          <p:cNvSpPr>
            <a:spLocks xmlns:a="http://schemas.openxmlformats.org/drawingml/2006/main" noGrp="1"/>
          </p:cNvSpPr>
          <p:nvPr/>
        </p:nvSpPr>
        <p:spPr>
          <a:xfrm xmlns:a="http://schemas.openxmlformats.org/drawingml/2006/main">
            <a:off x="11353800" y="6581775"/>
            <a:ext cx="6572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050" b="0">
                <a:solidFill>
                  <a:srgbClr val="415566"/>
                </a:solidFill>
                <a:latin typeface="Arial"/>
                <a:ea typeface="Arial"/>
                <a:cs typeface="Arial"/>
              </a:defRPr>
            </a:defPPr>
          </a:lstStyle>
          <a:p xmlns:a="http://schemas.openxmlformats.org/drawingml/2006/main">
            <a:pPr>
              <a:defRPr sz="1050" b="0">
                <a:solidFill>
                  <a:srgbClr val="415566"/>
                </a:solidFill>
                <a:latin typeface="Arial"/>
                <a:ea typeface="Arial"/>
                <a:cs typeface="Arial"/>
              </a:defRPr>
            </a:pPr>
            <a:r>
              <a:rPr sz="1050" b="0">
                <a:solidFill>
                  <a:srgbClr val="415566"/>
                </a:solidFill>
                <a:latin typeface="Arial"/>
                <a:ea typeface="Arial"/>
                <a:cs typeface="Arial"/>
              </a:rPr>
              <a:t>12 / 12</a:t>
            </a:r>
          </a:p>
        </p:txBody>
      </p:sp>
    </p:spTree>
    <p:extLst>
      <p:ext uri="{BB962C8B-B14F-4D97-AF65-F5344CB8AC3E}">
        <p14:creationId xmlns:p14="http://schemas.microsoft.com/office/powerpoint/2010/main" val="211168814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2026-10-13T03:03:26.6600000Z</dcterms:created>
  <dcterms:modified xsi:type="dcterms:W3CDTF">2026-10-13T03:03:26.6600000Z</dcterms:modified>
</coreProperties>
</file>