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9.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498ad81d644408" /><Relationship Type="http://schemas.openxmlformats.org/officeDocument/2006/relationships/extended-properties" Target="/docProps/app.xml" Id="R865f11e6203648c5" /><Relationship Type="http://schemas.openxmlformats.org/officeDocument/2006/relationships/officeDocument" Target="/ppt/presentation.xml" Id="Ra926f540162e4088" /></Relationships>
</file>

<file path=ppt/presentation.xml><?xml version="1.0" encoding="utf-8"?>
<p:presentation xmlns:p="http://schemas.openxmlformats.org/presentationml/2006/main">
  <p:sldMasterIdLst>
    <p:sldMasterId xmlns:r="http://schemas.openxmlformats.org/officeDocument/2006/relationships" id="2147483648" r:id="R2020f9dad9b1460a"/>
  </p:sldMasterIdLst>
  <p:notesMasterIdLst>
    <p:notesMasterId xmlns:r="http://schemas.openxmlformats.org/officeDocument/2006/relationships" r:id="Ra8625e2457c24f3d"/>
  </p:notesMasterIdLst>
  <p:sldIdLst>
    <p:sldId xmlns:r="http://schemas.openxmlformats.org/officeDocument/2006/relationships" id="256" r:id="Rc145b11230d8497c"/>
    <p:sldId xmlns:r="http://schemas.openxmlformats.org/officeDocument/2006/relationships" id="257" r:id="R0e899a5e8c3a4cbc"/>
    <p:sldId xmlns:r="http://schemas.openxmlformats.org/officeDocument/2006/relationships" id="258" r:id="Ra1208514ef2f4227"/>
    <p:sldId xmlns:r="http://schemas.openxmlformats.org/officeDocument/2006/relationships" id="259" r:id="R3294deb5e4aa42be"/>
    <p:sldId xmlns:r="http://schemas.openxmlformats.org/officeDocument/2006/relationships" id="260" r:id="R6a258b22361d4171"/>
    <p:sldId xmlns:r="http://schemas.openxmlformats.org/officeDocument/2006/relationships" id="261" r:id="R55dde79d00d046e9"/>
    <p:sldId xmlns:r="http://schemas.openxmlformats.org/officeDocument/2006/relationships" id="262" r:id="Rde86e8520a464abc"/>
    <p:sldId xmlns:r="http://schemas.openxmlformats.org/officeDocument/2006/relationships" id="263" r:id="Rc5e73f2506204549"/>
    <p:sldId xmlns:r="http://schemas.openxmlformats.org/officeDocument/2006/relationships" id="264" r:id="R16856120ae4246a7"/>
    <p:sldId xmlns:r="http://schemas.openxmlformats.org/officeDocument/2006/relationships" id="265" r:id="R1344693a2e714e3e"/>
    <p:sldId xmlns:r="http://schemas.openxmlformats.org/officeDocument/2006/relationships" id="266" r:id="R248d6f20b3ad417c"/>
    <p:sldId xmlns:r="http://schemas.openxmlformats.org/officeDocument/2006/relationships" id="267" r:id="R98431a21622e4d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3124470e1941fc" /><Relationship Type="http://schemas.openxmlformats.org/officeDocument/2006/relationships/slideMaster" Target="/ppt/slideMasters/slideMaster1.xml" Id="R2020f9dad9b1460a" /><Relationship Type="http://schemas.openxmlformats.org/officeDocument/2006/relationships/notesMaster" Target="/ppt/notesMasters/notesMaster1.xml" Id="Ra8625e2457c24f3d" /><Relationship Type="http://schemas.openxmlformats.org/officeDocument/2006/relationships/presProps" Target="/ppt/presProps.xml" Id="R25fc0a7890064281" /><Relationship Type="http://schemas.openxmlformats.org/officeDocument/2006/relationships/tableStyles" Target="/ppt/tableStyles.xml" Id="R06316dc69aca41e1" /><Relationship Type="http://schemas.openxmlformats.org/officeDocument/2006/relationships/slide" Target="/ppt/slides/slide1.xml" Id="Rc145b11230d8497c" /><Relationship Type="http://schemas.openxmlformats.org/officeDocument/2006/relationships/slide" Target="/ppt/slides/slide2.xml" Id="R0e899a5e8c3a4cbc" /><Relationship Type="http://schemas.openxmlformats.org/officeDocument/2006/relationships/slide" Target="/ppt/slides/slide3.xml" Id="Ra1208514ef2f4227" /><Relationship Type="http://schemas.openxmlformats.org/officeDocument/2006/relationships/slide" Target="/ppt/slides/slide4.xml" Id="R3294deb5e4aa42be" /><Relationship Type="http://schemas.openxmlformats.org/officeDocument/2006/relationships/slide" Target="/ppt/slides/slide5.xml" Id="R6a258b22361d4171" /><Relationship Type="http://schemas.openxmlformats.org/officeDocument/2006/relationships/slide" Target="/ppt/slides/slide6.xml" Id="R55dde79d00d046e9" /><Relationship Type="http://schemas.openxmlformats.org/officeDocument/2006/relationships/slide" Target="/ppt/slides/slide7.xml" Id="Rde86e8520a464abc" /><Relationship Type="http://schemas.openxmlformats.org/officeDocument/2006/relationships/slide" Target="/ppt/slides/slide8.xml" Id="Rc5e73f2506204549" /><Relationship Type="http://schemas.openxmlformats.org/officeDocument/2006/relationships/slide" Target="/ppt/slides/slide9.xml" Id="R16856120ae4246a7" /><Relationship Type="http://schemas.openxmlformats.org/officeDocument/2006/relationships/slide" Target="/ppt/slides/slide10.xml" Id="R1344693a2e714e3e" /><Relationship Type="http://schemas.openxmlformats.org/officeDocument/2006/relationships/slide" Target="/ppt/slides/slide11.xml" Id="R248d6f20b3ad417c" /><Relationship Type="http://schemas.openxmlformats.org/officeDocument/2006/relationships/slide" Target="/ppt/slides/slide12.xml" Id="R98431a21622e4d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9062b7794549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5b8428a3914e3f" /><Relationship Type="http://schemas.openxmlformats.org/officeDocument/2006/relationships/notesMaster" Target="/ppt/notesMasters/notesMaster1.xml" Id="Rd242d052e6da49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b3e3eb7c85437f" /><Relationship Type="http://schemas.openxmlformats.org/officeDocument/2006/relationships/notesMaster" Target="/ppt/notesMasters/notesMaster1.xml" Id="Rcac5404a78274a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5d2bfa16b54ee1" /><Relationship Type="http://schemas.openxmlformats.org/officeDocument/2006/relationships/notesMaster" Target="/ppt/notesMasters/notesMaster1.xml" Id="R9ecbfff2d7424e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baa45ee5224b3b" /><Relationship Type="http://schemas.openxmlformats.org/officeDocument/2006/relationships/notesMaster" Target="/ppt/notesMasters/notesMaster1.xml" Id="Rf60d03dc391c48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52b060540241a5" /><Relationship Type="http://schemas.openxmlformats.org/officeDocument/2006/relationships/notesMaster" Target="/ppt/notesMasters/notesMaster1.xml" Id="R07247490fcc947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b9b4b9ecee4215" /><Relationship Type="http://schemas.openxmlformats.org/officeDocument/2006/relationships/notesMaster" Target="/ppt/notesMasters/notesMaster1.xml" Id="Rb2993ca1b7b745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8b2573f0f14477" /><Relationship Type="http://schemas.openxmlformats.org/officeDocument/2006/relationships/notesMaster" Target="/ppt/notesMasters/notesMaster1.xml" Id="Rc07eb72bb2aa4f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a6b6f35b694ff2" /><Relationship Type="http://schemas.openxmlformats.org/officeDocument/2006/relationships/notesMaster" Target="/ppt/notesMasters/notesMaster1.xml" Id="Rf620c90cfd7e43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4c36698c0b4a54" /><Relationship Type="http://schemas.openxmlformats.org/officeDocument/2006/relationships/notesMaster" Target="/ppt/notesMasters/notesMaster1.xml" Id="R927104588a344e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6b2588edf4445f" /><Relationship Type="http://schemas.openxmlformats.org/officeDocument/2006/relationships/notesMaster" Target="/ppt/notesMasters/notesMaster1.xml" Id="R3dac6a7bfb0c48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8b30f51aeb4e1b" /><Relationship Type="http://schemas.openxmlformats.org/officeDocument/2006/relationships/notesMaster" Target="/ppt/notesMasters/notesMaster1.xml" Id="R8c1295907b1e4e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54264719a6484c" /><Relationship Type="http://schemas.openxmlformats.org/officeDocument/2006/relationships/notesMaster" Target="/ppt/notesMasters/notesMaster1.xml" Id="R0b6c247c83364e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and four team members. The main dataset is the processed CDC BRFSS 2015 derivative. Experimental datasets supplement the methods that require genuine pairing or randomized designs. Suggested time: 20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Secondary data collection: CDC BRFSS 2015, processed by Alex Teboul on Kaggle. Exact derivative: 253680 rows, 22 raw columns (21 predictors plus target). Random sample without replacement, seed101. Combined positive status includes prediabetes OR diabetes:469/3000=15.633%. Original CDC survey441456 records. The derivative omits survey-design weights, so the study supports sample associations rather than national prevalence. Explain source, relevance, size and variables. Suggested time: 65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Experiment1: types, import/export. Labs00/01. We read CSV, select3000 with seed101, inspect schema, missingness and allowed codes/ranges, and convert categories to readable factors. Missing cells0, invalid records0. The sample has13 repeated feature profiles, which do not establish duplicated people. RDS preserves factor levels and CSV provides portable output. Scripts retain source-row lineage. BMI/health days remain numeric, age/income/education are ordered bands but regression uses category contrasts. Suggested time: 50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Lab01B, additional presentation requirement. Fences are Q1−1.5IQR and Q3+1.5IQR.114 observations (3.8%) are high-side flags. The source-row ledger records their BMI/status. Demonstrate actual removal with the2886-row sensitivity dataset and compare mean, variance and status composition. Valid extreme BMI values stay in the primary analysis because being unusual does not establish error. The removal comparison is explicitly a different analysis sample. Suggested time: 80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Experiment2, Lab02. The numeric summary uses sample SD/variance (n−1). BMI units kg/m²; variance squared units. Mental/physical days have median0, while means3.256 and4.152 indicate right-skewness. Graphs demonstrate histogram, boxplot, density, education bar and sex pie; physical-day bar and all29 original drawings are in the atlas. The no-school group has2 respondents. Explain bar comparison, pie proportions and the density right tail. Suggested time: 80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Experiment3, Lab03. Pearsonr .101606,95%CI .06606–.13689,p&lt;.001; Spearman .107897. Slope .074898,95%CI .048637–.101159. Covariance5.56044 BMI×days measures shared variation; correlation scales it. R² .0103238. A one-day increase is associated with0.075BMI units in the fitted line. Boxplots and means show higher average BMI in prediabetes/diabetes, with overlapping distributions. Prediabetesn48 limits precision. The model estimates BMI associations rather than causal effects. Suggested time: 90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Experiment4, Lab04. BMI response with factor Age/Income/Education, activity and ever100-cigarettes indicator. References age50–54, income35–50k, high school, inactive, never100. R² .068067,adjusted .059917. Joint partialF tests account for other predictors. Smoking BMI coefficient−.0633,CI−.5206 to .3940,p.786. The right-skewed residuals and uneven spread limit the approximation. Cook4/n flags140 for review. Filtering yields adjustedR²4.89%. Full coefficients, confidence intervals and VIFs remain in the report/CSV. No diabetes classification accuracy is claimed. Suggested time: 90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Experiments5/6, Labs05/06. Binomial:300 artificial groups of10,rawpositivep .156333; pooled MLE .154999,chi .287105,df3,p .962435,expectedmin16.65. Plot aggregates5–10 into5+ for readability. NormalBMI mean28.398,SD6.351,ShapiroW.896929,p&lt;.001. Poisson rawmeanlambda4.151667,var74.240077,dispersion17.88199,zeros62.9%,30days7.4%. Native chart aggregates full support, including&gt;30. Formal pooled test uses grouped MLElambda1.797448,chi41781.676,df6,p&lt;.001,expectedmin7.65. Ordinary overlay uses rawmean; the two estimation procedures are distinguished in the report. Describe why normal/Poisson fail rather than forcing a good fit. Suggested time: 90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Experiments7/8/9, Labs07/08/09a/09b. All alternatives two-sided. BMI27 and positive proportion11% are hypothetical classroom benchmarks. Welch BMI differencefemale−male−.6494,CI−1.0958 to−.2030,p.004368; smokerpositive14.087% versus17.361%,difference−3.273pp,CI−5.953 to−.594,p.015765 using continuity correction. PhysHlthfemale−male1.2463days,CI.6343 to1.8584,p&lt;.001. Genuine paired example uses29 CBT patients from MASS anorexia, postminuspre mean3.0069lb,CI.2269 to5.7869,t2.2156,df28,p.0350. Non-normal differences Shapiro.00795 and signed-rank sensitivityp.0645 make this result method-sensitive. A within-group change does not prove treatment efficacy. Patient trajectories are blue and average orange. Suggested time: 110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 10. Equal-frequency age GOF is a hypothetical teaching null across 13 unequal-width bands: chi-square 678.1247, df12, p&lt;.001. Status means prediabetes or diabetes. Independence tests use Pearson chi-square without continuity correction: status×HighBP 226.2818, df1, p&lt;.001, Cramer V .27464; status×Smoker 6.0746, df1, p .013714, V .0449985. Expected cells exceed five. No-high-BP positive share 118/1703=6.929%; high-BP 351/1297=27.062%. Never/ever100-cigarette shares 14.087% and17.361%. Compare association magnitudes, not p-values alone. These are observational relationships. Suggested time: 90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Experiment 11. BMI by education is observational ANOVA, F14.4064,p&lt;.001,eta-square .02349. Unequal variances motivate Welch p .000351 and Holm separate-variance pair comparisons. Genuine Cochran potato CRD:32 plots,7 sulfur treatments,F3.6081,p .010262; control8 replicates,others4 each; Tukey control-minus-F12 difference16.875 percentage points,p .005965. Gomez rice complete-block design:24 plots,6 rates,4 blocks. Block F5.8622,p .007416; rate F2.1678,p .112809. Residual MSE decreases from200152 to110558,44.76%. Goulden wheat Latin Square:5 treatments in5 rows and5 columns. Row p .01328,column p .26343,treatment F21.0321,p .00002366; Cweeklydusting mean13.12 exceeds each other treatment with Tukey adjustment. Yield units unspecified for wheat, kg/ha for rice. Models are additive with negligible interaction assumed; genuine published designs are separate from survey data. Suggested time: 150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review of all course experiments. Mean BMI is higher in prediabetes/diabetes groups with overlapping individual distributions. Pearson r .102 and simple R-square1.03% show a weak association; the different multiple specification explains6.81%, not validated prediction accuracy. Removing114BMI flags changes mean28.40to27.65 and variance40.34to24.59. Binomial grouped fit is adequate to this test; normal and ordinary Poisson descriptions fail. BP status association V .275 exceeds smoking .045. Published paired/design supplements demonstrate the appropriate data structure. Rice blocks reduce residual MSE44.8%; weekly-dusting C has greatest wheat yield mean13.12 with significant adjusted pair comparisons. Limitations:historical,self-report,omitted complex survey design,sparse categories,confounding,model diagnostics and method-sensitive paired result. Next steps:more recent/better data, useful predictors, evaluation on unseen observations, repeat model checks. Explain findings as associations and course demonstrations. Suggested time: 100 seconds.</a:t>
            </a:r>
          </a:p>
          <a:p xmlns:a="http://schemas.openxmlformats.org/drawingml/2006/main">
            <a:r>
              <a:t/>
            </a:r>
          </a:p>
          <a:p xmlns:a="http://schemas.openxmlformats.org/drawingml/2006/main">
            <a:r>
              <a:t>Sources:</a:t>
            </a:r>
          </a:p>
          <a:p xmlns:a="http://schemas.openxmlformats.org/drawingml/2006/main">
            <a:r>
              <a:t>https://www.cdc.gov/brfss/annual_data/annual_2015.html</a:t>
            </a:r>
          </a:p>
          <a:p xmlns:a="http://schemas.openxmlformats.org/drawingml/2006/main">
            <a:r>
              <a:t>https://www.kaggle.com/datasets/alexteboul/diabetes-health-indicators-dataset</a:t>
            </a:r>
          </a:p>
          <a:p xmlns:a="http://schemas.openxmlformats.org/drawingml/2006/main">
            <a:r>
              <a:t>https://archive.ics.uci.edu/dataset/891/cdc+diabetes+health+indicators</a:t>
            </a:r>
          </a:p>
          <a:p xmlns:a="http://schemas.openxmlformats.org/drawingml/2006/main">
            <a:r>
              <a:t>https://stat.ethz.ch/R-manual/R-devel/library/MASS/html/anorexia.html</a:t>
            </a:r>
          </a:p>
          <a:p xmlns:a="http://schemas.openxmlformats.org/drawingml/2006/main">
            <a:r>
              <a:t>https://kwstat.github.io/agridat/reference/cochran.crd.html</a:t>
            </a:r>
          </a:p>
          <a:p xmlns:a="http://schemas.openxmlformats.org/drawingml/2006/main">
            <a:r>
              <a:t>https://kwstat.github.io/agridat/reference/gomez.seedrate.html</a:t>
            </a:r>
          </a:p>
          <a:p xmlns:a="http://schemas.openxmlformats.org/drawingml/2006/main">
            <a:r>
              <a:t>https://kwstat.github.io/agridat/reference/goulden.latin.html</a:t>
            </a:r>
          </a:p>
          <a:p xmlns:a="http://schemas.openxmlformats.org/drawingml/2006/main">
            <a:r>
              <a:t>https://www.itl.nist.gov/div898/handbook/eda/section3/eda35f.htm</a:t>
            </a:r>
          </a:p>
          <a:p xmlns:a="http://schemas.openxmlformats.org/drawingml/2006/main">
            <a:r>
              <a:t>Calculations: matching saved R lab outputs. All29 original figures remain in the complete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c31cd450e84d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cabd20770d45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df1a15586641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70819ea9ec4a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043409fb3a48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7040be753f43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2CEF49-8614-40DA-90E4-9AFE03D6D1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7C3A8A-58F0-4216-BC9A-661534EE74B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51C420-63F1-46A2-906C-BC9BC6B295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FC8BEE-805C-44D2-B8F5-A4D1C260A1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76CC00-2452-41C9-BB0B-15CB9FE6AD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8FC889-9357-41EE-87D2-87DC853C9F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339861-064D-4EB9-9FB5-59CB087A27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437D7B-1E0A-495A-83B1-135E4FE5B2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BA2789-EDBE-4989-88FB-138347014A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EDD9C7-0288-4160-9F94-CA0721969E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52333ae6cf489f" /><Relationship Type="http://schemas.openxmlformats.org/officeDocument/2006/relationships/slideLayout" Target="/ppt/slideLayouts/slideLayout1.xml" Id="R0749e719fdfb4588" /><Relationship Type="http://schemas.openxmlformats.org/officeDocument/2006/relationships/slideLayout" Target="/ppt/slideLayouts/slideLayout2.xml" Id="Rb74a1b8e0a22405a" /><Relationship Type="http://schemas.openxmlformats.org/officeDocument/2006/relationships/slideLayout" Target="/ppt/slideLayouts/slideLayout3.xml" Id="R6208e2aa360d4a4f" /><Relationship Type="http://schemas.openxmlformats.org/officeDocument/2006/relationships/slideLayout" Target="/ppt/slideLayouts/slideLayout4.xml" Id="Ra0143974aa2b4d86" /><Relationship Type="http://schemas.openxmlformats.org/officeDocument/2006/relationships/slideLayout" Target="/ppt/slideLayouts/slideLayout5.xml" Id="R6a9aab3484f746a0" /><Relationship Type="http://schemas.openxmlformats.org/officeDocument/2006/relationships/slideLayout" Target="/ppt/slideLayouts/slideLayout6.xml" Id="Rfb426bc917554a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49e719fdfb4588"/>
    <p:sldLayoutId xmlns:r="http://schemas.openxmlformats.org/officeDocument/2006/relationships" id="2147483650" r:id="Rb74a1b8e0a22405a"/>
    <p:sldLayoutId xmlns:r="http://schemas.openxmlformats.org/officeDocument/2006/relationships" id="2147483651" r:id="R6208e2aa360d4a4f"/>
    <p:sldLayoutId xmlns:r="http://schemas.openxmlformats.org/officeDocument/2006/relationships" id="2147483652" r:id="Ra0143974aa2b4d86"/>
    <p:sldLayoutId xmlns:r="http://schemas.openxmlformats.org/officeDocument/2006/relationships" id="2147483653" r:id="R6a9aab3484f746a0"/>
    <p:sldLayoutId xmlns:r="http://schemas.openxmlformats.org/officeDocument/2006/relationships" id="2147483654" r:id="Rfb426bc917554a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147ee139464165" /><Relationship Type="http://schemas.openxmlformats.org/officeDocument/2006/relationships/notesSlide" Target="/ppt/notesSlides/notesSlide1.xml" Id="R19db681501f441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a509ee895948b9" /><Relationship Type="http://schemas.openxmlformats.org/officeDocument/2006/relationships/chart" Target="/ppt/slides/charts/chart1.xml" Id="R420fbd6dc42045cf" /><Relationship Type="http://schemas.openxmlformats.org/officeDocument/2006/relationships/notesSlide" Target="/ppt/notesSlides/notesSlide2.xml" Id="Rf35aad3d05ca48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b9504fe19b48cf" /><Relationship Type="http://schemas.openxmlformats.org/officeDocument/2006/relationships/notesSlide" Target="/ppt/notesSlides/notesSlide3.xml" Id="R0aec7712894e48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f813053be148af" /><Relationship Type="http://schemas.openxmlformats.org/officeDocument/2006/relationships/image" Target="/ppt/media/image.png" Id="R282e3770db784ef3" /><Relationship Type="http://schemas.openxmlformats.org/officeDocument/2006/relationships/image" Target="/ppt/media/image2.png" Id="Reab71137aaf14a11" /><Relationship Type="http://schemas.openxmlformats.org/officeDocument/2006/relationships/notesSlide" Target="/ppt/notesSlides/notesSlide4.xml" Id="R090a61603efa46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cf8630f0e743b3" /><Relationship Type="http://schemas.openxmlformats.org/officeDocument/2006/relationships/chart" Target="/ppt/slides/charts/chart2.xml" Id="Rdb444a748e434ad0" /><Relationship Type="http://schemas.openxmlformats.org/officeDocument/2006/relationships/chart" Target="/ppt/slides/charts/chart3.xml" Id="R3b5c9f6f71db4ff0" /><Relationship Type="http://schemas.openxmlformats.org/officeDocument/2006/relationships/image" Target="/ppt/media/image3.png" Id="R4a8af7934bda47dc" /><Relationship Type="http://schemas.openxmlformats.org/officeDocument/2006/relationships/notesSlide" Target="/ppt/notesSlides/notesSlide5.xml" Id="R58aa1556307041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4e03c434db4e88" /><Relationship Type="http://schemas.openxmlformats.org/officeDocument/2006/relationships/image" Target="/ppt/media/image4.png" Id="Re1e14c5045cc4b7a" /><Relationship Type="http://schemas.openxmlformats.org/officeDocument/2006/relationships/image" Target="/ppt/media/image5.png" Id="Reac847d07a544aa3" /><Relationship Type="http://schemas.openxmlformats.org/officeDocument/2006/relationships/notesSlide" Target="/ppt/notesSlides/notesSlide6.xml" Id="Rbb947c4090b742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908744943d4b23" /><Relationship Type="http://schemas.openxmlformats.org/officeDocument/2006/relationships/image" Target="/ppt/media/image6.png" Id="R2150c4b0b378461d" /><Relationship Type="http://schemas.openxmlformats.org/officeDocument/2006/relationships/notesSlide" Target="/ppt/notesSlides/notesSlide7.xml" Id="R498ee4d0fd7e48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d5bd81c7d44c67" /><Relationship Type="http://schemas.openxmlformats.org/officeDocument/2006/relationships/chart" Target="/ppt/slides/charts/chart4.xml" Id="R9b05b54c6819467f" /><Relationship Type="http://schemas.openxmlformats.org/officeDocument/2006/relationships/image" Target="/ppt/media/image7.png" Id="Rc2c69ee3790a43d4" /><Relationship Type="http://schemas.openxmlformats.org/officeDocument/2006/relationships/chart" Target="/ppt/slides/charts/chart5.xml" Id="R235f47ca5d5049e7" /><Relationship Type="http://schemas.openxmlformats.org/officeDocument/2006/relationships/notesSlide" Target="/ppt/notesSlides/notesSlide8.xml" Id="Rc03be3e3974248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55d490b6cc42dd" /><Relationship Type="http://schemas.openxmlformats.org/officeDocument/2006/relationships/chart" Target="/ppt/slides/charts/chart6.xml" Id="R52d85346903c4bd3" /><Relationship Type="http://schemas.openxmlformats.org/officeDocument/2006/relationships/notesSlide" Target="/ppt/notesSlides/notesSlide9.xml" Id="Rf8dc2dd611274a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c34ba9cd0fb45be" /><Relationship Type="http://schemas.openxmlformats.org/officeDocument/2006/relationships/chart" Target="/ppt/slides/charts/chart7.xml" Id="Rb0e2e8d7d8e04fc5" /><Relationship Type="http://schemas.openxmlformats.org/officeDocument/2006/relationships/chart" Target="/ppt/slides/charts/chart8.xml" Id="R10cca119f1d34fbe" /><Relationship Type="http://schemas.openxmlformats.org/officeDocument/2006/relationships/notesSlide" Target="/ppt/notesSlides/notesSlide10.xml" Id="R38693bc6719c40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05a2620dc294a51" /><Relationship Type="http://schemas.openxmlformats.org/officeDocument/2006/relationships/chart" Target="/ppt/slides/charts/chart9.xml" Id="Rd057bec6a7cd48e4" /><Relationship Type="http://schemas.openxmlformats.org/officeDocument/2006/relationships/notesSlide" Target="/ppt/notesSlides/notesSlide11.xml" Id="Rfa852a8035f64e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312994d16b4101" /><Relationship Type="http://schemas.openxmlformats.org/officeDocument/2006/relationships/notesSlide" Target="/ppt/notesSlides/notesSlide12.xml" Id="R037d1cf903114b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People</c:v>
          </c:tx>
          <c:spPr>
            <a:solidFill xmlns:a="http://schemas.openxmlformats.org/drawingml/2006/main">
              <a:srgbClr val="176D8C"/>
            </a:solidFill>
          </c:spPr>
          <c:invertIfNegative val="0"/>
          <c:dPt>
            <c:idx val="0"/>
            <c:invertIfNegative val="0"/>
            <c:spPr>
              <a:solidFill xmlns:a="http://schemas.openxmlformats.org/drawingml/2006/main">
                <a:srgbClr val="176D8C"/>
              </a:solidFill>
            </c:spPr>
          </c:dPt>
          <c:dPt>
            <c:idx val="1"/>
            <c:invertIfNegative val="0"/>
            <c:spPr>
              <a:solidFill xmlns:a="http://schemas.openxmlformats.org/drawingml/2006/main">
                <a:srgbClr val="269E91"/>
              </a:solidFill>
            </c:spPr>
          </c:dPt>
          <c:dPt>
            <c:idx val="2"/>
            <c:invertIfNegative val="0"/>
            <c:spPr>
              <a:solidFill xmlns:a="http://schemas.openxmlformats.org/drawingml/2006/main">
                <a:srgbClr val="D87945"/>
              </a:solidFill>
            </c:spPr>
          </c:dPt>
          <c:cat>
            <c:strRef>
              <c:f>'Chart Data'!$A$2:$A$4</c:f>
              <c:strCache>
                <c:ptCount val="3"/>
                <c:pt idx="0">
                  <c:v>No diabetes</c:v>
                </c:pt>
                <c:pt idx="1">
                  <c:v>Prediabetes</c:v>
                </c:pt>
                <c:pt idx="2">
                  <c:v>Diabetes</c:v>
                </c:pt>
              </c:strCache>
            </c:strRef>
          </c:cat>
          <c:val>
            <c:numRef>
              <c:f>'Chart Data'!$B$2:$B$4</c:f>
              <c:numCache>
                <c:formatCode>General</c:formatCode>
                <c:ptCount val="3"/>
                <c:pt idx="0">
                  <c:v>2531</c:v>
                </c:pt>
                <c:pt idx="1">
                  <c:v>48</c:v>
                </c:pt>
                <c:pt idx="2">
                  <c:v>421</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CC6"/>
            </a:solid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3000"/>
          <c:min val="0"/>
        </c:scaling>
        <c:delete val="0"/>
        <c:axPos val="l"/>
        <c:majorGridlines>
          <c:spPr>
            <a:ln xmlns:a="http://schemas.openxmlformats.org/drawingml/2006/main" w="9525">
              <a:solidFill>
                <a:srgbClr val="DF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1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varyColors val="0"/>
        <c:ser>
          <c:idx val="0"/>
          <c:order val="0"/>
          <c:tx>
            <c:v>People</c:v>
          </c:tx>
          <c:spPr>
            <a:solidFill xmlns:a="http://schemas.openxmlformats.org/drawingml/2006/main">
              <a:srgbClr val="176D8C"/>
            </a:solidFill>
            <a:ln xmlns:a="http://schemas.openxmlformats.org/drawingml/2006/main" w="19050">
              <a:solidFill>
                <a:srgbClr val="176D8C"/>
              </a:solidFill>
            </a:ln>
          </c:spPr>
          <c:invertIfNegative val="0"/>
          <c:cat>
            <c:strRef>
              <c:f>'Chart Data'!$A$2:$A$7</c:f>
              <c:strCache>
                <c:ptCount val="6"/>
                <c:pt idx="0">
                  <c:v>No school</c:v>
                </c:pt>
                <c:pt idx="1">
                  <c:v>Primary</c:v>
                </c:pt>
                <c:pt idx="2">
                  <c:v>Some high school</c:v>
                </c:pt>
                <c:pt idx="3">
                  <c:v>High school</c:v>
                </c:pt>
                <c:pt idx="4">
                  <c:v>Some college</c:v>
                </c:pt>
                <c:pt idx="5">
                  <c:v>Graduate</c:v>
                </c:pt>
              </c:strCache>
            </c:strRef>
          </c:cat>
          <c:val>
            <c:numRef>
              <c:f>'Chart Data'!$B$2:$B$7</c:f>
              <c:numCache>
                <c:formatCode>General</c:formatCode>
                <c:ptCount val="6"/>
                <c:pt idx="0">
                  <c:v>2</c:v>
                </c:pt>
                <c:pt idx="1">
                  <c:v>49</c:v>
                </c:pt>
                <c:pt idx="2">
                  <c:v>105</c:v>
                </c:pt>
                <c:pt idx="3">
                  <c:v>778</c:v>
                </c:pt>
                <c:pt idx="4">
                  <c:v>834</c:v>
                </c:pt>
                <c:pt idx="5">
                  <c:v>1232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ax val="1500"/>
          <c:min val="0"/>
        </c:scaling>
        <c:delete val="0"/>
        <c:axPos val="b"/>
        <c:majorGridlines>
          <c:spPr>
            <a:ln xmlns:a="http://schemas.openxmlformats.org/drawingml/2006/main" w="9525">
              <a:solidFill>
                <a:srgbClr val="DF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majorUnit val="5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Share</c:v>
          </c:tx>
          <c:dPt>
            <c:idx val="0"/>
            <c:spPr>
              <a:solidFill xmlns:a="http://schemas.openxmlformats.org/drawingml/2006/main">
                <a:srgbClr val="176D8C"/>
              </a:solidFill>
            </c:spPr>
          </c:dPt>
          <c:dPt>
            <c:idx val="1"/>
            <c:spPr>
              <a:solidFill xmlns:a="http://schemas.openxmlformats.org/drawingml/2006/main">
                <a:srgbClr val="D87945"/>
              </a:solidFill>
            </c:spPr>
          </c:dPt>
          <c:cat>
            <c:strRef>
              <c:f>'Chart Data'!$A$2:$A$3</c:f>
              <c:strCache>
                <c:ptCount val="2"/>
                <c:pt idx="0">
                  <c:v>Female</c:v>
                </c:pt>
                <c:pt idx="1">
                  <c:v>Male</c:v>
                </c:pt>
              </c:strCache>
            </c:strRef>
          </c:cat>
          <c:val>
            <c:numRef>
              <c:f>'Chart Data'!$B$2:$B$3</c:f>
              <c:numCache>
                <c:formatCode>0</c:formatCode>
                <c:ptCount val="2"/>
                <c:pt idx="0">
                  <c:v>55.5667</c:v>
                </c:pt>
                <c:pt idx="1">
                  <c:v>44.4333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c:v>
          </c:tx>
          <c:spPr>
            <a:solidFill xmlns:a="http://schemas.openxmlformats.org/drawingml/2006/main">
              <a:srgbClr val="176D8C"/>
            </a:solidFill>
            <a:ln xmlns:a="http://schemas.openxmlformats.org/drawingml/2006/main" w="19050">
              <a:solidFill>
                <a:srgbClr val="176D8C"/>
              </a:solidFill>
            </a:ln>
          </c:spPr>
          <c:invertIfNegative val="0"/>
          <c:cat>
            <c:strRef>
              <c:f>'Chart Data'!$A$2:$A$7</c:f>
              <c:strCache>
                <c:ptCount val="6"/>
                <c:pt idx="0">
                  <c:v>0</c:v>
                </c:pt>
                <c:pt idx="1">
                  <c:v>1</c:v>
                </c:pt>
                <c:pt idx="2">
                  <c:v>2</c:v>
                </c:pt>
                <c:pt idx="3">
                  <c:v>3</c:v>
                </c:pt>
                <c:pt idx="4">
                  <c:v>4</c:v>
                </c:pt>
                <c:pt idx="5">
                  <c:v>5+</c:v>
                </c:pt>
              </c:strCache>
            </c:strRef>
          </c:cat>
          <c:val>
            <c:numRef>
              <c:f>'Chart Data'!$B$2:$B$7</c:f>
              <c:numCache>
                <c:formatCode>0</c:formatCode>
                <c:ptCount val="6"/>
                <c:pt idx="0">
                  <c:v>58</c:v>
                </c:pt>
                <c:pt idx="1">
                  <c:v>100</c:v>
                </c:pt>
                <c:pt idx="2">
                  <c:v>82</c:v>
                </c:pt>
                <c:pt idx="3">
                  <c:v>43</c:v>
                </c:pt>
                <c:pt idx="4">
                  <c:v>10</c:v>
                </c:pt>
                <c:pt idx="5">
                  <c:v>7</c:v>
                </c:pt>
              </c:numCache>
            </c:numRef>
          </c:val>
        </c:ser>
        <c:ser>
          <c:idx val="1"/>
          <c:order val="1"/>
          <c:tx>
            <c:v>Expected</c:v>
          </c:tx>
          <c:spPr>
            <a:solidFill xmlns:a="http://schemas.openxmlformats.org/drawingml/2006/main">
              <a:srgbClr val="D87945"/>
            </a:solidFill>
            <a:ln xmlns:a="http://schemas.openxmlformats.org/drawingml/2006/main" w="19050">
              <a:solidFill>
                <a:srgbClr val="D87945"/>
              </a:solidFill>
            </a:ln>
          </c:spPr>
          <c:invertIfNegative val="0"/>
          <c:cat>
            <c:strRef>
              <c:f>'Chart Data'!$C$2:$C$7</c:f>
              <c:strCache>
                <c:ptCount val="6"/>
                <c:pt idx="0">
                  <c:v>0</c:v>
                </c:pt>
                <c:pt idx="1">
                  <c:v>1</c:v>
                </c:pt>
                <c:pt idx="2">
                  <c:v>2</c:v>
                </c:pt>
                <c:pt idx="3">
                  <c:v>3</c:v>
                </c:pt>
                <c:pt idx="4">
                  <c:v>4</c:v>
                </c:pt>
                <c:pt idx="5">
                  <c:v>5+</c:v>
                </c:pt>
              </c:strCache>
            </c:strRef>
          </c:cat>
          <c:val>
            <c:numRef>
              <c:f>'Chart Data'!$D$2:$D$7</c:f>
              <c:numCache>
                <c:formatCode>0</c:formatCode>
                <c:ptCount val="6"/>
                <c:pt idx="0">
                  <c:v>54.8063</c:v>
                </c:pt>
                <c:pt idx="1">
                  <c:v>101.5572</c:v>
                </c:pt>
                <c:pt idx="2">
                  <c:v>84.6845</c:v>
                </c:pt>
                <c:pt idx="3">
                  <c:v>41.846</c:v>
                </c:pt>
                <c:pt idx="4">
                  <c:v>13.5698</c:v>
                </c:pt>
                <c:pt idx="5">
                  <c:v>3.5363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FE7E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c:v>
          </c:tx>
          <c:spPr>
            <a:solidFill xmlns:a="http://schemas.openxmlformats.org/drawingml/2006/main">
              <a:srgbClr val="176D8C"/>
            </a:solidFill>
            <a:ln xmlns:a="http://schemas.openxmlformats.org/drawingml/2006/main" w="19050">
              <a:solidFill>
                <a:srgbClr val="176D8C"/>
              </a:solidFill>
            </a:ln>
          </c:spPr>
          <c:invertIfNegative val="0"/>
          <c:cat>
            <c:strRef>
              <c:f>'Chart Data'!$A$2:$A$8</c:f>
              <c:strCache>
                <c:ptCount val="7"/>
                <c:pt idx="0">
                  <c:v>0</c:v>
                </c:pt>
                <c:pt idx="1">
                  <c:v>1–2</c:v>
                </c:pt>
                <c:pt idx="2">
                  <c:v>3–5</c:v>
                </c:pt>
                <c:pt idx="3">
                  <c:v>6–10</c:v>
                </c:pt>
                <c:pt idx="4">
                  <c:v>11–20</c:v>
                </c:pt>
                <c:pt idx="5">
                  <c:v>21–30</c:v>
                </c:pt>
                <c:pt idx="6">
                  <c:v>&gt;30</c:v>
                </c:pt>
              </c:strCache>
            </c:strRef>
          </c:cat>
          <c:val>
            <c:numRef>
              <c:f>'Chart Data'!$B$2:$B$8</c:f>
              <c:numCache>
                <c:formatCode>0</c:formatCode>
                <c:ptCount val="7"/>
                <c:pt idx="0">
                  <c:v>1887</c:v>
                </c:pt>
                <c:pt idx="1">
                  <c:v>340</c:v>
                </c:pt>
                <c:pt idx="2">
                  <c:v>226</c:v>
                </c:pt>
                <c:pt idx="3">
                  <c:v>151</c:v>
                </c:pt>
                <c:pt idx="4">
                  <c:v>138</c:v>
                </c:pt>
                <c:pt idx="5">
                  <c:v>258</c:v>
                </c:pt>
                <c:pt idx="6">
                  <c:v>0</c:v>
                </c:pt>
              </c:numCache>
            </c:numRef>
          </c:val>
        </c:ser>
        <c:ser>
          <c:idx val="1"/>
          <c:order val="1"/>
          <c:tx>
            <c:v>Expected</c:v>
          </c:tx>
          <c:spPr>
            <a:solidFill xmlns:a="http://schemas.openxmlformats.org/drawingml/2006/main">
              <a:srgbClr val="D87945"/>
            </a:solidFill>
            <a:ln xmlns:a="http://schemas.openxmlformats.org/drawingml/2006/main" w="19050">
              <a:solidFill>
                <a:srgbClr val="D87945"/>
              </a:solidFill>
            </a:ln>
          </c:spPr>
          <c:invertIfNegative val="0"/>
          <c:cat>
            <c:strRef>
              <c:f>'Chart Data'!$C$2:$C$8</c:f>
              <c:strCache>
                <c:ptCount val="7"/>
                <c:pt idx="0">
                  <c:v>0</c:v>
                </c:pt>
                <c:pt idx="1">
                  <c:v>1–2</c:v>
                </c:pt>
                <c:pt idx="2">
                  <c:v>3–5</c:v>
                </c:pt>
                <c:pt idx="3">
                  <c:v>6–10</c:v>
                </c:pt>
                <c:pt idx="4">
                  <c:v>11–20</c:v>
                </c:pt>
                <c:pt idx="5">
                  <c:v>21–30</c:v>
                </c:pt>
                <c:pt idx="6">
                  <c:v>&gt;30</c:v>
                </c:pt>
              </c:strCache>
            </c:strRef>
          </c:cat>
          <c:val>
            <c:numRef>
              <c:f>'Chart Data'!$D$2:$D$8</c:f>
              <c:numCache>
                <c:formatCode>0</c:formatCode>
                <c:ptCount val="7"/>
                <c:pt idx="0">
                  <c:v>47.2145</c:v>
                </c:pt>
                <c:pt idx="1">
                  <c:v>602.9213</c:v>
                </c:pt>
                <c:pt idx="2">
                  <c:v>1632.8624</c:v>
                </c:pt>
                <c:pt idx="3">
                  <c:v>705.7852</c:v>
                </c:pt>
                <c:pt idx="4">
                  <c:v>11.2166</c:v>
                </c:pt>
                <c:pt idx="5">
                  <c:v>0</c:v>
                </c:pt>
                <c:pt idx="6">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FE7E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Patient 1</c:v>
          </c:tx>
          <c:spPr>
            <a:ln xmlns:a="http://schemas.openxmlformats.org/drawingml/2006/main" w="9525">
              <a:solidFill>
                <a:srgbClr val="A0C7D6"/>
              </a:solidFill>
            </a:ln>
          </c:spPr>
          <c:marker>
            <c:symbol val="none"/>
          </c:marker>
          <c:cat>
            <c:strRef>
              <c:f>'Chart Data'!$A$2:$A$3</c:f>
              <c:strCache>
                <c:ptCount val="2"/>
                <c:pt idx="0">
                  <c:v>Before</c:v>
                </c:pt>
                <c:pt idx="1">
                  <c:v>After</c:v>
                </c:pt>
              </c:strCache>
            </c:strRef>
          </c:cat>
          <c:val>
            <c:numRef>
              <c:f>'Chart Data'!$B$2:$B$3</c:f>
              <c:numCache>
                <c:formatCode>General</c:formatCode>
                <c:ptCount val="2"/>
                <c:pt idx="0">
                  <c:v>80.5</c:v>
                </c:pt>
                <c:pt idx="1">
                  <c:v>82.2</c:v>
                </c:pt>
              </c:numCache>
            </c:numRef>
          </c:val>
        </c:ser>
        <c:ser>
          <c:idx val="1"/>
          <c:order val="1"/>
          <c:tx>
            <c:v>Patient 2</c:v>
          </c:tx>
          <c:spPr>
            <a:ln xmlns:a="http://schemas.openxmlformats.org/drawingml/2006/main" w="9525">
              <a:solidFill>
                <a:srgbClr val="A0C7D6"/>
              </a:solidFill>
            </a:ln>
          </c:spPr>
          <c:marker>
            <c:symbol val="none"/>
          </c:marker>
          <c:cat>
            <c:strRef>
              <c:f>'Chart Data'!$C$2:$C$3</c:f>
              <c:strCache>
                <c:ptCount val="2"/>
                <c:pt idx="0">
                  <c:v>Before</c:v>
                </c:pt>
                <c:pt idx="1">
                  <c:v>After</c:v>
                </c:pt>
              </c:strCache>
            </c:strRef>
          </c:cat>
          <c:val>
            <c:numRef>
              <c:f>'Chart Data'!$D$2:$D$3</c:f>
              <c:numCache>
                <c:formatCode>General</c:formatCode>
                <c:ptCount val="2"/>
                <c:pt idx="0">
                  <c:v>84.9</c:v>
                </c:pt>
                <c:pt idx="1">
                  <c:v>85.6</c:v>
                </c:pt>
              </c:numCache>
            </c:numRef>
          </c:val>
        </c:ser>
        <c:ser>
          <c:idx val="2"/>
          <c:order val="2"/>
          <c:tx>
            <c:v>Patient 3</c:v>
          </c:tx>
          <c:spPr>
            <a:ln xmlns:a="http://schemas.openxmlformats.org/drawingml/2006/main" w="9525">
              <a:solidFill>
                <a:srgbClr val="A0C7D6"/>
              </a:solidFill>
            </a:ln>
          </c:spPr>
          <c:marker>
            <c:symbol val="none"/>
          </c:marker>
          <c:cat>
            <c:strRef>
              <c:f>'Chart Data'!$E$2:$E$3</c:f>
              <c:strCache>
                <c:ptCount val="2"/>
                <c:pt idx="0">
                  <c:v>Before</c:v>
                </c:pt>
                <c:pt idx="1">
                  <c:v>After</c:v>
                </c:pt>
              </c:strCache>
            </c:strRef>
          </c:cat>
          <c:val>
            <c:numRef>
              <c:f>'Chart Data'!$F$2:$F$3</c:f>
              <c:numCache>
                <c:formatCode>General</c:formatCode>
                <c:ptCount val="2"/>
                <c:pt idx="0">
                  <c:v>81.5</c:v>
                </c:pt>
                <c:pt idx="1">
                  <c:v>81.4</c:v>
                </c:pt>
              </c:numCache>
            </c:numRef>
          </c:val>
        </c:ser>
        <c:ser>
          <c:idx val="3"/>
          <c:order val="3"/>
          <c:tx>
            <c:v>Patient 4</c:v>
          </c:tx>
          <c:spPr>
            <a:ln xmlns:a="http://schemas.openxmlformats.org/drawingml/2006/main" w="9525">
              <a:solidFill>
                <a:srgbClr val="A0C7D6"/>
              </a:solidFill>
            </a:ln>
          </c:spPr>
          <c:marker>
            <c:symbol val="none"/>
          </c:marker>
          <c:cat>
            <c:strRef>
              <c:f>'Chart Data'!$G$2:$G$3</c:f>
              <c:strCache>
                <c:ptCount val="2"/>
                <c:pt idx="0">
                  <c:v>Before</c:v>
                </c:pt>
                <c:pt idx="1">
                  <c:v>After</c:v>
                </c:pt>
              </c:strCache>
            </c:strRef>
          </c:cat>
          <c:val>
            <c:numRef>
              <c:f>'Chart Data'!$H$2:$H$3</c:f>
              <c:numCache>
                <c:formatCode>General</c:formatCode>
                <c:ptCount val="2"/>
                <c:pt idx="0">
                  <c:v>82.6</c:v>
                </c:pt>
                <c:pt idx="1">
                  <c:v>81.9</c:v>
                </c:pt>
              </c:numCache>
            </c:numRef>
          </c:val>
        </c:ser>
        <c:ser>
          <c:idx val="4"/>
          <c:order val="4"/>
          <c:tx>
            <c:v>Patient 5</c:v>
          </c:tx>
          <c:spPr>
            <a:ln xmlns:a="http://schemas.openxmlformats.org/drawingml/2006/main" w="9525">
              <a:solidFill>
                <a:srgbClr val="A0C7D6"/>
              </a:solidFill>
            </a:ln>
          </c:spPr>
          <c:marker>
            <c:symbol val="none"/>
          </c:marker>
          <c:cat>
            <c:strRef>
              <c:f>'Chart Data'!$I$2:$I$3</c:f>
              <c:strCache>
                <c:ptCount val="2"/>
                <c:pt idx="0">
                  <c:v>Before</c:v>
                </c:pt>
                <c:pt idx="1">
                  <c:v>After</c:v>
                </c:pt>
              </c:strCache>
            </c:strRef>
          </c:cat>
          <c:val>
            <c:numRef>
              <c:f>'Chart Data'!$J$2:$J$3</c:f>
              <c:numCache>
                <c:formatCode>General</c:formatCode>
                <c:ptCount val="2"/>
                <c:pt idx="0">
                  <c:v>79.9</c:v>
                </c:pt>
                <c:pt idx="1">
                  <c:v>76.4</c:v>
                </c:pt>
              </c:numCache>
            </c:numRef>
          </c:val>
        </c:ser>
        <c:ser>
          <c:idx val="5"/>
          <c:order val="5"/>
          <c:tx>
            <c:v>Patient 6</c:v>
          </c:tx>
          <c:spPr>
            <a:ln xmlns:a="http://schemas.openxmlformats.org/drawingml/2006/main" w="9525">
              <a:solidFill>
                <a:srgbClr val="A0C7D6"/>
              </a:solidFill>
            </a:ln>
          </c:spPr>
          <c:marker>
            <c:symbol val="none"/>
          </c:marker>
          <c:cat>
            <c:strRef>
              <c:f>'Chart Data'!$K$2:$K$3</c:f>
              <c:strCache>
                <c:ptCount val="2"/>
                <c:pt idx="0">
                  <c:v>Before</c:v>
                </c:pt>
                <c:pt idx="1">
                  <c:v>After</c:v>
                </c:pt>
              </c:strCache>
            </c:strRef>
          </c:cat>
          <c:val>
            <c:numRef>
              <c:f>'Chart Data'!$L$2:$L$3</c:f>
              <c:numCache>
                <c:formatCode>General</c:formatCode>
                <c:ptCount val="2"/>
                <c:pt idx="0">
                  <c:v>88.7</c:v>
                </c:pt>
                <c:pt idx="1">
                  <c:v>103.6</c:v>
                </c:pt>
              </c:numCache>
            </c:numRef>
          </c:val>
        </c:ser>
        <c:ser>
          <c:idx val="6"/>
          <c:order val="6"/>
          <c:tx>
            <c:v>Patient 7</c:v>
          </c:tx>
          <c:spPr>
            <a:ln xmlns:a="http://schemas.openxmlformats.org/drawingml/2006/main" w="9525">
              <a:solidFill>
                <a:srgbClr val="A0C7D6"/>
              </a:solidFill>
            </a:ln>
          </c:spPr>
          <c:marker>
            <c:symbol val="none"/>
          </c:marker>
          <c:cat>
            <c:strRef>
              <c:f>'Chart Data'!$M$2:$M$3</c:f>
              <c:strCache>
                <c:ptCount val="2"/>
                <c:pt idx="0">
                  <c:v>Before</c:v>
                </c:pt>
                <c:pt idx="1">
                  <c:v>After</c:v>
                </c:pt>
              </c:strCache>
            </c:strRef>
          </c:cat>
          <c:val>
            <c:numRef>
              <c:f>'Chart Data'!$N$2:$N$3</c:f>
              <c:numCache>
                <c:formatCode>General</c:formatCode>
                <c:ptCount val="2"/>
                <c:pt idx="0">
                  <c:v>94.9</c:v>
                </c:pt>
                <c:pt idx="1">
                  <c:v>98.4</c:v>
                </c:pt>
              </c:numCache>
            </c:numRef>
          </c:val>
        </c:ser>
        <c:ser>
          <c:idx val="7"/>
          <c:order val="7"/>
          <c:tx>
            <c:v>Patient 8</c:v>
          </c:tx>
          <c:spPr>
            <a:ln xmlns:a="http://schemas.openxmlformats.org/drawingml/2006/main" w="9525">
              <a:solidFill>
                <a:srgbClr val="A0C7D6"/>
              </a:solidFill>
            </a:ln>
          </c:spPr>
          <c:marker>
            <c:symbol val="none"/>
          </c:marker>
          <c:cat>
            <c:strRef>
              <c:f>'Chart Data'!$O$2:$O$3</c:f>
              <c:strCache>
                <c:ptCount val="2"/>
                <c:pt idx="0">
                  <c:v>Before</c:v>
                </c:pt>
                <c:pt idx="1">
                  <c:v>After</c:v>
                </c:pt>
              </c:strCache>
            </c:strRef>
          </c:cat>
          <c:val>
            <c:numRef>
              <c:f>'Chart Data'!$P$2:$P$3</c:f>
              <c:numCache>
                <c:formatCode>General</c:formatCode>
                <c:ptCount val="2"/>
                <c:pt idx="0">
                  <c:v>76.3</c:v>
                </c:pt>
                <c:pt idx="1">
                  <c:v>93.4</c:v>
                </c:pt>
              </c:numCache>
            </c:numRef>
          </c:val>
        </c:ser>
        <c:ser>
          <c:idx val="8"/>
          <c:order val="8"/>
          <c:tx>
            <c:v>Patient 9</c:v>
          </c:tx>
          <c:spPr>
            <a:ln xmlns:a="http://schemas.openxmlformats.org/drawingml/2006/main" w="9525">
              <a:solidFill>
                <a:srgbClr val="A0C7D6"/>
              </a:solidFill>
            </a:ln>
          </c:spPr>
          <c:marker>
            <c:symbol val="none"/>
          </c:marker>
          <c:cat>
            <c:strRef>
              <c:f>'Chart Data'!$Q$2:$Q$3</c:f>
              <c:strCache>
                <c:ptCount val="2"/>
                <c:pt idx="0">
                  <c:v>Before</c:v>
                </c:pt>
                <c:pt idx="1">
                  <c:v>After</c:v>
                </c:pt>
              </c:strCache>
            </c:strRef>
          </c:cat>
          <c:val>
            <c:numRef>
              <c:f>'Chart Data'!$R$2:$R$3</c:f>
              <c:numCache>
                <c:formatCode>General</c:formatCode>
                <c:ptCount val="2"/>
                <c:pt idx="0">
                  <c:v>81</c:v>
                </c:pt>
                <c:pt idx="1">
                  <c:v>73.4</c:v>
                </c:pt>
              </c:numCache>
            </c:numRef>
          </c:val>
        </c:ser>
        <c:ser>
          <c:idx val="9"/>
          <c:order val="9"/>
          <c:tx>
            <c:v>Patient 10</c:v>
          </c:tx>
          <c:spPr>
            <a:ln xmlns:a="http://schemas.openxmlformats.org/drawingml/2006/main" w="9525">
              <a:solidFill>
                <a:srgbClr val="A0C7D6"/>
              </a:solidFill>
            </a:ln>
          </c:spPr>
          <c:marker>
            <c:symbol val="none"/>
          </c:marker>
          <c:cat>
            <c:strRef>
              <c:f>'Chart Data'!$S$2:$S$3</c:f>
              <c:strCache>
                <c:ptCount val="2"/>
                <c:pt idx="0">
                  <c:v>Before</c:v>
                </c:pt>
                <c:pt idx="1">
                  <c:v>After</c:v>
                </c:pt>
              </c:strCache>
            </c:strRef>
          </c:cat>
          <c:val>
            <c:numRef>
              <c:f>'Chart Data'!$T$2:$T$3</c:f>
              <c:numCache>
                <c:formatCode>General</c:formatCode>
                <c:ptCount val="2"/>
                <c:pt idx="0">
                  <c:v>80.5</c:v>
                </c:pt>
                <c:pt idx="1">
                  <c:v>82.1</c:v>
                </c:pt>
              </c:numCache>
            </c:numRef>
          </c:val>
        </c:ser>
        <c:ser>
          <c:idx val="10"/>
          <c:order val="10"/>
          <c:tx>
            <c:v>Patient 11</c:v>
          </c:tx>
          <c:spPr>
            <a:ln xmlns:a="http://schemas.openxmlformats.org/drawingml/2006/main" w="9525">
              <a:solidFill>
                <a:srgbClr val="A0C7D6"/>
              </a:solidFill>
            </a:ln>
          </c:spPr>
          <c:marker>
            <c:symbol val="none"/>
          </c:marker>
          <c:cat>
            <c:strRef>
              <c:f>'Chart Data'!$U$2:$U$3</c:f>
              <c:strCache>
                <c:ptCount val="2"/>
                <c:pt idx="0">
                  <c:v>Before</c:v>
                </c:pt>
                <c:pt idx="1">
                  <c:v>After</c:v>
                </c:pt>
              </c:strCache>
            </c:strRef>
          </c:cat>
          <c:val>
            <c:numRef>
              <c:f>'Chart Data'!$V$2:$V$3</c:f>
              <c:numCache>
                <c:formatCode>General</c:formatCode>
                <c:ptCount val="2"/>
                <c:pt idx="0">
                  <c:v>85</c:v>
                </c:pt>
                <c:pt idx="1">
                  <c:v>96.7</c:v>
                </c:pt>
              </c:numCache>
            </c:numRef>
          </c:val>
        </c:ser>
        <c:ser>
          <c:idx val="11"/>
          <c:order val="11"/>
          <c:tx>
            <c:v>Patient 12</c:v>
          </c:tx>
          <c:spPr>
            <a:ln xmlns:a="http://schemas.openxmlformats.org/drawingml/2006/main" w="9525">
              <a:solidFill>
                <a:srgbClr val="A0C7D6"/>
              </a:solidFill>
            </a:ln>
          </c:spPr>
          <c:marker>
            <c:symbol val="none"/>
          </c:marker>
          <c:cat>
            <c:strRef>
              <c:f>'Chart Data'!$W$2:$W$3</c:f>
              <c:strCache>
                <c:ptCount val="2"/>
                <c:pt idx="0">
                  <c:v>Before</c:v>
                </c:pt>
                <c:pt idx="1">
                  <c:v>After</c:v>
                </c:pt>
              </c:strCache>
            </c:strRef>
          </c:cat>
          <c:val>
            <c:numRef>
              <c:f>'Chart Data'!$X$2:$X$3</c:f>
              <c:numCache>
                <c:formatCode>General</c:formatCode>
                <c:ptCount val="2"/>
                <c:pt idx="0">
                  <c:v>89.2</c:v>
                </c:pt>
                <c:pt idx="1">
                  <c:v>95.3</c:v>
                </c:pt>
              </c:numCache>
            </c:numRef>
          </c:val>
        </c:ser>
        <c:ser>
          <c:idx val="12"/>
          <c:order val="12"/>
          <c:tx>
            <c:v>Patient 13</c:v>
          </c:tx>
          <c:spPr>
            <a:ln xmlns:a="http://schemas.openxmlformats.org/drawingml/2006/main" w="9525">
              <a:solidFill>
                <a:srgbClr val="A0C7D6"/>
              </a:solidFill>
            </a:ln>
          </c:spPr>
          <c:marker>
            <c:symbol val="none"/>
          </c:marker>
          <c:cat>
            <c:strRef>
              <c:f>'Chart Data'!$Y$2:$Y$3</c:f>
              <c:strCache>
                <c:ptCount val="2"/>
                <c:pt idx="0">
                  <c:v>Before</c:v>
                </c:pt>
                <c:pt idx="1">
                  <c:v>After</c:v>
                </c:pt>
              </c:strCache>
            </c:strRef>
          </c:cat>
          <c:val>
            <c:numRef>
              <c:f>'Chart Data'!$Z$2:$Z$3</c:f>
              <c:numCache>
                <c:formatCode>General</c:formatCode>
                <c:ptCount val="2"/>
                <c:pt idx="0">
                  <c:v>81.3</c:v>
                </c:pt>
                <c:pt idx="1">
                  <c:v>82.4</c:v>
                </c:pt>
              </c:numCache>
            </c:numRef>
          </c:val>
        </c:ser>
        <c:ser>
          <c:idx val="13"/>
          <c:order val="13"/>
          <c:tx>
            <c:v>Patient 14</c:v>
          </c:tx>
          <c:spPr>
            <a:ln xmlns:a="http://schemas.openxmlformats.org/drawingml/2006/main" w="9525">
              <a:solidFill>
                <a:srgbClr val="A0C7D6"/>
              </a:solidFill>
            </a:ln>
          </c:spPr>
          <c:marker>
            <c:symbol val="none"/>
          </c:marker>
          <c:cat>
            <c:strRef>
              <c:f>'Chart Data'!$AA$2:$AA$3</c:f>
              <c:strCache>
                <c:ptCount val="2"/>
                <c:pt idx="0">
                  <c:v>Before</c:v>
                </c:pt>
                <c:pt idx="1">
                  <c:v>After</c:v>
                </c:pt>
              </c:strCache>
            </c:strRef>
          </c:cat>
          <c:val>
            <c:numRef>
              <c:f>'Chart Data'!$AB$2:$AB$3</c:f>
              <c:numCache>
                <c:formatCode>General</c:formatCode>
                <c:ptCount val="2"/>
                <c:pt idx="0">
                  <c:v>76.5</c:v>
                </c:pt>
                <c:pt idx="1">
                  <c:v>72.5</c:v>
                </c:pt>
              </c:numCache>
            </c:numRef>
          </c:val>
        </c:ser>
        <c:ser>
          <c:idx val="14"/>
          <c:order val="14"/>
          <c:tx>
            <c:v>Patient 15</c:v>
          </c:tx>
          <c:spPr>
            <a:ln xmlns:a="http://schemas.openxmlformats.org/drawingml/2006/main" w="9525">
              <a:solidFill>
                <a:srgbClr val="A0C7D6"/>
              </a:solidFill>
            </a:ln>
          </c:spPr>
          <c:marker>
            <c:symbol val="none"/>
          </c:marker>
          <c:cat>
            <c:strRef>
              <c:f>'Chart Data'!$AC$2:$AC$3</c:f>
              <c:strCache>
                <c:ptCount val="2"/>
                <c:pt idx="0">
                  <c:v>Before</c:v>
                </c:pt>
                <c:pt idx="1">
                  <c:v>After</c:v>
                </c:pt>
              </c:strCache>
            </c:strRef>
          </c:cat>
          <c:val>
            <c:numRef>
              <c:f>'Chart Data'!$AD$2:$AD$3</c:f>
              <c:numCache>
                <c:formatCode>General</c:formatCode>
                <c:ptCount val="2"/>
                <c:pt idx="0">
                  <c:v>70</c:v>
                </c:pt>
                <c:pt idx="1">
                  <c:v>90.9</c:v>
                </c:pt>
              </c:numCache>
            </c:numRef>
          </c:val>
        </c:ser>
        <c:ser>
          <c:idx val="15"/>
          <c:order val="15"/>
          <c:tx>
            <c:v>Patient 16</c:v>
          </c:tx>
          <c:spPr>
            <a:ln xmlns:a="http://schemas.openxmlformats.org/drawingml/2006/main" w="9525">
              <a:solidFill>
                <a:srgbClr val="A0C7D6"/>
              </a:solidFill>
            </a:ln>
          </c:spPr>
          <c:marker>
            <c:symbol val="none"/>
          </c:marker>
          <c:cat>
            <c:strRef>
              <c:f>'Chart Data'!$AE$2:$AE$3</c:f>
              <c:strCache>
                <c:ptCount val="2"/>
                <c:pt idx="0">
                  <c:v>Before</c:v>
                </c:pt>
                <c:pt idx="1">
                  <c:v>After</c:v>
                </c:pt>
              </c:strCache>
            </c:strRef>
          </c:cat>
          <c:val>
            <c:numRef>
              <c:f>'Chart Data'!$AF$2:$AF$3</c:f>
              <c:numCache>
                <c:formatCode>General</c:formatCode>
                <c:ptCount val="2"/>
                <c:pt idx="0">
                  <c:v>80.4</c:v>
                </c:pt>
                <c:pt idx="1">
                  <c:v>71.3</c:v>
                </c:pt>
              </c:numCache>
            </c:numRef>
          </c:val>
        </c:ser>
        <c:ser>
          <c:idx val="16"/>
          <c:order val="16"/>
          <c:tx>
            <c:v>Patient 17</c:v>
          </c:tx>
          <c:spPr>
            <a:ln xmlns:a="http://schemas.openxmlformats.org/drawingml/2006/main" w="9525">
              <a:solidFill>
                <a:srgbClr val="A0C7D6"/>
              </a:solidFill>
            </a:ln>
          </c:spPr>
          <c:marker>
            <c:symbol val="none"/>
          </c:marker>
          <c:cat>
            <c:strRef>
              <c:f>'Chart Data'!$AG$2:$AG$3</c:f>
              <c:strCache>
                <c:ptCount val="2"/>
                <c:pt idx="0">
                  <c:v>Before</c:v>
                </c:pt>
                <c:pt idx="1">
                  <c:v>After</c:v>
                </c:pt>
              </c:strCache>
            </c:strRef>
          </c:cat>
          <c:val>
            <c:numRef>
              <c:f>'Chart Data'!$AH$2:$AH$3</c:f>
              <c:numCache>
                <c:formatCode>General</c:formatCode>
                <c:ptCount val="2"/>
                <c:pt idx="0">
                  <c:v>83.3</c:v>
                </c:pt>
                <c:pt idx="1">
                  <c:v>85.4</c:v>
                </c:pt>
              </c:numCache>
            </c:numRef>
          </c:val>
        </c:ser>
        <c:ser>
          <c:idx val="17"/>
          <c:order val="17"/>
          <c:tx>
            <c:v>Patient 18</c:v>
          </c:tx>
          <c:spPr>
            <a:ln xmlns:a="http://schemas.openxmlformats.org/drawingml/2006/main" w="9525">
              <a:solidFill>
                <a:srgbClr val="A0C7D6"/>
              </a:solidFill>
            </a:ln>
          </c:spPr>
          <c:marker>
            <c:symbol val="none"/>
          </c:marker>
          <c:cat>
            <c:strRef>
              <c:f>'Chart Data'!$AI$2:$AI$3</c:f>
              <c:strCache>
                <c:ptCount val="2"/>
                <c:pt idx="0">
                  <c:v>Before</c:v>
                </c:pt>
                <c:pt idx="1">
                  <c:v>After</c:v>
                </c:pt>
              </c:strCache>
            </c:strRef>
          </c:cat>
          <c:val>
            <c:numRef>
              <c:f>'Chart Data'!$AJ$2:$AJ$3</c:f>
              <c:numCache>
                <c:formatCode>General</c:formatCode>
                <c:ptCount val="2"/>
                <c:pt idx="0">
                  <c:v>83</c:v>
                </c:pt>
                <c:pt idx="1">
                  <c:v>81.6</c:v>
                </c:pt>
              </c:numCache>
            </c:numRef>
          </c:val>
        </c:ser>
        <c:ser>
          <c:idx val="18"/>
          <c:order val="18"/>
          <c:tx>
            <c:v>Patient 19</c:v>
          </c:tx>
          <c:spPr>
            <a:ln xmlns:a="http://schemas.openxmlformats.org/drawingml/2006/main" w="9525">
              <a:solidFill>
                <a:srgbClr val="A0C7D6"/>
              </a:solidFill>
            </a:ln>
          </c:spPr>
          <c:marker>
            <c:symbol val="none"/>
          </c:marker>
          <c:cat>
            <c:strRef>
              <c:f>'Chart Data'!$AK$2:$AK$3</c:f>
              <c:strCache>
                <c:ptCount val="2"/>
                <c:pt idx="0">
                  <c:v>Before</c:v>
                </c:pt>
                <c:pt idx="1">
                  <c:v>After</c:v>
                </c:pt>
              </c:strCache>
            </c:strRef>
          </c:cat>
          <c:val>
            <c:numRef>
              <c:f>'Chart Data'!$AL$2:$AL$3</c:f>
              <c:numCache>
                <c:formatCode>General</c:formatCode>
                <c:ptCount val="2"/>
                <c:pt idx="0">
                  <c:v>87.7</c:v>
                </c:pt>
                <c:pt idx="1">
                  <c:v>89.1</c:v>
                </c:pt>
              </c:numCache>
            </c:numRef>
          </c:val>
        </c:ser>
        <c:ser>
          <c:idx val="19"/>
          <c:order val="19"/>
          <c:tx>
            <c:v>Patient 20</c:v>
          </c:tx>
          <c:spPr>
            <a:ln xmlns:a="http://schemas.openxmlformats.org/drawingml/2006/main" w="9525">
              <a:solidFill>
                <a:srgbClr val="A0C7D6"/>
              </a:solidFill>
            </a:ln>
          </c:spPr>
          <c:marker>
            <c:symbol val="none"/>
          </c:marker>
          <c:cat>
            <c:strRef>
              <c:f>'Chart Data'!$AM$2:$AM$3</c:f>
              <c:strCache>
                <c:ptCount val="2"/>
                <c:pt idx="0">
                  <c:v>Before</c:v>
                </c:pt>
                <c:pt idx="1">
                  <c:v>After</c:v>
                </c:pt>
              </c:strCache>
            </c:strRef>
          </c:cat>
          <c:val>
            <c:numRef>
              <c:f>'Chart Data'!$AN$2:$AN$3</c:f>
              <c:numCache>
                <c:formatCode>General</c:formatCode>
                <c:ptCount val="2"/>
                <c:pt idx="0">
                  <c:v>84.2</c:v>
                </c:pt>
                <c:pt idx="1">
                  <c:v>83.9</c:v>
                </c:pt>
              </c:numCache>
            </c:numRef>
          </c:val>
        </c:ser>
        <c:ser>
          <c:idx val="20"/>
          <c:order val="20"/>
          <c:tx>
            <c:v>Patient 21</c:v>
          </c:tx>
          <c:spPr>
            <a:ln xmlns:a="http://schemas.openxmlformats.org/drawingml/2006/main" w="9525">
              <a:solidFill>
                <a:srgbClr val="A0C7D6"/>
              </a:solidFill>
            </a:ln>
          </c:spPr>
          <c:marker>
            <c:symbol val="none"/>
          </c:marker>
          <c:cat>
            <c:strRef>
              <c:f>'Chart Data'!$AO$2:$AO$3</c:f>
              <c:strCache>
                <c:ptCount val="2"/>
                <c:pt idx="0">
                  <c:v>Before</c:v>
                </c:pt>
                <c:pt idx="1">
                  <c:v>After</c:v>
                </c:pt>
              </c:strCache>
            </c:strRef>
          </c:cat>
          <c:val>
            <c:numRef>
              <c:f>'Chart Data'!$AP$2:$AP$3</c:f>
              <c:numCache>
                <c:formatCode>General</c:formatCode>
                <c:ptCount val="2"/>
                <c:pt idx="0">
                  <c:v>86.4</c:v>
                </c:pt>
                <c:pt idx="1">
                  <c:v>82.7</c:v>
                </c:pt>
              </c:numCache>
            </c:numRef>
          </c:val>
        </c:ser>
        <c:ser>
          <c:idx val="21"/>
          <c:order val="21"/>
          <c:tx>
            <c:v>Patient 22</c:v>
          </c:tx>
          <c:spPr>
            <a:ln xmlns:a="http://schemas.openxmlformats.org/drawingml/2006/main" w="9525">
              <a:solidFill>
                <a:srgbClr val="A0C7D6"/>
              </a:solidFill>
            </a:ln>
          </c:spPr>
          <c:marker>
            <c:symbol val="none"/>
          </c:marker>
          <c:cat>
            <c:strRef>
              <c:f>'Chart Data'!$AQ$2:$AQ$3</c:f>
              <c:strCache>
                <c:ptCount val="2"/>
                <c:pt idx="0">
                  <c:v>Before</c:v>
                </c:pt>
                <c:pt idx="1">
                  <c:v>After</c:v>
                </c:pt>
              </c:strCache>
            </c:strRef>
          </c:cat>
          <c:val>
            <c:numRef>
              <c:f>'Chart Data'!$AR$2:$AR$3</c:f>
              <c:numCache>
                <c:formatCode>General</c:formatCode>
                <c:ptCount val="2"/>
                <c:pt idx="0">
                  <c:v>76.5</c:v>
                </c:pt>
                <c:pt idx="1">
                  <c:v>75.7</c:v>
                </c:pt>
              </c:numCache>
            </c:numRef>
          </c:val>
        </c:ser>
        <c:ser>
          <c:idx val="22"/>
          <c:order val="22"/>
          <c:tx>
            <c:v>Patient 23</c:v>
          </c:tx>
          <c:spPr>
            <a:ln xmlns:a="http://schemas.openxmlformats.org/drawingml/2006/main" w="9525">
              <a:solidFill>
                <a:srgbClr val="A0C7D6"/>
              </a:solidFill>
            </a:ln>
          </c:spPr>
          <c:marker>
            <c:symbol val="none"/>
          </c:marker>
          <c:cat>
            <c:strRef>
              <c:f>'Chart Data'!$AS$2:$AS$3</c:f>
              <c:strCache>
                <c:ptCount val="2"/>
                <c:pt idx="0">
                  <c:v>Before</c:v>
                </c:pt>
                <c:pt idx="1">
                  <c:v>After</c:v>
                </c:pt>
              </c:strCache>
            </c:strRef>
          </c:cat>
          <c:val>
            <c:numRef>
              <c:f>'Chart Data'!$AT$2:$AT$3</c:f>
              <c:numCache>
                <c:formatCode>General</c:formatCode>
                <c:ptCount val="2"/>
                <c:pt idx="0">
                  <c:v>80.2</c:v>
                </c:pt>
                <c:pt idx="1">
                  <c:v>82.6</c:v>
                </c:pt>
              </c:numCache>
            </c:numRef>
          </c:val>
        </c:ser>
        <c:ser>
          <c:idx val="23"/>
          <c:order val="23"/>
          <c:tx>
            <c:v>Patient 24</c:v>
          </c:tx>
          <c:spPr>
            <a:ln xmlns:a="http://schemas.openxmlformats.org/drawingml/2006/main" w="9525">
              <a:solidFill>
                <a:srgbClr val="A0C7D6"/>
              </a:solidFill>
            </a:ln>
          </c:spPr>
          <c:marker>
            <c:symbol val="none"/>
          </c:marker>
          <c:cat>
            <c:strRef>
              <c:f>'Chart Data'!$AU$2:$AU$3</c:f>
              <c:strCache>
                <c:ptCount val="2"/>
                <c:pt idx="0">
                  <c:v>Before</c:v>
                </c:pt>
                <c:pt idx="1">
                  <c:v>After</c:v>
                </c:pt>
              </c:strCache>
            </c:strRef>
          </c:cat>
          <c:val>
            <c:numRef>
              <c:f>'Chart Data'!$AV$2:$AV$3</c:f>
              <c:numCache>
                <c:formatCode>General</c:formatCode>
                <c:ptCount val="2"/>
                <c:pt idx="0">
                  <c:v>87.8</c:v>
                </c:pt>
                <c:pt idx="1">
                  <c:v>100.4</c:v>
                </c:pt>
              </c:numCache>
            </c:numRef>
          </c:val>
        </c:ser>
        <c:ser>
          <c:idx val="24"/>
          <c:order val="24"/>
          <c:tx>
            <c:v>Patient 25</c:v>
          </c:tx>
          <c:spPr>
            <a:ln xmlns:a="http://schemas.openxmlformats.org/drawingml/2006/main" w="9525">
              <a:solidFill>
                <a:srgbClr val="A0C7D6"/>
              </a:solidFill>
            </a:ln>
          </c:spPr>
          <c:marker>
            <c:symbol val="none"/>
          </c:marker>
          <c:cat>
            <c:strRef>
              <c:f>'Chart Data'!$AW$2:$AW$3</c:f>
              <c:strCache>
                <c:ptCount val="2"/>
                <c:pt idx="0">
                  <c:v>Before</c:v>
                </c:pt>
                <c:pt idx="1">
                  <c:v>After</c:v>
                </c:pt>
              </c:strCache>
            </c:strRef>
          </c:cat>
          <c:val>
            <c:numRef>
              <c:f>'Chart Data'!$AX$2:$AX$3</c:f>
              <c:numCache>
                <c:formatCode>General</c:formatCode>
                <c:ptCount val="2"/>
                <c:pt idx="0">
                  <c:v>83.3</c:v>
                </c:pt>
                <c:pt idx="1">
                  <c:v>85.2</c:v>
                </c:pt>
              </c:numCache>
            </c:numRef>
          </c:val>
        </c:ser>
        <c:ser>
          <c:idx val="25"/>
          <c:order val="25"/>
          <c:tx>
            <c:v>Patient 26</c:v>
          </c:tx>
          <c:spPr>
            <a:ln xmlns:a="http://schemas.openxmlformats.org/drawingml/2006/main" w="9525">
              <a:solidFill>
                <a:srgbClr val="A0C7D6"/>
              </a:solidFill>
            </a:ln>
          </c:spPr>
          <c:marker>
            <c:symbol val="none"/>
          </c:marker>
          <c:cat>
            <c:strRef>
              <c:f>'Chart Data'!$AY$2:$AY$3</c:f>
              <c:strCache>
                <c:ptCount val="2"/>
                <c:pt idx="0">
                  <c:v>Before</c:v>
                </c:pt>
                <c:pt idx="1">
                  <c:v>After</c:v>
                </c:pt>
              </c:strCache>
            </c:strRef>
          </c:cat>
          <c:val>
            <c:numRef>
              <c:f>'Chart Data'!$AZ$2:$AZ$3</c:f>
              <c:numCache>
                <c:formatCode>General</c:formatCode>
                <c:ptCount val="2"/>
                <c:pt idx="0">
                  <c:v>79.7</c:v>
                </c:pt>
                <c:pt idx="1">
                  <c:v>83.6</c:v>
                </c:pt>
              </c:numCache>
            </c:numRef>
          </c:val>
        </c:ser>
        <c:ser>
          <c:idx val="26"/>
          <c:order val="26"/>
          <c:tx>
            <c:v>Patient 27</c:v>
          </c:tx>
          <c:spPr>
            <a:ln xmlns:a="http://schemas.openxmlformats.org/drawingml/2006/main" w="9525">
              <a:solidFill>
                <a:srgbClr val="A0C7D6"/>
              </a:solidFill>
            </a:ln>
          </c:spPr>
          <c:marker>
            <c:symbol val="none"/>
          </c:marker>
          <c:cat>
            <c:strRef>
              <c:f>'Chart Data'!$BA$2:$BA$3</c:f>
              <c:strCache>
                <c:ptCount val="2"/>
                <c:pt idx="0">
                  <c:v>Before</c:v>
                </c:pt>
                <c:pt idx="1">
                  <c:v>After</c:v>
                </c:pt>
              </c:strCache>
            </c:strRef>
          </c:cat>
          <c:val>
            <c:numRef>
              <c:f>'Chart Data'!$BB$2:$BB$3</c:f>
              <c:numCache>
                <c:formatCode>General</c:formatCode>
                <c:ptCount val="2"/>
                <c:pt idx="0">
                  <c:v>84.5</c:v>
                </c:pt>
                <c:pt idx="1">
                  <c:v>84.6</c:v>
                </c:pt>
              </c:numCache>
            </c:numRef>
          </c:val>
        </c:ser>
        <c:ser>
          <c:idx val="27"/>
          <c:order val="27"/>
          <c:tx>
            <c:v>Patient 28</c:v>
          </c:tx>
          <c:spPr>
            <a:ln xmlns:a="http://schemas.openxmlformats.org/drawingml/2006/main" w="9525">
              <a:solidFill>
                <a:srgbClr val="A0C7D6"/>
              </a:solidFill>
            </a:ln>
          </c:spPr>
          <c:marker>
            <c:symbol val="none"/>
          </c:marker>
          <c:cat>
            <c:strRef>
              <c:f>'Chart Data'!$BC$2:$BC$3</c:f>
              <c:strCache>
                <c:ptCount val="2"/>
                <c:pt idx="0">
                  <c:v>Before</c:v>
                </c:pt>
                <c:pt idx="1">
                  <c:v>After</c:v>
                </c:pt>
              </c:strCache>
            </c:strRef>
          </c:cat>
          <c:val>
            <c:numRef>
              <c:f>'Chart Data'!$BD$2:$BD$3</c:f>
              <c:numCache>
                <c:formatCode>General</c:formatCode>
                <c:ptCount val="2"/>
                <c:pt idx="0">
                  <c:v>80.8</c:v>
                </c:pt>
                <c:pt idx="1">
                  <c:v>96.2</c:v>
                </c:pt>
              </c:numCache>
            </c:numRef>
          </c:val>
        </c:ser>
        <c:ser>
          <c:idx val="28"/>
          <c:order val="28"/>
          <c:tx>
            <c:v>Patient 29</c:v>
          </c:tx>
          <c:spPr>
            <a:ln xmlns:a="http://schemas.openxmlformats.org/drawingml/2006/main" w="9525">
              <a:solidFill>
                <a:srgbClr val="A0C7D6"/>
              </a:solidFill>
            </a:ln>
          </c:spPr>
          <c:marker>
            <c:symbol val="none"/>
          </c:marker>
          <c:cat>
            <c:strRef>
              <c:f>'Chart Data'!$BE$2:$BE$3</c:f>
              <c:strCache>
                <c:ptCount val="2"/>
                <c:pt idx="0">
                  <c:v>Before</c:v>
                </c:pt>
                <c:pt idx="1">
                  <c:v>After</c:v>
                </c:pt>
              </c:strCache>
            </c:strRef>
          </c:cat>
          <c:val>
            <c:numRef>
              <c:f>'Chart Data'!$BF$2:$BF$3</c:f>
              <c:numCache>
                <c:formatCode>General</c:formatCode>
                <c:ptCount val="2"/>
                <c:pt idx="0">
                  <c:v>87.4</c:v>
                </c:pt>
                <c:pt idx="1">
                  <c:v>86.7</c:v>
                </c:pt>
              </c:numCache>
            </c:numRef>
          </c:val>
        </c:ser>
        <c:ser>
          <c:idx val="29"/>
          <c:order val="29"/>
          <c:tx>
            <c:v>Mean</c:v>
          </c:tx>
          <c:spPr>
            <a:ln xmlns:a="http://schemas.openxmlformats.org/drawingml/2006/main" w="28575">
              <a:solidFill>
                <a:srgbClr val="D87945"/>
              </a:solidFill>
            </a:ln>
          </c:spPr>
          <c:marker>
            <c:symbol val="none"/>
          </c:marker>
          <c:cat>
            <c:strRef>
              <c:f>'Chart Data'!$BG$2:$BG$3</c:f>
              <c:strCache>
                <c:ptCount val="2"/>
                <c:pt idx="0">
                  <c:v>Before</c:v>
                </c:pt>
                <c:pt idx="1">
                  <c:v>After</c:v>
                </c:pt>
              </c:strCache>
            </c:strRef>
          </c:cat>
          <c:val>
            <c:numRef>
              <c:f>'Chart Data'!$BH$2:$BH$3</c:f>
              <c:numCache>
                <c:formatCode>General</c:formatCode>
                <c:ptCount val="2"/>
                <c:pt idx="0">
                  <c:v>82.6897</c:v>
                </c:pt>
                <c:pt idx="1">
                  <c:v>85.6966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AABCC6"/>
            </a:solid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110"/>
          <c:min val="65"/>
        </c:scaling>
        <c:delete val="0"/>
        <c:axPos val="l"/>
        <c:majorGridlines>
          <c:spPr>
            <a:ln xmlns:a="http://schemas.openxmlformats.org/drawingml/2006/main" w="9525">
              <a:solidFill>
                <a:srgbClr val="DFE7EB"/>
              </a:solidFill>
            </a:ln>
          </c:spPr>
        </c:majorGridlines>
        <c:title>
          <c:tx>
            <c:rich>
              <a:bodyPr xmlns:a="http://schemas.openxmlformats.org/drawingml/2006/main"/>
              <a:lstStyle xmlns:a="http://schemas.openxmlformats.org/drawingml/2006/main"/>
              <a:p xmlns:a="http://schemas.openxmlformats.org/drawingml/2006/main">
                <a:r>
                  <a:rPr sz="1200">
                    <a:latin typeface="Arial"/>
                    <a:ea typeface="Arial"/>
                    <a:cs typeface="Arial"/>
                  </a:rPr>
                  <a:t>Weight (lb)</a:t>
                </a:r>
              </a:p>
            </c:rich>
          </c:tx>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majorUnit val="1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Positive status (%)</c:v>
          </c:tx>
          <c:invertIfNegative val="0"/>
          <c:dPt>
            <c:idx val="0"/>
            <c:invertIfNegative val="0"/>
            <c:spPr>
              <a:solidFill xmlns:a="http://schemas.openxmlformats.org/drawingml/2006/main">
                <a:srgbClr val="176D8C"/>
              </a:solidFill>
            </c:spPr>
          </c:dPt>
          <c:dPt>
            <c:idx val="1"/>
            <c:invertIfNegative val="0"/>
            <c:spPr>
              <a:solidFill xmlns:a="http://schemas.openxmlformats.org/drawingml/2006/main">
                <a:srgbClr val="D87945"/>
              </a:solidFill>
            </c:spPr>
          </c:dPt>
          <c:cat>
            <c:strRef>
              <c:f>'Chart Data'!$A$2:$A$3</c:f>
              <c:strCache>
                <c:ptCount val="2"/>
                <c:pt idx="0">
                  <c:v>No high BP</c:v>
                </c:pt>
                <c:pt idx="1">
                  <c:v>High BP</c:v>
                </c:pt>
              </c:strCache>
            </c:strRef>
          </c:cat>
          <c:val>
            <c:numRef>
              <c:f>'Chart Data'!$B$2:$B$3</c:f>
              <c:numCache>
                <c:formatCode>General</c:formatCode>
                <c:ptCount val="2"/>
                <c:pt idx="0">
                  <c:v>6.9289</c:v>
                </c:pt>
                <c:pt idx="1">
                  <c:v>27.0625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CC6"/>
            </a:solid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DFE7EB"/>
              </a:solidFill>
            </a:ln>
          </c:spPr>
        </c:majorGridlines>
        <c:title>
          <c:tx>
            <c:rich>
              <a:bodyPr xmlns:a="http://schemas.openxmlformats.org/drawingml/2006/main"/>
              <a:lstStyle xmlns:a="http://schemas.openxmlformats.org/drawingml/2006/main"/>
              <a:p xmlns:a="http://schemas.openxmlformats.org/drawingml/2006/main">
                <a:r>
                  <a:rPr sz="1275">
                    <a:latin typeface="Arial"/>
                    <a:ea typeface="Arial"/>
                    <a:cs typeface="Arial"/>
                  </a:rPr>
                  <a:t>Positive status (%)</a:t>
                </a:r>
              </a:p>
            </c:rich>
          </c:tx>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Positive status (%)</c:v>
          </c:tx>
          <c:invertIfNegative val="0"/>
          <c:dPt>
            <c:idx val="0"/>
            <c:invertIfNegative val="0"/>
            <c:spPr>
              <a:solidFill xmlns:a="http://schemas.openxmlformats.org/drawingml/2006/main">
                <a:srgbClr val="176D8C"/>
              </a:solidFill>
            </c:spPr>
          </c:dPt>
          <c:dPt>
            <c:idx val="1"/>
            <c:invertIfNegative val="0"/>
            <c:spPr>
              <a:solidFill xmlns:a="http://schemas.openxmlformats.org/drawingml/2006/main">
                <a:srgbClr val="D87945"/>
              </a:solidFill>
            </c:spPr>
          </c:dPt>
          <c:cat>
            <c:strRef>
              <c:f>'Chart Data'!$A$2:$A$3</c:f>
              <c:strCache>
                <c:ptCount val="2"/>
                <c:pt idx="0">
                  <c:v>Never 100 cigarettes</c:v>
                </c:pt>
                <c:pt idx="1">
                  <c:v>Ever 100 cigarettes</c:v>
                </c:pt>
              </c:strCache>
            </c:strRef>
          </c:cat>
          <c:val>
            <c:numRef>
              <c:f>'Chart Data'!$B$2:$B$3</c:f>
              <c:numCache>
                <c:formatCode>General</c:formatCode>
                <c:ptCount val="2"/>
                <c:pt idx="0">
                  <c:v>14.0872</c:v>
                </c:pt>
                <c:pt idx="1">
                  <c:v>17.3606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CC6"/>
            </a:solidFill>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DFE7EB"/>
              </a:solidFill>
            </a:ln>
          </c:spPr>
        </c:majorGridlines>
        <c:title>
          <c:tx>
            <c:rich>
              <a:bodyPr xmlns:a="http://schemas.openxmlformats.org/drawingml/2006/main"/>
              <a:lstStyle xmlns:a="http://schemas.openxmlformats.org/drawingml/2006/main"/>
              <a:p xmlns:a="http://schemas.openxmlformats.org/drawingml/2006/main">
                <a:r>
                  <a:rPr sz="1275">
                    <a:latin typeface="Arial"/>
                    <a:ea typeface="Arial"/>
                    <a:cs typeface="Arial"/>
                  </a:rPr>
                  <a:t>Positive status (%)</a:t>
                </a:r>
              </a:p>
            </c:rich>
          </c:tx>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varyColors val="0"/>
        <c:ser>
          <c:idx val="0"/>
          <c:order val="0"/>
          <c:tx>
            <c:v>R1</c:v>
          </c:tx>
          <c:spPr>
            <a:solidFill xmlns:a="http://schemas.openxmlformats.org/drawingml/2006/main">
              <a:srgbClr val="176D8C"/>
            </a:solidFill>
            <a:ln xmlns:a="http://schemas.openxmlformats.org/drawingml/2006/main" w="19050">
              <a:solidFill>
                <a:srgbClr val="176D8C"/>
              </a:solidFill>
            </a:ln>
          </c:spPr>
          <c:marker>
            <c:symbol val="circle"/>
            <c:size val="4"/>
          </c:marker>
          <c:cat>
            <c:numRef>
              <c:f>'Chart Data'!$A$2:$A$7</c:f>
              <c:numCache>
                <c:formatCode>General</c:formatCode>
                <c:ptCount val="6"/>
                <c:pt idx="0">
                  <c:v>25</c:v>
                </c:pt>
                <c:pt idx="1">
                  <c:v>50</c:v>
                </c:pt>
                <c:pt idx="2">
                  <c:v>75</c:v>
                </c:pt>
                <c:pt idx="3">
                  <c:v>100</c:v>
                </c:pt>
                <c:pt idx="4">
                  <c:v>125</c:v>
                </c:pt>
                <c:pt idx="5">
                  <c:v>150</c:v>
                </c:pt>
              </c:numCache>
            </c:numRef>
          </c:cat>
          <c:val>
            <c:numRef>
              <c:f>'Chart Data'!$B$2:$B$7</c:f>
              <c:numCache>
                <c:formatCode>General</c:formatCode>
                <c:ptCount val="6"/>
                <c:pt idx="0">
                  <c:v>5113</c:v>
                </c:pt>
                <c:pt idx="1">
                  <c:v>5346</c:v>
                </c:pt>
                <c:pt idx="2">
                  <c:v>5272</c:v>
                </c:pt>
                <c:pt idx="3">
                  <c:v>5164</c:v>
                </c:pt>
                <c:pt idx="4">
                  <c:v>4804</c:v>
                </c:pt>
                <c:pt idx="5">
                  <c:v>5254</c:v>
                </c:pt>
              </c:numCache>
            </c:numRef>
          </c:val>
        </c:ser>
        <c:ser>
          <c:idx val="1"/>
          <c:order val="1"/>
          <c:tx>
            <c:v>R2</c:v>
          </c:tx>
          <c:spPr>
            <a:solidFill xmlns:a="http://schemas.openxmlformats.org/drawingml/2006/main">
              <a:srgbClr val="D87945"/>
            </a:solidFill>
            <a:ln xmlns:a="http://schemas.openxmlformats.org/drawingml/2006/main" w="19050">
              <a:solidFill>
                <a:srgbClr val="D87945"/>
              </a:solidFill>
            </a:ln>
          </c:spPr>
          <c:marker>
            <c:symbol val="circle"/>
            <c:size val="4"/>
          </c:marker>
          <c:cat>
            <c:numRef>
              <c:f>'Chart Data'!$C$2:$C$7</c:f>
              <c:numCache>
                <c:formatCode>General</c:formatCode>
                <c:ptCount val="6"/>
                <c:pt idx="0">
                  <c:v>25</c:v>
                </c:pt>
                <c:pt idx="1">
                  <c:v>50</c:v>
                </c:pt>
                <c:pt idx="2">
                  <c:v>75</c:v>
                </c:pt>
                <c:pt idx="3">
                  <c:v>100</c:v>
                </c:pt>
                <c:pt idx="4">
                  <c:v>125</c:v>
                </c:pt>
                <c:pt idx="5">
                  <c:v>150</c:v>
                </c:pt>
              </c:numCache>
            </c:numRef>
          </c:cat>
          <c:val>
            <c:numRef>
              <c:f>'Chart Data'!$D$2:$D$7</c:f>
              <c:numCache>
                <c:formatCode>General</c:formatCode>
                <c:ptCount val="6"/>
                <c:pt idx="0">
                  <c:v>5398</c:v>
                </c:pt>
                <c:pt idx="1">
                  <c:v>5952</c:v>
                </c:pt>
                <c:pt idx="2">
                  <c:v>5713</c:v>
                </c:pt>
                <c:pt idx="3">
                  <c:v>4831</c:v>
                </c:pt>
                <c:pt idx="4">
                  <c:v>4848</c:v>
                </c:pt>
                <c:pt idx="5">
                  <c:v>4542</c:v>
                </c:pt>
              </c:numCache>
            </c:numRef>
          </c:val>
        </c:ser>
        <c:ser>
          <c:idx val="2"/>
          <c:order val="2"/>
          <c:tx>
            <c:v>R3</c:v>
          </c:tx>
          <c:spPr>
            <a:solidFill xmlns:a="http://schemas.openxmlformats.org/drawingml/2006/main">
              <a:srgbClr val="269E91"/>
            </a:solidFill>
            <a:ln xmlns:a="http://schemas.openxmlformats.org/drawingml/2006/main" w="19050">
              <a:solidFill>
                <a:srgbClr val="269E91"/>
              </a:solidFill>
            </a:ln>
          </c:spPr>
          <c:marker>
            <c:symbol val="circle"/>
            <c:size val="4"/>
          </c:marker>
          <c:cat>
            <c:numRef>
              <c:f>'Chart Data'!$E$2:$E$7</c:f>
              <c:numCache>
                <c:formatCode>General</c:formatCode>
                <c:ptCount val="6"/>
                <c:pt idx="0">
                  <c:v>25</c:v>
                </c:pt>
                <c:pt idx="1">
                  <c:v>50</c:v>
                </c:pt>
                <c:pt idx="2">
                  <c:v>75</c:v>
                </c:pt>
                <c:pt idx="3">
                  <c:v>100</c:v>
                </c:pt>
                <c:pt idx="4">
                  <c:v>125</c:v>
                </c:pt>
                <c:pt idx="5">
                  <c:v>150</c:v>
                </c:pt>
              </c:numCache>
            </c:numRef>
          </c:cat>
          <c:val>
            <c:numRef>
              <c:f>'Chart Data'!$F$2:$F$7</c:f>
              <c:numCache>
                <c:formatCode>General</c:formatCode>
                <c:ptCount val="6"/>
                <c:pt idx="0">
                  <c:v>5307</c:v>
                </c:pt>
                <c:pt idx="1">
                  <c:v>4719</c:v>
                </c:pt>
                <c:pt idx="2">
                  <c:v>5483</c:v>
                </c:pt>
                <c:pt idx="3">
                  <c:v>4986</c:v>
                </c:pt>
                <c:pt idx="4">
                  <c:v>4432</c:v>
                </c:pt>
                <c:pt idx="5">
                  <c:v>4919</c:v>
                </c:pt>
              </c:numCache>
            </c:numRef>
          </c:val>
        </c:ser>
        <c:ser>
          <c:idx val="3"/>
          <c:order val="3"/>
          <c:tx>
            <c:v>R4</c:v>
          </c:tx>
          <c:spPr>
            <a:solidFill xmlns:a="http://schemas.openxmlformats.org/drawingml/2006/main">
              <a:srgbClr val="7660A7"/>
            </a:solidFill>
            <a:ln xmlns:a="http://schemas.openxmlformats.org/drawingml/2006/main" w="19050">
              <a:solidFill>
                <a:srgbClr val="7660A7"/>
              </a:solidFill>
            </a:ln>
          </c:spPr>
          <c:marker>
            <c:symbol val="circle"/>
            <c:size val="4"/>
          </c:marker>
          <c:cat>
            <c:numRef>
              <c:f>'Chart Data'!$G$2:$G$7</c:f>
              <c:numCache>
                <c:formatCode>General</c:formatCode>
                <c:ptCount val="6"/>
                <c:pt idx="0">
                  <c:v>25</c:v>
                </c:pt>
                <c:pt idx="1">
                  <c:v>50</c:v>
                </c:pt>
                <c:pt idx="2">
                  <c:v>75</c:v>
                </c:pt>
                <c:pt idx="3">
                  <c:v>100</c:v>
                </c:pt>
                <c:pt idx="4">
                  <c:v>125</c:v>
                </c:pt>
                <c:pt idx="5">
                  <c:v>150</c:v>
                </c:pt>
              </c:numCache>
            </c:numRef>
          </c:cat>
          <c:val>
            <c:numRef>
              <c:f>'Chart Data'!$H$2:$H$7</c:f>
              <c:numCache>
                <c:formatCode>General</c:formatCode>
                <c:ptCount val="6"/>
                <c:pt idx="0">
                  <c:v>4678</c:v>
                </c:pt>
                <c:pt idx="1">
                  <c:v>4264</c:v>
                </c:pt>
                <c:pt idx="2">
                  <c:v>4749</c:v>
                </c:pt>
                <c:pt idx="3">
                  <c:v>4410</c:v>
                </c:pt>
                <c:pt idx="4">
                  <c:v>4748</c:v>
                </c:pt>
                <c:pt idx="5">
                  <c:v>4098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6000"/>
          <c:min val="4000"/>
        </c:scaling>
        <c:delete val="0"/>
        <c:axPos val="l"/>
        <c:majorGridlines>
          <c:spPr>
            <a:ln xmlns:a="http://schemas.openxmlformats.org/drawingml/2006/main" w="9525">
              <a:solidFill>
                <a:srgbClr val="DF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majorUnit val="1000"/>
      </c:valAx>
      <c:spPr>
        <a:solidFill xmlns:a="http://schemas.openxmlformats.org/drawingml/2006/main">
          <a:srgbClr val="FFFFFF"/>
        </a:solidFill>
      </c:spPr>
    </c:plotArea>
    <c:legend>
      <c:legendPos val="r"/>
      <c:overlay val="0"/>
      <c:txPr>
        <a:bodyPr xmlns:a="http://schemas.openxmlformats.org/drawingml/2006/main" anchorCtr="1"/>
        <a:lstStyle xmlns:a="http://schemas.openxmlformats.org/drawingml/2006/main"/>
        <a:p xmlns:a="http://schemas.openxmlformats.org/drawingml/2006/main">
          <a:pPr>
            <a:defRPr sz="112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A4EFC6-8003-48A0-8BE5-159F37B16A3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2" name="text">
            <a:extLst xmlns:a="http://schemas.openxmlformats.org/drawingml/2006/main">
              <a:ext uri="{FF2B5EF4-FFF2-40B4-BE49-F238E27FC236}">
                <a16:creationId xmlns:a16="http://schemas.microsoft.com/office/drawing/2014/main" id="{5244ED4B-74A0-4088-B91B-70381ADA80A8}"/>
              </a:ext>
            </a:extLst>
          </p:cNvPr>
          <p:cNvSpPr>
            <a:spLocks xmlns:a="http://schemas.openxmlformats.org/drawingml/2006/main" noGrp="1"/>
          </p:cNvSpPr>
          <p:nvPr/>
        </p:nvSpPr>
        <p:spPr>
          <a:xfrm xmlns:a="http://schemas.openxmlformats.org/drawingml/2006/main">
            <a:off x="552450" y="790575"/>
            <a:ext cx="10953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00" b="1">
                <a:solidFill>
                  <a:srgbClr val="183044"/>
                </a:solidFill>
                <a:latin typeface="Arial"/>
                <a:ea typeface="Arial"/>
                <a:cs typeface="Arial"/>
              </a:defRPr>
            </a:defPPr>
          </a:lstStyle>
          <a:p xmlns:a="http://schemas.openxmlformats.org/drawingml/2006/main">
            <a:pPr>
              <a:defRPr sz="4800" b="1">
                <a:solidFill>
                  <a:srgbClr val="183044"/>
                </a:solidFill>
                <a:latin typeface="Arial"/>
                <a:ea typeface="Arial"/>
                <a:cs typeface="Arial"/>
              </a:defRPr>
            </a:pPr>
            <a:r>
              <a:rPr sz="4800" b="1">
                <a:solidFill>
                  <a:srgbClr val="183044"/>
                </a:solidFill>
                <a:latin typeface="Arial"/>
                <a:ea typeface="Arial"/>
                <a:cs typeface="Arial"/>
              </a:rPr>
              <a:t>Diabetes and</a:t>
            </a:r>
          </a:p>
          <a:p xmlns:a="http://schemas.openxmlformats.org/drawingml/2006/main">
            <a:pPr>
              <a:defRPr sz="4800" b="1">
                <a:solidFill>
                  <a:srgbClr val="183044"/>
                </a:solidFill>
                <a:latin typeface="Arial"/>
                <a:ea typeface="Arial"/>
                <a:cs typeface="Arial"/>
              </a:defRPr>
            </a:pPr>
            <a:r>
              <a:rPr sz="4800" b="1">
                <a:solidFill>
                  <a:srgbClr val="183044"/>
                </a:solidFill>
                <a:latin typeface="Arial"/>
                <a:ea typeface="Arial"/>
                <a:cs typeface="Arial"/>
              </a:rPr>
              <a:t>lifestyle indicators</a:t>
            </a:r>
          </a:p>
        </p:txBody>
      </p:sp>
      <p:sp>
        <p:nvSpPr>
          <p:cNvPr id="3" name="text">
            <a:extLst xmlns:a="http://schemas.openxmlformats.org/drawingml/2006/main">
              <a:ext uri="{FF2B5EF4-FFF2-40B4-BE49-F238E27FC236}">
                <a16:creationId xmlns:a16="http://schemas.microsoft.com/office/drawing/2014/main" id="{A85DBBDB-783F-45B2-9DB3-17FEC720BFC7}"/>
              </a:ext>
            </a:extLst>
          </p:cNvPr>
          <p:cNvSpPr>
            <a:spLocks xmlns:a="http://schemas.openxmlformats.org/drawingml/2006/main" noGrp="1"/>
          </p:cNvSpPr>
          <p:nvPr/>
        </p:nvSpPr>
        <p:spPr>
          <a:xfrm xmlns:a="http://schemas.openxmlformats.org/drawingml/2006/main">
            <a:off x="590550" y="3238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6D8C"/>
                </a:solidFill>
                <a:latin typeface="Arial"/>
                <a:ea typeface="Arial"/>
                <a:cs typeface="Arial"/>
              </a:defRPr>
            </a:defPPr>
          </a:lstStyle>
          <a:p xmlns:a="http://schemas.openxmlformats.org/drawingml/2006/main">
            <a:pPr>
              <a:defRPr sz="1575" b="1">
                <a:solidFill>
                  <a:srgbClr val="176D8C"/>
                </a:solidFill>
                <a:latin typeface="Arial"/>
                <a:ea typeface="Arial"/>
                <a:cs typeface="Arial"/>
              </a:defRPr>
            </a:pPr>
            <a:r>
              <a:rPr sz="1575" b="1">
                <a:solidFill>
                  <a:srgbClr val="176D8C"/>
                </a:solidFill>
                <a:latin typeface="Arial"/>
                <a:ea typeface="Arial"/>
                <a:cs typeface="Arial"/>
              </a:rPr>
              <a:t>LABS 1–11: Probability and Statistics Lab</a:t>
            </a:r>
          </a:p>
        </p:txBody>
      </p:sp>
      <p:sp>
        <p:nvSpPr>
          <p:cNvPr id="4" name="text">
            <a:extLst xmlns:a="http://schemas.openxmlformats.org/drawingml/2006/main">
              <a:ext uri="{FF2B5EF4-FFF2-40B4-BE49-F238E27FC236}">
                <a16:creationId xmlns:a16="http://schemas.microsoft.com/office/drawing/2014/main" id="{7E93C250-2B61-46A4-803B-962F81D50B21}"/>
              </a:ext>
            </a:extLst>
          </p:cNvPr>
          <p:cNvSpPr>
            <a:spLocks xmlns:a="http://schemas.openxmlformats.org/drawingml/2006/main" noGrp="1"/>
          </p:cNvSpPr>
          <p:nvPr/>
        </p:nvSpPr>
        <p:spPr>
          <a:xfrm xmlns:a="http://schemas.openxmlformats.org/drawingml/2006/main">
            <a:off x="590550" y="2571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6D8C"/>
                </a:solidFill>
                <a:latin typeface="Arial"/>
                <a:ea typeface="Arial"/>
                <a:cs typeface="Arial"/>
              </a:defRPr>
            </a:defPPr>
          </a:lstStyle>
          <a:p xmlns:a="http://schemas.openxmlformats.org/drawingml/2006/main">
            <a:pPr>
              <a:defRPr sz="2325" b="0">
                <a:solidFill>
                  <a:srgbClr val="176D8C"/>
                </a:solidFill>
                <a:latin typeface="Arial"/>
                <a:ea typeface="Arial"/>
                <a:cs typeface="Arial"/>
              </a:defRPr>
            </a:pPr>
            <a:r>
              <a:rPr sz="2325" b="0">
                <a:solidFill>
                  <a:srgbClr val="176D8C"/>
                </a:solidFill>
                <a:latin typeface="Arial"/>
                <a:ea typeface="Arial"/>
                <a:cs typeface="Arial"/>
              </a:rPr>
              <a:t>Statistical analysis with R</a:t>
            </a:r>
          </a:p>
          <a:p xmlns:a="http://schemas.openxmlformats.org/drawingml/2006/main">
            <a:pPr>
              <a:defRPr sz="2325" b="0">
                <a:solidFill>
                  <a:srgbClr val="176D8C"/>
                </a:solidFill>
                <a:latin typeface="Arial"/>
                <a:ea typeface="Arial"/>
                <a:cs typeface="Arial"/>
              </a:defRPr>
            </a:pPr>
            <a:r>
              <a:rPr sz="2325" b="0">
                <a:solidFill>
                  <a:srgbClr val="176D8C"/>
                </a:solidFill>
                <a:latin typeface="Arial"/>
                <a:ea typeface="Arial"/>
                <a:cs typeface="Arial"/>
              </a:rPr>
              <a:t>BMAT202P Probability and Statistics Lab</a:t>
            </a:r>
          </a:p>
        </p:txBody>
      </p:sp>
      <p:sp>
        <p:nvSpPr>
          <p:cNvPr id="5" name="">
            <a:extLst xmlns:a="http://schemas.openxmlformats.org/drawingml/2006/main">
              <a:ext uri="{FF2B5EF4-FFF2-40B4-BE49-F238E27FC236}">
                <a16:creationId xmlns:a16="http://schemas.microsoft.com/office/drawing/2014/main" id="{6ADEC2DC-8E83-42D6-8CB8-A6EFB2FE9804}"/>
              </a:ext>
            </a:extLst>
          </p:cNvPr>
          <p:cNvSpPr>
            <a:spLocks xmlns:a="http://schemas.openxmlformats.org/drawingml/2006/main" noGrp="1"/>
          </p:cNvSpPr>
          <p:nvPr/>
        </p:nvSpPr>
        <p:spPr>
          <a:xfrm xmlns:a="http://schemas.openxmlformats.org/drawingml/2006/main">
            <a:off x="590550" y="3686175"/>
            <a:ext cx="10953750" cy="19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F718761-C50B-4B69-9C5B-6019ED38DF0B}"/>
              </a:ext>
            </a:extLst>
          </p:cNvPr>
          <p:cNvSpPr>
            <a:spLocks xmlns:a="http://schemas.openxmlformats.org/drawingml/2006/main" noGrp="1"/>
          </p:cNvSpPr>
          <p:nvPr/>
        </p:nvSpPr>
        <p:spPr>
          <a:xfrm xmlns:a="http://schemas.openxmlformats.org/drawingml/2006/main">
            <a:off x="590550" y="3990975"/>
            <a:ext cx="10953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3044"/>
                </a:solidFill>
                <a:latin typeface="Arial"/>
                <a:ea typeface="Arial"/>
                <a:cs typeface="Arial"/>
              </a:defRPr>
            </a:defPPr>
          </a:lstStyle>
          <a:p xmlns:a="http://schemas.openxmlformats.org/drawingml/2006/main">
            <a:pPr>
              <a:defRPr sz="2025" b="0">
                <a:solidFill>
                  <a:srgbClr val="183044"/>
                </a:solidFill>
                <a:latin typeface="Arial"/>
                <a:ea typeface="Arial"/>
                <a:cs typeface="Arial"/>
              </a:defRPr>
            </a:pPr>
            <a:r>
              <a:rPr sz="2025" b="0">
                <a:solidFill>
                  <a:srgbClr val="183044"/>
                </a:solidFill>
                <a:latin typeface="Arial"/>
                <a:ea typeface="Arial"/>
                <a:cs typeface="Arial"/>
              </a:rPr>
              <a:t>YASH RAJ - 24BDS1209</a:t>
            </a:r>
          </a:p>
          <a:p xmlns:a="http://schemas.openxmlformats.org/drawingml/2006/main">
            <a:pPr>
              <a:defRPr sz="2025" b="0">
                <a:solidFill>
                  <a:srgbClr val="183044"/>
                </a:solidFill>
                <a:latin typeface="Arial"/>
                <a:ea typeface="Arial"/>
                <a:cs typeface="Arial"/>
              </a:defRPr>
            </a:pPr>
            <a:r>
              <a:rPr sz="2025" b="0">
                <a:solidFill>
                  <a:srgbClr val="183044"/>
                </a:solidFill>
                <a:latin typeface="Arial"/>
                <a:ea typeface="Arial"/>
                <a:cs typeface="Arial"/>
              </a:rPr>
              <a:t>HRISHIKESH DAMODAR NAYAK - 24BDS1007</a:t>
            </a:r>
          </a:p>
          <a:p xmlns:a="http://schemas.openxmlformats.org/drawingml/2006/main">
            <a:pPr>
              <a:defRPr sz="2025" b="0">
                <a:solidFill>
                  <a:srgbClr val="183044"/>
                </a:solidFill>
                <a:latin typeface="Arial"/>
                <a:ea typeface="Arial"/>
                <a:cs typeface="Arial"/>
              </a:defRPr>
            </a:pPr>
            <a:r>
              <a:rPr sz="2025" b="0">
                <a:solidFill>
                  <a:srgbClr val="183044"/>
                </a:solidFill>
                <a:latin typeface="Arial"/>
                <a:ea typeface="Arial"/>
                <a:cs typeface="Arial"/>
              </a:rPr>
              <a:t>HARDIK LALLA - 24BDS1010</a:t>
            </a:r>
          </a:p>
          <a:p xmlns:a="http://schemas.openxmlformats.org/drawingml/2006/main">
            <a:pPr>
              <a:defRPr sz="2025" b="0">
                <a:solidFill>
                  <a:srgbClr val="183044"/>
                </a:solidFill>
                <a:latin typeface="Arial"/>
                <a:ea typeface="Arial"/>
                <a:cs typeface="Arial"/>
              </a:defRPr>
            </a:pPr>
            <a:r>
              <a:rPr sz="2025" b="0">
                <a:solidFill>
                  <a:srgbClr val="183044"/>
                </a:solidFill>
                <a:latin typeface="Arial"/>
                <a:ea typeface="Arial"/>
                <a:cs typeface="Arial"/>
              </a:rPr>
              <a:t>ARYAN RAJ - 24BDS1094</a:t>
            </a:r>
          </a:p>
        </p:txBody>
      </p:sp>
      <p:sp>
        <p:nvSpPr>
          <p:cNvPr id="7" name="text">
            <a:extLst xmlns:a="http://schemas.openxmlformats.org/drawingml/2006/main">
              <a:ext uri="{FF2B5EF4-FFF2-40B4-BE49-F238E27FC236}">
                <a16:creationId xmlns:a16="http://schemas.microsoft.com/office/drawing/2014/main" id="{1E1CCCC3-802C-413F-902D-6A6FCBBD6B3B}"/>
              </a:ext>
            </a:extLst>
          </p:cNvPr>
          <p:cNvSpPr>
            <a:spLocks xmlns:a="http://schemas.openxmlformats.org/drawingml/2006/main" noGrp="1"/>
          </p:cNvSpPr>
          <p:nvPr/>
        </p:nvSpPr>
        <p:spPr>
          <a:xfrm xmlns:a="http://schemas.openxmlformats.org/drawingml/2006/main">
            <a:off x="590550" y="60007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6D8C"/>
                </a:solidFill>
                <a:latin typeface="Arial"/>
                <a:ea typeface="Arial"/>
                <a:cs typeface="Arial"/>
              </a:defRPr>
            </a:defPPr>
          </a:lstStyle>
          <a:p xmlns:a="http://schemas.openxmlformats.org/drawingml/2006/main">
            <a:pPr>
              <a:defRPr sz="2175" b="1">
                <a:solidFill>
                  <a:srgbClr val="176D8C"/>
                </a:solidFill>
                <a:latin typeface="Arial"/>
                <a:ea typeface="Arial"/>
                <a:cs typeface="Arial"/>
              </a:defRPr>
            </a:pPr>
            <a:r>
              <a:rPr sz="2175" b="1">
                <a:solidFill>
                  <a:srgbClr val="176D8C"/>
                </a:solidFill>
                <a:latin typeface="Arial"/>
                <a:ea typeface="Arial"/>
                <a:cs typeface="Arial"/>
              </a:rPr>
              <a:t>Data  →  graphs  →  models  →  statistical tests</a:t>
            </a:r>
          </a:p>
        </p:txBody>
      </p:sp>
    </p:spTree>
    <p:extLst>
      <p:ext uri="{BB962C8B-B14F-4D97-AF65-F5344CB8AC3E}">
        <p14:creationId xmlns:p14="http://schemas.microsoft.com/office/powerpoint/2010/main" val="7800292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
            <a:extLst xmlns:a="http://schemas.openxmlformats.org/drawingml/2006/main">
              <a:ext uri="{FF2B5EF4-FFF2-40B4-BE49-F238E27FC236}">
                <a16:creationId xmlns:a16="http://schemas.microsoft.com/office/drawing/2014/main" id="{E6F7C154-B9DE-4A81-B1A7-D63BBED2DA74}"/>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1: Data types, import and export (dataset overview)</a:t>
            </a:r>
          </a:p>
        </p:txBody>
      </p:sp>
      <p:sp>
        <p:nvSpPr>
          <p:cNvPr id="2" name="">
            <a:extLst xmlns:a="http://schemas.openxmlformats.org/drawingml/2006/main">
              <a:ext uri="{FF2B5EF4-FFF2-40B4-BE49-F238E27FC236}">
                <a16:creationId xmlns:a16="http://schemas.microsoft.com/office/drawing/2014/main" id="{A11B1C1E-4C01-470C-9EDB-DF3E5B828450}"/>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BD1937CF-D372-4F01-BBFE-A30896389886}"/>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Dataset and aim</a:t>
            </a:r>
          </a:p>
        </p:txBody>
      </p:sp>
      <p:sp>
        <p:nvSpPr>
          <p:cNvPr id="4" name="text">
            <a:extLst xmlns:a="http://schemas.openxmlformats.org/drawingml/2006/main">
              <a:ext uri="{FF2B5EF4-FFF2-40B4-BE49-F238E27FC236}">
                <a16:creationId xmlns:a16="http://schemas.microsoft.com/office/drawing/2014/main" id="{F8964719-C844-4B8E-BEC8-28E9128F7595}"/>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Aim: describe health patterns, study BMI relationships and apply the course statistical methods.</a:t>
            </a:r>
          </a:p>
        </p:txBody>
      </p:sp>
      <p:sp>
        <p:nvSpPr>
          <p:cNvPr id="5" name="text">
            <a:extLst xmlns:a="http://schemas.openxmlformats.org/drawingml/2006/main">
              <a:ext uri="{FF2B5EF4-FFF2-40B4-BE49-F238E27FC236}">
                <a16:creationId xmlns:a16="http://schemas.microsoft.com/office/drawing/2014/main" id="{27D271FF-954C-4962-9E46-9809EF31BC88}"/>
              </a:ext>
            </a:extLst>
          </p:cNvPr>
          <p:cNvSpPr>
            <a:spLocks xmlns:a="http://schemas.openxmlformats.org/drawingml/2006/main" noGrp="1"/>
          </p:cNvSpPr>
          <p:nvPr/>
        </p:nvSpPr>
        <p:spPr>
          <a:xfrm xmlns:a="http://schemas.openxmlformats.org/drawingml/2006/main">
            <a:off x="400050" y="1533525"/>
            <a:ext cx="3571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6D8C"/>
                </a:solidFill>
                <a:latin typeface="Arial"/>
                <a:ea typeface="Arial"/>
                <a:cs typeface="Arial"/>
              </a:defRPr>
            </a:defPPr>
          </a:lstStyle>
          <a:p xmlns:a="http://schemas.openxmlformats.org/drawingml/2006/main">
            <a:pPr>
              <a:defRPr sz="3225" b="1">
                <a:solidFill>
                  <a:srgbClr val="176D8C"/>
                </a:solidFill>
                <a:latin typeface="Arial"/>
                <a:ea typeface="Arial"/>
                <a:cs typeface="Arial"/>
              </a:defRPr>
            </a:pPr>
            <a:r>
              <a:rPr sz="3225" b="1">
                <a:solidFill>
                  <a:srgbClr val="176D8C"/>
                </a:solidFill>
                <a:latin typeface="Arial"/>
                <a:ea typeface="Arial"/>
                <a:cs typeface="Arial"/>
              </a:rPr>
              <a:t>253,680</a:t>
            </a:r>
          </a:p>
        </p:txBody>
      </p:sp>
      <p:sp>
        <p:nvSpPr>
          <p:cNvPr id="6" name="text">
            <a:extLst xmlns:a="http://schemas.openxmlformats.org/drawingml/2006/main">
              <a:ext uri="{FF2B5EF4-FFF2-40B4-BE49-F238E27FC236}">
                <a16:creationId xmlns:a16="http://schemas.microsoft.com/office/drawing/2014/main" id="{A789D984-C6D5-47BA-BD10-E871946B1DDF}"/>
              </a:ext>
            </a:extLst>
          </p:cNvPr>
          <p:cNvSpPr>
            <a:spLocks xmlns:a="http://schemas.openxmlformats.org/drawingml/2006/main" noGrp="1"/>
          </p:cNvSpPr>
          <p:nvPr/>
        </p:nvSpPr>
        <p:spPr>
          <a:xfrm xmlns:a="http://schemas.openxmlformats.org/drawingml/2006/main">
            <a:off x="400050" y="2047875"/>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15566"/>
                </a:solidFill>
                <a:latin typeface="Arial"/>
                <a:ea typeface="Arial"/>
                <a:cs typeface="Arial"/>
              </a:defRPr>
            </a:defPPr>
          </a:lstStyle>
          <a:p xmlns:a="http://schemas.openxmlformats.org/drawingml/2006/main">
            <a:pPr>
              <a:defRPr sz="1575" b="0">
                <a:solidFill>
                  <a:srgbClr val="415566"/>
                </a:solidFill>
                <a:latin typeface="Arial"/>
                <a:ea typeface="Arial"/>
                <a:cs typeface="Arial"/>
              </a:defRPr>
            </a:pPr>
            <a:r>
              <a:rPr sz="1575" b="0">
                <a:solidFill>
                  <a:srgbClr val="415566"/>
                </a:solidFill>
                <a:latin typeface="Arial"/>
                <a:ea typeface="Arial"/>
                <a:cs typeface="Arial"/>
              </a:rPr>
              <a:t>source records</a:t>
            </a:r>
          </a:p>
        </p:txBody>
      </p:sp>
      <p:sp>
        <p:nvSpPr>
          <p:cNvPr id="7" name="text">
            <a:extLst xmlns:a="http://schemas.openxmlformats.org/drawingml/2006/main">
              <a:ext uri="{FF2B5EF4-FFF2-40B4-BE49-F238E27FC236}">
                <a16:creationId xmlns:a16="http://schemas.microsoft.com/office/drawing/2014/main" id="{87ECCC90-C816-4C68-B167-700D80BA20A9}"/>
              </a:ext>
            </a:extLst>
          </p:cNvPr>
          <p:cNvSpPr>
            <a:spLocks xmlns:a="http://schemas.openxmlformats.org/drawingml/2006/main" noGrp="1"/>
          </p:cNvSpPr>
          <p:nvPr/>
        </p:nvSpPr>
        <p:spPr>
          <a:xfrm xmlns:a="http://schemas.openxmlformats.org/drawingml/2006/main">
            <a:off x="4229100" y="1533525"/>
            <a:ext cx="3571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6D8C"/>
                </a:solidFill>
                <a:latin typeface="Arial"/>
                <a:ea typeface="Arial"/>
                <a:cs typeface="Arial"/>
              </a:defRPr>
            </a:defPPr>
          </a:lstStyle>
          <a:p xmlns:a="http://schemas.openxmlformats.org/drawingml/2006/main">
            <a:pPr>
              <a:defRPr sz="3225" b="1">
                <a:solidFill>
                  <a:srgbClr val="176D8C"/>
                </a:solidFill>
                <a:latin typeface="Arial"/>
                <a:ea typeface="Arial"/>
                <a:cs typeface="Arial"/>
              </a:defRPr>
            </a:pPr>
            <a:r>
              <a:rPr sz="3225" b="1">
                <a:solidFill>
                  <a:srgbClr val="176D8C"/>
                </a:solidFill>
                <a:latin typeface="Arial"/>
                <a:ea typeface="Arial"/>
                <a:cs typeface="Arial"/>
              </a:rPr>
              <a:t>3,000</a:t>
            </a:r>
          </a:p>
        </p:txBody>
      </p:sp>
      <p:sp>
        <p:nvSpPr>
          <p:cNvPr id="8" name="text">
            <a:extLst xmlns:a="http://schemas.openxmlformats.org/drawingml/2006/main">
              <a:ext uri="{FF2B5EF4-FFF2-40B4-BE49-F238E27FC236}">
                <a16:creationId xmlns:a16="http://schemas.microsoft.com/office/drawing/2014/main" id="{99B9CFB6-9FEC-4D4F-B93C-60F47807C870}"/>
              </a:ext>
            </a:extLst>
          </p:cNvPr>
          <p:cNvSpPr>
            <a:spLocks xmlns:a="http://schemas.openxmlformats.org/drawingml/2006/main" noGrp="1"/>
          </p:cNvSpPr>
          <p:nvPr/>
        </p:nvSpPr>
        <p:spPr>
          <a:xfrm xmlns:a="http://schemas.openxmlformats.org/drawingml/2006/main">
            <a:off x="4229100" y="2047875"/>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15566"/>
                </a:solidFill>
                <a:latin typeface="Arial"/>
                <a:ea typeface="Arial"/>
                <a:cs typeface="Arial"/>
              </a:defRPr>
            </a:defPPr>
          </a:lstStyle>
          <a:p xmlns:a="http://schemas.openxmlformats.org/drawingml/2006/main">
            <a:pPr>
              <a:defRPr sz="1575" b="0">
                <a:solidFill>
                  <a:srgbClr val="415566"/>
                </a:solidFill>
                <a:latin typeface="Arial"/>
                <a:ea typeface="Arial"/>
                <a:cs typeface="Arial"/>
              </a:defRPr>
            </a:pPr>
            <a:r>
              <a:rPr sz="1575" b="0">
                <a:solidFill>
                  <a:srgbClr val="415566"/>
                </a:solidFill>
                <a:latin typeface="Arial"/>
                <a:ea typeface="Arial"/>
                <a:cs typeface="Arial"/>
              </a:rPr>
              <a:t>sampled people</a:t>
            </a:r>
          </a:p>
        </p:txBody>
      </p:sp>
      <p:sp>
        <p:nvSpPr>
          <p:cNvPr id="9" name="text">
            <a:extLst xmlns:a="http://schemas.openxmlformats.org/drawingml/2006/main">
              <a:ext uri="{FF2B5EF4-FFF2-40B4-BE49-F238E27FC236}">
                <a16:creationId xmlns:a16="http://schemas.microsoft.com/office/drawing/2014/main" id="{FDCD1878-B6FF-49DD-9E33-0E7EC06447ED}"/>
              </a:ext>
            </a:extLst>
          </p:cNvPr>
          <p:cNvSpPr>
            <a:spLocks xmlns:a="http://schemas.openxmlformats.org/drawingml/2006/main" noGrp="1"/>
          </p:cNvSpPr>
          <p:nvPr/>
        </p:nvSpPr>
        <p:spPr>
          <a:xfrm xmlns:a="http://schemas.openxmlformats.org/drawingml/2006/main">
            <a:off x="8058150" y="1533525"/>
            <a:ext cx="3571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6D8C"/>
                </a:solidFill>
                <a:latin typeface="Arial"/>
                <a:ea typeface="Arial"/>
                <a:cs typeface="Arial"/>
              </a:defRPr>
            </a:defPPr>
          </a:lstStyle>
          <a:p xmlns:a="http://schemas.openxmlformats.org/drawingml/2006/main">
            <a:pPr>
              <a:defRPr sz="3225" b="1">
                <a:solidFill>
                  <a:srgbClr val="176D8C"/>
                </a:solidFill>
                <a:latin typeface="Arial"/>
                <a:ea typeface="Arial"/>
                <a:cs typeface="Arial"/>
              </a:defRPr>
            </a:pPr>
            <a:r>
              <a:rPr sz="3225" b="1">
                <a:solidFill>
                  <a:srgbClr val="176D8C"/>
                </a:solidFill>
                <a:latin typeface="Arial"/>
                <a:ea typeface="Arial"/>
                <a:cs typeface="Arial"/>
              </a:rPr>
              <a:t>21</a:t>
            </a:r>
          </a:p>
        </p:txBody>
      </p:sp>
      <p:sp>
        <p:nvSpPr>
          <p:cNvPr id="10" name="text">
            <a:extLst xmlns:a="http://schemas.openxmlformats.org/drawingml/2006/main">
              <a:ext uri="{FF2B5EF4-FFF2-40B4-BE49-F238E27FC236}">
                <a16:creationId xmlns:a16="http://schemas.microsoft.com/office/drawing/2014/main" id="{2A273433-89D7-4AA5-8EB4-CD25F140BB9F}"/>
              </a:ext>
            </a:extLst>
          </p:cNvPr>
          <p:cNvSpPr>
            <a:spLocks xmlns:a="http://schemas.openxmlformats.org/drawingml/2006/main" noGrp="1"/>
          </p:cNvSpPr>
          <p:nvPr/>
        </p:nvSpPr>
        <p:spPr>
          <a:xfrm xmlns:a="http://schemas.openxmlformats.org/drawingml/2006/main">
            <a:off x="8058150" y="2047875"/>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15566"/>
                </a:solidFill>
                <a:latin typeface="Arial"/>
                <a:ea typeface="Arial"/>
                <a:cs typeface="Arial"/>
              </a:defRPr>
            </a:defPPr>
          </a:lstStyle>
          <a:p xmlns:a="http://schemas.openxmlformats.org/drawingml/2006/main">
            <a:pPr>
              <a:defRPr sz="1575" b="0">
                <a:solidFill>
                  <a:srgbClr val="415566"/>
                </a:solidFill>
                <a:latin typeface="Arial"/>
                <a:ea typeface="Arial"/>
                <a:cs typeface="Arial"/>
              </a:defRPr>
            </a:pPr>
            <a:r>
              <a:rPr sz="1575" b="0">
                <a:solidFill>
                  <a:srgbClr val="415566"/>
                </a:solidFill>
                <a:latin typeface="Arial"/>
                <a:ea typeface="Arial"/>
                <a:cs typeface="Arial"/>
              </a:rPr>
              <a:t>health predictors</a:t>
            </a:r>
          </a:p>
        </p:txBody>
      </p:sp>
      <p:sp>
        <p:nvSpPr>
          <p:cNvPr id="11" name="">
            <a:extLst xmlns:a="http://schemas.openxmlformats.org/drawingml/2006/main">
              <a:ext uri="{FF2B5EF4-FFF2-40B4-BE49-F238E27FC236}">
                <a16:creationId xmlns:a16="http://schemas.microsoft.com/office/drawing/2014/main" id="{DB6A339D-A6A6-485F-BB8A-901E435554DD}"/>
              </a:ext>
            </a:extLst>
          </p:cNvPr>
          <p:cNvSpPr>
            <a:spLocks xmlns:a="http://schemas.openxmlformats.org/drawingml/2006/main" noGrp="1"/>
          </p:cNvSpPr>
          <p:nvPr/>
        </p:nvSpPr>
        <p:spPr>
          <a:xfrm xmlns:a="http://schemas.openxmlformats.org/drawingml/2006/main">
            <a:off x="400050" y="2381250"/>
            <a:ext cx="11391900" cy="19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6E33BF8-4A86-4FC7-912A-769899197AB6}"/>
              </a:ext>
            </a:extLst>
          </p:cNvPr>
          <p:cNvSpPr>
            <a:spLocks xmlns:a="http://schemas.openxmlformats.org/drawingml/2006/main" noGrp="1"/>
          </p:cNvSpPr>
          <p:nvPr/>
        </p:nvSpPr>
        <p:spPr>
          <a:xfrm xmlns:a="http://schemas.openxmlformats.org/drawingml/2006/main">
            <a:off x="400050" y="2562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83044"/>
                </a:solidFill>
                <a:latin typeface="Arial"/>
                <a:ea typeface="Arial"/>
                <a:cs typeface="Arial"/>
              </a:defRPr>
            </a:defPPr>
          </a:lstStyle>
          <a:p xmlns:a="http://schemas.openxmlformats.org/drawingml/2006/main">
            <a:pPr>
              <a:defRPr sz="1800" b="1">
                <a:solidFill>
                  <a:srgbClr val="183044"/>
                </a:solidFill>
                <a:latin typeface="Arial"/>
                <a:ea typeface="Arial"/>
                <a:cs typeface="Arial"/>
              </a:defRPr>
            </a:pPr>
            <a:r>
              <a:rPr sz="1800" b="1">
                <a:solidFill>
                  <a:srgbClr val="183044"/>
                </a:solidFill>
                <a:latin typeface="Arial"/>
                <a:ea typeface="Arial"/>
                <a:cs typeface="Arial"/>
              </a:rPr>
              <a:t>Health status in the sample</a:t>
            </a:r>
          </a:p>
        </p:txBody>
      </p:sp>
      <p:graphicFrame>
        <p:nvGraphicFramePr>
          <p:cNvPr id="13" name="Chart">
            <a:extLst xmlns:a="http://schemas.openxmlformats.org/drawingml/2006/main">
              <a:ext uri="{FF2B5EF4-FFF2-40B4-BE49-F238E27FC236}">
                <a16:creationId xmlns:a16="http://schemas.microsoft.com/office/drawing/2014/main" id="{FD3058B1-7FF9-420F-93DE-FAAC39B824C9}"/>
              </a:ext>
            </a:extLst>
          </p:cNvPr>
          <p:cNvGraphicFramePr/>
          <p:nvPr/>
        </p:nvGraphicFramePr>
        <p:xfrm>
          <a:off xmlns:a="http://schemas.openxmlformats.org/drawingml/2006/main" x="333375" y="2914650"/>
          <a:ext xmlns:a="http://schemas.openxmlformats.org/drawingml/2006/main" cx="5724525" cy="2905125"/>
        </p:xfrm>
        <a:graphic xmlns:a="http://schemas.openxmlformats.org/drawingml/2006/main">
          <a:graphicData uri="http://schemas.openxmlformats.org/drawingml/2006/chart">
            <c:chart xmlns:r="http://schemas.openxmlformats.org/officeDocument/2006/relationships" xmlns:c="http://schemas.openxmlformats.org/drawingml/2006/chart" r:id="R420fbd6dc42045cf"/>
          </a:graphicData>
        </a:graphic>
      </p:graphicFrame>
      <p:sp>
        <p:nvSpPr>
          <p:cNvPr id="14" name="text">
            <a:extLst xmlns:a="http://schemas.openxmlformats.org/drawingml/2006/main">
              <a:ext uri="{FF2B5EF4-FFF2-40B4-BE49-F238E27FC236}">
                <a16:creationId xmlns:a16="http://schemas.microsoft.com/office/drawing/2014/main" id="{40F1477F-A895-4733-964C-4170E592601C}"/>
              </a:ext>
            </a:extLst>
          </p:cNvPr>
          <p:cNvSpPr>
            <a:spLocks xmlns:a="http://schemas.openxmlformats.org/drawingml/2006/main" noGrp="1"/>
          </p:cNvSpPr>
          <p:nvPr/>
        </p:nvSpPr>
        <p:spPr>
          <a:xfrm xmlns:a="http://schemas.openxmlformats.org/drawingml/2006/main">
            <a:off x="6305550" y="2562225"/>
            <a:ext cx="5476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83044"/>
                </a:solidFill>
                <a:latin typeface="Arial"/>
                <a:ea typeface="Arial"/>
                <a:cs typeface="Arial"/>
              </a:defRPr>
            </a:defPPr>
          </a:lstStyle>
          <a:p xmlns:a="http://schemas.openxmlformats.org/drawingml/2006/main">
            <a:pPr>
              <a:defRPr sz="1800" b="1">
                <a:solidFill>
                  <a:srgbClr val="183044"/>
                </a:solidFill>
                <a:latin typeface="Arial"/>
                <a:ea typeface="Arial"/>
                <a:cs typeface="Arial"/>
              </a:defRPr>
            </a:pPr>
            <a:r>
              <a:rPr sz="1800" b="1">
                <a:solidFill>
                  <a:srgbClr val="183044"/>
                </a:solidFill>
                <a:latin typeface="Arial"/>
                <a:ea typeface="Arial"/>
                <a:cs typeface="Arial"/>
              </a:rPr>
              <a:t>Key variables</a:t>
            </a:r>
          </a:p>
        </p:txBody>
      </p:sp>
      <p:graphicFrame>
        <p:nvGraphicFramePr>
          <p:cNvPr id="15" name="">
            <a:extLst xmlns:a="http://schemas.openxmlformats.org/drawingml/2006/main">
              <a:ext uri="{FF2B5EF4-FFF2-40B4-BE49-F238E27FC236}">
                <a16:creationId xmlns:a16="http://schemas.microsoft.com/office/drawing/2014/main" id="{1BEF9FE1-F3BF-4FE5-ADF1-04D9A4B4831C}"/>
              </a:ext>
            </a:extLst>
          </p:cNvPr>
          <p:cNvGraphicFramePr/>
          <p:nvPr/>
        </p:nvGraphicFramePr>
        <p:xfrm>
          <a:off xmlns:a="http://schemas.openxmlformats.org/drawingml/2006/main" x="6305550" y="2933700"/>
          <a:ext xmlns:a="http://schemas.openxmlformats.org/drawingml/2006/main" cx="5505450" cy="2667000"/>
        </p:xfrm>
        <a:graphic xmlns:a="http://schemas.openxmlformats.org/drawingml/2006/main">
          <a:graphicData uri="http://schemas.openxmlformats.org/drawingml/2006/table">
            <a:tbl>
              <a:tblPr/>
              <a:tblGrid>
                <a:gridCol w="2333625"/>
                <a:gridCol w="3171825"/>
              </a:tblGrid>
              <a:tr h="533400">
                <a:tc>
                  <a:txBody>
                    <a:bodyPr>
                      <a:noAutofit/>
                    </a:bodyPr>
                    <a:lstStyle/>
                    <a:p>
                      <a:pPr algn="l"/>
                      <a:r>
                        <a:rPr sz="1575" b="1">
                          <a:solidFill>
                            <a:srgbClr val="FFFFFF"/>
                          </a:solidFill>
                          <a:latin typeface="Arial"/>
                          <a:ea typeface="Arial"/>
                          <a:cs typeface="Arial"/>
                        </a:rPr>
                        <a:t>Variable</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75" b="1">
                          <a:solidFill>
                            <a:srgbClr val="FFFFFF"/>
                          </a:solidFill>
                          <a:latin typeface="Arial"/>
                          <a:ea typeface="Arial"/>
                          <a:cs typeface="Arial"/>
                        </a:rPr>
                        <a:t>What it measures</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533400">
                <a:tc>
                  <a:txBody>
                    <a:bodyPr>
                      <a:noAutofit/>
                    </a:bodyPr>
                    <a:lstStyle/>
                    <a:p>
                      <a:pPr algn="l"/>
                      <a:r>
                        <a:rPr sz="1575" b="0">
                          <a:solidFill>
                            <a:srgbClr val="183044"/>
                          </a:solidFill>
                          <a:latin typeface="Arial"/>
                          <a:ea typeface="Arial"/>
                          <a:cs typeface="Arial"/>
                        </a:rPr>
                        <a:t>BMI</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75" b="0">
                          <a:solidFill>
                            <a:srgbClr val="183044"/>
                          </a:solidFill>
                          <a:latin typeface="Arial"/>
                          <a:ea typeface="Arial"/>
                          <a:cs typeface="Arial"/>
                        </a:rPr>
                        <a:t>Body mass index (kg/m²)</a:t>
                      </a:r>
                    </a:p>
                  </a:txBody>
                  <a:tcPr marL="91440" marR="91440" marT="45720" marB="45720">
                    <a:lnR w="9525">
                      <a:solidFill>
                        <a:srgbClr val="D6E0E5"/>
                      </a:solidFill>
                      <a:prstDash val="solid"/>
                    </a:lnR>
                    <a:lnB w="9525">
                      <a:solidFill>
                        <a:srgbClr val="D6E0E5"/>
                      </a:solidFill>
                      <a:prstDash val="solid"/>
                    </a:lnB>
                    <a:solidFill>
                      <a:srgbClr val="FFFFFF"/>
                    </a:solidFill>
                  </a:tcPr>
                </a:tc>
              </a:tr>
              <a:tr h="533400">
                <a:tc>
                  <a:txBody>
                    <a:bodyPr>
                      <a:noAutofit/>
                    </a:bodyPr>
                    <a:lstStyle/>
                    <a:p>
                      <a:pPr algn="l"/>
                      <a:r>
                        <a:rPr sz="1575" b="0">
                          <a:solidFill>
                            <a:srgbClr val="183044"/>
                          </a:solidFill>
                          <a:latin typeface="Arial"/>
                          <a:ea typeface="Arial"/>
                          <a:cs typeface="Arial"/>
                        </a:rPr>
                        <a:t>Mental / physical health</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75" b="0">
                          <a:solidFill>
                            <a:srgbClr val="183044"/>
                          </a:solidFill>
                          <a:latin typeface="Arial"/>
                          <a:ea typeface="Arial"/>
                          <a:cs typeface="Arial"/>
                        </a:rPr>
                        <a:t>Poor-health days, 0–30</a:t>
                      </a:r>
                    </a:p>
                  </a:txBody>
                  <a:tcPr marL="91440" marR="91440" marT="45720" marB="45720">
                    <a:lnR w="9525">
                      <a:solidFill>
                        <a:srgbClr val="D6E0E5"/>
                      </a:solidFill>
                      <a:prstDash val="solid"/>
                    </a:lnR>
                    <a:lnB w="9525">
                      <a:solidFill>
                        <a:srgbClr val="D6E0E5"/>
                      </a:solidFill>
                      <a:prstDash val="solid"/>
                    </a:lnB>
                    <a:solidFill>
                      <a:srgbClr val="EAF2F5"/>
                    </a:solidFill>
                  </a:tcPr>
                </a:tc>
              </a:tr>
              <a:tr h="533400">
                <a:tc>
                  <a:txBody>
                    <a:bodyPr>
                      <a:noAutofit/>
                    </a:bodyPr>
                    <a:lstStyle/>
                    <a:p>
                      <a:pPr algn="l"/>
                      <a:r>
                        <a:rPr sz="1575" b="0">
                          <a:solidFill>
                            <a:srgbClr val="183044"/>
                          </a:solidFill>
                          <a:latin typeface="Arial"/>
                          <a:ea typeface="Arial"/>
                          <a:cs typeface="Arial"/>
                        </a:rPr>
                        <a:t>Age / income / education</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75" b="0">
                          <a:solidFill>
                            <a:srgbClr val="183044"/>
                          </a:solidFill>
                          <a:latin typeface="Arial"/>
                          <a:ea typeface="Arial"/>
                          <a:cs typeface="Arial"/>
                        </a:rPr>
                        <a:t>Grouped categories</a:t>
                      </a:r>
                    </a:p>
                  </a:txBody>
                  <a:tcPr marL="91440" marR="91440" marT="45720" marB="45720">
                    <a:lnR w="9525">
                      <a:solidFill>
                        <a:srgbClr val="D6E0E5"/>
                      </a:solidFill>
                      <a:prstDash val="solid"/>
                    </a:lnR>
                    <a:lnB w="9525">
                      <a:solidFill>
                        <a:srgbClr val="D6E0E5"/>
                      </a:solidFill>
                      <a:prstDash val="solid"/>
                    </a:lnB>
                    <a:solidFill>
                      <a:srgbClr val="FFFFFF"/>
                    </a:solidFill>
                  </a:tcPr>
                </a:tc>
              </a:tr>
              <a:tr h="533400">
                <a:tc>
                  <a:txBody>
                    <a:bodyPr>
                      <a:noAutofit/>
                    </a:bodyPr>
                    <a:lstStyle/>
                    <a:p>
                      <a:pPr algn="l"/>
                      <a:r>
                        <a:rPr sz="1575" b="0">
                          <a:solidFill>
                            <a:srgbClr val="183044"/>
                          </a:solidFill>
                          <a:latin typeface="Arial"/>
                          <a:ea typeface="Arial"/>
                          <a:cs typeface="Arial"/>
                        </a:rPr>
                        <a:t>Activity / smoking</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75" b="0">
                          <a:solidFill>
                            <a:srgbClr val="183044"/>
                          </a:solidFill>
                          <a:latin typeface="Arial"/>
                          <a:ea typeface="Arial"/>
                          <a:cs typeface="Arial"/>
                        </a:rPr>
                        <a:t>Yes / No indicators</a:t>
                      </a:r>
                    </a:p>
                  </a:txBody>
                  <a:tcPr marL="91440" marR="91440" marT="45720" marB="45720">
                    <a:lnR w="9525">
                      <a:solidFill>
                        <a:srgbClr val="D6E0E5"/>
                      </a:solidFill>
                      <a:prstDash val="solid"/>
                    </a:lnR>
                    <a:lnB w="9525">
                      <a:solidFill>
                        <a:srgbClr val="D6E0E5"/>
                      </a:solidFill>
                      <a:prstDash val="solid"/>
                    </a:lnB>
                    <a:solidFill>
                      <a:srgbClr val="EAF2F5"/>
                    </a:solidFill>
                  </a:tcPr>
                </a:tc>
              </a:tr>
            </a:tbl>
          </a:graphicData>
        </a:graphic>
      </p:graphicFrame>
      <p:sp>
        <p:nvSpPr>
          <p:cNvPr id="16" name="text">
            <a:extLst xmlns:a="http://schemas.openxmlformats.org/drawingml/2006/main">
              <a:ext uri="{FF2B5EF4-FFF2-40B4-BE49-F238E27FC236}">
                <a16:creationId xmlns:a16="http://schemas.microsoft.com/office/drawing/2014/main" id="{018AEE17-C2EB-486F-A1C4-CDECEEB1C595}"/>
              </a:ext>
            </a:extLst>
          </p:cNvPr>
          <p:cNvSpPr>
            <a:spLocks xmlns:a="http://schemas.openxmlformats.org/drawingml/2006/main" noGrp="1"/>
          </p:cNvSpPr>
          <p:nvPr/>
        </p:nvSpPr>
        <p:spPr>
          <a:xfrm xmlns:a="http://schemas.openxmlformats.org/drawingml/2006/main">
            <a:off x="6305550" y="5724525"/>
            <a:ext cx="5467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15566"/>
                </a:solidFill>
                <a:latin typeface="Arial"/>
                <a:ea typeface="Arial"/>
                <a:cs typeface="Arial"/>
              </a:defRPr>
            </a:defPPr>
          </a:lstStyle>
          <a:p xmlns:a="http://schemas.openxmlformats.org/drawingml/2006/main">
            <a:pPr>
              <a:defRPr sz="1200" b="0">
                <a:solidFill>
                  <a:srgbClr val="415566"/>
                </a:solidFill>
                <a:latin typeface="Arial"/>
                <a:ea typeface="Arial"/>
                <a:cs typeface="Arial"/>
              </a:defRPr>
            </a:pPr>
            <a:r>
              <a:rPr sz="1200" b="0">
                <a:solidFill>
                  <a:srgbClr val="415566"/>
                </a:solidFill>
                <a:latin typeface="Arial"/>
                <a:ea typeface="Arial"/>
                <a:cs typeface="Arial"/>
              </a:rPr>
              <a:t>Source: CDC BRFSS 2015, processed by Alex Teboul on Kaggle.</a:t>
            </a:r>
          </a:p>
        </p:txBody>
      </p:sp>
      <p:sp>
        <p:nvSpPr>
          <p:cNvPr id="17" name="">
            <a:extLst xmlns:a="http://schemas.openxmlformats.org/drawingml/2006/main">
              <a:ext uri="{FF2B5EF4-FFF2-40B4-BE49-F238E27FC236}">
                <a16:creationId xmlns:a16="http://schemas.microsoft.com/office/drawing/2014/main" id="{62072A7D-1417-4790-A3D7-6FDE0FFDE13A}"/>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A79426A1-9F9C-4442-AD99-1A9F87E5A777}"/>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469 people (15.63%) report prediabetes or diabetes.</a:t>
            </a:r>
          </a:p>
        </p:txBody>
      </p:sp>
      <p:sp>
        <p:nvSpPr>
          <p:cNvPr id="19" name="text">
            <a:extLst xmlns:a="http://schemas.openxmlformats.org/drawingml/2006/main">
              <a:ext uri="{FF2B5EF4-FFF2-40B4-BE49-F238E27FC236}">
                <a16:creationId xmlns:a16="http://schemas.microsoft.com/office/drawing/2014/main" id="{64475A23-4DC0-4697-BCC3-62E6D2BAE918}"/>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1 / 11</a:t>
            </a:r>
          </a:p>
        </p:txBody>
      </p:sp>
    </p:spTree>
    <p:extLst>
      <p:ext uri="{BB962C8B-B14F-4D97-AF65-F5344CB8AC3E}">
        <p14:creationId xmlns:p14="http://schemas.microsoft.com/office/powerpoint/2010/main" val="18945206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58FCBA4B-13BE-4632-8D00-A3DEB43B4A61}"/>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1: Data types, import and export</a:t>
            </a:r>
          </a:p>
        </p:txBody>
      </p:sp>
      <p:sp>
        <p:nvSpPr>
          <p:cNvPr id="2" name="">
            <a:extLst xmlns:a="http://schemas.openxmlformats.org/drawingml/2006/main">
              <a:ext uri="{FF2B5EF4-FFF2-40B4-BE49-F238E27FC236}">
                <a16:creationId xmlns:a16="http://schemas.microsoft.com/office/drawing/2014/main" id="{33DF382F-DAFB-4F5D-831D-A82EAEC340C2}"/>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06894EAC-F017-437A-A6E0-0A6880B84F0D}"/>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Data preparation</a:t>
            </a:r>
          </a:p>
        </p:txBody>
      </p:sp>
      <p:sp>
        <p:nvSpPr>
          <p:cNvPr id="4" name="text">
            <a:extLst xmlns:a="http://schemas.openxmlformats.org/drawingml/2006/main">
              <a:ext uri="{FF2B5EF4-FFF2-40B4-BE49-F238E27FC236}">
                <a16:creationId xmlns:a16="http://schemas.microsoft.com/office/drawing/2014/main" id="{9DC96F1C-ACD8-47AE-8367-CF32F54AA292}"/>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Import → sample → validate → prepare for analysis</a:t>
            </a:r>
          </a:p>
        </p:txBody>
      </p:sp>
      <p:sp>
        <p:nvSpPr>
          <p:cNvPr id="5" name="">
            <a:extLst xmlns:a="http://schemas.openxmlformats.org/drawingml/2006/main">
              <a:ext uri="{FF2B5EF4-FFF2-40B4-BE49-F238E27FC236}">
                <a16:creationId xmlns:a16="http://schemas.microsoft.com/office/drawing/2014/main" id="{6AD807C3-AE8D-4D1C-A35D-F3AEF126FCA2}"/>
              </a:ext>
            </a:extLst>
          </p:cNvPr>
          <p:cNvSpPr>
            <a:spLocks xmlns:a="http://schemas.openxmlformats.org/drawingml/2006/main" noGrp="1"/>
          </p:cNvSpPr>
          <p:nvPr/>
        </p:nvSpPr>
        <p:spPr>
          <a:xfrm xmlns:a="http://schemas.openxmlformats.org/drawingml/2006/main">
            <a:off x="400050" y="1552575"/>
            <a:ext cx="2571750" cy="1123950"/>
          </a:xfrm>
          <a:prstGeom xmlns:a="http://schemas.openxmlformats.org/drawingml/2006/main" prst="rect">
            <a:avLst/>
          </a:prstGeom>
          <a:solidFill xmlns:a="http://schemas.openxmlformats.org/drawingml/2006/main">
            <a:srgbClr val="EAF2F5"/>
          </a:solidFill>
          <a:ln xmlns:a="http://schemas.openxmlformats.org/drawingml/2006/main" w="9525">
            <a:solidFill>
              <a:srgbClr val="176D8C"/>
            </a:solidFill>
          </a:ln>
        </p:spPr>
      </p:sp>
      <p:sp>
        <p:nvSpPr>
          <p:cNvPr id="6" name="text">
            <a:extLst xmlns:a="http://schemas.openxmlformats.org/drawingml/2006/main">
              <a:ext uri="{FF2B5EF4-FFF2-40B4-BE49-F238E27FC236}">
                <a16:creationId xmlns:a16="http://schemas.microsoft.com/office/drawing/2014/main" id="{B1BA5959-F8AB-47A5-80B7-104F9E8A0BA0}"/>
              </a:ext>
            </a:extLst>
          </p:cNvPr>
          <p:cNvSpPr>
            <a:spLocks xmlns:a="http://schemas.openxmlformats.org/drawingml/2006/main" noGrp="1"/>
          </p:cNvSpPr>
          <p:nvPr/>
        </p:nvSpPr>
        <p:spPr>
          <a:xfrm xmlns:a="http://schemas.openxmlformats.org/drawingml/2006/main">
            <a:off x="533400" y="16668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6D8C"/>
                </a:solidFill>
                <a:latin typeface="Arial"/>
                <a:ea typeface="Arial"/>
                <a:cs typeface="Arial"/>
              </a:defRPr>
            </a:defPPr>
          </a:lstStyle>
          <a:p xmlns:a="http://schemas.openxmlformats.org/drawingml/2006/main">
            <a:pPr>
              <a:defRPr sz="2175" b="1">
                <a:solidFill>
                  <a:srgbClr val="176D8C"/>
                </a:solidFill>
                <a:latin typeface="Arial"/>
                <a:ea typeface="Arial"/>
                <a:cs typeface="Arial"/>
              </a:defRPr>
            </a:pPr>
            <a:r>
              <a:rPr sz="2175" b="1">
                <a:solidFill>
                  <a:srgbClr val="176D8C"/>
                </a:solidFill>
                <a:latin typeface="Arial"/>
                <a:ea typeface="Arial"/>
                <a:cs typeface="Arial"/>
              </a:rPr>
              <a:t>Import</a:t>
            </a:r>
          </a:p>
        </p:txBody>
      </p:sp>
      <p:sp>
        <p:nvSpPr>
          <p:cNvPr id="7" name="text">
            <a:extLst xmlns:a="http://schemas.openxmlformats.org/drawingml/2006/main">
              <a:ext uri="{FF2B5EF4-FFF2-40B4-BE49-F238E27FC236}">
                <a16:creationId xmlns:a16="http://schemas.microsoft.com/office/drawing/2014/main" id="{B3E6963D-0CFB-4767-9405-E1C209080389}"/>
              </a:ext>
            </a:extLst>
          </p:cNvPr>
          <p:cNvSpPr>
            <a:spLocks xmlns:a="http://schemas.openxmlformats.org/drawingml/2006/main" noGrp="1"/>
          </p:cNvSpPr>
          <p:nvPr/>
        </p:nvSpPr>
        <p:spPr>
          <a:xfrm xmlns:a="http://schemas.openxmlformats.org/drawingml/2006/main">
            <a:off x="533400" y="2143125"/>
            <a:ext cx="2324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83044"/>
                </a:solidFill>
                <a:latin typeface="Arial"/>
                <a:ea typeface="Arial"/>
                <a:cs typeface="Arial"/>
              </a:defRPr>
            </a:defPPr>
          </a:lstStyle>
          <a:p xmlns:a="http://schemas.openxmlformats.org/drawingml/2006/main">
            <a:pPr>
              <a:defRPr sz="1725" b="0">
                <a:solidFill>
                  <a:srgbClr val="183044"/>
                </a:solidFill>
                <a:latin typeface="Arial"/>
                <a:ea typeface="Arial"/>
                <a:cs typeface="Arial"/>
              </a:defRPr>
            </a:pPr>
            <a:r>
              <a:rPr sz="1725" b="0">
                <a:solidFill>
                  <a:srgbClr val="183044"/>
                </a:solidFill>
                <a:latin typeface="Arial"/>
                <a:ea typeface="Arial"/>
                <a:cs typeface="Arial"/>
              </a:rPr>
              <a:t>CSV source</a:t>
            </a:r>
          </a:p>
        </p:txBody>
      </p:sp>
      <p:sp>
        <p:nvSpPr>
          <p:cNvPr id="8" name="">
            <a:extLst xmlns:a="http://schemas.openxmlformats.org/drawingml/2006/main">
              <a:ext uri="{FF2B5EF4-FFF2-40B4-BE49-F238E27FC236}">
                <a16:creationId xmlns:a16="http://schemas.microsoft.com/office/drawing/2014/main" id="{3248E189-87BD-4F54-A76A-26019CD8C298}"/>
              </a:ext>
            </a:extLst>
          </p:cNvPr>
          <p:cNvSpPr>
            <a:spLocks xmlns:a="http://schemas.openxmlformats.org/drawingml/2006/main" noGrp="1"/>
          </p:cNvSpPr>
          <p:nvPr/>
        </p:nvSpPr>
        <p:spPr>
          <a:xfrm xmlns:a="http://schemas.openxmlformats.org/drawingml/2006/main">
            <a:off x="3048000" y="2000250"/>
            <a:ext cx="180975" cy="190500"/>
          </a:xfrm>
          <a:prstGeom xmlns:a="http://schemas.openxmlformats.org/drawingml/2006/main" prst="rightArrow">
            <a:avLst/>
          </a:prstGeom>
          <a:solidFill xmlns:a="http://schemas.openxmlformats.org/drawingml/2006/main">
            <a:srgbClr val="176D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3DF1161-9FB0-4B3D-A9FC-BDD476621F63}"/>
              </a:ext>
            </a:extLst>
          </p:cNvPr>
          <p:cNvSpPr>
            <a:spLocks xmlns:a="http://schemas.openxmlformats.org/drawingml/2006/main" noGrp="1"/>
          </p:cNvSpPr>
          <p:nvPr/>
        </p:nvSpPr>
        <p:spPr>
          <a:xfrm xmlns:a="http://schemas.openxmlformats.org/drawingml/2006/main">
            <a:off x="3295650" y="1552575"/>
            <a:ext cx="2571750" cy="1123950"/>
          </a:xfrm>
          <a:prstGeom xmlns:a="http://schemas.openxmlformats.org/drawingml/2006/main" prst="rect">
            <a:avLst/>
          </a:prstGeom>
          <a:solidFill xmlns:a="http://schemas.openxmlformats.org/drawingml/2006/main">
            <a:srgbClr val="EAF2F5"/>
          </a:solidFill>
          <a:ln xmlns:a="http://schemas.openxmlformats.org/drawingml/2006/main" w="9525">
            <a:solidFill>
              <a:srgbClr val="176D8C"/>
            </a:solidFill>
          </a:ln>
        </p:spPr>
      </p:sp>
      <p:sp>
        <p:nvSpPr>
          <p:cNvPr id="10" name="text">
            <a:extLst xmlns:a="http://schemas.openxmlformats.org/drawingml/2006/main">
              <a:ext uri="{FF2B5EF4-FFF2-40B4-BE49-F238E27FC236}">
                <a16:creationId xmlns:a16="http://schemas.microsoft.com/office/drawing/2014/main" id="{4C7EEEEB-C5B7-4DFE-AA50-E09750727D30}"/>
              </a:ext>
            </a:extLst>
          </p:cNvPr>
          <p:cNvSpPr>
            <a:spLocks xmlns:a="http://schemas.openxmlformats.org/drawingml/2006/main" noGrp="1"/>
          </p:cNvSpPr>
          <p:nvPr/>
        </p:nvSpPr>
        <p:spPr>
          <a:xfrm xmlns:a="http://schemas.openxmlformats.org/drawingml/2006/main">
            <a:off x="3429000" y="16668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6D8C"/>
                </a:solidFill>
                <a:latin typeface="Arial"/>
                <a:ea typeface="Arial"/>
                <a:cs typeface="Arial"/>
              </a:defRPr>
            </a:defPPr>
          </a:lstStyle>
          <a:p xmlns:a="http://schemas.openxmlformats.org/drawingml/2006/main">
            <a:pPr>
              <a:defRPr sz="2175" b="1">
                <a:solidFill>
                  <a:srgbClr val="176D8C"/>
                </a:solidFill>
                <a:latin typeface="Arial"/>
                <a:ea typeface="Arial"/>
                <a:cs typeface="Arial"/>
              </a:defRPr>
            </a:pPr>
            <a:r>
              <a:rPr sz="2175" b="1">
                <a:solidFill>
                  <a:srgbClr val="176D8C"/>
                </a:solidFill>
                <a:latin typeface="Arial"/>
                <a:ea typeface="Arial"/>
                <a:cs typeface="Arial"/>
              </a:rPr>
              <a:t>Sample</a:t>
            </a:r>
          </a:p>
        </p:txBody>
      </p:sp>
      <p:sp>
        <p:nvSpPr>
          <p:cNvPr id="11" name="text">
            <a:extLst xmlns:a="http://schemas.openxmlformats.org/drawingml/2006/main">
              <a:ext uri="{FF2B5EF4-FFF2-40B4-BE49-F238E27FC236}">
                <a16:creationId xmlns:a16="http://schemas.microsoft.com/office/drawing/2014/main" id="{8F03F664-A389-47D0-8A3B-6E1B8EF9D025}"/>
              </a:ext>
            </a:extLst>
          </p:cNvPr>
          <p:cNvSpPr>
            <a:spLocks xmlns:a="http://schemas.openxmlformats.org/drawingml/2006/main" noGrp="1"/>
          </p:cNvSpPr>
          <p:nvPr/>
        </p:nvSpPr>
        <p:spPr>
          <a:xfrm xmlns:a="http://schemas.openxmlformats.org/drawingml/2006/main">
            <a:off x="3429000" y="2143125"/>
            <a:ext cx="2324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83044"/>
                </a:solidFill>
                <a:latin typeface="Arial"/>
                <a:ea typeface="Arial"/>
                <a:cs typeface="Arial"/>
              </a:defRPr>
            </a:defPPr>
          </a:lstStyle>
          <a:p xmlns:a="http://schemas.openxmlformats.org/drawingml/2006/main">
            <a:pPr>
              <a:defRPr sz="1725" b="0">
                <a:solidFill>
                  <a:srgbClr val="183044"/>
                </a:solidFill>
                <a:latin typeface="Arial"/>
                <a:ea typeface="Arial"/>
                <a:cs typeface="Arial"/>
              </a:defRPr>
            </a:pPr>
            <a:r>
              <a:rPr sz="1725" b="0">
                <a:solidFill>
                  <a:srgbClr val="183044"/>
                </a:solidFill>
                <a:latin typeface="Arial"/>
                <a:ea typeface="Arial"/>
                <a:cs typeface="Arial"/>
              </a:rPr>
              <a:t>3,000 random rows</a:t>
            </a:r>
          </a:p>
        </p:txBody>
      </p:sp>
      <p:sp>
        <p:nvSpPr>
          <p:cNvPr id="12" name="">
            <a:extLst xmlns:a="http://schemas.openxmlformats.org/drawingml/2006/main">
              <a:ext uri="{FF2B5EF4-FFF2-40B4-BE49-F238E27FC236}">
                <a16:creationId xmlns:a16="http://schemas.microsoft.com/office/drawing/2014/main" id="{EC4F2DB1-FFC1-4678-A224-053B2042172A}"/>
              </a:ext>
            </a:extLst>
          </p:cNvPr>
          <p:cNvSpPr>
            <a:spLocks xmlns:a="http://schemas.openxmlformats.org/drawingml/2006/main" noGrp="1"/>
          </p:cNvSpPr>
          <p:nvPr/>
        </p:nvSpPr>
        <p:spPr>
          <a:xfrm xmlns:a="http://schemas.openxmlformats.org/drawingml/2006/main">
            <a:off x="5943600" y="2000250"/>
            <a:ext cx="180975" cy="190500"/>
          </a:xfrm>
          <a:prstGeom xmlns:a="http://schemas.openxmlformats.org/drawingml/2006/main" prst="rightArrow">
            <a:avLst/>
          </a:prstGeom>
          <a:solidFill xmlns:a="http://schemas.openxmlformats.org/drawingml/2006/main">
            <a:srgbClr val="176D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D60FAC-C254-4124-A41E-5E109042096A}"/>
              </a:ext>
            </a:extLst>
          </p:cNvPr>
          <p:cNvSpPr>
            <a:spLocks xmlns:a="http://schemas.openxmlformats.org/drawingml/2006/main" noGrp="1"/>
          </p:cNvSpPr>
          <p:nvPr/>
        </p:nvSpPr>
        <p:spPr>
          <a:xfrm xmlns:a="http://schemas.openxmlformats.org/drawingml/2006/main">
            <a:off x="6191250" y="1552575"/>
            <a:ext cx="2571750" cy="1123950"/>
          </a:xfrm>
          <a:prstGeom xmlns:a="http://schemas.openxmlformats.org/drawingml/2006/main" prst="rect">
            <a:avLst/>
          </a:prstGeom>
          <a:solidFill xmlns:a="http://schemas.openxmlformats.org/drawingml/2006/main">
            <a:srgbClr val="EAF2F5"/>
          </a:solidFill>
          <a:ln xmlns:a="http://schemas.openxmlformats.org/drawingml/2006/main" w="9525">
            <a:solidFill>
              <a:srgbClr val="176D8C"/>
            </a:solidFill>
          </a:ln>
        </p:spPr>
      </p:sp>
      <p:sp>
        <p:nvSpPr>
          <p:cNvPr id="14" name="text">
            <a:extLst xmlns:a="http://schemas.openxmlformats.org/drawingml/2006/main">
              <a:ext uri="{FF2B5EF4-FFF2-40B4-BE49-F238E27FC236}">
                <a16:creationId xmlns:a16="http://schemas.microsoft.com/office/drawing/2014/main" id="{5EB13D79-8251-4ED9-9FAE-B30953EF31D0}"/>
              </a:ext>
            </a:extLst>
          </p:cNvPr>
          <p:cNvSpPr>
            <a:spLocks xmlns:a="http://schemas.openxmlformats.org/drawingml/2006/main" noGrp="1"/>
          </p:cNvSpPr>
          <p:nvPr/>
        </p:nvSpPr>
        <p:spPr>
          <a:xfrm xmlns:a="http://schemas.openxmlformats.org/drawingml/2006/main">
            <a:off x="6324600" y="16668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6D8C"/>
                </a:solidFill>
                <a:latin typeface="Arial"/>
                <a:ea typeface="Arial"/>
                <a:cs typeface="Arial"/>
              </a:defRPr>
            </a:defPPr>
          </a:lstStyle>
          <a:p xmlns:a="http://schemas.openxmlformats.org/drawingml/2006/main">
            <a:pPr>
              <a:defRPr sz="2175" b="1">
                <a:solidFill>
                  <a:srgbClr val="176D8C"/>
                </a:solidFill>
                <a:latin typeface="Arial"/>
                <a:ea typeface="Arial"/>
                <a:cs typeface="Arial"/>
              </a:defRPr>
            </a:pPr>
            <a:r>
              <a:rPr sz="2175" b="1">
                <a:solidFill>
                  <a:srgbClr val="176D8C"/>
                </a:solidFill>
                <a:latin typeface="Arial"/>
                <a:ea typeface="Arial"/>
                <a:cs typeface="Arial"/>
              </a:rPr>
              <a:t>Validate</a:t>
            </a:r>
          </a:p>
        </p:txBody>
      </p:sp>
      <p:sp>
        <p:nvSpPr>
          <p:cNvPr id="15" name="text">
            <a:extLst xmlns:a="http://schemas.openxmlformats.org/drawingml/2006/main">
              <a:ext uri="{FF2B5EF4-FFF2-40B4-BE49-F238E27FC236}">
                <a16:creationId xmlns:a16="http://schemas.microsoft.com/office/drawing/2014/main" id="{2DF447F9-BAE0-40D7-ABBA-216AC87EE41F}"/>
              </a:ext>
            </a:extLst>
          </p:cNvPr>
          <p:cNvSpPr>
            <a:spLocks xmlns:a="http://schemas.openxmlformats.org/drawingml/2006/main" noGrp="1"/>
          </p:cNvSpPr>
          <p:nvPr/>
        </p:nvSpPr>
        <p:spPr>
          <a:xfrm xmlns:a="http://schemas.openxmlformats.org/drawingml/2006/main">
            <a:off x="6324600" y="2143125"/>
            <a:ext cx="2324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83044"/>
                </a:solidFill>
                <a:latin typeface="Arial"/>
                <a:ea typeface="Arial"/>
                <a:cs typeface="Arial"/>
              </a:defRPr>
            </a:defPPr>
          </a:lstStyle>
          <a:p xmlns:a="http://schemas.openxmlformats.org/drawingml/2006/main">
            <a:pPr>
              <a:defRPr sz="1725" b="0">
                <a:solidFill>
                  <a:srgbClr val="183044"/>
                </a:solidFill>
                <a:latin typeface="Arial"/>
                <a:ea typeface="Arial"/>
                <a:cs typeface="Arial"/>
              </a:defRPr>
            </a:pPr>
            <a:r>
              <a:rPr sz="1725" b="0">
                <a:solidFill>
                  <a:srgbClr val="183044"/>
                </a:solidFill>
                <a:latin typeface="Arial"/>
                <a:ea typeface="Arial"/>
                <a:cs typeface="Arial"/>
              </a:rPr>
              <a:t>Codes and ranges</a:t>
            </a:r>
          </a:p>
        </p:txBody>
      </p:sp>
      <p:sp>
        <p:nvSpPr>
          <p:cNvPr id="16" name="">
            <a:extLst xmlns:a="http://schemas.openxmlformats.org/drawingml/2006/main">
              <a:ext uri="{FF2B5EF4-FFF2-40B4-BE49-F238E27FC236}">
                <a16:creationId xmlns:a16="http://schemas.microsoft.com/office/drawing/2014/main" id="{CE7B34C9-C56B-41A2-9FF2-A0A8860CE489}"/>
              </a:ext>
            </a:extLst>
          </p:cNvPr>
          <p:cNvSpPr>
            <a:spLocks xmlns:a="http://schemas.openxmlformats.org/drawingml/2006/main" noGrp="1"/>
          </p:cNvSpPr>
          <p:nvPr/>
        </p:nvSpPr>
        <p:spPr>
          <a:xfrm xmlns:a="http://schemas.openxmlformats.org/drawingml/2006/main">
            <a:off x="8839200" y="2000250"/>
            <a:ext cx="180975" cy="190500"/>
          </a:xfrm>
          <a:prstGeom xmlns:a="http://schemas.openxmlformats.org/drawingml/2006/main" prst="rightArrow">
            <a:avLst/>
          </a:prstGeom>
          <a:solidFill xmlns:a="http://schemas.openxmlformats.org/drawingml/2006/main">
            <a:srgbClr val="176D8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E47D7F7-EB31-4B94-9E90-2C0FBB768E11}"/>
              </a:ext>
            </a:extLst>
          </p:cNvPr>
          <p:cNvSpPr>
            <a:spLocks xmlns:a="http://schemas.openxmlformats.org/drawingml/2006/main" noGrp="1"/>
          </p:cNvSpPr>
          <p:nvPr/>
        </p:nvSpPr>
        <p:spPr>
          <a:xfrm xmlns:a="http://schemas.openxmlformats.org/drawingml/2006/main">
            <a:off x="9086850" y="1552575"/>
            <a:ext cx="2571750" cy="1123950"/>
          </a:xfrm>
          <a:prstGeom xmlns:a="http://schemas.openxmlformats.org/drawingml/2006/main" prst="rect">
            <a:avLst/>
          </a:prstGeom>
          <a:solidFill xmlns:a="http://schemas.openxmlformats.org/drawingml/2006/main">
            <a:srgbClr val="EAF2F5"/>
          </a:solidFill>
          <a:ln xmlns:a="http://schemas.openxmlformats.org/drawingml/2006/main" w="9525">
            <a:solidFill>
              <a:srgbClr val="176D8C"/>
            </a:solidFill>
          </a:ln>
        </p:spPr>
      </p:sp>
      <p:sp>
        <p:nvSpPr>
          <p:cNvPr id="18" name="text">
            <a:extLst xmlns:a="http://schemas.openxmlformats.org/drawingml/2006/main">
              <a:ext uri="{FF2B5EF4-FFF2-40B4-BE49-F238E27FC236}">
                <a16:creationId xmlns:a16="http://schemas.microsoft.com/office/drawing/2014/main" id="{0BD3ECF4-C0E1-40C9-B8FA-79CD1B25B8A1}"/>
              </a:ext>
            </a:extLst>
          </p:cNvPr>
          <p:cNvSpPr>
            <a:spLocks xmlns:a="http://schemas.openxmlformats.org/drawingml/2006/main" noGrp="1"/>
          </p:cNvSpPr>
          <p:nvPr/>
        </p:nvSpPr>
        <p:spPr>
          <a:xfrm xmlns:a="http://schemas.openxmlformats.org/drawingml/2006/main">
            <a:off x="9220200" y="16668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6D8C"/>
                </a:solidFill>
                <a:latin typeface="Arial"/>
                <a:ea typeface="Arial"/>
                <a:cs typeface="Arial"/>
              </a:defRPr>
            </a:defPPr>
          </a:lstStyle>
          <a:p xmlns:a="http://schemas.openxmlformats.org/drawingml/2006/main">
            <a:pPr>
              <a:defRPr sz="2175" b="1">
                <a:solidFill>
                  <a:srgbClr val="176D8C"/>
                </a:solidFill>
                <a:latin typeface="Arial"/>
                <a:ea typeface="Arial"/>
                <a:cs typeface="Arial"/>
              </a:defRPr>
            </a:pPr>
            <a:r>
              <a:rPr sz="2175" b="1">
                <a:solidFill>
                  <a:srgbClr val="176D8C"/>
                </a:solidFill>
                <a:latin typeface="Arial"/>
                <a:ea typeface="Arial"/>
                <a:cs typeface="Arial"/>
              </a:rPr>
              <a:t>Prepare</a:t>
            </a:r>
          </a:p>
        </p:txBody>
      </p:sp>
      <p:sp>
        <p:nvSpPr>
          <p:cNvPr id="19" name="text">
            <a:extLst xmlns:a="http://schemas.openxmlformats.org/drawingml/2006/main">
              <a:ext uri="{FF2B5EF4-FFF2-40B4-BE49-F238E27FC236}">
                <a16:creationId xmlns:a16="http://schemas.microsoft.com/office/drawing/2014/main" id="{80C1A40D-A822-44EA-A826-BDB11545DDD9}"/>
              </a:ext>
            </a:extLst>
          </p:cNvPr>
          <p:cNvSpPr>
            <a:spLocks xmlns:a="http://schemas.openxmlformats.org/drawingml/2006/main" noGrp="1"/>
          </p:cNvSpPr>
          <p:nvPr/>
        </p:nvSpPr>
        <p:spPr>
          <a:xfrm xmlns:a="http://schemas.openxmlformats.org/drawingml/2006/main">
            <a:off x="9220200" y="2143125"/>
            <a:ext cx="2324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83044"/>
                </a:solidFill>
                <a:latin typeface="Arial"/>
                <a:ea typeface="Arial"/>
                <a:cs typeface="Arial"/>
              </a:defRPr>
            </a:defPPr>
          </a:lstStyle>
          <a:p xmlns:a="http://schemas.openxmlformats.org/drawingml/2006/main">
            <a:pPr>
              <a:defRPr sz="1725" b="0">
                <a:solidFill>
                  <a:srgbClr val="183044"/>
                </a:solidFill>
                <a:latin typeface="Arial"/>
                <a:ea typeface="Arial"/>
                <a:cs typeface="Arial"/>
              </a:defRPr>
            </a:pPr>
            <a:r>
              <a:rPr sz="1725" b="0">
                <a:solidFill>
                  <a:srgbClr val="183044"/>
                </a:solidFill>
                <a:latin typeface="Arial"/>
                <a:ea typeface="Arial"/>
                <a:cs typeface="Arial"/>
              </a:rPr>
              <a:t>Labels and types</a:t>
            </a:r>
          </a:p>
        </p:txBody>
      </p:sp>
      <p:sp>
        <p:nvSpPr>
          <p:cNvPr id="20" name="text">
            <a:extLst xmlns:a="http://schemas.openxmlformats.org/drawingml/2006/main">
              <a:ext uri="{FF2B5EF4-FFF2-40B4-BE49-F238E27FC236}">
                <a16:creationId xmlns:a16="http://schemas.microsoft.com/office/drawing/2014/main" id="{5C2F1162-23F3-4F03-8846-CEFAEAEB8514}"/>
              </a:ext>
            </a:extLst>
          </p:cNvPr>
          <p:cNvSpPr>
            <a:spLocks xmlns:a="http://schemas.openxmlformats.org/drawingml/2006/main" noGrp="1"/>
          </p:cNvSpPr>
          <p:nvPr/>
        </p:nvSpPr>
        <p:spPr>
          <a:xfrm xmlns:a="http://schemas.openxmlformats.org/drawingml/2006/main">
            <a:off x="400050" y="2981325"/>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83044"/>
                </a:solidFill>
                <a:latin typeface="Arial"/>
                <a:ea typeface="Arial"/>
                <a:cs typeface="Arial"/>
              </a:defRPr>
            </a:defPPr>
          </a:lstStyle>
          <a:p xmlns:a="http://schemas.openxmlformats.org/drawingml/2006/main">
            <a:pPr>
              <a:defRPr sz="1875" b="1">
                <a:solidFill>
                  <a:srgbClr val="183044"/>
                </a:solidFill>
                <a:latin typeface="Arial"/>
                <a:ea typeface="Arial"/>
                <a:cs typeface="Arial"/>
              </a:defRPr>
            </a:pPr>
            <a:r>
              <a:rPr sz="1875" b="1">
                <a:solidFill>
                  <a:srgbClr val="183044"/>
                </a:solidFill>
                <a:latin typeface="Arial"/>
                <a:ea typeface="Arial"/>
                <a:cs typeface="Arial"/>
              </a:rPr>
              <a:t>Types used in R</a:t>
            </a:r>
          </a:p>
        </p:txBody>
      </p:sp>
      <p:sp>
        <p:nvSpPr>
          <p:cNvPr id="21" name="text">
            <a:extLst xmlns:a="http://schemas.openxmlformats.org/drawingml/2006/main">
              <a:ext uri="{FF2B5EF4-FFF2-40B4-BE49-F238E27FC236}">
                <a16:creationId xmlns:a16="http://schemas.microsoft.com/office/drawing/2014/main" id="{EAD2F822-E5DB-4553-BB7A-D6BA9E71B532}"/>
              </a:ext>
            </a:extLst>
          </p:cNvPr>
          <p:cNvSpPr>
            <a:spLocks xmlns:a="http://schemas.openxmlformats.org/drawingml/2006/main" noGrp="1"/>
          </p:cNvSpPr>
          <p:nvPr/>
        </p:nvSpPr>
        <p:spPr>
          <a:xfrm xmlns:a="http://schemas.openxmlformats.org/drawingml/2006/main">
            <a:off x="6572250" y="29813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83044"/>
                </a:solidFill>
                <a:latin typeface="Arial"/>
                <a:ea typeface="Arial"/>
                <a:cs typeface="Arial"/>
              </a:defRPr>
            </a:defPPr>
          </a:lstStyle>
          <a:p xmlns:a="http://schemas.openxmlformats.org/drawingml/2006/main">
            <a:pPr>
              <a:defRPr sz="1875" b="1">
                <a:solidFill>
                  <a:srgbClr val="183044"/>
                </a:solidFill>
                <a:latin typeface="Arial"/>
                <a:ea typeface="Arial"/>
                <a:cs typeface="Arial"/>
              </a:defRPr>
            </a:pPr>
            <a:r>
              <a:rPr sz="1875" b="1">
                <a:solidFill>
                  <a:srgbClr val="183044"/>
                </a:solidFill>
                <a:latin typeface="Arial"/>
                <a:ea typeface="Arial"/>
                <a:cs typeface="Arial"/>
              </a:rPr>
              <a:t>Quality checks</a:t>
            </a:r>
          </a:p>
        </p:txBody>
      </p:sp>
      <p:graphicFrame>
        <p:nvGraphicFramePr>
          <p:cNvPr id="22" name="">
            <a:extLst xmlns:a="http://schemas.openxmlformats.org/drawingml/2006/main">
              <a:ext uri="{FF2B5EF4-FFF2-40B4-BE49-F238E27FC236}">
                <a16:creationId xmlns:a16="http://schemas.microsoft.com/office/drawing/2014/main" id="{B9BF07C5-EACC-4E2D-A21E-BF00BC21C68B}"/>
              </a:ext>
            </a:extLst>
          </p:cNvPr>
          <p:cNvGraphicFramePr/>
          <p:nvPr/>
        </p:nvGraphicFramePr>
        <p:xfrm>
          <a:off xmlns:a="http://schemas.openxmlformats.org/drawingml/2006/main" x="400050" y="3448050"/>
          <a:ext xmlns:a="http://schemas.openxmlformats.org/drawingml/2006/main" cx="5791200" cy="1790700"/>
        </p:xfrm>
        <a:graphic xmlns:a="http://schemas.openxmlformats.org/drawingml/2006/main">
          <a:graphicData uri="http://schemas.openxmlformats.org/drawingml/2006/table">
            <a:tbl>
              <a:tblPr/>
              <a:tblGrid>
                <a:gridCol w="2181225"/>
                <a:gridCol w="3609975"/>
              </a:tblGrid>
              <a:tr h="447675">
                <a:tc>
                  <a:txBody>
                    <a:bodyPr>
                      <a:noAutofit/>
                    </a:bodyPr>
                    <a:lstStyle/>
                    <a:p>
                      <a:pPr algn="l"/>
                      <a:r>
                        <a:rPr sz="1650" b="1">
                          <a:solidFill>
                            <a:srgbClr val="FFFFFF"/>
                          </a:solidFill>
                          <a:latin typeface="Arial"/>
                          <a:ea typeface="Arial"/>
                          <a:cs typeface="Arial"/>
                        </a:rPr>
                        <a:t>Type</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650" b="1">
                          <a:solidFill>
                            <a:srgbClr val="FFFFFF"/>
                          </a:solidFill>
                          <a:latin typeface="Arial"/>
                          <a:ea typeface="Arial"/>
                          <a:cs typeface="Arial"/>
                        </a:rPr>
                        <a:t>Examples</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447675">
                <a:tc>
                  <a:txBody>
                    <a:bodyPr>
                      <a:noAutofit/>
                    </a:bodyPr>
                    <a:lstStyle/>
                    <a:p>
                      <a:pPr algn="l"/>
                      <a:r>
                        <a:rPr sz="1650" b="0">
                          <a:solidFill>
                            <a:srgbClr val="183044"/>
                          </a:solidFill>
                          <a:latin typeface="Arial"/>
                          <a:ea typeface="Arial"/>
                          <a:cs typeface="Arial"/>
                        </a:rPr>
                        <a:t>Numeric</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BMI and poor-health days</a:t>
                      </a:r>
                    </a:p>
                  </a:txBody>
                  <a:tcPr marL="91440" marR="91440" marT="45720" marB="45720">
                    <a:lnR w="9525">
                      <a:solidFill>
                        <a:srgbClr val="D6E0E5"/>
                      </a:solidFill>
                      <a:prstDash val="solid"/>
                    </a:lnR>
                    <a:lnB w="9525">
                      <a:solidFill>
                        <a:srgbClr val="D6E0E5"/>
                      </a:solidFill>
                      <a:prstDash val="solid"/>
                    </a:lnB>
                    <a:solidFill>
                      <a:srgbClr val="FFFFFF"/>
                    </a:solidFill>
                  </a:tcPr>
                </a:tc>
              </a:tr>
              <a:tr h="447675">
                <a:tc>
                  <a:txBody>
                    <a:bodyPr>
                      <a:noAutofit/>
                    </a:bodyPr>
                    <a:lstStyle/>
                    <a:p>
                      <a:pPr algn="l"/>
                      <a:r>
                        <a:rPr sz="1650" b="0">
                          <a:solidFill>
                            <a:srgbClr val="183044"/>
                          </a:solidFill>
                          <a:latin typeface="Arial"/>
                          <a:ea typeface="Arial"/>
                          <a:cs typeface="Arial"/>
                        </a:rPr>
                        <a:t>Categorical</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Health status, sex and smoking</a:t>
                      </a:r>
                    </a:p>
                  </a:txBody>
                  <a:tcPr marL="91440" marR="91440" marT="45720" marB="45720">
                    <a:lnR w="9525">
                      <a:solidFill>
                        <a:srgbClr val="D6E0E5"/>
                      </a:solidFill>
                      <a:prstDash val="solid"/>
                    </a:lnR>
                    <a:lnB w="9525">
                      <a:solidFill>
                        <a:srgbClr val="D6E0E5"/>
                      </a:solidFill>
                      <a:prstDash val="solid"/>
                    </a:lnB>
                    <a:solidFill>
                      <a:srgbClr val="EAF2F5"/>
                    </a:solidFill>
                  </a:tcPr>
                </a:tc>
              </a:tr>
              <a:tr h="447675">
                <a:tc>
                  <a:txBody>
                    <a:bodyPr>
                      <a:noAutofit/>
                    </a:bodyPr>
                    <a:lstStyle/>
                    <a:p>
                      <a:pPr algn="l"/>
                      <a:r>
                        <a:rPr sz="1650" b="0">
                          <a:solidFill>
                            <a:srgbClr val="183044"/>
                          </a:solidFill>
                          <a:latin typeface="Arial"/>
                          <a:ea typeface="Arial"/>
                          <a:cs typeface="Arial"/>
                        </a:rPr>
                        <a:t>Grouped categories</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Age, income and education</a:t>
                      </a:r>
                    </a:p>
                  </a:txBody>
                  <a:tcPr marL="91440" marR="91440" marT="45720" marB="45720">
                    <a:lnR w="9525">
                      <a:solidFill>
                        <a:srgbClr val="D6E0E5"/>
                      </a:solidFill>
                      <a:prstDash val="solid"/>
                    </a:lnR>
                    <a:lnB w="9525">
                      <a:solidFill>
                        <a:srgbClr val="D6E0E5"/>
                      </a:solidFill>
                      <a:prstDash val="solid"/>
                    </a:lnB>
                    <a:solidFill>
                      <a:srgbClr val="FFFFFF"/>
                    </a:solidFill>
                  </a:tcPr>
                </a:tc>
              </a:tr>
            </a:tbl>
          </a:graphicData>
        </a:graphic>
      </p:graphicFrame>
      <p:graphicFrame>
        <p:nvGraphicFramePr>
          <p:cNvPr id="23" name="">
            <a:extLst xmlns:a="http://schemas.openxmlformats.org/drawingml/2006/main">
              <a:ext uri="{FF2B5EF4-FFF2-40B4-BE49-F238E27FC236}">
                <a16:creationId xmlns:a16="http://schemas.microsoft.com/office/drawing/2014/main" id="{AED94828-7266-4B7D-BA22-37F96ACF780D}"/>
              </a:ext>
            </a:extLst>
          </p:cNvPr>
          <p:cNvGraphicFramePr/>
          <p:nvPr/>
        </p:nvGraphicFramePr>
        <p:xfrm>
          <a:off xmlns:a="http://schemas.openxmlformats.org/drawingml/2006/main" x="6572250" y="3448050"/>
          <a:ext xmlns:a="http://schemas.openxmlformats.org/drawingml/2006/main" cx="5238750" cy="1790700"/>
        </p:xfrm>
        <a:graphic xmlns:a="http://schemas.openxmlformats.org/drawingml/2006/main">
          <a:graphicData uri="http://schemas.openxmlformats.org/drawingml/2006/table">
            <a:tbl>
              <a:tblPr/>
              <a:tblGrid>
                <a:gridCol w="3495675"/>
                <a:gridCol w="1743075"/>
              </a:tblGrid>
              <a:tr h="358140">
                <a:tc>
                  <a:txBody>
                    <a:bodyPr>
                      <a:noAutofit/>
                    </a:bodyPr>
                    <a:lstStyle/>
                    <a:p>
                      <a:pPr algn="l"/>
                      <a:r>
                        <a:rPr sz="1575" b="1">
                          <a:solidFill>
                            <a:srgbClr val="FFFFFF"/>
                          </a:solidFill>
                          <a:latin typeface="Arial"/>
                          <a:ea typeface="Arial"/>
                          <a:cs typeface="Arial"/>
                        </a:rPr>
                        <a:t>Check</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75" b="1">
                          <a:solidFill>
                            <a:srgbClr val="FFFFFF"/>
                          </a:solidFill>
                          <a:latin typeface="Arial"/>
                          <a:ea typeface="Arial"/>
                          <a:cs typeface="Arial"/>
                        </a:rPr>
                        <a:t>Result</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358140">
                <a:tc>
                  <a:txBody>
                    <a:bodyPr>
                      <a:noAutofit/>
                    </a:bodyPr>
                    <a:lstStyle/>
                    <a:p>
                      <a:pPr algn="l"/>
                      <a:r>
                        <a:rPr sz="1575" b="0">
                          <a:solidFill>
                            <a:srgbClr val="183044"/>
                          </a:solidFill>
                          <a:latin typeface="Arial"/>
                          <a:ea typeface="Arial"/>
                          <a:cs typeface="Arial"/>
                        </a:rPr>
                        <a:t>Missing entries</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75" b="0">
                          <a:solidFill>
                            <a:srgbClr val="183044"/>
                          </a:solidFill>
                          <a:latin typeface="Arial"/>
                          <a:ea typeface="Arial"/>
                          <a:cs typeface="Arial"/>
                        </a:rPr>
                        <a:t>0</a:t>
                      </a:r>
                    </a:p>
                  </a:txBody>
                  <a:tcPr marL="91440" marR="91440" marT="45720" marB="45720">
                    <a:lnR w="9525">
                      <a:solidFill>
                        <a:srgbClr val="D6E0E5"/>
                      </a:solidFill>
                      <a:prstDash val="solid"/>
                    </a:lnR>
                    <a:lnB w="9525">
                      <a:solidFill>
                        <a:srgbClr val="D6E0E5"/>
                      </a:solidFill>
                      <a:prstDash val="solid"/>
                    </a:lnB>
                    <a:solidFill>
                      <a:srgbClr val="FFFFFF"/>
                    </a:solidFill>
                  </a:tcPr>
                </a:tc>
              </a:tr>
              <a:tr h="358140">
                <a:tc>
                  <a:txBody>
                    <a:bodyPr>
                      <a:noAutofit/>
                    </a:bodyPr>
                    <a:lstStyle/>
                    <a:p>
                      <a:pPr algn="l"/>
                      <a:r>
                        <a:rPr sz="1575" b="0">
                          <a:solidFill>
                            <a:srgbClr val="183044"/>
                          </a:solidFill>
                          <a:latin typeface="Arial"/>
                          <a:ea typeface="Arial"/>
                          <a:cs typeface="Arial"/>
                        </a:rPr>
                        <a:t>Invalid codes / ranges</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75" b="0">
                          <a:solidFill>
                            <a:srgbClr val="183044"/>
                          </a:solidFill>
                          <a:latin typeface="Arial"/>
                          <a:ea typeface="Arial"/>
                          <a:cs typeface="Arial"/>
                        </a:rPr>
                        <a:t>0</a:t>
                      </a:r>
                    </a:p>
                  </a:txBody>
                  <a:tcPr marL="91440" marR="91440" marT="45720" marB="45720">
                    <a:lnR w="9525">
                      <a:solidFill>
                        <a:srgbClr val="D6E0E5"/>
                      </a:solidFill>
                      <a:prstDash val="solid"/>
                    </a:lnR>
                    <a:lnB w="9525">
                      <a:solidFill>
                        <a:srgbClr val="D6E0E5"/>
                      </a:solidFill>
                      <a:prstDash val="solid"/>
                    </a:lnB>
                    <a:solidFill>
                      <a:srgbClr val="EAF2F5"/>
                    </a:solidFill>
                  </a:tcPr>
                </a:tc>
              </a:tr>
              <a:tr h="358140">
                <a:tc>
                  <a:txBody>
                    <a:bodyPr>
                      <a:noAutofit/>
                    </a:bodyPr>
                    <a:lstStyle/>
                    <a:p>
                      <a:pPr algn="l"/>
                      <a:r>
                        <a:rPr sz="1575" b="0">
                          <a:solidFill>
                            <a:srgbClr val="183044"/>
                          </a:solidFill>
                          <a:latin typeface="Arial"/>
                          <a:ea typeface="Arial"/>
                          <a:cs typeface="Arial"/>
                        </a:rPr>
                        <a:t>Health-day range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75" b="0">
                          <a:solidFill>
                            <a:srgbClr val="183044"/>
                          </a:solidFill>
                          <a:latin typeface="Arial"/>
                          <a:ea typeface="Arial"/>
                          <a:cs typeface="Arial"/>
                        </a:rPr>
                        <a:t>0–30 days</a:t>
                      </a:r>
                    </a:p>
                  </a:txBody>
                  <a:tcPr marL="91440" marR="91440" marT="45720" marB="45720">
                    <a:lnR w="9525">
                      <a:solidFill>
                        <a:srgbClr val="D6E0E5"/>
                      </a:solidFill>
                      <a:prstDash val="solid"/>
                    </a:lnR>
                    <a:lnB w="9525">
                      <a:solidFill>
                        <a:srgbClr val="D6E0E5"/>
                      </a:solidFill>
                      <a:prstDash val="solid"/>
                    </a:lnB>
                    <a:solidFill>
                      <a:srgbClr val="FFFFFF"/>
                    </a:solidFill>
                  </a:tcPr>
                </a:tc>
              </a:tr>
              <a:tr h="358140">
                <a:tc>
                  <a:txBody>
                    <a:bodyPr>
                      <a:noAutofit/>
                    </a:bodyPr>
                    <a:lstStyle/>
                    <a:p>
                      <a:pPr algn="l"/>
                      <a:r>
                        <a:rPr sz="1575" b="0">
                          <a:solidFill>
                            <a:srgbClr val="183044"/>
                          </a:solidFill>
                          <a:latin typeface="Arial"/>
                          <a:ea typeface="Arial"/>
                          <a:cs typeface="Arial"/>
                        </a:rPr>
                        <a:t>Sample selection</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75" b="0">
                          <a:solidFill>
                            <a:srgbClr val="183044"/>
                          </a:solidFill>
                          <a:latin typeface="Arial"/>
                          <a:ea typeface="Arial"/>
                          <a:cs typeface="Arial"/>
                        </a:rPr>
                        <a:t>Seed 101</a:t>
                      </a:r>
                    </a:p>
                  </a:txBody>
                  <a:tcPr marL="91440" marR="91440" marT="45720" marB="45720">
                    <a:lnR w="9525">
                      <a:solidFill>
                        <a:srgbClr val="D6E0E5"/>
                      </a:solidFill>
                      <a:prstDash val="solid"/>
                    </a:lnR>
                    <a:lnB w="9525">
                      <a:solidFill>
                        <a:srgbClr val="D6E0E5"/>
                      </a:solidFill>
                      <a:prstDash val="solid"/>
                    </a:lnB>
                    <a:solidFill>
                      <a:srgbClr val="EAF2F5"/>
                    </a:solidFill>
                  </a:tcPr>
                </a:tc>
              </a:tr>
            </a:tbl>
          </a:graphicData>
        </a:graphic>
      </p:graphicFrame>
      <p:sp>
        <p:nvSpPr>
          <p:cNvPr id="24" name="">
            <a:extLst xmlns:a="http://schemas.openxmlformats.org/drawingml/2006/main">
              <a:ext uri="{FF2B5EF4-FFF2-40B4-BE49-F238E27FC236}">
                <a16:creationId xmlns:a16="http://schemas.microsoft.com/office/drawing/2014/main" id="{994216A7-8118-49BE-969B-70EFBB056F3C}"/>
              </a:ext>
            </a:extLst>
          </p:cNvPr>
          <p:cNvSpPr>
            <a:spLocks xmlns:a="http://schemas.openxmlformats.org/drawingml/2006/main" noGrp="1"/>
          </p:cNvSpPr>
          <p:nvPr/>
        </p:nvSpPr>
        <p:spPr>
          <a:xfrm xmlns:a="http://schemas.openxmlformats.org/drawingml/2006/main">
            <a:off x="400050" y="5505450"/>
            <a:ext cx="11391900" cy="19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31FF8DEF-DF17-40B1-A7F7-801DDFFC0FA3}"/>
              </a:ext>
            </a:extLst>
          </p:cNvPr>
          <p:cNvSpPr>
            <a:spLocks xmlns:a="http://schemas.openxmlformats.org/drawingml/2006/main" noGrp="1"/>
          </p:cNvSpPr>
          <p:nvPr/>
        </p:nvSpPr>
        <p:spPr>
          <a:xfrm xmlns:a="http://schemas.openxmlformats.org/drawingml/2006/main">
            <a:off x="400050" y="5676900"/>
            <a:ext cx="1133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6D8C"/>
                </a:solidFill>
                <a:latin typeface="Arial"/>
                <a:ea typeface="Arial"/>
                <a:cs typeface="Arial"/>
              </a:defRPr>
            </a:defPPr>
          </a:lstStyle>
          <a:p xmlns:a="http://schemas.openxmlformats.org/drawingml/2006/main">
            <a:pPr>
              <a:defRPr sz="1875" b="1">
                <a:solidFill>
                  <a:srgbClr val="176D8C"/>
                </a:solidFill>
                <a:latin typeface="Arial"/>
                <a:ea typeface="Arial"/>
                <a:cs typeface="Arial"/>
              </a:defRPr>
            </a:pPr>
            <a:r>
              <a:rPr sz="1875" b="1">
                <a:solidFill>
                  <a:srgbClr val="176D8C"/>
                </a:solidFill>
                <a:latin typeface="Arial"/>
                <a:ea typeface="Arial"/>
                <a:cs typeface="Arial"/>
              </a:rPr>
              <a:t>Import CSV  →  label categories  →  export clean data for the exercises</a:t>
            </a:r>
          </a:p>
        </p:txBody>
      </p:sp>
      <p:sp>
        <p:nvSpPr>
          <p:cNvPr id="26" name="">
            <a:extLst xmlns:a="http://schemas.openxmlformats.org/drawingml/2006/main">
              <a:ext uri="{FF2B5EF4-FFF2-40B4-BE49-F238E27FC236}">
                <a16:creationId xmlns:a16="http://schemas.microsoft.com/office/drawing/2014/main" id="{F0DD5341-C80A-4E59-878F-711EE6C2480C}"/>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0DD295D2-9D2C-4845-833C-A8B0D9F9EE8E}"/>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Readable labels and correct data types make every later analysis easier.</a:t>
            </a:r>
          </a:p>
        </p:txBody>
      </p:sp>
      <p:sp>
        <p:nvSpPr>
          <p:cNvPr id="28" name="text">
            <a:extLst xmlns:a="http://schemas.openxmlformats.org/drawingml/2006/main">
              <a:ext uri="{FF2B5EF4-FFF2-40B4-BE49-F238E27FC236}">
                <a16:creationId xmlns:a16="http://schemas.microsoft.com/office/drawing/2014/main" id="{F2D4BAAE-2C97-44C9-B599-4B42D9562BA5}"/>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2 / 11</a:t>
            </a:r>
          </a:p>
        </p:txBody>
      </p:sp>
    </p:spTree>
    <p:extLst>
      <p:ext uri="{BB962C8B-B14F-4D97-AF65-F5344CB8AC3E}">
        <p14:creationId xmlns:p14="http://schemas.microsoft.com/office/powerpoint/2010/main" val="3726032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5ACD2350-903E-4F39-ABA5-68BEC352B1CF}"/>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1 EXTENSION: Data preparation and outlier analysis</a:t>
            </a:r>
          </a:p>
        </p:txBody>
      </p:sp>
      <p:sp>
        <p:nvSpPr>
          <p:cNvPr id="2" name="">
            <a:extLst xmlns:a="http://schemas.openxmlformats.org/drawingml/2006/main">
              <a:ext uri="{FF2B5EF4-FFF2-40B4-BE49-F238E27FC236}">
                <a16:creationId xmlns:a16="http://schemas.microsoft.com/office/drawing/2014/main" id="{8CEB2D68-5CEC-4F64-9C86-F4A17371C11A}"/>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823D89F2-70E8-4E14-9384-0401326D66E8}"/>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Outlier analysis and removal</a:t>
            </a:r>
          </a:p>
        </p:txBody>
      </p:sp>
      <p:sp>
        <p:nvSpPr>
          <p:cNvPr id="4" name="text">
            <a:extLst xmlns:a="http://schemas.openxmlformats.org/drawingml/2006/main">
              <a:ext uri="{FF2B5EF4-FFF2-40B4-BE49-F238E27FC236}">
                <a16:creationId xmlns:a16="http://schemas.microsoft.com/office/drawing/2014/main" id="{45C666C2-71CD-4139-8AD1-405027C5EFA0}"/>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Q1 = 24  •  Q3 = 31  •  IQR = 7  •  Q1 − 1.5×IQR to Q3 + 1.5×IQR → 13.5 to 41.5</a:t>
            </a:r>
          </a:p>
        </p:txBody>
      </p:sp>
      <p:sp>
        <p:nvSpPr>
          <p:cNvPr id="5" name="text">
            <a:extLst xmlns:a="http://schemas.openxmlformats.org/drawingml/2006/main">
              <a:ext uri="{FF2B5EF4-FFF2-40B4-BE49-F238E27FC236}">
                <a16:creationId xmlns:a16="http://schemas.microsoft.com/office/drawing/2014/main" id="{73A9B2B6-A8A8-43EC-B751-A9DFB3A7E900}"/>
              </a:ext>
            </a:extLst>
          </p:cNvPr>
          <p:cNvSpPr>
            <a:spLocks xmlns:a="http://schemas.openxmlformats.org/drawingml/2006/main" noGrp="1"/>
          </p:cNvSpPr>
          <p:nvPr/>
        </p:nvSpPr>
        <p:spPr>
          <a:xfrm xmlns:a="http://schemas.openxmlformats.org/drawingml/2006/main">
            <a:off x="400050" y="1476375"/>
            <a:ext cx="652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83044"/>
                </a:solidFill>
                <a:latin typeface="Arial"/>
                <a:ea typeface="Arial"/>
                <a:cs typeface="Arial"/>
              </a:defRPr>
            </a:defPPr>
          </a:lstStyle>
          <a:p xmlns:a="http://schemas.openxmlformats.org/drawingml/2006/main">
            <a:pPr>
              <a:defRPr sz="1800" b="1">
                <a:solidFill>
                  <a:srgbClr val="183044"/>
                </a:solidFill>
                <a:latin typeface="Arial"/>
                <a:ea typeface="Arial"/>
                <a:cs typeface="Arial"/>
              </a:defRPr>
            </a:pPr>
            <a:r>
              <a:rPr sz="1800" b="1">
                <a:solidFill>
                  <a:srgbClr val="183044"/>
                </a:solidFill>
                <a:latin typeface="Arial"/>
                <a:ea typeface="Arial"/>
                <a:cs typeface="Arial"/>
              </a:rPr>
              <a:t>Detect unusual BMI values</a:t>
            </a:r>
          </a:p>
        </p:txBody>
      </p:sp>
      <p:sp>
        <p:nvSpPr>
          <p:cNvPr id="6" name="text">
            <a:extLst xmlns:a="http://schemas.openxmlformats.org/drawingml/2006/main">
              <a:ext uri="{FF2B5EF4-FFF2-40B4-BE49-F238E27FC236}">
                <a16:creationId xmlns:a16="http://schemas.microsoft.com/office/drawing/2014/main" id="{F07E301C-FF6C-4C64-8AD4-10278A54DCBF}"/>
              </a:ext>
            </a:extLst>
          </p:cNvPr>
          <p:cNvSpPr>
            <a:spLocks xmlns:a="http://schemas.openxmlformats.org/drawingml/2006/main" noGrp="1"/>
          </p:cNvSpPr>
          <p:nvPr/>
        </p:nvSpPr>
        <p:spPr>
          <a:xfrm xmlns:a="http://schemas.openxmlformats.org/drawingml/2006/main">
            <a:off x="7086600" y="1476375"/>
            <a:ext cx="471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83044"/>
                </a:solidFill>
                <a:latin typeface="Arial"/>
                <a:ea typeface="Arial"/>
                <a:cs typeface="Arial"/>
              </a:defRPr>
            </a:defPPr>
          </a:lstStyle>
          <a:p xmlns:a="http://schemas.openxmlformats.org/drawingml/2006/main">
            <a:pPr>
              <a:defRPr sz="1800" b="1">
                <a:solidFill>
                  <a:srgbClr val="183044"/>
                </a:solidFill>
                <a:latin typeface="Arial"/>
                <a:ea typeface="Arial"/>
                <a:cs typeface="Arial"/>
              </a:defRPr>
            </a:pPr>
            <a:r>
              <a:rPr sz="1800" b="1">
                <a:solidFill>
                  <a:srgbClr val="183044"/>
                </a:solidFill>
                <a:latin typeface="Arial"/>
                <a:ea typeface="Arial"/>
                <a:cs typeface="Arial"/>
              </a:rPr>
              <a:t>Compare before and after</a:t>
            </a:r>
          </a:p>
        </p:txBody>
      </p:sp>
      <p:pic>
        <p:nvPicPr>
          <p:cNvPr id="7" name="">
            <a:extLst xmlns:a="http://schemas.openxmlformats.org/drawingml/2006/main">
              <a:ext uri="{FF2B5EF4-FFF2-40B4-BE49-F238E27FC236}">
                <a16:creationId xmlns:a16="http://schemas.microsoft.com/office/drawing/2014/main" id="{AB5333B5-A6EB-4F78-A78E-21521B85C081}"/>
              </a:ext>
            </a:extLst>
          </p:cNvPr>
          <p:cNvPicPr>
            <a:picLocks xmlns:a="http://schemas.openxmlformats.org/drawingml/2006/main" noChangeAspect="1"/>
          </p:cNvPicPr>
          <p:nvPr/>
        </p:nvPicPr>
        <p:blipFill>
          <a:blip xmlns:r="http://schemas.openxmlformats.org/officeDocument/2006/relationships" xmlns:a="http://schemas.openxmlformats.org/drawingml/2006/main" r:embed="R282e3770db784ef3"/>
          <a:stretch xmlns:a="http://schemas.openxmlformats.org/drawingml/2006/main"/>
        </p:blipFill>
        <p:spPr>
          <a:xfrm xmlns:a="http://schemas.openxmlformats.org/drawingml/2006/main">
            <a:off x="266700" y="1781175"/>
            <a:ext cx="6534150" cy="39814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C9B9B1A-70DB-4936-8083-6F537638D862}"/>
              </a:ext>
            </a:extLst>
          </p:cNvPr>
          <p:cNvPicPr>
            <a:picLocks xmlns:a="http://schemas.openxmlformats.org/drawingml/2006/main" noChangeAspect="1"/>
          </p:cNvPicPr>
          <p:nvPr/>
        </p:nvPicPr>
        <p:blipFill>
          <a:blip xmlns:r="http://schemas.openxmlformats.org/officeDocument/2006/relationships" xmlns:a="http://schemas.openxmlformats.org/drawingml/2006/main" r:embed="Reab71137aaf14a11"/>
          <a:stretch xmlns:a="http://schemas.openxmlformats.org/drawingml/2006/main"/>
        </p:blipFill>
        <p:spPr>
          <a:xfrm xmlns:a="http://schemas.openxmlformats.org/drawingml/2006/main">
            <a:off x="7000875" y="1771650"/>
            <a:ext cx="4762500" cy="2476500"/>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0F612DD8-7029-425B-9F08-3ACC27A55ACD}"/>
              </a:ext>
            </a:extLst>
          </p:cNvPr>
          <p:cNvGraphicFramePr/>
          <p:nvPr/>
        </p:nvGraphicFramePr>
        <p:xfrm>
          <a:off xmlns:a="http://schemas.openxmlformats.org/drawingml/2006/main" x="7086600" y="4324350"/>
          <a:ext xmlns:a="http://schemas.openxmlformats.org/drawingml/2006/main" cx="4724400" cy="1657350"/>
        </p:xfrm>
        <a:graphic xmlns:a="http://schemas.openxmlformats.org/drawingml/2006/main">
          <a:graphicData uri="http://schemas.openxmlformats.org/drawingml/2006/table">
            <a:tbl>
              <a:tblPr/>
              <a:tblGrid>
                <a:gridCol w="1809750"/>
                <a:gridCol w="1457325"/>
                <a:gridCol w="1457325"/>
              </a:tblGrid>
              <a:tr h="331470">
                <a:tc>
                  <a:txBody>
                    <a:bodyPr>
                      <a:noAutofit/>
                    </a:bodyPr>
                    <a:lstStyle/>
                    <a:p>
                      <a:pPr algn="l"/>
                      <a:r>
                        <a:rPr sz="1425" b="1">
                          <a:solidFill>
                            <a:srgbClr val="FFFFFF"/>
                          </a:solidFill>
                          <a:latin typeface="Arial"/>
                          <a:ea typeface="Arial"/>
                          <a:cs typeface="Arial"/>
                        </a:rPr>
                        <a:t>Measure</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425" b="1">
                          <a:solidFill>
                            <a:srgbClr val="FFFFFF"/>
                          </a:solidFill>
                          <a:latin typeface="Arial"/>
                          <a:ea typeface="Arial"/>
                          <a:cs typeface="Arial"/>
                        </a:rPr>
                        <a:t>Before</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425" b="1">
                          <a:solidFill>
                            <a:srgbClr val="FFFFFF"/>
                          </a:solidFill>
                          <a:latin typeface="Arial"/>
                          <a:ea typeface="Arial"/>
                          <a:cs typeface="Arial"/>
                        </a:rPr>
                        <a:t>After</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331470">
                <a:tc>
                  <a:txBody>
                    <a:bodyPr>
                      <a:noAutofit/>
                    </a:bodyPr>
                    <a:lstStyle/>
                    <a:p>
                      <a:pPr algn="l"/>
                      <a:r>
                        <a:rPr sz="1425" b="0">
                          <a:solidFill>
                            <a:srgbClr val="183044"/>
                          </a:solidFill>
                          <a:latin typeface="Arial"/>
                          <a:ea typeface="Arial"/>
                          <a:cs typeface="Arial"/>
                        </a:rPr>
                        <a:t>People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3,000</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2,886</a:t>
                      </a:r>
                    </a:p>
                  </a:txBody>
                  <a:tcPr marL="91440" marR="91440" marT="45720" marB="45720">
                    <a:lnR w="9525">
                      <a:solidFill>
                        <a:srgbClr val="D6E0E5"/>
                      </a:solidFill>
                      <a:prstDash val="solid"/>
                    </a:lnR>
                    <a:lnB w="9525">
                      <a:solidFill>
                        <a:srgbClr val="D6E0E5"/>
                      </a:solidFill>
                      <a:prstDash val="solid"/>
                    </a:lnB>
                    <a:solidFill>
                      <a:srgbClr val="FFFFFF"/>
                    </a:solidFill>
                  </a:tcPr>
                </a:tc>
              </a:tr>
              <a:tr h="331470">
                <a:tc>
                  <a:txBody>
                    <a:bodyPr>
                      <a:noAutofit/>
                    </a:bodyPr>
                    <a:lstStyle/>
                    <a:p>
                      <a:pPr algn="l"/>
                      <a:r>
                        <a:rPr sz="1425" b="0">
                          <a:solidFill>
                            <a:srgbClr val="183044"/>
                          </a:solidFill>
                          <a:latin typeface="Arial"/>
                          <a:ea typeface="Arial"/>
                          <a:cs typeface="Arial"/>
                        </a:rPr>
                        <a:t>Mean BMI</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425" b="0">
                          <a:solidFill>
                            <a:srgbClr val="183044"/>
                          </a:solidFill>
                          <a:latin typeface="Arial"/>
                          <a:ea typeface="Arial"/>
                          <a:cs typeface="Arial"/>
                        </a:rPr>
                        <a:t>28.40</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425" b="0">
                          <a:solidFill>
                            <a:srgbClr val="183044"/>
                          </a:solidFill>
                          <a:latin typeface="Arial"/>
                          <a:ea typeface="Arial"/>
                          <a:cs typeface="Arial"/>
                        </a:rPr>
                        <a:t>27.65</a:t>
                      </a:r>
                    </a:p>
                  </a:txBody>
                  <a:tcPr marL="91440" marR="91440" marT="45720" marB="45720">
                    <a:lnR w="9525">
                      <a:solidFill>
                        <a:srgbClr val="D6E0E5"/>
                      </a:solidFill>
                      <a:prstDash val="solid"/>
                    </a:lnR>
                    <a:lnB w="9525">
                      <a:solidFill>
                        <a:srgbClr val="D6E0E5"/>
                      </a:solidFill>
                      <a:prstDash val="solid"/>
                    </a:lnB>
                    <a:solidFill>
                      <a:srgbClr val="EAF2F5"/>
                    </a:solidFill>
                  </a:tcPr>
                </a:tc>
              </a:tr>
              <a:tr h="331470">
                <a:tc>
                  <a:txBody>
                    <a:bodyPr>
                      <a:noAutofit/>
                    </a:bodyPr>
                    <a:lstStyle/>
                    <a:p>
                      <a:pPr algn="l"/>
                      <a:r>
                        <a:rPr sz="1425" b="0">
                          <a:solidFill>
                            <a:srgbClr val="183044"/>
                          </a:solidFill>
                          <a:latin typeface="Arial"/>
                          <a:ea typeface="Arial"/>
                          <a:cs typeface="Arial"/>
                        </a:rPr>
                        <a:t>BMI variance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40.34</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24.59</a:t>
                      </a:r>
                    </a:p>
                  </a:txBody>
                  <a:tcPr marL="91440" marR="91440" marT="45720" marB="45720">
                    <a:lnR w="9525">
                      <a:solidFill>
                        <a:srgbClr val="D6E0E5"/>
                      </a:solidFill>
                      <a:prstDash val="solid"/>
                    </a:lnR>
                    <a:lnB w="9525">
                      <a:solidFill>
                        <a:srgbClr val="D6E0E5"/>
                      </a:solidFill>
                      <a:prstDash val="solid"/>
                    </a:lnB>
                    <a:solidFill>
                      <a:srgbClr val="FFFFFF"/>
                    </a:solidFill>
                  </a:tcPr>
                </a:tc>
              </a:tr>
              <a:tr h="331470">
                <a:tc>
                  <a:txBody>
                    <a:bodyPr>
                      <a:noAutofit/>
                    </a:bodyPr>
                    <a:lstStyle/>
                    <a:p>
                      <a:pPr algn="l"/>
                      <a:r>
                        <a:rPr sz="1425" b="0">
                          <a:solidFill>
                            <a:srgbClr val="183044"/>
                          </a:solidFill>
                          <a:latin typeface="Arial"/>
                          <a:ea typeface="Arial"/>
                          <a:cs typeface="Arial"/>
                        </a:rPr>
                        <a:t>Positive status</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425" b="0">
                          <a:solidFill>
                            <a:srgbClr val="183044"/>
                          </a:solidFill>
                          <a:latin typeface="Arial"/>
                          <a:ea typeface="Arial"/>
                          <a:cs typeface="Arial"/>
                        </a:rPr>
                        <a:t>15.63%</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425" b="0">
                          <a:solidFill>
                            <a:srgbClr val="183044"/>
                          </a:solidFill>
                          <a:latin typeface="Arial"/>
                          <a:ea typeface="Arial"/>
                          <a:cs typeface="Arial"/>
                        </a:rPr>
                        <a:t>14.62%</a:t>
                      </a:r>
                    </a:p>
                  </a:txBody>
                  <a:tcPr marL="91440" marR="91440" marT="45720" marB="45720">
                    <a:lnR w="9525">
                      <a:solidFill>
                        <a:srgbClr val="D6E0E5"/>
                      </a:solidFill>
                      <a:prstDash val="solid"/>
                    </a:lnR>
                    <a:lnB w="9525">
                      <a:solidFill>
                        <a:srgbClr val="D6E0E5"/>
                      </a:solidFill>
                      <a:prstDash val="solid"/>
                    </a:lnB>
                    <a:solidFill>
                      <a:srgbClr val="EAF2F5"/>
                    </a:solidFill>
                  </a:tcPr>
                </a:tc>
              </a:tr>
            </a:tbl>
          </a:graphicData>
        </a:graphic>
      </p:graphicFrame>
      <p:sp>
        <p:nvSpPr>
          <p:cNvPr id="10" name="">
            <a:extLst xmlns:a="http://schemas.openxmlformats.org/drawingml/2006/main">
              <a:ext uri="{FF2B5EF4-FFF2-40B4-BE49-F238E27FC236}">
                <a16:creationId xmlns:a16="http://schemas.microsoft.com/office/drawing/2014/main" id="{C6375025-AAF9-4971-B814-3A76A2557DE1}"/>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E9A6DFC-65E4-4688-94C2-7FCE831966DE}"/>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114 high BMI values (3.8%) were flagged. Removing them lowers the average and spread.</a:t>
            </a:r>
          </a:p>
        </p:txBody>
      </p:sp>
      <p:sp>
        <p:nvSpPr>
          <p:cNvPr id="12" name="text">
            <a:extLst xmlns:a="http://schemas.openxmlformats.org/drawingml/2006/main">
              <a:ext uri="{FF2B5EF4-FFF2-40B4-BE49-F238E27FC236}">
                <a16:creationId xmlns:a16="http://schemas.microsoft.com/office/drawing/2014/main" id="{6FC3C934-A13F-4019-9A68-BE993B679425}"/>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3 / 11</a:t>
            </a:r>
          </a:p>
        </p:txBody>
      </p:sp>
    </p:spTree>
    <p:extLst>
      <p:ext uri="{BB962C8B-B14F-4D97-AF65-F5344CB8AC3E}">
        <p14:creationId xmlns:p14="http://schemas.microsoft.com/office/powerpoint/2010/main" val="3280440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30E4F046-4398-492B-B7E3-EE967DACB7B2}"/>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2: Summary statistics and graphical representations</a:t>
            </a:r>
          </a:p>
        </p:txBody>
      </p:sp>
      <p:sp>
        <p:nvSpPr>
          <p:cNvPr id="2" name="">
            <a:extLst xmlns:a="http://schemas.openxmlformats.org/drawingml/2006/main">
              <a:ext uri="{FF2B5EF4-FFF2-40B4-BE49-F238E27FC236}">
                <a16:creationId xmlns:a16="http://schemas.microsoft.com/office/drawing/2014/main" id="{87943DB3-1A5B-4597-A5CB-3D368B09D117}"/>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A1713776-D44B-47DA-B72A-6D804B66CAFA}"/>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Summary statistics and graphs</a:t>
            </a:r>
          </a:p>
        </p:txBody>
      </p:sp>
      <p:sp>
        <p:nvSpPr>
          <p:cNvPr id="4" name="text">
            <a:extLst xmlns:a="http://schemas.openxmlformats.org/drawingml/2006/main">
              <a:ext uri="{FF2B5EF4-FFF2-40B4-BE49-F238E27FC236}">
                <a16:creationId xmlns:a16="http://schemas.microsoft.com/office/drawing/2014/main" id="{212E2BC1-EAF9-4388-A7EC-53D1D49CF470}"/>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Mean = average  •  SD = standard deviation  •  Variance = squared spread</a:t>
            </a:r>
          </a:p>
        </p:txBody>
      </p:sp>
      <p:graphicFrame>
        <p:nvGraphicFramePr>
          <p:cNvPr id="5" name="">
            <a:extLst xmlns:a="http://schemas.openxmlformats.org/drawingml/2006/main">
              <a:ext uri="{FF2B5EF4-FFF2-40B4-BE49-F238E27FC236}">
                <a16:creationId xmlns:a16="http://schemas.microsoft.com/office/drawing/2014/main" id="{E675489E-F66E-4EDD-8C91-CFDF334E4DF7}"/>
              </a:ext>
            </a:extLst>
          </p:cNvPr>
          <p:cNvGraphicFramePr/>
          <p:nvPr/>
        </p:nvGraphicFramePr>
        <p:xfrm>
          <a:off xmlns:a="http://schemas.openxmlformats.org/drawingml/2006/main" x="400050" y="1524000"/>
          <a:ext xmlns:a="http://schemas.openxmlformats.org/drawingml/2006/main" cx="11391900" cy="1609725"/>
        </p:xfrm>
        <a:graphic xmlns:a="http://schemas.openxmlformats.org/drawingml/2006/main">
          <a:graphicData uri="http://schemas.openxmlformats.org/drawingml/2006/table">
            <a:tbl>
              <a:tblPr/>
              <a:tblGrid>
                <a:gridCol w="3486150"/>
                <a:gridCol w="1981200"/>
                <a:gridCol w="1971675"/>
                <a:gridCol w="1971675"/>
                <a:gridCol w="1981200"/>
              </a:tblGrid>
              <a:tr h="402431">
                <a:tc>
                  <a:txBody>
                    <a:bodyPr>
                      <a:noAutofit/>
                    </a:bodyPr>
                    <a:lstStyle/>
                    <a:p>
                      <a:pPr algn="l"/>
                      <a:r>
                        <a:rPr sz="1650" b="1">
                          <a:solidFill>
                            <a:srgbClr val="FFFFFF"/>
                          </a:solidFill>
                          <a:latin typeface="Arial"/>
                          <a:ea typeface="Arial"/>
                          <a:cs typeface="Arial"/>
                        </a:rPr>
                        <a:t>Variable</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650" b="1">
                          <a:solidFill>
                            <a:srgbClr val="FFFFFF"/>
                          </a:solidFill>
                          <a:latin typeface="Arial"/>
                          <a:ea typeface="Arial"/>
                          <a:cs typeface="Arial"/>
                        </a:rPr>
                        <a:t>Mean</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650" b="1">
                          <a:solidFill>
                            <a:srgbClr val="FFFFFF"/>
                          </a:solidFill>
                          <a:latin typeface="Arial"/>
                          <a:ea typeface="Arial"/>
                          <a:cs typeface="Arial"/>
                        </a:rPr>
                        <a:t>Median</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650" b="1">
                          <a:solidFill>
                            <a:srgbClr val="FFFFFF"/>
                          </a:solidFill>
                          <a:latin typeface="Arial"/>
                          <a:ea typeface="Arial"/>
                          <a:cs typeface="Arial"/>
                        </a:rPr>
                        <a:t>SD</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650" b="1">
                          <a:solidFill>
                            <a:srgbClr val="FFFFFF"/>
                          </a:solidFill>
                          <a:latin typeface="Arial"/>
                          <a:ea typeface="Arial"/>
                          <a:cs typeface="Arial"/>
                        </a:rPr>
                        <a:t>Variance</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402431">
                <a:tc>
                  <a:txBody>
                    <a:bodyPr>
                      <a:noAutofit/>
                    </a:bodyPr>
                    <a:lstStyle/>
                    <a:p>
                      <a:pPr algn="l"/>
                      <a:r>
                        <a:rPr sz="1650" b="0">
                          <a:solidFill>
                            <a:srgbClr val="183044"/>
                          </a:solidFill>
                          <a:latin typeface="Arial"/>
                          <a:ea typeface="Arial"/>
                          <a:cs typeface="Arial"/>
                        </a:rPr>
                        <a:t>BMI</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28.40</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27</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6.35</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40.34</a:t>
                      </a:r>
                    </a:p>
                  </a:txBody>
                  <a:tcPr marL="91440" marR="91440" marT="45720" marB="45720">
                    <a:lnR w="9525">
                      <a:solidFill>
                        <a:srgbClr val="D6E0E5"/>
                      </a:solidFill>
                      <a:prstDash val="solid"/>
                    </a:lnR>
                    <a:lnB w="9525">
                      <a:solidFill>
                        <a:srgbClr val="D6E0E5"/>
                      </a:solidFill>
                      <a:prstDash val="solid"/>
                    </a:lnB>
                    <a:solidFill>
                      <a:srgbClr val="FFFFFF"/>
                    </a:solidFill>
                  </a:tcPr>
                </a:tc>
              </a:tr>
              <a:tr h="402431">
                <a:tc>
                  <a:txBody>
                    <a:bodyPr>
                      <a:noAutofit/>
                    </a:bodyPr>
                    <a:lstStyle/>
                    <a:p>
                      <a:pPr algn="l"/>
                      <a:r>
                        <a:rPr sz="1650" b="0">
                          <a:solidFill>
                            <a:srgbClr val="183044"/>
                          </a:solidFill>
                          <a:latin typeface="Arial"/>
                          <a:ea typeface="Arial"/>
                          <a:cs typeface="Arial"/>
                        </a:rPr>
                        <a:t>Mental-health days</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3.26</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0</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7.39</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54.67</a:t>
                      </a:r>
                    </a:p>
                  </a:txBody>
                  <a:tcPr marL="91440" marR="91440" marT="45720" marB="45720">
                    <a:lnR w="9525">
                      <a:solidFill>
                        <a:srgbClr val="D6E0E5"/>
                      </a:solidFill>
                      <a:prstDash val="solid"/>
                    </a:lnR>
                    <a:lnB w="9525">
                      <a:solidFill>
                        <a:srgbClr val="D6E0E5"/>
                      </a:solidFill>
                      <a:prstDash val="solid"/>
                    </a:lnB>
                    <a:solidFill>
                      <a:srgbClr val="EAF2F5"/>
                    </a:solidFill>
                  </a:tcPr>
                </a:tc>
              </a:tr>
              <a:tr h="402431">
                <a:tc>
                  <a:txBody>
                    <a:bodyPr>
                      <a:noAutofit/>
                    </a:bodyPr>
                    <a:lstStyle/>
                    <a:p>
                      <a:pPr algn="l"/>
                      <a:r>
                        <a:rPr sz="1650" b="0">
                          <a:solidFill>
                            <a:srgbClr val="183044"/>
                          </a:solidFill>
                          <a:latin typeface="Arial"/>
                          <a:ea typeface="Arial"/>
                          <a:cs typeface="Arial"/>
                        </a:rPr>
                        <a:t>Physical-health days</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4.15</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0</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8.62</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74.24</a:t>
                      </a:r>
                    </a:p>
                  </a:txBody>
                  <a:tcPr marL="91440" marR="91440" marT="45720" marB="45720">
                    <a:lnR w="9525">
                      <a:solidFill>
                        <a:srgbClr val="D6E0E5"/>
                      </a:solidFill>
                      <a:prstDash val="solid"/>
                    </a:lnR>
                    <a:lnB w="9525">
                      <a:solidFill>
                        <a:srgbClr val="D6E0E5"/>
                      </a:solidFill>
                      <a:prstDash val="solid"/>
                    </a:lnB>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D96C1B41-3973-4C6E-BEC6-A5D24D48D65C}"/>
              </a:ext>
            </a:extLst>
          </p:cNvPr>
          <p:cNvSpPr>
            <a:spLocks xmlns:a="http://schemas.openxmlformats.org/drawingml/2006/main" noGrp="1"/>
          </p:cNvSpPr>
          <p:nvPr/>
        </p:nvSpPr>
        <p:spPr>
          <a:xfrm xmlns:a="http://schemas.openxmlformats.org/drawingml/2006/main">
            <a:off x="400050" y="3400425"/>
            <a:ext cx="366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83044"/>
                </a:solidFill>
                <a:latin typeface="Arial"/>
                <a:ea typeface="Arial"/>
                <a:cs typeface="Arial"/>
              </a:defRPr>
            </a:defPPr>
          </a:lstStyle>
          <a:p xmlns:a="http://schemas.openxmlformats.org/drawingml/2006/main">
            <a:pPr>
              <a:defRPr sz="1725" b="1">
                <a:solidFill>
                  <a:srgbClr val="183044"/>
                </a:solidFill>
                <a:latin typeface="Arial"/>
                <a:ea typeface="Arial"/>
                <a:cs typeface="Arial"/>
              </a:defRPr>
            </a:pPr>
            <a:r>
              <a:rPr sz="1725" b="1">
                <a:solidFill>
                  <a:srgbClr val="183044"/>
                </a:solidFill>
                <a:latin typeface="Arial"/>
                <a:ea typeface="Arial"/>
                <a:cs typeface="Arial"/>
              </a:rPr>
              <a:t>Education: group sizes</a:t>
            </a:r>
          </a:p>
        </p:txBody>
      </p:sp>
      <p:sp>
        <p:nvSpPr>
          <p:cNvPr id="7" name="text">
            <a:extLst xmlns:a="http://schemas.openxmlformats.org/drawingml/2006/main">
              <a:ext uri="{FF2B5EF4-FFF2-40B4-BE49-F238E27FC236}">
                <a16:creationId xmlns:a16="http://schemas.microsoft.com/office/drawing/2014/main" id="{53DBAE03-A716-42C1-A084-D14417B90492}"/>
              </a:ext>
            </a:extLst>
          </p:cNvPr>
          <p:cNvSpPr>
            <a:spLocks xmlns:a="http://schemas.openxmlformats.org/drawingml/2006/main" noGrp="1"/>
          </p:cNvSpPr>
          <p:nvPr/>
        </p:nvSpPr>
        <p:spPr>
          <a:xfrm xmlns:a="http://schemas.openxmlformats.org/drawingml/2006/main">
            <a:off x="4371975" y="34004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83044"/>
                </a:solidFill>
                <a:latin typeface="Arial"/>
                <a:ea typeface="Arial"/>
                <a:cs typeface="Arial"/>
              </a:defRPr>
            </a:defPPr>
          </a:lstStyle>
          <a:p xmlns:a="http://schemas.openxmlformats.org/drawingml/2006/main">
            <a:pPr>
              <a:defRPr sz="1725" b="1">
                <a:solidFill>
                  <a:srgbClr val="183044"/>
                </a:solidFill>
                <a:latin typeface="Arial"/>
                <a:ea typeface="Arial"/>
                <a:cs typeface="Arial"/>
              </a:defRPr>
            </a:pPr>
            <a:r>
              <a:rPr sz="1725" b="1">
                <a:solidFill>
                  <a:srgbClr val="183044"/>
                </a:solidFill>
                <a:latin typeface="Arial"/>
                <a:ea typeface="Arial"/>
                <a:cs typeface="Arial"/>
              </a:rPr>
              <a:t>Sex: sample share</a:t>
            </a:r>
          </a:p>
        </p:txBody>
      </p:sp>
      <p:sp>
        <p:nvSpPr>
          <p:cNvPr id="8" name="text">
            <a:extLst xmlns:a="http://schemas.openxmlformats.org/drawingml/2006/main">
              <a:ext uri="{FF2B5EF4-FFF2-40B4-BE49-F238E27FC236}">
                <a16:creationId xmlns:a16="http://schemas.microsoft.com/office/drawing/2014/main" id="{16E100D5-C98D-4F0E-8619-F68A840DC92C}"/>
              </a:ext>
            </a:extLst>
          </p:cNvPr>
          <p:cNvSpPr>
            <a:spLocks xmlns:a="http://schemas.openxmlformats.org/drawingml/2006/main" noGrp="1"/>
          </p:cNvSpPr>
          <p:nvPr/>
        </p:nvSpPr>
        <p:spPr>
          <a:xfrm xmlns:a="http://schemas.openxmlformats.org/drawingml/2006/main">
            <a:off x="8296275" y="3400425"/>
            <a:ext cx="3514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83044"/>
                </a:solidFill>
                <a:latin typeface="Arial"/>
                <a:ea typeface="Arial"/>
                <a:cs typeface="Arial"/>
              </a:defRPr>
            </a:defPPr>
          </a:lstStyle>
          <a:p xmlns:a="http://schemas.openxmlformats.org/drawingml/2006/main">
            <a:pPr>
              <a:defRPr sz="1725" b="1">
                <a:solidFill>
                  <a:srgbClr val="183044"/>
                </a:solidFill>
                <a:latin typeface="Arial"/>
                <a:ea typeface="Arial"/>
                <a:cs typeface="Arial"/>
              </a:defRPr>
            </a:pPr>
            <a:r>
              <a:rPr sz="1725" b="1">
                <a:solidFill>
                  <a:srgbClr val="183044"/>
                </a:solidFill>
                <a:latin typeface="Arial"/>
                <a:ea typeface="Arial"/>
                <a:cs typeface="Arial"/>
              </a:rPr>
              <a:t>BMI: distribution shape</a:t>
            </a:r>
          </a:p>
        </p:txBody>
      </p:sp>
      <p:graphicFrame>
        <p:nvGraphicFramePr>
          <p:cNvPr id="9" name="Chart">
            <a:extLst xmlns:a="http://schemas.openxmlformats.org/drawingml/2006/main">
              <a:ext uri="{FF2B5EF4-FFF2-40B4-BE49-F238E27FC236}">
                <a16:creationId xmlns:a16="http://schemas.microsoft.com/office/drawing/2014/main" id="{D3A78061-389C-407B-8AA2-59392D93369C}"/>
              </a:ext>
            </a:extLst>
          </p:cNvPr>
          <p:cNvGraphicFramePr/>
          <p:nvPr/>
        </p:nvGraphicFramePr>
        <p:xfrm>
          <a:off xmlns:a="http://schemas.openxmlformats.org/drawingml/2006/main" x="247650" y="3790950"/>
          <a:ext xmlns:a="http://schemas.openxmlformats.org/drawingml/2006/main" cx="3848100" cy="2133600"/>
        </p:xfrm>
        <a:graphic xmlns:a="http://schemas.openxmlformats.org/drawingml/2006/main">
          <a:graphicData uri="http://schemas.openxmlformats.org/drawingml/2006/chart">
            <c:chart xmlns:r="http://schemas.openxmlformats.org/officeDocument/2006/relationships" xmlns:c="http://schemas.openxmlformats.org/drawingml/2006/chart" r:id="Rdb444a748e434ad0"/>
          </a:graphicData>
        </a:graphic>
      </p:graphicFrame>
      <p:graphicFrame>
        <p:nvGraphicFramePr>
          <p:cNvPr id="10" name="Chart">
            <a:extLst xmlns:a="http://schemas.openxmlformats.org/drawingml/2006/main">
              <a:ext uri="{FF2B5EF4-FFF2-40B4-BE49-F238E27FC236}">
                <a16:creationId xmlns:a16="http://schemas.microsoft.com/office/drawing/2014/main" id="{3F359E02-19CE-4E81-A0C0-A19E44281136}"/>
              </a:ext>
            </a:extLst>
          </p:cNvPr>
          <p:cNvGraphicFramePr/>
          <p:nvPr/>
        </p:nvGraphicFramePr>
        <p:xfrm>
          <a:off xmlns:a="http://schemas.openxmlformats.org/drawingml/2006/main" x="4467225" y="3790950"/>
          <a:ext xmlns:a="http://schemas.openxmlformats.org/drawingml/2006/main" cx="3286125" cy="2133600"/>
        </p:xfrm>
        <a:graphic xmlns:a="http://schemas.openxmlformats.org/drawingml/2006/main">
          <a:graphicData uri="http://schemas.openxmlformats.org/drawingml/2006/chart">
            <c:chart xmlns:r="http://schemas.openxmlformats.org/officeDocument/2006/relationships" xmlns:c="http://schemas.openxmlformats.org/drawingml/2006/chart" r:id="R3b5c9f6f71db4ff0"/>
          </a:graphicData>
        </a:graphic>
      </p:graphicFrame>
      <p:pic>
        <p:nvPicPr>
          <p:cNvPr id="11" name="">
            <a:extLst xmlns:a="http://schemas.openxmlformats.org/drawingml/2006/main">
              <a:ext uri="{FF2B5EF4-FFF2-40B4-BE49-F238E27FC236}">
                <a16:creationId xmlns:a16="http://schemas.microsoft.com/office/drawing/2014/main" id="{7801052B-6849-4BCF-BFF0-B9B6AE313D01}"/>
              </a:ext>
            </a:extLst>
          </p:cNvPr>
          <p:cNvPicPr>
            <a:picLocks xmlns:a="http://schemas.openxmlformats.org/drawingml/2006/main" noChangeAspect="1"/>
          </p:cNvPicPr>
          <p:nvPr/>
        </p:nvPicPr>
        <p:blipFill>
          <a:blip xmlns:r="http://schemas.openxmlformats.org/officeDocument/2006/relationships" xmlns:a="http://schemas.openxmlformats.org/drawingml/2006/main" r:embed="R4a8af7934bda47dc"/>
          <a:stretch xmlns:a="http://schemas.openxmlformats.org/drawingml/2006/main"/>
        </p:blipFill>
        <p:spPr>
          <a:xfrm xmlns:a="http://schemas.openxmlformats.org/drawingml/2006/main">
            <a:off x="8248650" y="3762375"/>
            <a:ext cx="3524250" cy="2190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8CCFEB7-62FD-40C1-93E0-3854F5D4DF35}"/>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73DD942-296B-4642-B17B-3623C8423CFC}"/>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BMI has a long right tail. Most people report few poor-health days.</a:t>
            </a:r>
          </a:p>
        </p:txBody>
      </p:sp>
      <p:sp>
        <p:nvSpPr>
          <p:cNvPr id="14" name="text">
            <a:extLst xmlns:a="http://schemas.openxmlformats.org/drawingml/2006/main">
              <a:ext uri="{FF2B5EF4-FFF2-40B4-BE49-F238E27FC236}">
                <a16:creationId xmlns:a16="http://schemas.microsoft.com/office/drawing/2014/main" id="{1668FEE1-C6D3-499C-A6A5-FB277D3257AB}"/>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4 / 11</a:t>
            </a:r>
          </a:p>
        </p:txBody>
      </p:sp>
    </p:spTree>
    <p:extLst>
      <p:ext uri="{BB962C8B-B14F-4D97-AF65-F5344CB8AC3E}">
        <p14:creationId xmlns:p14="http://schemas.microsoft.com/office/powerpoint/2010/main" val="5206147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9B7C9553-05A6-4BBF-9B11-7739617F5ED9}"/>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3: Correlation, simple linear regression and R²</a:t>
            </a:r>
          </a:p>
        </p:txBody>
      </p:sp>
      <p:sp>
        <p:nvSpPr>
          <p:cNvPr id="2" name="">
            <a:extLst xmlns:a="http://schemas.openxmlformats.org/drawingml/2006/main">
              <a:ext uri="{FF2B5EF4-FFF2-40B4-BE49-F238E27FC236}">
                <a16:creationId xmlns:a16="http://schemas.microsoft.com/office/drawing/2014/main" id="{5F149007-2542-4A39-897D-DDA98015B6BC}"/>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C59C4FE0-CB8B-4ABB-80B5-5ADEE694D638}"/>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Correlation and simple regression</a:t>
            </a:r>
          </a:p>
        </p:txBody>
      </p:sp>
      <p:sp>
        <p:nvSpPr>
          <p:cNvPr id="4" name="text">
            <a:extLst xmlns:a="http://schemas.openxmlformats.org/drawingml/2006/main">
              <a:ext uri="{FF2B5EF4-FFF2-40B4-BE49-F238E27FC236}">
                <a16:creationId xmlns:a16="http://schemas.microsoft.com/office/drawing/2014/main" id="{FE2B5297-539B-490C-A834-BA5DA33A552E}"/>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Predicted BMI = 28.09 + 0.0749 × poor physical-health days</a:t>
            </a:r>
          </a:p>
        </p:txBody>
      </p:sp>
      <p:sp>
        <p:nvSpPr>
          <p:cNvPr id="5" name="text">
            <a:extLst xmlns:a="http://schemas.openxmlformats.org/drawingml/2006/main">
              <a:ext uri="{FF2B5EF4-FFF2-40B4-BE49-F238E27FC236}">
                <a16:creationId xmlns:a16="http://schemas.microsoft.com/office/drawing/2014/main" id="{80A80CA6-5B90-46A2-A151-674459939838}"/>
              </a:ext>
            </a:extLst>
          </p:cNvPr>
          <p:cNvSpPr>
            <a:spLocks xmlns:a="http://schemas.openxmlformats.org/drawingml/2006/main" noGrp="1"/>
          </p:cNvSpPr>
          <p:nvPr/>
        </p:nvSpPr>
        <p:spPr>
          <a:xfrm xmlns:a="http://schemas.openxmlformats.org/drawingml/2006/main">
            <a:off x="400050" y="1495425"/>
            <a:ext cx="666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83044"/>
                </a:solidFill>
                <a:latin typeface="Arial"/>
                <a:ea typeface="Arial"/>
                <a:cs typeface="Arial"/>
              </a:defRPr>
            </a:defPPr>
          </a:lstStyle>
          <a:p xmlns:a="http://schemas.openxmlformats.org/drawingml/2006/main">
            <a:pPr>
              <a:defRPr sz="1800" b="1">
                <a:solidFill>
                  <a:srgbClr val="183044"/>
                </a:solidFill>
                <a:latin typeface="Arial"/>
                <a:ea typeface="Arial"/>
                <a:cs typeface="Arial"/>
              </a:defRPr>
            </a:pPr>
            <a:r>
              <a:rPr sz="1800" b="1">
                <a:solidFill>
                  <a:srgbClr val="183044"/>
                </a:solidFill>
                <a:latin typeface="Arial"/>
                <a:ea typeface="Arial"/>
                <a:cs typeface="Arial"/>
              </a:rPr>
              <a:t>Poor-health days and BMI</a:t>
            </a:r>
          </a:p>
        </p:txBody>
      </p:sp>
      <p:sp>
        <p:nvSpPr>
          <p:cNvPr id="6" name="text">
            <a:extLst xmlns:a="http://schemas.openxmlformats.org/drawingml/2006/main">
              <a:ext uri="{FF2B5EF4-FFF2-40B4-BE49-F238E27FC236}">
                <a16:creationId xmlns:a16="http://schemas.microsoft.com/office/drawing/2014/main" id="{2AB1AB66-27E8-4A2A-8E0A-E5908D0409CC}"/>
              </a:ext>
            </a:extLst>
          </p:cNvPr>
          <p:cNvSpPr>
            <a:spLocks xmlns:a="http://schemas.openxmlformats.org/drawingml/2006/main" noGrp="1"/>
          </p:cNvSpPr>
          <p:nvPr/>
        </p:nvSpPr>
        <p:spPr>
          <a:xfrm xmlns:a="http://schemas.openxmlformats.org/drawingml/2006/main">
            <a:off x="7524750" y="1495425"/>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83044"/>
                </a:solidFill>
                <a:latin typeface="Arial"/>
                <a:ea typeface="Arial"/>
                <a:cs typeface="Arial"/>
              </a:defRPr>
            </a:defPPr>
          </a:lstStyle>
          <a:p xmlns:a="http://schemas.openxmlformats.org/drawingml/2006/main">
            <a:pPr>
              <a:defRPr sz="1800" b="1">
                <a:solidFill>
                  <a:srgbClr val="183044"/>
                </a:solidFill>
                <a:latin typeface="Arial"/>
                <a:ea typeface="Arial"/>
                <a:cs typeface="Arial"/>
              </a:defRPr>
            </a:pPr>
            <a:r>
              <a:rPr sz="1800" b="1">
                <a:solidFill>
                  <a:srgbClr val="183044"/>
                </a:solidFill>
                <a:latin typeface="Arial"/>
                <a:ea typeface="Arial"/>
                <a:cs typeface="Arial"/>
              </a:rPr>
              <a:t>BMI by health group</a:t>
            </a:r>
          </a:p>
        </p:txBody>
      </p:sp>
      <p:pic>
        <p:nvPicPr>
          <p:cNvPr id="7" name="">
            <a:extLst xmlns:a="http://schemas.openxmlformats.org/drawingml/2006/main">
              <a:ext uri="{FF2B5EF4-FFF2-40B4-BE49-F238E27FC236}">
                <a16:creationId xmlns:a16="http://schemas.microsoft.com/office/drawing/2014/main" id="{E966D5DA-B72A-4833-90DE-6C91481947CF}"/>
              </a:ext>
            </a:extLst>
          </p:cNvPr>
          <p:cNvPicPr>
            <a:picLocks xmlns:a="http://schemas.openxmlformats.org/drawingml/2006/main" noChangeAspect="1"/>
          </p:cNvPicPr>
          <p:nvPr/>
        </p:nvPicPr>
        <p:blipFill>
          <a:blip xmlns:r="http://schemas.openxmlformats.org/officeDocument/2006/relationships" xmlns:a="http://schemas.openxmlformats.org/drawingml/2006/main" r:embed="Re1e14c5045cc4b7a"/>
          <a:stretch xmlns:a="http://schemas.openxmlformats.org/drawingml/2006/main"/>
        </p:blipFill>
        <p:spPr>
          <a:xfrm xmlns:a="http://schemas.openxmlformats.org/drawingml/2006/main">
            <a:off x="228600" y="1876425"/>
            <a:ext cx="6896100" cy="33718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6E8A72A-0FD4-4F53-9671-635C9BCBD7E5}"/>
              </a:ext>
            </a:extLst>
          </p:cNvPr>
          <p:cNvPicPr>
            <a:picLocks xmlns:a="http://schemas.openxmlformats.org/drawingml/2006/main" noChangeAspect="1"/>
          </p:cNvPicPr>
          <p:nvPr/>
        </p:nvPicPr>
        <p:blipFill>
          <a:blip xmlns:r="http://schemas.openxmlformats.org/officeDocument/2006/relationships" xmlns:a="http://schemas.openxmlformats.org/drawingml/2006/main" r:embed="Reac847d07a544aa3"/>
          <a:stretch xmlns:a="http://schemas.openxmlformats.org/drawingml/2006/main"/>
        </p:blipFill>
        <p:spPr>
          <a:xfrm xmlns:a="http://schemas.openxmlformats.org/drawingml/2006/main">
            <a:off x="7486650" y="1876425"/>
            <a:ext cx="4286250" cy="2733675"/>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B79A00FF-D94A-4BA3-8CE9-DD0110464A68}"/>
              </a:ext>
            </a:extLst>
          </p:cNvPr>
          <p:cNvGraphicFramePr/>
          <p:nvPr/>
        </p:nvGraphicFramePr>
        <p:xfrm>
          <a:off xmlns:a="http://schemas.openxmlformats.org/drawingml/2006/main" x="400050" y="5372100"/>
          <a:ext xmlns:a="http://schemas.openxmlformats.org/drawingml/2006/main" cx="6572250" cy="619125"/>
        </p:xfrm>
        <a:graphic xmlns:a="http://schemas.openxmlformats.org/drawingml/2006/main">
          <a:graphicData uri="http://schemas.openxmlformats.org/drawingml/2006/table">
            <a:tbl>
              <a:tblPr/>
              <a:tblGrid>
                <a:gridCol w="1638300"/>
                <a:gridCol w="1638300"/>
                <a:gridCol w="1657350"/>
                <a:gridCol w="1638300"/>
              </a:tblGrid>
              <a:tr h="309563">
                <a:tc>
                  <a:txBody>
                    <a:bodyPr>
                      <a:noAutofit/>
                    </a:bodyPr>
                    <a:lstStyle/>
                    <a:p>
                      <a:pPr algn="l"/>
                      <a:r>
                        <a:rPr sz="1500" b="1">
                          <a:solidFill>
                            <a:srgbClr val="FFFFFF"/>
                          </a:solidFill>
                          <a:latin typeface="Arial"/>
                          <a:ea typeface="Arial"/>
                          <a:cs typeface="Arial"/>
                        </a:rPr>
                        <a:t>Pearson r</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00" b="1">
                          <a:solidFill>
                            <a:srgbClr val="FFFFFF"/>
                          </a:solidFill>
                          <a:latin typeface="Arial"/>
                          <a:ea typeface="Arial"/>
                          <a:cs typeface="Arial"/>
                        </a:rPr>
                        <a:t>Spearman r</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00" b="1">
                          <a:solidFill>
                            <a:srgbClr val="FFFFFF"/>
                          </a:solidFill>
                          <a:latin typeface="Arial"/>
                          <a:ea typeface="Arial"/>
                          <a:cs typeface="Arial"/>
                        </a:rPr>
                        <a:t>Covariance</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00" b="1">
                          <a:solidFill>
                            <a:srgbClr val="FFFFFF"/>
                          </a:solidFill>
                          <a:latin typeface="Arial"/>
                          <a:ea typeface="Arial"/>
                          <a:cs typeface="Arial"/>
                        </a:rPr>
                        <a:t>R²</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309563">
                <a:tc>
                  <a:txBody>
                    <a:bodyPr>
                      <a:noAutofit/>
                    </a:bodyPr>
                    <a:lstStyle/>
                    <a:p>
                      <a:pPr algn="l"/>
                      <a:r>
                        <a:rPr sz="1500" b="0">
                          <a:solidFill>
                            <a:srgbClr val="183044"/>
                          </a:solidFill>
                          <a:latin typeface="Arial"/>
                          <a:ea typeface="Arial"/>
                          <a:cs typeface="Arial"/>
                        </a:rPr>
                        <a:t>0.102</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0.108</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5.56</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1.03%</a:t>
                      </a:r>
                    </a:p>
                  </a:txBody>
                  <a:tcPr marL="91440" marR="91440" marT="45720" marB="45720">
                    <a:lnR w="9525">
                      <a:solidFill>
                        <a:srgbClr val="D6E0E5"/>
                      </a:solidFill>
                      <a:prstDash val="solid"/>
                    </a:lnR>
                    <a:lnB w="9525">
                      <a:solidFill>
                        <a:srgbClr val="D6E0E5"/>
                      </a:solidFill>
                      <a:prstDash val="solid"/>
                    </a:lnB>
                    <a:solidFill>
                      <a:srgbClr val="FFFFFF"/>
                    </a:solidFill>
                  </a:tcPr>
                </a:tc>
              </a:tr>
            </a:tbl>
          </a:graphicData>
        </a:graphic>
      </p:graphicFrame>
      <p:sp>
        <p:nvSpPr>
          <p:cNvPr id="10" name="text">
            <a:extLst xmlns:a="http://schemas.openxmlformats.org/drawingml/2006/main">
              <a:ext uri="{FF2B5EF4-FFF2-40B4-BE49-F238E27FC236}">
                <a16:creationId xmlns:a16="http://schemas.microsoft.com/office/drawing/2014/main" id="{49EB64FD-BE3C-4C08-9A61-291C79E14F1F}"/>
              </a:ext>
            </a:extLst>
          </p:cNvPr>
          <p:cNvSpPr>
            <a:spLocks xmlns:a="http://schemas.openxmlformats.org/drawingml/2006/main" noGrp="1"/>
          </p:cNvSpPr>
          <p:nvPr/>
        </p:nvSpPr>
        <p:spPr>
          <a:xfrm xmlns:a="http://schemas.openxmlformats.org/drawingml/2006/main">
            <a:off x="7553325" y="476250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83044"/>
                </a:solidFill>
                <a:latin typeface="Arial"/>
                <a:ea typeface="Arial"/>
                <a:cs typeface="Arial"/>
              </a:defRPr>
            </a:defPPr>
          </a:lstStyle>
          <a:p xmlns:a="http://schemas.openxmlformats.org/drawingml/2006/main">
            <a:pPr>
              <a:defRPr sz="1575" b="1">
                <a:solidFill>
                  <a:srgbClr val="183044"/>
                </a:solidFill>
                <a:latin typeface="Arial"/>
                <a:ea typeface="Arial"/>
                <a:cs typeface="Arial"/>
              </a:defRPr>
            </a:pPr>
            <a:r>
              <a:rPr sz="1575" b="1">
                <a:solidFill>
                  <a:srgbClr val="183044"/>
                </a:solidFill>
                <a:latin typeface="Arial"/>
                <a:ea typeface="Arial"/>
                <a:cs typeface="Arial"/>
              </a:rPr>
              <a:t>Average BMI</a:t>
            </a:r>
          </a:p>
        </p:txBody>
      </p:sp>
      <p:graphicFrame>
        <p:nvGraphicFramePr>
          <p:cNvPr id="11" name="">
            <a:extLst xmlns:a="http://schemas.openxmlformats.org/drawingml/2006/main">
              <a:ext uri="{FF2B5EF4-FFF2-40B4-BE49-F238E27FC236}">
                <a16:creationId xmlns:a16="http://schemas.microsoft.com/office/drawing/2014/main" id="{2530059A-3707-451A-9D9E-0F40DAD99966}"/>
              </a:ext>
            </a:extLst>
          </p:cNvPr>
          <p:cNvGraphicFramePr/>
          <p:nvPr/>
        </p:nvGraphicFramePr>
        <p:xfrm>
          <a:off xmlns:a="http://schemas.openxmlformats.org/drawingml/2006/main" x="7524750" y="5143500"/>
          <a:ext xmlns:a="http://schemas.openxmlformats.org/drawingml/2006/main" cx="4286250" cy="847725"/>
        </p:xfrm>
        <a:graphic xmlns:a="http://schemas.openxmlformats.org/drawingml/2006/main">
          <a:graphicData uri="http://schemas.openxmlformats.org/drawingml/2006/table">
            <a:tbl>
              <a:tblPr/>
              <a:tblGrid>
                <a:gridCol w="1428750"/>
                <a:gridCol w="1428750"/>
                <a:gridCol w="1428750"/>
              </a:tblGrid>
              <a:tr h="423863">
                <a:tc>
                  <a:txBody>
                    <a:bodyPr>
                      <a:noAutofit/>
                    </a:bodyPr>
                    <a:lstStyle/>
                    <a:p>
                      <a:pPr algn="l"/>
                      <a:r>
                        <a:rPr sz="1425" b="1">
                          <a:solidFill>
                            <a:srgbClr val="FFFFFF"/>
                          </a:solidFill>
                          <a:latin typeface="Arial"/>
                          <a:ea typeface="Arial"/>
                          <a:cs typeface="Arial"/>
                        </a:rPr>
                        <a:t>No diabetes</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425" b="1">
                          <a:solidFill>
                            <a:srgbClr val="FFFFFF"/>
                          </a:solidFill>
                          <a:latin typeface="Arial"/>
                          <a:ea typeface="Arial"/>
                          <a:cs typeface="Arial"/>
                        </a:rPr>
                        <a:t>Prediabetes</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425" b="1">
                          <a:solidFill>
                            <a:srgbClr val="FFFFFF"/>
                          </a:solidFill>
                          <a:latin typeface="Arial"/>
                          <a:ea typeface="Arial"/>
                          <a:cs typeface="Arial"/>
                        </a:rPr>
                        <a:t>Diabetes</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423863">
                <a:tc>
                  <a:txBody>
                    <a:bodyPr>
                      <a:noAutofit/>
                    </a:bodyPr>
                    <a:lstStyle/>
                    <a:p>
                      <a:pPr algn="l"/>
                      <a:r>
                        <a:rPr sz="1425" b="0">
                          <a:solidFill>
                            <a:srgbClr val="183044"/>
                          </a:solidFill>
                          <a:latin typeface="Arial"/>
                          <a:ea typeface="Arial"/>
                          <a:cs typeface="Arial"/>
                        </a:rPr>
                        <a:t>27.72</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32.85</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31.98</a:t>
                      </a:r>
                    </a:p>
                  </a:txBody>
                  <a:tcPr marL="91440" marR="91440" marT="45720" marB="45720">
                    <a:lnR w="9525">
                      <a:solidFill>
                        <a:srgbClr val="D6E0E5"/>
                      </a:solidFill>
                      <a:prstDash val="solid"/>
                    </a:lnR>
                    <a:lnB w="9525">
                      <a:solidFill>
                        <a:srgbClr val="D6E0E5"/>
                      </a:solidFill>
                      <a:prstDash val="solid"/>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083222D6-8E30-4174-823A-A25E403317C1}"/>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4C850AE-A42F-4662-926C-DBCA0FBC6428}"/>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r = 0.102: weak positive relation. R² = 1.03%: very little BMI variation is explained.</a:t>
            </a:r>
          </a:p>
        </p:txBody>
      </p:sp>
      <p:sp>
        <p:nvSpPr>
          <p:cNvPr id="14" name="text">
            <a:extLst xmlns:a="http://schemas.openxmlformats.org/drawingml/2006/main">
              <a:ext uri="{FF2B5EF4-FFF2-40B4-BE49-F238E27FC236}">
                <a16:creationId xmlns:a16="http://schemas.microsoft.com/office/drawing/2014/main" id="{CF51EBEC-86A5-465F-865B-19482A173561}"/>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5 / 11</a:t>
            </a:r>
          </a:p>
        </p:txBody>
      </p:sp>
    </p:spTree>
    <p:extLst>
      <p:ext uri="{BB962C8B-B14F-4D97-AF65-F5344CB8AC3E}">
        <p14:creationId xmlns:p14="http://schemas.microsoft.com/office/powerpoint/2010/main" val="5541530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9B07981E-6F74-4D71-99F9-B690EF35C8F0}"/>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4: Multiple linear regression</a:t>
            </a:r>
          </a:p>
        </p:txBody>
      </p:sp>
      <p:sp>
        <p:nvSpPr>
          <p:cNvPr id="2" name="">
            <a:extLst xmlns:a="http://schemas.openxmlformats.org/drawingml/2006/main">
              <a:ext uri="{FF2B5EF4-FFF2-40B4-BE49-F238E27FC236}">
                <a16:creationId xmlns:a16="http://schemas.microsoft.com/office/drawing/2014/main" id="{2C113BF2-AEE4-4949-AC4A-80C5856F53D0}"/>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45770944-1872-4926-A190-94E3334251DA}"/>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Multiple regression and model checks</a:t>
            </a:r>
          </a:p>
        </p:txBody>
      </p:sp>
      <p:sp>
        <p:nvSpPr>
          <p:cNvPr id="4" name="text">
            <a:extLst xmlns:a="http://schemas.openxmlformats.org/drawingml/2006/main">
              <a:ext uri="{FF2B5EF4-FFF2-40B4-BE49-F238E27FC236}">
                <a16:creationId xmlns:a16="http://schemas.microsoft.com/office/drawing/2014/main" id="{FFE01F65-AA87-4002-9EB5-BEE66BF1CFEC}"/>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Predict BMI using age, activity, income, education and smoking. R² = variation explained.</a:t>
            </a:r>
          </a:p>
        </p:txBody>
      </p:sp>
      <p:sp>
        <p:nvSpPr>
          <p:cNvPr id="5" name="text">
            <a:extLst xmlns:a="http://schemas.openxmlformats.org/drawingml/2006/main">
              <a:ext uri="{FF2B5EF4-FFF2-40B4-BE49-F238E27FC236}">
                <a16:creationId xmlns:a16="http://schemas.microsoft.com/office/drawing/2014/main" id="{B886BE03-A382-4AE1-9ABA-CD1127EAFF76}"/>
              </a:ext>
            </a:extLst>
          </p:cNvPr>
          <p:cNvSpPr>
            <a:spLocks xmlns:a="http://schemas.openxmlformats.org/drawingml/2006/main" noGrp="1"/>
          </p:cNvSpPr>
          <p:nvPr/>
        </p:nvSpPr>
        <p:spPr>
          <a:xfrm xmlns:a="http://schemas.openxmlformats.org/drawingml/2006/main">
            <a:off x="400050" y="1543050"/>
            <a:ext cx="2238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6D8C"/>
                </a:solidFill>
                <a:latin typeface="Arial"/>
                <a:ea typeface="Arial"/>
                <a:cs typeface="Arial"/>
              </a:defRPr>
            </a:defPPr>
          </a:lstStyle>
          <a:p xmlns:a="http://schemas.openxmlformats.org/drawingml/2006/main">
            <a:pPr>
              <a:defRPr sz="3225" b="1">
                <a:solidFill>
                  <a:srgbClr val="176D8C"/>
                </a:solidFill>
                <a:latin typeface="Arial"/>
                <a:ea typeface="Arial"/>
                <a:cs typeface="Arial"/>
              </a:defRPr>
            </a:pPr>
            <a:r>
              <a:rPr sz="3225" b="1">
                <a:solidFill>
                  <a:srgbClr val="176D8C"/>
                </a:solidFill>
                <a:latin typeface="Arial"/>
                <a:ea typeface="Arial"/>
                <a:cs typeface="Arial"/>
              </a:rPr>
              <a:t>6.81%</a:t>
            </a:r>
          </a:p>
        </p:txBody>
      </p:sp>
      <p:sp>
        <p:nvSpPr>
          <p:cNvPr id="6" name="text">
            <a:extLst xmlns:a="http://schemas.openxmlformats.org/drawingml/2006/main">
              <a:ext uri="{FF2B5EF4-FFF2-40B4-BE49-F238E27FC236}">
                <a16:creationId xmlns:a16="http://schemas.microsoft.com/office/drawing/2014/main" id="{8785E3BC-981E-47F1-8EB5-9349C1FE1D2B}"/>
              </a:ext>
            </a:extLst>
          </p:cNvPr>
          <p:cNvSpPr>
            <a:spLocks xmlns:a="http://schemas.openxmlformats.org/drawingml/2006/main" noGrp="1"/>
          </p:cNvSpPr>
          <p:nvPr/>
        </p:nvSpPr>
        <p:spPr>
          <a:xfrm xmlns:a="http://schemas.openxmlformats.org/drawingml/2006/main">
            <a:off x="400050" y="2057400"/>
            <a:ext cx="2238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15566"/>
                </a:solidFill>
                <a:latin typeface="Arial"/>
                <a:ea typeface="Arial"/>
                <a:cs typeface="Arial"/>
              </a:defRPr>
            </a:defPPr>
          </a:lstStyle>
          <a:p xmlns:a="http://schemas.openxmlformats.org/drawingml/2006/main">
            <a:pPr>
              <a:defRPr sz="1575" b="0">
                <a:solidFill>
                  <a:srgbClr val="415566"/>
                </a:solidFill>
                <a:latin typeface="Arial"/>
                <a:ea typeface="Arial"/>
                <a:cs typeface="Arial"/>
              </a:defRPr>
            </a:pPr>
            <a:r>
              <a:rPr sz="1575" b="0">
                <a:solidFill>
                  <a:srgbClr val="415566"/>
                </a:solidFill>
                <a:latin typeface="Arial"/>
                <a:ea typeface="Arial"/>
                <a:cs typeface="Arial"/>
              </a:rPr>
              <a:t>R²</a:t>
            </a:r>
          </a:p>
        </p:txBody>
      </p:sp>
      <p:sp>
        <p:nvSpPr>
          <p:cNvPr id="7" name="text">
            <a:extLst xmlns:a="http://schemas.openxmlformats.org/drawingml/2006/main">
              <a:ext uri="{FF2B5EF4-FFF2-40B4-BE49-F238E27FC236}">
                <a16:creationId xmlns:a16="http://schemas.microsoft.com/office/drawing/2014/main" id="{27515E3D-A2DC-48C2-8F4C-5CCDB513ED01}"/>
              </a:ext>
            </a:extLst>
          </p:cNvPr>
          <p:cNvSpPr>
            <a:spLocks xmlns:a="http://schemas.openxmlformats.org/drawingml/2006/main" noGrp="1"/>
          </p:cNvSpPr>
          <p:nvPr/>
        </p:nvSpPr>
        <p:spPr>
          <a:xfrm xmlns:a="http://schemas.openxmlformats.org/drawingml/2006/main">
            <a:off x="2828925" y="1543050"/>
            <a:ext cx="2238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6D8C"/>
                </a:solidFill>
                <a:latin typeface="Arial"/>
                <a:ea typeface="Arial"/>
                <a:cs typeface="Arial"/>
              </a:defRPr>
            </a:defPPr>
          </a:lstStyle>
          <a:p xmlns:a="http://schemas.openxmlformats.org/drawingml/2006/main">
            <a:pPr>
              <a:defRPr sz="3225" b="1">
                <a:solidFill>
                  <a:srgbClr val="176D8C"/>
                </a:solidFill>
                <a:latin typeface="Arial"/>
                <a:ea typeface="Arial"/>
                <a:cs typeface="Arial"/>
              </a:defRPr>
            </a:pPr>
            <a:r>
              <a:rPr sz="3225" b="1">
                <a:solidFill>
                  <a:srgbClr val="176D8C"/>
                </a:solidFill>
                <a:latin typeface="Arial"/>
                <a:ea typeface="Arial"/>
                <a:cs typeface="Arial"/>
              </a:rPr>
              <a:t>5.99%</a:t>
            </a:r>
          </a:p>
        </p:txBody>
      </p:sp>
      <p:sp>
        <p:nvSpPr>
          <p:cNvPr id="8" name="text">
            <a:extLst xmlns:a="http://schemas.openxmlformats.org/drawingml/2006/main">
              <a:ext uri="{FF2B5EF4-FFF2-40B4-BE49-F238E27FC236}">
                <a16:creationId xmlns:a16="http://schemas.microsoft.com/office/drawing/2014/main" id="{52612150-CB14-461C-9723-84B340E8607C}"/>
              </a:ext>
            </a:extLst>
          </p:cNvPr>
          <p:cNvSpPr>
            <a:spLocks xmlns:a="http://schemas.openxmlformats.org/drawingml/2006/main" noGrp="1"/>
          </p:cNvSpPr>
          <p:nvPr/>
        </p:nvSpPr>
        <p:spPr>
          <a:xfrm xmlns:a="http://schemas.openxmlformats.org/drawingml/2006/main">
            <a:off x="2828925" y="2057400"/>
            <a:ext cx="2238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15566"/>
                </a:solidFill>
                <a:latin typeface="Arial"/>
                <a:ea typeface="Arial"/>
                <a:cs typeface="Arial"/>
              </a:defRPr>
            </a:defPPr>
          </a:lstStyle>
          <a:p xmlns:a="http://schemas.openxmlformats.org/drawingml/2006/main">
            <a:pPr>
              <a:defRPr sz="1575" b="0">
                <a:solidFill>
                  <a:srgbClr val="415566"/>
                </a:solidFill>
                <a:latin typeface="Arial"/>
                <a:ea typeface="Arial"/>
                <a:cs typeface="Arial"/>
              </a:defRPr>
            </a:pPr>
            <a:r>
              <a:rPr sz="1575" b="0">
                <a:solidFill>
                  <a:srgbClr val="415566"/>
                </a:solidFill>
                <a:latin typeface="Arial"/>
                <a:ea typeface="Arial"/>
                <a:cs typeface="Arial"/>
              </a:rPr>
              <a:t>Adjusted R²</a:t>
            </a:r>
          </a:p>
        </p:txBody>
      </p:sp>
      <p:sp>
        <p:nvSpPr>
          <p:cNvPr id="9" name="text">
            <a:extLst xmlns:a="http://schemas.openxmlformats.org/drawingml/2006/main">
              <a:ext uri="{FF2B5EF4-FFF2-40B4-BE49-F238E27FC236}">
                <a16:creationId xmlns:a16="http://schemas.microsoft.com/office/drawing/2014/main" id="{FC05767A-D37A-4769-8E36-1E35B5EFCB84}"/>
              </a:ext>
            </a:extLst>
          </p:cNvPr>
          <p:cNvSpPr>
            <a:spLocks xmlns:a="http://schemas.openxmlformats.org/drawingml/2006/main" noGrp="1"/>
          </p:cNvSpPr>
          <p:nvPr/>
        </p:nvSpPr>
        <p:spPr>
          <a:xfrm xmlns:a="http://schemas.openxmlformats.org/drawingml/2006/main">
            <a:off x="400050" y="26098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83044"/>
                </a:solidFill>
                <a:latin typeface="Arial"/>
                <a:ea typeface="Arial"/>
                <a:cs typeface="Arial"/>
              </a:defRPr>
            </a:defPPr>
          </a:lstStyle>
          <a:p xmlns:a="http://schemas.openxmlformats.org/drawingml/2006/main">
            <a:pPr>
              <a:defRPr sz="1875" b="1">
                <a:solidFill>
                  <a:srgbClr val="183044"/>
                </a:solidFill>
                <a:latin typeface="Arial"/>
                <a:ea typeface="Arial"/>
                <a:cs typeface="Arial"/>
              </a:defRPr>
            </a:pPr>
            <a:r>
              <a:rPr sz="1875" b="1">
                <a:solidFill>
                  <a:srgbClr val="183044"/>
                </a:solidFill>
                <a:latin typeface="Arial"/>
                <a:ea typeface="Arial"/>
                <a:cs typeface="Arial"/>
              </a:rPr>
              <a:t>Which predictors matter?</a:t>
            </a:r>
          </a:p>
        </p:txBody>
      </p:sp>
      <p:graphicFrame>
        <p:nvGraphicFramePr>
          <p:cNvPr id="10" name="">
            <a:extLst xmlns:a="http://schemas.openxmlformats.org/drawingml/2006/main">
              <a:ext uri="{FF2B5EF4-FFF2-40B4-BE49-F238E27FC236}">
                <a16:creationId xmlns:a16="http://schemas.microsoft.com/office/drawing/2014/main" id="{C589E22D-1A41-420D-AB89-C3A5762041F7}"/>
              </a:ext>
            </a:extLst>
          </p:cNvPr>
          <p:cNvGraphicFramePr/>
          <p:nvPr/>
        </p:nvGraphicFramePr>
        <p:xfrm>
          <a:off xmlns:a="http://schemas.openxmlformats.org/drawingml/2006/main" x="400050" y="3057525"/>
          <a:ext xmlns:a="http://schemas.openxmlformats.org/drawingml/2006/main" cx="4857750" cy="2400300"/>
        </p:xfrm>
        <a:graphic xmlns:a="http://schemas.openxmlformats.org/drawingml/2006/main">
          <a:graphicData uri="http://schemas.openxmlformats.org/drawingml/2006/table">
            <a:tbl>
              <a:tblPr/>
              <a:tblGrid>
                <a:gridCol w="2686050"/>
                <a:gridCol w="1085850"/>
                <a:gridCol w="1085850"/>
              </a:tblGrid>
              <a:tr h="400050">
                <a:tc>
                  <a:txBody>
                    <a:bodyPr>
                      <a:noAutofit/>
                    </a:bodyPr>
                    <a:lstStyle/>
                    <a:p>
                      <a:pPr algn="l"/>
                      <a:r>
                        <a:rPr sz="1650" b="1">
                          <a:solidFill>
                            <a:srgbClr val="FFFFFF"/>
                          </a:solidFill>
                          <a:latin typeface="Arial"/>
                          <a:ea typeface="Arial"/>
                          <a:cs typeface="Arial"/>
                        </a:rPr>
                        <a:t>Predictor</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650" b="1">
                          <a:solidFill>
                            <a:srgbClr val="FFFFFF"/>
                          </a:solidFill>
                          <a:latin typeface="Arial"/>
                          <a:ea typeface="Arial"/>
                          <a:cs typeface="Arial"/>
                        </a:rPr>
                        <a:t>F</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650" b="1">
                          <a:solidFill>
                            <a:srgbClr val="FFFFFF"/>
                          </a:solidFill>
                          <a:latin typeface="Arial"/>
                          <a:ea typeface="Arial"/>
                          <a:cs typeface="Arial"/>
                        </a:rPr>
                        <a:t>p</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400050">
                <a:tc>
                  <a:txBody>
                    <a:bodyPr>
                      <a:noAutofit/>
                    </a:bodyPr>
                    <a:lstStyle/>
                    <a:p>
                      <a:pPr algn="l"/>
                      <a:r>
                        <a:rPr sz="1650" b="0">
                          <a:solidFill>
                            <a:srgbClr val="183044"/>
                          </a:solidFill>
                          <a:latin typeface="Arial"/>
                          <a:ea typeface="Arial"/>
                          <a:cs typeface="Arial"/>
                        </a:rPr>
                        <a:t>Age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9.17</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FFFFFF"/>
                    </a:solidFill>
                  </a:tcPr>
                </a:tc>
              </a:tr>
              <a:tr h="400050">
                <a:tc>
                  <a:txBody>
                    <a:bodyPr>
                      <a:noAutofit/>
                    </a:bodyPr>
                    <a:lstStyle/>
                    <a:p>
                      <a:pPr algn="l"/>
                      <a:r>
                        <a:rPr sz="1650" b="0">
                          <a:solidFill>
                            <a:srgbClr val="183044"/>
                          </a:solidFill>
                          <a:latin typeface="Arial"/>
                          <a:ea typeface="Arial"/>
                          <a:cs typeface="Arial"/>
                        </a:rPr>
                        <a:t>Physical activity</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13.30</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EAF2F5"/>
                    </a:solidFill>
                  </a:tcPr>
                </a:tc>
              </a:tr>
              <a:tr h="400050">
                <a:tc>
                  <a:txBody>
                    <a:bodyPr>
                      <a:noAutofit/>
                    </a:bodyPr>
                    <a:lstStyle/>
                    <a:p>
                      <a:pPr algn="l"/>
                      <a:r>
                        <a:rPr sz="1650" b="0">
                          <a:solidFill>
                            <a:srgbClr val="183044"/>
                          </a:solidFill>
                          <a:latin typeface="Arial"/>
                          <a:ea typeface="Arial"/>
                          <a:cs typeface="Arial"/>
                        </a:rPr>
                        <a:t>Income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4.43</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FFFFFF"/>
                    </a:solidFill>
                  </a:tcPr>
                </a:tc>
              </a:tr>
              <a:tr h="400050">
                <a:tc>
                  <a:txBody>
                    <a:bodyPr>
                      <a:noAutofit/>
                    </a:bodyPr>
                    <a:lstStyle/>
                    <a:p>
                      <a:pPr algn="l"/>
                      <a:r>
                        <a:rPr sz="1650" b="0">
                          <a:solidFill>
                            <a:srgbClr val="183044"/>
                          </a:solidFill>
                          <a:latin typeface="Arial"/>
                          <a:ea typeface="Arial"/>
                          <a:cs typeface="Arial"/>
                        </a:rPr>
                        <a:t>Education</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8.03</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650"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EAF2F5"/>
                    </a:solidFill>
                  </a:tcPr>
                </a:tc>
              </a:tr>
              <a:tr h="400050">
                <a:tc>
                  <a:txBody>
                    <a:bodyPr>
                      <a:noAutofit/>
                    </a:bodyPr>
                    <a:lstStyle/>
                    <a:p>
                      <a:pPr algn="l"/>
                      <a:r>
                        <a:rPr sz="1650" b="0">
                          <a:solidFill>
                            <a:srgbClr val="183044"/>
                          </a:solidFill>
                          <a:latin typeface="Arial"/>
                          <a:ea typeface="Arial"/>
                          <a:cs typeface="Arial"/>
                        </a:rPr>
                        <a:t>Smoking</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0.07</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650" b="0">
                          <a:solidFill>
                            <a:srgbClr val="183044"/>
                          </a:solidFill>
                          <a:latin typeface="Arial"/>
                          <a:ea typeface="Arial"/>
                          <a:cs typeface="Arial"/>
                        </a:rPr>
                        <a:t>0.786</a:t>
                      </a:r>
                    </a:p>
                  </a:txBody>
                  <a:tcPr marL="91440" marR="91440" marT="45720" marB="45720">
                    <a:lnR w="9525">
                      <a:solidFill>
                        <a:srgbClr val="D6E0E5"/>
                      </a:solidFill>
                      <a:prstDash val="solid"/>
                    </a:lnR>
                    <a:lnB w="9525">
                      <a:solidFill>
                        <a:srgbClr val="D6E0E5"/>
                      </a:solidFill>
                      <a:prstDash val="solid"/>
                    </a:lnB>
                    <a:solidFill>
                      <a:srgbClr val="FFFFFF"/>
                    </a:solidFill>
                  </a:tcPr>
                </a:tc>
              </a:tr>
            </a:tbl>
          </a:graphicData>
        </a:graphic>
      </p:graphicFrame>
      <p:sp>
        <p:nvSpPr>
          <p:cNvPr id="11" name="text">
            <a:extLst xmlns:a="http://schemas.openxmlformats.org/drawingml/2006/main">
              <a:ext uri="{FF2B5EF4-FFF2-40B4-BE49-F238E27FC236}">
                <a16:creationId xmlns:a16="http://schemas.microsoft.com/office/drawing/2014/main" id="{D021BD2B-3856-47BC-B4B4-904E2E92EC0E}"/>
              </a:ext>
            </a:extLst>
          </p:cNvPr>
          <p:cNvSpPr>
            <a:spLocks xmlns:a="http://schemas.openxmlformats.org/drawingml/2006/main" noGrp="1"/>
          </p:cNvSpPr>
          <p:nvPr/>
        </p:nvSpPr>
        <p:spPr>
          <a:xfrm xmlns:a="http://schemas.openxmlformats.org/drawingml/2006/main">
            <a:off x="5524500" y="1533525"/>
            <a:ext cx="626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83044"/>
                </a:solidFill>
                <a:latin typeface="Arial"/>
                <a:ea typeface="Arial"/>
                <a:cs typeface="Arial"/>
              </a:defRPr>
            </a:defPPr>
          </a:lstStyle>
          <a:p xmlns:a="http://schemas.openxmlformats.org/drawingml/2006/main">
            <a:pPr>
              <a:defRPr sz="1875" b="1">
                <a:solidFill>
                  <a:srgbClr val="183044"/>
                </a:solidFill>
                <a:latin typeface="Arial"/>
                <a:ea typeface="Arial"/>
                <a:cs typeface="Arial"/>
              </a:defRPr>
            </a:pPr>
            <a:r>
              <a:rPr sz="1875" b="1">
                <a:solidFill>
                  <a:srgbClr val="183044"/>
                </a:solidFill>
                <a:latin typeface="Arial"/>
                <a:ea typeface="Arial"/>
                <a:cs typeface="Arial"/>
              </a:rPr>
              <a:t>Check the fitted model</a:t>
            </a:r>
          </a:p>
        </p:txBody>
      </p:sp>
      <p:pic>
        <p:nvPicPr>
          <p:cNvPr id="12" name="">
            <a:extLst xmlns:a="http://schemas.openxmlformats.org/drawingml/2006/main">
              <a:ext uri="{FF2B5EF4-FFF2-40B4-BE49-F238E27FC236}">
                <a16:creationId xmlns:a16="http://schemas.microsoft.com/office/drawing/2014/main" id="{2D21F509-8477-45D5-9DE0-CCBE154E2B3A}"/>
              </a:ext>
            </a:extLst>
          </p:cNvPr>
          <p:cNvPicPr>
            <a:picLocks xmlns:a="http://schemas.openxmlformats.org/drawingml/2006/main" noChangeAspect="1"/>
          </p:cNvPicPr>
          <p:nvPr/>
        </p:nvPicPr>
        <p:blipFill>
          <a:blip xmlns:r="http://schemas.openxmlformats.org/officeDocument/2006/relationships" xmlns:a="http://schemas.openxmlformats.org/drawingml/2006/main" r:embed="R2150c4b0b378461d"/>
          <a:stretch xmlns:a="http://schemas.openxmlformats.org/drawingml/2006/main"/>
        </p:blipFill>
        <p:spPr>
          <a:xfrm xmlns:a="http://schemas.openxmlformats.org/drawingml/2006/main">
            <a:off x="5495925" y="1924050"/>
            <a:ext cx="6267450" cy="38481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75ACFD29-3812-4C75-A4D1-9F5F1F7EA10E}"/>
              </a:ext>
            </a:extLst>
          </p:cNvPr>
          <p:cNvSpPr>
            <a:spLocks xmlns:a="http://schemas.openxmlformats.org/drawingml/2006/main" noGrp="1"/>
          </p:cNvSpPr>
          <p:nvPr/>
        </p:nvSpPr>
        <p:spPr>
          <a:xfrm xmlns:a="http://schemas.openxmlformats.org/drawingml/2006/main">
            <a:off x="5524500" y="5791200"/>
            <a:ext cx="626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415566"/>
                </a:solidFill>
                <a:latin typeface="Arial"/>
                <a:ea typeface="Arial"/>
                <a:cs typeface="Arial"/>
              </a:defRPr>
            </a:defPPr>
          </a:lstStyle>
          <a:p xmlns:a="http://schemas.openxmlformats.org/drawingml/2006/main">
            <a:pPr>
              <a:defRPr sz="1425" b="0">
                <a:solidFill>
                  <a:srgbClr val="415566"/>
                </a:solidFill>
                <a:latin typeface="Arial"/>
                <a:ea typeface="Arial"/>
                <a:cs typeface="Arial"/>
              </a:defRPr>
            </a:pPr>
            <a:r>
              <a:rPr sz="1425" b="0">
                <a:solidFill>
                  <a:srgbClr val="415566"/>
                </a:solidFill>
                <a:latin typeface="Arial"/>
                <a:ea typeface="Arial"/>
                <a:cs typeface="Arial"/>
              </a:rPr>
              <a:t>Residuals show uneven spread and a long upper tail.</a:t>
            </a:r>
          </a:p>
        </p:txBody>
      </p:sp>
      <p:sp>
        <p:nvSpPr>
          <p:cNvPr id="14" name="">
            <a:extLst xmlns:a="http://schemas.openxmlformats.org/drawingml/2006/main">
              <a:ext uri="{FF2B5EF4-FFF2-40B4-BE49-F238E27FC236}">
                <a16:creationId xmlns:a16="http://schemas.microsoft.com/office/drawing/2014/main" id="{DF9BB341-213E-440C-9F7F-F997D1F3F778}"/>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6982102F-AEC4-4351-B521-C2EF4CFBC0D6}"/>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Age, activity, income and education relate to BMI. The model explains only a small share of variation.</a:t>
            </a:r>
          </a:p>
        </p:txBody>
      </p:sp>
      <p:sp>
        <p:nvSpPr>
          <p:cNvPr id="16" name="text">
            <a:extLst xmlns:a="http://schemas.openxmlformats.org/drawingml/2006/main">
              <a:ext uri="{FF2B5EF4-FFF2-40B4-BE49-F238E27FC236}">
                <a16:creationId xmlns:a16="http://schemas.microsoft.com/office/drawing/2014/main" id="{CF034340-76EC-4872-A098-57CEFD15B275}"/>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6 / 11</a:t>
            </a:r>
          </a:p>
        </p:txBody>
      </p:sp>
    </p:spTree>
    <p:extLst>
      <p:ext uri="{BB962C8B-B14F-4D97-AF65-F5344CB8AC3E}">
        <p14:creationId xmlns:p14="http://schemas.microsoft.com/office/powerpoint/2010/main" val="5644201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C3359D34-1BE0-4CB7-8768-B0B633B1C8FA}"/>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5: Binomial fitting     LAB 6: Normal and Poisson fitting</a:t>
            </a:r>
          </a:p>
        </p:txBody>
      </p:sp>
      <p:sp>
        <p:nvSpPr>
          <p:cNvPr id="2" name="">
            <a:extLst xmlns:a="http://schemas.openxmlformats.org/drawingml/2006/main">
              <a:ext uri="{FF2B5EF4-FFF2-40B4-BE49-F238E27FC236}">
                <a16:creationId xmlns:a16="http://schemas.microsoft.com/office/drawing/2014/main" id="{699E4512-4DB0-48B8-9B0C-4DA75C523C4B}"/>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10E084DE-9FDD-4601-ACF3-6BBF8AAAADC0}"/>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Fitting probability distributions</a:t>
            </a:r>
          </a:p>
        </p:txBody>
      </p:sp>
      <p:sp>
        <p:nvSpPr>
          <p:cNvPr id="4" name="text">
            <a:extLst xmlns:a="http://schemas.openxmlformats.org/drawingml/2006/main">
              <a:ext uri="{FF2B5EF4-FFF2-40B4-BE49-F238E27FC236}">
                <a16:creationId xmlns:a16="http://schemas.microsoft.com/office/drawing/2014/main" id="{260EF5CB-68E1-42DF-A017-EF7C5D2C9E8D}"/>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Compare the observed pattern with the pattern each model expects.</a:t>
            </a:r>
          </a:p>
        </p:txBody>
      </p:sp>
      <p:sp>
        <p:nvSpPr>
          <p:cNvPr id="5" name="text">
            <a:extLst xmlns:a="http://schemas.openxmlformats.org/drawingml/2006/main">
              <a:ext uri="{FF2B5EF4-FFF2-40B4-BE49-F238E27FC236}">
                <a16:creationId xmlns:a16="http://schemas.microsoft.com/office/drawing/2014/main" id="{AD0E44F6-5745-4768-893C-6C2CC4DAB895}"/>
              </a:ext>
            </a:extLst>
          </p:cNvPr>
          <p:cNvSpPr>
            <a:spLocks xmlns:a="http://schemas.openxmlformats.org/drawingml/2006/main" noGrp="1"/>
          </p:cNvSpPr>
          <p:nvPr/>
        </p:nvSpPr>
        <p:spPr>
          <a:xfrm xmlns:a="http://schemas.openxmlformats.org/drawingml/2006/main">
            <a:off x="400050" y="1600200"/>
            <a:ext cx="3581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D8C"/>
                </a:solidFill>
                <a:latin typeface="Arial"/>
                <a:ea typeface="Arial"/>
                <a:cs typeface="Arial"/>
              </a:defRPr>
            </a:defPPr>
          </a:lstStyle>
          <a:p xmlns:a="http://schemas.openxmlformats.org/drawingml/2006/main">
            <a:pPr>
              <a:defRPr sz="2100" b="1">
                <a:solidFill>
                  <a:srgbClr val="176D8C"/>
                </a:solidFill>
                <a:latin typeface="Arial"/>
                <a:ea typeface="Arial"/>
                <a:cs typeface="Arial"/>
              </a:defRPr>
            </a:pPr>
            <a:r>
              <a:rPr sz="2100" b="1">
                <a:solidFill>
                  <a:srgbClr val="176D8C"/>
                </a:solidFill>
                <a:latin typeface="Arial"/>
                <a:ea typeface="Arial"/>
                <a:cs typeface="Arial"/>
              </a:rPr>
              <a:t>Binomial</a:t>
            </a:r>
          </a:p>
        </p:txBody>
      </p:sp>
      <p:sp>
        <p:nvSpPr>
          <p:cNvPr id="6" name="text">
            <a:extLst xmlns:a="http://schemas.openxmlformats.org/drawingml/2006/main">
              <a:ext uri="{FF2B5EF4-FFF2-40B4-BE49-F238E27FC236}">
                <a16:creationId xmlns:a16="http://schemas.microsoft.com/office/drawing/2014/main" id="{2E2143A5-6E45-47A8-A01D-28144DF92434}"/>
              </a:ext>
            </a:extLst>
          </p:cNvPr>
          <p:cNvSpPr>
            <a:spLocks xmlns:a="http://schemas.openxmlformats.org/drawingml/2006/main" noGrp="1"/>
          </p:cNvSpPr>
          <p:nvPr/>
        </p:nvSpPr>
        <p:spPr>
          <a:xfrm xmlns:a="http://schemas.openxmlformats.org/drawingml/2006/main">
            <a:off x="400050" y="2085975"/>
            <a:ext cx="3581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Positive cases in groups of 10.</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p = 0.156, 300 groups.</a:t>
            </a:r>
          </a:p>
        </p:txBody>
      </p:sp>
      <p:sp>
        <p:nvSpPr>
          <p:cNvPr id="7" name="text">
            <a:extLst xmlns:a="http://schemas.openxmlformats.org/drawingml/2006/main">
              <a:ext uri="{FF2B5EF4-FFF2-40B4-BE49-F238E27FC236}">
                <a16:creationId xmlns:a16="http://schemas.microsoft.com/office/drawing/2014/main" id="{F359D018-1FB1-414D-8D1C-680C3371BC64}"/>
              </a:ext>
            </a:extLst>
          </p:cNvPr>
          <p:cNvSpPr>
            <a:spLocks xmlns:a="http://schemas.openxmlformats.org/drawingml/2006/main" noGrp="1"/>
          </p:cNvSpPr>
          <p:nvPr/>
        </p:nvSpPr>
        <p:spPr>
          <a:xfrm xmlns:a="http://schemas.openxmlformats.org/drawingml/2006/main">
            <a:off x="400050" y="5305425"/>
            <a:ext cx="3581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6D8C"/>
                </a:solidFill>
                <a:latin typeface="Arial"/>
                <a:ea typeface="Arial"/>
                <a:cs typeface="Arial"/>
              </a:defRPr>
            </a:defPPr>
          </a:lstStyle>
          <a:p xmlns:a="http://schemas.openxmlformats.org/drawingml/2006/main">
            <a:pPr>
              <a:defRPr sz="1725" b="1">
                <a:solidFill>
                  <a:srgbClr val="176D8C"/>
                </a:solidFill>
                <a:latin typeface="Arial"/>
                <a:ea typeface="Arial"/>
                <a:cs typeface="Arial"/>
              </a:defRPr>
            </a:pPr>
            <a:r>
              <a:rPr sz="1725" b="1">
                <a:solidFill>
                  <a:srgbClr val="176D8C"/>
                </a:solidFill>
                <a:latin typeface="Arial"/>
                <a:ea typeface="Arial"/>
                <a:cs typeface="Arial"/>
              </a:rPr>
              <a:t>Test p = 0.962</a:t>
            </a:r>
          </a:p>
        </p:txBody>
      </p:sp>
      <p:sp>
        <p:nvSpPr>
          <p:cNvPr id="8" name="text">
            <a:extLst xmlns:a="http://schemas.openxmlformats.org/drawingml/2006/main">
              <a:ext uri="{FF2B5EF4-FFF2-40B4-BE49-F238E27FC236}">
                <a16:creationId xmlns:a16="http://schemas.microsoft.com/office/drawing/2014/main" id="{F999F8FB-6F94-4DEA-8288-DBDB61359697}"/>
              </a:ext>
            </a:extLst>
          </p:cNvPr>
          <p:cNvSpPr>
            <a:spLocks xmlns:a="http://schemas.openxmlformats.org/drawingml/2006/main" noGrp="1"/>
          </p:cNvSpPr>
          <p:nvPr/>
        </p:nvSpPr>
        <p:spPr>
          <a:xfrm xmlns:a="http://schemas.openxmlformats.org/drawingml/2006/main">
            <a:off x="400050" y="5648325"/>
            <a:ext cx="358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Fits the grouped counts reasonably.</a:t>
            </a:r>
          </a:p>
        </p:txBody>
      </p:sp>
      <p:sp>
        <p:nvSpPr>
          <p:cNvPr id="9" name="text">
            <a:extLst xmlns:a="http://schemas.openxmlformats.org/drawingml/2006/main">
              <a:ext uri="{FF2B5EF4-FFF2-40B4-BE49-F238E27FC236}">
                <a16:creationId xmlns:a16="http://schemas.microsoft.com/office/drawing/2014/main" id="{49E64325-C8F5-4A3B-B79B-2B1F7A5C9159}"/>
              </a:ext>
            </a:extLst>
          </p:cNvPr>
          <p:cNvSpPr>
            <a:spLocks xmlns:a="http://schemas.openxmlformats.org/drawingml/2006/main" noGrp="1"/>
          </p:cNvSpPr>
          <p:nvPr/>
        </p:nvSpPr>
        <p:spPr>
          <a:xfrm xmlns:a="http://schemas.openxmlformats.org/drawingml/2006/main">
            <a:off x="4276725" y="1600200"/>
            <a:ext cx="3581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D8C"/>
                </a:solidFill>
                <a:latin typeface="Arial"/>
                <a:ea typeface="Arial"/>
                <a:cs typeface="Arial"/>
              </a:defRPr>
            </a:defPPr>
          </a:lstStyle>
          <a:p xmlns:a="http://schemas.openxmlformats.org/drawingml/2006/main">
            <a:pPr>
              <a:defRPr sz="2100" b="1">
                <a:solidFill>
                  <a:srgbClr val="176D8C"/>
                </a:solidFill>
                <a:latin typeface="Arial"/>
                <a:ea typeface="Arial"/>
                <a:cs typeface="Arial"/>
              </a:defRPr>
            </a:pPr>
            <a:r>
              <a:rPr sz="2100" b="1">
                <a:solidFill>
                  <a:srgbClr val="176D8C"/>
                </a:solidFill>
                <a:latin typeface="Arial"/>
                <a:ea typeface="Arial"/>
                <a:cs typeface="Arial"/>
              </a:rPr>
              <a:t>Normal</a:t>
            </a:r>
          </a:p>
        </p:txBody>
      </p:sp>
      <p:sp>
        <p:nvSpPr>
          <p:cNvPr id="10" name="text">
            <a:extLst xmlns:a="http://schemas.openxmlformats.org/drawingml/2006/main">
              <a:ext uri="{FF2B5EF4-FFF2-40B4-BE49-F238E27FC236}">
                <a16:creationId xmlns:a16="http://schemas.microsoft.com/office/drawing/2014/main" id="{C91BBC6C-68C3-415A-9C80-C4EBF4499EBD}"/>
              </a:ext>
            </a:extLst>
          </p:cNvPr>
          <p:cNvSpPr>
            <a:spLocks xmlns:a="http://schemas.openxmlformats.org/drawingml/2006/main" noGrp="1"/>
          </p:cNvSpPr>
          <p:nvPr/>
        </p:nvSpPr>
        <p:spPr>
          <a:xfrm xmlns:a="http://schemas.openxmlformats.org/drawingml/2006/main">
            <a:off x="4276725" y="2085975"/>
            <a:ext cx="3581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BMI: mean 28.40, SD 6.35.</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The curve misses the long tail.</a:t>
            </a:r>
          </a:p>
        </p:txBody>
      </p:sp>
      <p:sp>
        <p:nvSpPr>
          <p:cNvPr id="11" name="text">
            <a:extLst xmlns:a="http://schemas.openxmlformats.org/drawingml/2006/main">
              <a:ext uri="{FF2B5EF4-FFF2-40B4-BE49-F238E27FC236}">
                <a16:creationId xmlns:a16="http://schemas.microsoft.com/office/drawing/2014/main" id="{6C4A5DA7-5766-41C3-B883-97F7E3F48346}"/>
              </a:ext>
            </a:extLst>
          </p:cNvPr>
          <p:cNvSpPr>
            <a:spLocks xmlns:a="http://schemas.openxmlformats.org/drawingml/2006/main" noGrp="1"/>
          </p:cNvSpPr>
          <p:nvPr/>
        </p:nvSpPr>
        <p:spPr>
          <a:xfrm xmlns:a="http://schemas.openxmlformats.org/drawingml/2006/main">
            <a:off x="4276725" y="5305425"/>
            <a:ext cx="3581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6D8C"/>
                </a:solidFill>
                <a:latin typeface="Arial"/>
                <a:ea typeface="Arial"/>
                <a:cs typeface="Arial"/>
              </a:defRPr>
            </a:defPPr>
          </a:lstStyle>
          <a:p xmlns:a="http://schemas.openxmlformats.org/drawingml/2006/main">
            <a:pPr>
              <a:defRPr sz="1725" b="1">
                <a:solidFill>
                  <a:srgbClr val="176D8C"/>
                </a:solidFill>
                <a:latin typeface="Arial"/>
                <a:ea typeface="Arial"/>
                <a:cs typeface="Arial"/>
              </a:defRPr>
            </a:pPr>
            <a:r>
              <a:rPr sz="1725" b="1">
                <a:solidFill>
                  <a:srgbClr val="176D8C"/>
                </a:solidFill>
                <a:latin typeface="Arial"/>
                <a:ea typeface="Arial"/>
                <a:cs typeface="Arial"/>
              </a:rPr>
              <a:t>Test p &lt; 0.001</a:t>
            </a:r>
          </a:p>
        </p:txBody>
      </p:sp>
      <p:sp>
        <p:nvSpPr>
          <p:cNvPr id="12" name="text">
            <a:extLst xmlns:a="http://schemas.openxmlformats.org/drawingml/2006/main">
              <a:ext uri="{FF2B5EF4-FFF2-40B4-BE49-F238E27FC236}">
                <a16:creationId xmlns:a16="http://schemas.microsoft.com/office/drawing/2014/main" id="{5122ABD6-CA57-4055-852E-7FF2F8C8C732}"/>
              </a:ext>
            </a:extLst>
          </p:cNvPr>
          <p:cNvSpPr>
            <a:spLocks xmlns:a="http://schemas.openxmlformats.org/drawingml/2006/main" noGrp="1"/>
          </p:cNvSpPr>
          <p:nvPr/>
        </p:nvSpPr>
        <p:spPr>
          <a:xfrm xmlns:a="http://schemas.openxmlformats.org/drawingml/2006/main">
            <a:off x="4276725" y="5648325"/>
            <a:ext cx="358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BMI is not normally distributed.</a:t>
            </a:r>
          </a:p>
        </p:txBody>
      </p:sp>
      <p:sp>
        <p:nvSpPr>
          <p:cNvPr id="13" name="text">
            <a:extLst xmlns:a="http://schemas.openxmlformats.org/drawingml/2006/main">
              <a:ext uri="{FF2B5EF4-FFF2-40B4-BE49-F238E27FC236}">
                <a16:creationId xmlns:a16="http://schemas.microsoft.com/office/drawing/2014/main" id="{7672B808-66D1-4EFE-939F-B85A844D4F46}"/>
              </a:ext>
            </a:extLst>
          </p:cNvPr>
          <p:cNvSpPr>
            <a:spLocks xmlns:a="http://schemas.openxmlformats.org/drawingml/2006/main" noGrp="1"/>
          </p:cNvSpPr>
          <p:nvPr/>
        </p:nvSpPr>
        <p:spPr>
          <a:xfrm xmlns:a="http://schemas.openxmlformats.org/drawingml/2006/main">
            <a:off x="8153400" y="1600200"/>
            <a:ext cx="3581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D8C"/>
                </a:solidFill>
                <a:latin typeface="Arial"/>
                <a:ea typeface="Arial"/>
                <a:cs typeface="Arial"/>
              </a:defRPr>
            </a:defPPr>
          </a:lstStyle>
          <a:p xmlns:a="http://schemas.openxmlformats.org/drawingml/2006/main">
            <a:pPr>
              <a:defRPr sz="2100" b="1">
                <a:solidFill>
                  <a:srgbClr val="176D8C"/>
                </a:solidFill>
                <a:latin typeface="Arial"/>
                <a:ea typeface="Arial"/>
                <a:cs typeface="Arial"/>
              </a:defRPr>
            </a:pPr>
            <a:r>
              <a:rPr sz="2100" b="1">
                <a:solidFill>
                  <a:srgbClr val="176D8C"/>
                </a:solidFill>
                <a:latin typeface="Arial"/>
                <a:ea typeface="Arial"/>
                <a:cs typeface="Arial"/>
              </a:rPr>
              <a:t>Poisson</a:t>
            </a:r>
          </a:p>
        </p:txBody>
      </p:sp>
      <p:sp>
        <p:nvSpPr>
          <p:cNvPr id="14" name="text">
            <a:extLst xmlns:a="http://schemas.openxmlformats.org/drawingml/2006/main">
              <a:ext uri="{FF2B5EF4-FFF2-40B4-BE49-F238E27FC236}">
                <a16:creationId xmlns:a16="http://schemas.microsoft.com/office/drawing/2014/main" id="{3C1163A5-0D02-4ED6-B093-EF7765E813F4}"/>
              </a:ext>
            </a:extLst>
          </p:cNvPr>
          <p:cNvSpPr>
            <a:spLocks xmlns:a="http://schemas.openxmlformats.org/drawingml/2006/main" noGrp="1"/>
          </p:cNvSpPr>
          <p:nvPr/>
        </p:nvSpPr>
        <p:spPr>
          <a:xfrm xmlns:a="http://schemas.openxmlformats.org/drawingml/2006/main">
            <a:off x="8153400" y="2085975"/>
            <a:ext cx="3581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Physical-health days: mean 4.15,</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variance 74.24. Many zeros.</a:t>
            </a:r>
          </a:p>
        </p:txBody>
      </p:sp>
      <p:sp>
        <p:nvSpPr>
          <p:cNvPr id="15" name="text">
            <a:extLst xmlns:a="http://schemas.openxmlformats.org/drawingml/2006/main">
              <a:ext uri="{FF2B5EF4-FFF2-40B4-BE49-F238E27FC236}">
                <a16:creationId xmlns:a16="http://schemas.microsoft.com/office/drawing/2014/main" id="{9890BCAF-7319-402C-82DE-4692D0EFBA1F}"/>
              </a:ext>
            </a:extLst>
          </p:cNvPr>
          <p:cNvSpPr>
            <a:spLocks xmlns:a="http://schemas.openxmlformats.org/drawingml/2006/main" noGrp="1"/>
          </p:cNvSpPr>
          <p:nvPr/>
        </p:nvSpPr>
        <p:spPr>
          <a:xfrm xmlns:a="http://schemas.openxmlformats.org/drawingml/2006/main">
            <a:off x="8153400" y="5305425"/>
            <a:ext cx="3581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6D8C"/>
                </a:solidFill>
                <a:latin typeface="Arial"/>
                <a:ea typeface="Arial"/>
                <a:cs typeface="Arial"/>
              </a:defRPr>
            </a:defPPr>
          </a:lstStyle>
          <a:p xmlns:a="http://schemas.openxmlformats.org/drawingml/2006/main">
            <a:pPr>
              <a:defRPr sz="1725" b="1">
                <a:solidFill>
                  <a:srgbClr val="176D8C"/>
                </a:solidFill>
                <a:latin typeface="Arial"/>
                <a:ea typeface="Arial"/>
                <a:cs typeface="Arial"/>
              </a:defRPr>
            </a:pPr>
            <a:r>
              <a:rPr sz="1725" b="1">
                <a:solidFill>
                  <a:srgbClr val="176D8C"/>
                </a:solidFill>
                <a:latin typeface="Arial"/>
                <a:ea typeface="Arial"/>
                <a:cs typeface="Arial"/>
              </a:rPr>
              <a:t>Test p &lt; 0.001</a:t>
            </a:r>
          </a:p>
        </p:txBody>
      </p:sp>
      <p:sp>
        <p:nvSpPr>
          <p:cNvPr id="16" name="text">
            <a:extLst xmlns:a="http://schemas.openxmlformats.org/drawingml/2006/main">
              <a:ext uri="{FF2B5EF4-FFF2-40B4-BE49-F238E27FC236}">
                <a16:creationId xmlns:a16="http://schemas.microsoft.com/office/drawing/2014/main" id="{BEEC5EE1-6290-4BB9-910C-E6AF2003E759}"/>
              </a:ext>
            </a:extLst>
          </p:cNvPr>
          <p:cNvSpPr>
            <a:spLocks xmlns:a="http://schemas.openxmlformats.org/drawingml/2006/main" noGrp="1"/>
          </p:cNvSpPr>
          <p:nvPr/>
        </p:nvSpPr>
        <p:spPr>
          <a:xfrm xmlns:a="http://schemas.openxmlformats.org/drawingml/2006/main">
            <a:off x="8153400" y="5648325"/>
            <a:ext cx="358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Variance is far above the mean.</a:t>
            </a:r>
          </a:p>
        </p:txBody>
      </p:sp>
      <p:graphicFrame>
        <p:nvGraphicFramePr>
          <p:cNvPr id="17" name="Chart">
            <a:extLst xmlns:a="http://schemas.openxmlformats.org/drawingml/2006/main">
              <a:ext uri="{FF2B5EF4-FFF2-40B4-BE49-F238E27FC236}">
                <a16:creationId xmlns:a16="http://schemas.microsoft.com/office/drawing/2014/main" id="{23577FDF-97A5-43E5-AC9A-7B81610C0662}"/>
              </a:ext>
            </a:extLst>
          </p:cNvPr>
          <p:cNvGraphicFramePr/>
          <p:nvPr/>
        </p:nvGraphicFramePr>
        <p:xfrm>
          <a:off xmlns:a="http://schemas.openxmlformats.org/drawingml/2006/main" x="257175" y="2867025"/>
          <a:ext xmlns:a="http://schemas.openxmlformats.org/drawingml/2006/main" cx="3657600" cy="2200275"/>
        </p:xfrm>
        <a:graphic xmlns:a="http://schemas.openxmlformats.org/drawingml/2006/main">
          <a:graphicData uri="http://schemas.openxmlformats.org/drawingml/2006/chart">
            <c:chart xmlns:r="http://schemas.openxmlformats.org/officeDocument/2006/relationships" xmlns:c="http://schemas.openxmlformats.org/drawingml/2006/chart" r:id="R9b05b54c6819467f"/>
          </a:graphicData>
        </a:graphic>
      </p:graphicFrame>
      <p:pic>
        <p:nvPicPr>
          <p:cNvPr id="18" name="">
            <a:extLst xmlns:a="http://schemas.openxmlformats.org/drawingml/2006/main">
              <a:ext uri="{FF2B5EF4-FFF2-40B4-BE49-F238E27FC236}">
                <a16:creationId xmlns:a16="http://schemas.microsoft.com/office/drawing/2014/main" id="{BB23E5FC-91E0-475A-8345-7B12A3D17085}"/>
              </a:ext>
            </a:extLst>
          </p:cNvPr>
          <p:cNvPicPr>
            <a:picLocks xmlns:a="http://schemas.openxmlformats.org/drawingml/2006/main" noChangeAspect="1"/>
          </p:cNvPicPr>
          <p:nvPr/>
        </p:nvPicPr>
        <p:blipFill>
          <a:blip xmlns:r="http://schemas.openxmlformats.org/officeDocument/2006/relationships" xmlns:a="http://schemas.openxmlformats.org/drawingml/2006/main" r:embed="Rc2c69ee3790a43d4"/>
          <a:stretch xmlns:a="http://schemas.openxmlformats.org/drawingml/2006/main"/>
        </p:blipFill>
        <p:spPr>
          <a:xfrm xmlns:a="http://schemas.openxmlformats.org/drawingml/2006/main">
            <a:off x="4276725" y="2771775"/>
            <a:ext cx="3524250" cy="2457450"/>
          </a:xfrm>
          <a:prstGeom xmlns:a="http://schemas.openxmlformats.org/drawingml/2006/main" prst="rect">
            <a:avLst/>
          </a:prstGeom>
        </p:spPr>
      </p:pic>
      <p:graphicFrame>
        <p:nvGraphicFramePr>
          <p:cNvPr id="19" name="Chart">
            <a:extLst xmlns:a="http://schemas.openxmlformats.org/drawingml/2006/main">
              <a:ext uri="{FF2B5EF4-FFF2-40B4-BE49-F238E27FC236}">
                <a16:creationId xmlns:a16="http://schemas.microsoft.com/office/drawing/2014/main" id="{D91D0B08-CDC7-4ACC-B73F-1B2BDFACA343}"/>
              </a:ext>
            </a:extLst>
          </p:cNvPr>
          <p:cNvGraphicFramePr/>
          <p:nvPr/>
        </p:nvGraphicFramePr>
        <p:xfrm>
          <a:off xmlns:a="http://schemas.openxmlformats.org/drawingml/2006/main" x="8124825" y="2867025"/>
          <a:ext xmlns:a="http://schemas.openxmlformats.org/drawingml/2006/main" cx="3714750" cy="2200275"/>
        </p:xfrm>
        <a:graphic xmlns:a="http://schemas.openxmlformats.org/drawingml/2006/main">
          <a:graphicData uri="http://schemas.openxmlformats.org/drawingml/2006/chart">
            <c:chart xmlns:r="http://schemas.openxmlformats.org/officeDocument/2006/relationships" xmlns:c="http://schemas.openxmlformats.org/drawingml/2006/chart" r:id="R235f47ca5d5049e7"/>
          </a:graphicData>
        </a:graphic>
      </p:graphicFrame>
      <p:sp>
        <p:nvSpPr>
          <p:cNvPr id="20" name="">
            <a:extLst xmlns:a="http://schemas.openxmlformats.org/drawingml/2006/main">
              <a:ext uri="{FF2B5EF4-FFF2-40B4-BE49-F238E27FC236}">
                <a16:creationId xmlns:a16="http://schemas.microsoft.com/office/drawing/2014/main" id="{04CF25DC-CEA3-4639-AE1D-F286EF40B363}"/>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B4EDB6E7-A992-47D6-A5D1-FF02486D5BF6}"/>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A useful analysis explains why a model fits or fails.</a:t>
            </a:r>
          </a:p>
        </p:txBody>
      </p:sp>
      <p:sp>
        <p:nvSpPr>
          <p:cNvPr id="22" name="text">
            <a:extLst xmlns:a="http://schemas.openxmlformats.org/drawingml/2006/main">
              <a:ext uri="{FF2B5EF4-FFF2-40B4-BE49-F238E27FC236}">
                <a16:creationId xmlns:a16="http://schemas.microsoft.com/office/drawing/2014/main" id="{513A3B3F-8E0A-44D0-8643-60DAF3D2A89B}"/>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7 / 11</a:t>
            </a:r>
          </a:p>
        </p:txBody>
      </p:sp>
    </p:spTree>
    <p:extLst>
      <p:ext uri="{BB962C8B-B14F-4D97-AF65-F5344CB8AC3E}">
        <p14:creationId xmlns:p14="http://schemas.microsoft.com/office/powerpoint/2010/main" val="2010491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7151D030-DF4A-447F-9ED3-47695B1F6CD8}"/>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7: One-sample tests     LAB 8: Two-sample tests     LAB 9: Independent and paired t-tests</a:t>
            </a:r>
          </a:p>
        </p:txBody>
      </p:sp>
      <p:sp>
        <p:nvSpPr>
          <p:cNvPr id="2" name="">
            <a:extLst xmlns:a="http://schemas.openxmlformats.org/drawingml/2006/main">
              <a:ext uri="{FF2B5EF4-FFF2-40B4-BE49-F238E27FC236}">
                <a16:creationId xmlns:a16="http://schemas.microsoft.com/office/drawing/2014/main" id="{69E576C2-14FB-4351-AE4F-2A4FB03D6628}"/>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60F2FF9B-0B0E-41E4-831F-E3BA8A3233AE}"/>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Hypothesis tests and paired measurements</a:t>
            </a:r>
          </a:p>
        </p:txBody>
      </p:sp>
      <p:sp>
        <p:nvSpPr>
          <p:cNvPr id="4" name="text">
            <a:extLst xmlns:a="http://schemas.openxmlformats.org/drawingml/2006/main">
              <a:ext uri="{FF2B5EF4-FFF2-40B4-BE49-F238E27FC236}">
                <a16:creationId xmlns:a16="http://schemas.microsoft.com/office/drawing/2014/main" id="{4BA6C987-3724-4803-9899-EFE7BBA981AF}"/>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At α = 0.05, p &lt; 0.05 supports a difference. Read the size of the change too.</a:t>
            </a:r>
          </a:p>
        </p:txBody>
      </p:sp>
      <p:sp>
        <p:nvSpPr>
          <p:cNvPr id="5" name="text">
            <a:extLst xmlns:a="http://schemas.openxmlformats.org/drawingml/2006/main">
              <a:ext uri="{FF2B5EF4-FFF2-40B4-BE49-F238E27FC236}">
                <a16:creationId xmlns:a16="http://schemas.microsoft.com/office/drawing/2014/main" id="{9210FAAD-1FB3-4A6F-83C5-6D24897C4846}"/>
              </a:ext>
            </a:extLst>
          </p:cNvPr>
          <p:cNvSpPr>
            <a:spLocks xmlns:a="http://schemas.openxmlformats.org/drawingml/2006/main" noGrp="1"/>
          </p:cNvSpPr>
          <p:nvPr/>
        </p:nvSpPr>
        <p:spPr>
          <a:xfrm xmlns:a="http://schemas.openxmlformats.org/drawingml/2006/main">
            <a:off x="400050" y="1533525"/>
            <a:ext cx="775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83044"/>
                </a:solidFill>
                <a:latin typeface="Arial"/>
                <a:ea typeface="Arial"/>
                <a:cs typeface="Arial"/>
              </a:defRPr>
            </a:defPPr>
          </a:lstStyle>
          <a:p xmlns:a="http://schemas.openxmlformats.org/drawingml/2006/main">
            <a:pPr>
              <a:defRPr sz="1875" b="1">
                <a:solidFill>
                  <a:srgbClr val="183044"/>
                </a:solidFill>
                <a:latin typeface="Arial"/>
                <a:ea typeface="Arial"/>
                <a:cs typeface="Arial"/>
              </a:defRPr>
            </a:pPr>
            <a:r>
              <a:rPr sz="1875" b="1">
                <a:solidFill>
                  <a:srgbClr val="183044"/>
                </a:solidFill>
                <a:latin typeface="Arial"/>
                <a:ea typeface="Arial"/>
                <a:cs typeface="Arial"/>
              </a:rPr>
              <a:t>Six questions, six test results</a:t>
            </a:r>
          </a:p>
        </p:txBody>
      </p:sp>
      <p:graphicFrame>
        <p:nvGraphicFramePr>
          <p:cNvPr id="6" name="">
            <a:extLst xmlns:a="http://schemas.openxmlformats.org/drawingml/2006/main">
              <a:ext uri="{FF2B5EF4-FFF2-40B4-BE49-F238E27FC236}">
                <a16:creationId xmlns:a16="http://schemas.microsoft.com/office/drawing/2014/main" id="{6561665E-6528-4D0F-A2E6-1E8159A25B63}"/>
              </a:ext>
            </a:extLst>
          </p:cNvPr>
          <p:cNvGraphicFramePr/>
          <p:nvPr/>
        </p:nvGraphicFramePr>
        <p:xfrm>
          <a:off xmlns:a="http://schemas.openxmlformats.org/drawingml/2006/main" x="400050" y="2038350"/>
          <a:ext xmlns:a="http://schemas.openxmlformats.org/drawingml/2006/main" cx="7762875" cy="3171825"/>
        </p:xfrm>
        <a:graphic xmlns:a="http://schemas.openxmlformats.org/drawingml/2006/main">
          <a:graphicData uri="http://schemas.openxmlformats.org/drawingml/2006/table">
            <a:tbl>
              <a:tblPr/>
              <a:tblGrid>
                <a:gridCol w="3238500"/>
                <a:gridCol w="1724025"/>
                <a:gridCol w="1876425"/>
                <a:gridCol w="923925"/>
              </a:tblGrid>
              <a:tr h="453118">
                <a:tc>
                  <a:txBody>
                    <a:bodyPr>
                      <a:noAutofit/>
                    </a:bodyPr>
                    <a:lstStyle/>
                    <a:p>
                      <a:pPr algn="l"/>
                      <a:r>
                        <a:rPr sz="1500" b="1">
                          <a:solidFill>
                            <a:srgbClr val="FFFFFF"/>
                          </a:solidFill>
                          <a:latin typeface="Arial"/>
                          <a:ea typeface="Arial"/>
                          <a:cs typeface="Arial"/>
                        </a:rPr>
                        <a:t>Question / comparison</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00" b="1">
                          <a:solidFill>
                            <a:srgbClr val="FFFFFF"/>
                          </a:solidFill>
                          <a:latin typeface="Arial"/>
                          <a:ea typeface="Arial"/>
                          <a:cs typeface="Arial"/>
                        </a:rPr>
                        <a:t>Method</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00" b="1">
                          <a:solidFill>
                            <a:srgbClr val="FFFFFF"/>
                          </a:solidFill>
                          <a:latin typeface="Arial"/>
                          <a:ea typeface="Arial"/>
                          <a:cs typeface="Arial"/>
                        </a:rPr>
                        <a:t>Result</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500" b="1">
                          <a:solidFill>
                            <a:srgbClr val="FFFFFF"/>
                          </a:solidFill>
                          <a:latin typeface="Arial"/>
                          <a:ea typeface="Arial"/>
                          <a:cs typeface="Arial"/>
                        </a:rPr>
                        <a:t>p</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453118">
                <a:tc>
                  <a:txBody>
                    <a:bodyPr>
                      <a:noAutofit/>
                    </a:bodyPr>
                    <a:lstStyle/>
                    <a:p>
                      <a:pPr algn="l"/>
                      <a:r>
                        <a:rPr sz="1500" b="0">
                          <a:solidFill>
                            <a:srgbClr val="183044"/>
                          </a:solidFill>
                          <a:latin typeface="Arial"/>
                          <a:ea typeface="Arial"/>
                          <a:cs typeface="Arial"/>
                        </a:rPr>
                        <a:t>Mean BMI vs 27</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One-sample t</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28.40</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FFFFFF"/>
                    </a:solidFill>
                  </a:tcPr>
                </a:tc>
              </a:tr>
              <a:tr h="453118">
                <a:tc>
                  <a:txBody>
                    <a:bodyPr>
                      <a:noAutofit/>
                    </a:bodyPr>
                    <a:lstStyle/>
                    <a:p>
                      <a:pPr algn="l"/>
                      <a:r>
                        <a:rPr sz="1500" b="0">
                          <a:solidFill>
                            <a:srgbClr val="183044"/>
                          </a:solidFill>
                          <a:latin typeface="Arial"/>
                          <a:ea typeface="Arial"/>
                          <a:cs typeface="Arial"/>
                        </a:rPr>
                        <a:t>Positive share vs 11%</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One proportion</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15.63%</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EAF2F5"/>
                    </a:solidFill>
                  </a:tcPr>
                </a:tc>
              </a:tr>
              <a:tr h="453118">
                <a:tc>
                  <a:txBody>
                    <a:bodyPr>
                      <a:noAutofit/>
                    </a:bodyPr>
                    <a:lstStyle/>
                    <a:p>
                      <a:pPr algn="l"/>
                      <a:r>
                        <a:rPr sz="1500" b="0">
                          <a:solidFill>
                            <a:srgbClr val="183044"/>
                          </a:solidFill>
                          <a:latin typeface="Arial"/>
                          <a:ea typeface="Arial"/>
                          <a:cs typeface="Arial"/>
                        </a:rPr>
                        <a:t>BMI: female − male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Welch t</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−0.65</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0.004</a:t>
                      </a:r>
                    </a:p>
                  </a:txBody>
                  <a:tcPr marL="91440" marR="91440" marT="45720" marB="45720">
                    <a:lnR w="9525">
                      <a:solidFill>
                        <a:srgbClr val="D6E0E5"/>
                      </a:solidFill>
                      <a:prstDash val="solid"/>
                    </a:lnR>
                    <a:lnB w="9525">
                      <a:solidFill>
                        <a:srgbClr val="D6E0E5"/>
                      </a:solidFill>
                      <a:prstDash val="solid"/>
                    </a:lnB>
                    <a:solidFill>
                      <a:srgbClr val="FFFFFF"/>
                    </a:solidFill>
                  </a:tcPr>
                </a:tc>
              </a:tr>
              <a:tr h="453118">
                <a:tc>
                  <a:txBody>
                    <a:bodyPr>
                      <a:noAutofit/>
                    </a:bodyPr>
                    <a:lstStyle/>
                    <a:p>
                      <a:pPr algn="l"/>
                      <a:r>
                        <a:rPr sz="1500" b="0">
                          <a:solidFill>
                            <a:srgbClr val="183044"/>
                          </a:solidFill>
                          <a:latin typeface="Arial"/>
                          <a:ea typeface="Arial"/>
                          <a:cs typeface="Arial"/>
                        </a:rPr>
                        <a:t>Positive share: never / ever smoked</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Two proportions</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14.09% / 17.36%</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0.016</a:t>
                      </a:r>
                    </a:p>
                  </a:txBody>
                  <a:tcPr marL="91440" marR="91440" marT="45720" marB="45720">
                    <a:lnR w="9525">
                      <a:solidFill>
                        <a:srgbClr val="D6E0E5"/>
                      </a:solidFill>
                      <a:prstDash val="solid"/>
                    </a:lnR>
                    <a:lnB w="9525">
                      <a:solidFill>
                        <a:srgbClr val="D6E0E5"/>
                      </a:solidFill>
                      <a:prstDash val="solid"/>
                    </a:lnB>
                    <a:solidFill>
                      <a:srgbClr val="EAF2F5"/>
                    </a:solidFill>
                  </a:tcPr>
                </a:tc>
              </a:tr>
              <a:tr h="453118">
                <a:tc>
                  <a:txBody>
                    <a:bodyPr>
                      <a:noAutofit/>
                    </a:bodyPr>
                    <a:lstStyle/>
                    <a:p>
                      <a:pPr algn="l"/>
                      <a:r>
                        <a:rPr sz="1500" b="0">
                          <a:solidFill>
                            <a:srgbClr val="183044"/>
                          </a:solidFill>
                          <a:latin typeface="Arial"/>
                          <a:ea typeface="Arial"/>
                          <a:cs typeface="Arial"/>
                        </a:rPr>
                        <a:t>Poor-health days: female − male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Independent t</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+1.25 days</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500"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FFFFFF"/>
                    </a:solidFill>
                  </a:tcPr>
                </a:tc>
              </a:tr>
              <a:tr h="453118">
                <a:tc>
                  <a:txBody>
                    <a:bodyPr>
                      <a:noAutofit/>
                    </a:bodyPr>
                    <a:lstStyle/>
                    <a:p>
                      <a:pPr algn="l"/>
                      <a:r>
                        <a:rPr sz="1500" b="0">
                          <a:solidFill>
                            <a:srgbClr val="183044"/>
                          </a:solidFill>
                          <a:latin typeface="Arial"/>
                          <a:ea typeface="Arial"/>
                          <a:cs typeface="Arial"/>
                        </a:rPr>
                        <a:t>Weight: after − before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Paired t</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+3.01 lb</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500" b="0">
                          <a:solidFill>
                            <a:srgbClr val="183044"/>
                          </a:solidFill>
                          <a:latin typeface="Arial"/>
                          <a:ea typeface="Arial"/>
                          <a:cs typeface="Arial"/>
                        </a:rPr>
                        <a:t>0.035</a:t>
                      </a:r>
                    </a:p>
                  </a:txBody>
                  <a:tcPr marL="91440" marR="91440" marT="45720" marB="45720">
                    <a:lnR w="9525">
                      <a:solidFill>
                        <a:srgbClr val="D6E0E5"/>
                      </a:solidFill>
                      <a:prstDash val="solid"/>
                    </a:lnR>
                    <a:lnB w="9525">
                      <a:solidFill>
                        <a:srgbClr val="D6E0E5"/>
                      </a:solidFill>
                      <a:prstDash val="solid"/>
                    </a:lnB>
                    <a:solidFill>
                      <a:srgbClr val="EAF2F5"/>
                    </a:solidFill>
                  </a:tcPr>
                </a:tc>
              </a:tr>
            </a:tbl>
          </a:graphicData>
        </a:graphic>
      </p:graphicFrame>
      <p:sp>
        <p:nvSpPr>
          <p:cNvPr id="7" name="text">
            <a:extLst xmlns:a="http://schemas.openxmlformats.org/drawingml/2006/main">
              <a:ext uri="{FF2B5EF4-FFF2-40B4-BE49-F238E27FC236}">
                <a16:creationId xmlns:a16="http://schemas.microsoft.com/office/drawing/2014/main" id="{DFCC22D6-C273-4F3D-8440-49538D624F65}"/>
              </a:ext>
            </a:extLst>
          </p:cNvPr>
          <p:cNvSpPr>
            <a:spLocks xmlns:a="http://schemas.openxmlformats.org/drawingml/2006/main" noGrp="1"/>
          </p:cNvSpPr>
          <p:nvPr/>
        </p:nvSpPr>
        <p:spPr>
          <a:xfrm xmlns:a="http://schemas.openxmlformats.org/drawingml/2006/main">
            <a:off x="8448675" y="1533525"/>
            <a:ext cx="333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83044"/>
                </a:solidFill>
                <a:latin typeface="Arial"/>
                <a:ea typeface="Arial"/>
                <a:cs typeface="Arial"/>
              </a:defRPr>
            </a:defPPr>
          </a:lstStyle>
          <a:p xmlns:a="http://schemas.openxmlformats.org/drawingml/2006/main">
            <a:pPr>
              <a:defRPr sz="1800" b="1">
                <a:solidFill>
                  <a:srgbClr val="183044"/>
                </a:solidFill>
                <a:latin typeface="Arial"/>
                <a:ea typeface="Arial"/>
                <a:cs typeface="Arial"/>
              </a:defRPr>
            </a:pPr>
            <a:r>
              <a:rPr sz="1800" b="1">
                <a:solidFill>
                  <a:srgbClr val="183044"/>
                </a:solidFill>
                <a:latin typeface="Arial"/>
                <a:ea typeface="Arial"/>
                <a:cs typeface="Arial"/>
              </a:rPr>
              <a:t>Paired example: same 29 patients</a:t>
            </a:r>
          </a:p>
        </p:txBody>
      </p:sp>
      <p:graphicFrame>
        <p:nvGraphicFramePr>
          <p:cNvPr id="8" name="Chart">
            <a:extLst xmlns:a="http://schemas.openxmlformats.org/drawingml/2006/main">
              <a:ext uri="{FF2B5EF4-FFF2-40B4-BE49-F238E27FC236}">
                <a16:creationId xmlns:a16="http://schemas.microsoft.com/office/drawing/2014/main" id="{D11CD604-4149-4B39-B5CD-F2895215B1BC}"/>
              </a:ext>
            </a:extLst>
          </p:cNvPr>
          <p:cNvGraphicFramePr/>
          <p:nvPr/>
        </p:nvGraphicFramePr>
        <p:xfrm>
          <a:off xmlns:a="http://schemas.openxmlformats.org/drawingml/2006/main" x="8334375" y="2276475"/>
          <a:ext xmlns:a="http://schemas.openxmlformats.org/drawingml/2006/main" cx="3457575" cy="2714625"/>
        </p:xfrm>
        <a:graphic xmlns:a="http://schemas.openxmlformats.org/drawingml/2006/main">
          <a:graphicData uri="http://schemas.openxmlformats.org/drawingml/2006/chart">
            <c:chart xmlns:r="http://schemas.openxmlformats.org/officeDocument/2006/relationships" xmlns:c="http://schemas.openxmlformats.org/drawingml/2006/chart" r:id="R52d85346903c4bd3"/>
          </a:graphicData>
        </a:graphic>
      </p:graphicFrame>
      <p:sp>
        <p:nvSpPr>
          <p:cNvPr id="9" name="text">
            <a:extLst xmlns:a="http://schemas.openxmlformats.org/drawingml/2006/main">
              <a:ext uri="{FF2B5EF4-FFF2-40B4-BE49-F238E27FC236}">
                <a16:creationId xmlns:a16="http://schemas.microsoft.com/office/drawing/2014/main" id="{D53CE73D-0FCC-4A47-B3BC-E09895A610FE}"/>
              </a:ext>
            </a:extLst>
          </p:cNvPr>
          <p:cNvSpPr>
            <a:spLocks xmlns:a="http://schemas.openxmlformats.org/drawingml/2006/main" noGrp="1"/>
          </p:cNvSpPr>
          <p:nvPr/>
        </p:nvSpPr>
        <p:spPr>
          <a:xfrm xmlns:a="http://schemas.openxmlformats.org/drawingml/2006/main">
            <a:off x="8448675" y="51816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6D8C"/>
                </a:solidFill>
                <a:latin typeface="Arial"/>
                <a:ea typeface="Arial"/>
                <a:cs typeface="Arial"/>
              </a:defRPr>
            </a:defPPr>
          </a:lstStyle>
          <a:p xmlns:a="http://schemas.openxmlformats.org/drawingml/2006/main">
            <a:pPr>
              <a:defRPr sz="1725" b="1">
                <a:solidFill>
                  <a:srgbClr val="176D8C"/>
                </a:solidFill>
                <a:latin typeface="Arial"/>
                <a:ea typeface="Arial"/>
                <a:cs typeface="Arial"/>
              </a:defRPr>
            </a:pPr>
            <a:r>
              <a:rPr sz="1725" b="1">
                <a:solidFill>
                  <a:srgbClr val="176D8C"/>
                </a:solidFill>
                <a:latin typeface="Arial"/>
                <a:ea typeface="Arial"/>
                <a:cs typeface="Arial"/>
              </a:rPr>
              <a:t>Mean gain: +3.01 lb</a:t>
            </a:r>
          </a:p>
          <a:p xmlns:a="http://schemas.openxmlformats.org/drawingml/2006/main">
            <a:pPr>
              <a:defRPr sz="1725" b="1">
                <a:solidFill>
                  <a:srgbClr val="176D8C"/>
                </a:solidFill>
                <a:latin typeface="Arial"/>
                <a:ea typeface="Arial"/>
                <a:cs typeface="Arial"/>
              </a:defRPr>
            </a:pPr>
            <a:r>
              <a:rPr sz="1725" b="1">
                <a:solidFill>
                  <a:srgbClr val="176D8C"/>
                </a:solidFill>
                <a:latin typeface="Arial"/>
                <a:ea typeface="Arial"/>
                <a:cs typeface="Arial"/>
              </a:rPr>
              <a:t>95% CI: +0.23 to +5.79 lb</a:t>
            </a:r>
          </a:p>
        </p:txBody>
      </p:sp>
      <p:sp>
        <p:nvSpPr>
          <p:cNvPr id="10" name="text">
            <a:extLst xmlns:a="http://schemas.openxmlformats.org/drawingml/2006/main">
              <a:ext uri="{FF2B5EF4-FFF2-40B4-BE49-F238E27FC236}">
                <a16:creationId xmlns:a16="http://schemas.microsoft.com/office/drawing/2014/main" id="{A05F0091-08A0-41F9-8B54-AA3B74B36A06}"/>
              </a:ext>
            </a:extLst>
          </p:cNvPr>
          <p:cNvSpPr>
            <a:spLocks xmlns:a="http://schemas.openxmlformats.org/drawingml/2006/main" noGrp="1"/>
          </p:cNvSpPr>
          <p:nvPr/>
        </p:nvSpPr>
        <p:spPr>
          <a:xfrm xmlns:a="http://schemas.openxmlformats.org/drawingml/2006/main">
            <a:off x="400050" y="5486400"/>
            <a:ext cx="7724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415566"/>
                </a:solidFill>
                <a:latin typeface="Arial"/>
                <a:ea typeface="Arial"/>
                <a:cs typeface="Arial"/>
              </a:defRPr>
            </a:defPPr>
          </a:lstStyle>
          <a:p xmlns:a="http://schemas.openxmlformats.org/drawingml/2006/main">
            <a:pPr>
              <a:defRPr sz="1575" b="0">
                <a:solidFill>
                  <a:srgbClr val="415566"/>
                </a:solidFill>
                <a:latin typeface="Arial"/>
                <a:ea typeface="Arial"/>
                <a:cs typeface="Arial"/>
              </a:defRPr>
            </a:pPr>
            <a:r>
              <a:rPr sz="1575" b="0">
                <a:solidFill>
                  <a:srgbClr val="415566"/>
                </a:solidFill>
                <a:latin typeface="Arial"/>
                <a:ea typeface="Arial"/>
                <a:cs typeface="Arial"/>
              </a:rPr>
              <a:t>Reference values 27 and 11% are classroom assumptions.</a:t>
            </a:r>
          </a:p>
        </p:txBody>
      </p:sp>
      <p:sp>
        <p:nvSpPr>
          <p:cNvPr id="11" name="">
            <a:extLst xmlns:a="http://schemas.openxmlformats.org/drawingml/2006/main">
              <a:ext uri="{FF2B5EF4-FFF2-40B4-BE49-F238E27FC236}">
                <a16:creationId xmlns:a16="http://schemas.microsoft.com/office/drawing/2014/main" id="{DCDE190B-5844-4A08-988F-A187FFE78902}"/>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411BE6D-E3F3-40C9-9963-56BF3D5F5A2A}"/>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Paired tests compare the same people twice. Independent tests compare different groups.</a:t>
            </a:r>
          </a:p>
        </p:txBody>
      </p:sp>
      <p:sp>
        <p:nvSpPr>
          <p:cNvPr id="13" name="text">
            <a:extLst xmlns:a="http://schemas.openxmlformats.org/drawingml/2006/main">
              <a:ext uri="{FF2B5EF4-FFF2-40B4-BE49-F238E27FC236}">
                <a16:creationId xmlns:a16="http://schemas.microsoft.com/office/drawing/2014/main" id="{581FA16E-2B40-404B-810D-465508B1A43B}"/>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8 / 11</a:t>
            </a:r>
          </a:p>
        </p:txBody>
      </p:sp>
    </p:spTree>
    <p:extLst>
      <p:ext uri="{BB962C8B-B14F-4D97-AF65-F5344CB8AC3E}">
        <p14:creationId xmlns:p14="http://schemas.microsoft.com/office/powerpoint/2010/main" val="12152828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C880E7D0-4ADD-4E6C-AA14-D4A673A1D152}"/>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10: Chi-square goodness of fit and contingency tables</a:t>
            </a:r>
          </a:p>
        </p:txBody>
      </p:sp>
      <p:sp>
        <p:nvSpPr>
          <p:cNvPr id="2" name="">
            <a:extLst xmlns:a="http://schemas.openxmlformats.org/drawingml/2006/main">
              <a:ext uri="{FF2B5EF4-FFF2-40B4-BE49-F238E27FC236}">
                <a16:creationId xmlns:a16="http://schemas.microsoft.com/office/drawing/2014/main" id="{62F231FF-8E91-45BC-9789-F46B031143E8}"/>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3147DE41-BFDD-4847-B3A7-240D7200D909}"/>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Chi-square: category patterns and relationships</a:t>
            </a:r>
          </a:p>
        </p:txBody>
      </p:sp>
      <p:sp>
        <p:nvSpPr>
          <p:cNvPr id="4" name="text">
            <a:extLst xmlns:a="http://schemas.openxmlformats.org/drawingml/2006/main">
              <a:ext uri="{FF2B5EF4-FFF2-40B4-BE49-F238E27FC236}">
                <a16:creationId xmlns:a16="http://schemas.microsoft.com/office/drawing/2014/main" id="{DB9B5EEB-2C5A-46BA-ABB8-197EB95F3AF5}"/>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Goodness of fit checks category counts. Independence tests check whether two categories are related.</a:t>
            </a:r>
          </a:p>
        </p:txBody>
      </p:sp>
      <p:graphicFrame>
        <p:nvGraphicFramePr>
          <p:cNvPr id="5" name="">
            <a:extLst xmlns:a="http://schemas.openxmlformats.org/drawingml/2006/main">
              <a:ext uri="{FF2B5EF4-FFF2-40B4-BE49-F238E27FC236}">
                <a16:creationId xmlns:a16="http://schemas.microsoft.com/office/drawing/2014/main" id="{3AFD63C5-B440-4CF0-AAF2-109C0BE18D27}"/>
              </a:ext>
            </a:extLst>
          </p:cNvPr>
          <p:cNvGraphicFramePr/>
          <p:nvPr/>
        </p:nvGraphicFramePr>
        <p:xfrm>
          <a:off xmlns:a="http://schemas.openxmlformats.org/drawingml/2006/main" x="400050" y="1676400"/>
          <a:ext xmlns:a="http://schemas.openxmlformats.org/drawingml/2006/main" cx="11391900" cy="1628775"/>
        </p:xfrm>
        <a:graphic xmlns:a="http://schemas.openxmlformats.org/drawingml/2006/main">
          <a:graphicData uri="http://schemas.openxmlformats.org/drawingml/2006/table">
            <a:tbl>
              <a:tblPr/>
              <a:tblGrid>
                <a:gridCol w="7886700"/>
                <a:gridCol w="1752600"/>
                <a:gridCol w="1752600"/>
              </a:tblGrid>
              <a:tr h="407194">
                <a:tc>
                  <a:txBody>
                    <a:bodyPr>
                      <a:noAutofit/>
                    </a:bodyPr>
                    <a:lstStyle/>
                    <a:p>
                      <a:pPr algn="l"/>
                      <a:r>
                        <a:rPr sz="1725" b="1">
                          <a:solidFill>
                            <a:srgbClr val="FFFFFF"/>
                          </a:solidFill>
                          <a:latin typeface="Arial"/>
                          <a:ea typeface="Arial"/>
                          <a:cs typeface="Arial"/>
                        </a:rPr>
                        <a:t>Test</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725" b="1">
                          <a:solidFill>
                            <a:srgbClr val="FFFFFF"/>
                          </a:solidFill>
                          <a:latin typeface="Arial"/>
                          <a:ea typeface="Arial"/>
                          <a:cs typeface="Arial"/>
                        </a:rPr>
                        <a:t>χ²</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725" b="1">
                          <a:solidFill>
                            <a:srgbClr val="FFFFFF"/>
                          </a:solidFill>
                          <a:latin typeface="Arial"/>
                          <a:ea typeface="Arial"/>
                          <a:cs typeface="Arial"/>
                        </a:rPr>
                        <a:t>p</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407194">
                <a:tc>
                  <a:txBody>
                    <a:bodyPr>
                      <a:noAutofit/>
                    </a:bodyPr>
                    <a:lstStyle/>
                    <a:p>
                      <a:pPr algn="l"/>
                      <a:r>
                        <a:rPr sz="1725" b="0">
                          <a:solidFill>
                            <a:srgbClr val="183044"/>
                          </a:solidFill>
                          <a:latin typeface="Arial"/>
                          <a:ea typeface="Arial"/>
                          <a:cs typeface="Arial"/>
                        </a:rPr>
                        <a:t>Age groups: equal frequency (GOF)</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725" b="0">
                          <a:solidFill>
                            <a:srgbClr val="183044"/>
                          </a:solidFill>
                          <a:latin typeface="Arial"/>
                          <a:ea typeface="Arial"/>
                          <a:cs typeface="Arial"/>
                        </a:rPr>
                        <a:t>678.12</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725"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FFFFFF"/>
                    </a:solidFill>
                  </a:tcPr>
                </a:tc>
              </a:tr>
              <a:tr h="407194">
                <a:tc>
                  <a:txBody>
                    <a:bodyPr>
                      <a:noAutofit/>
                    </a:bodyPr>
                    <a:lstStyle/>
                    <a:p>
                      <a:pPr algn="l"/>
                      <a:r>
                        <a:rPr sz="1725" b="0">
                          <a:solidFill>
                            <a:srgbClr val="183044"/>
                          </a:solidFill>
                          <a:latin typeface="Arial"/>
                          <a:ea typeface="Arial"/>
                          <a:cs typeface="Arial"/>
                        </a:rPr>
                        <a:t>Status × high BP</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725" b="0">
                          <a:solidFill>
                            <a:srgbClr val="183044"/>
                          </a:solidFill>
                          <a:latin typeface="Arial"/>
                          <a:ea typeface="Arial"/>
                          <a:cs typeface="Arial"/>
                        </a:rPr>
                        <a:t>226.28</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725"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EAF2F5"/>
                    </a:solidFill>
                  </a:tcPr>
                </a:tc>
              </a:tr>
              <a:tr h="407194">
                <a:tc>
                  <a:txBody>
                    <a:bodyPr>
                      <a:noAutofit/>
                    </a:bodyPr>
                    <a:lstStyle/>
                    <a:p>
                      <a:pPr algn="l"/>
                      <a:r>
                        <a:rPr sz="1725" b="0">
                          <a:solidFill>
                            <a:srgbClr val="183044"/>
                          </a:solidFill>
                          <a:latin typeface="Arial"/>
                          <a:ea typeface="Arial"/>
                          <a:cs typeface="Arial"/>
                        </a:rPr>
                        <a:t>Status × smoking</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725" b="0">
                          <a:solidFill>
                            <a:srgbClr val="183044"/>
                          </a:solidFill>
                          <a:latin typeface="Arial"/>
                          <a:ea typeface="Arial"/>
                          <a:cs typeface="Arial"/>
                        </a:rPr>
                        <a:t>6.07</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725" b="0">
                          <a:solidFill>
                            <a:srgbClr val="183044"/>
                          </a:solidFill>
                          <a:latin typeface="Arial"/>
                          <a:ea typeface="Arial"/>
                          <a:cs typeface="Arial"/>
                        </a:rPr>
                        <a:t>0.014</a:t>
                      </a:r>
                    </a:p>
                  </a:txBody>
                  <a:tcPr marL="91440" marR="91440" marT="45720" marB="45720">
                    <a:lnR w="9525">
                      <a:solidFill>
                        <a:srgbClr val="D6E0E5"/>
                      </a:solidFill>
                      <a:prstDash val="solid"/>
                    </a:lnR>
                    <a:lnB w="9525">
                      <a:solidFill>
                        <a:srgbClr val="D6E0E5"/>
                      </a:solidFill>
                      <a:prstDash val="solid"/>
                    </a:lnB>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6A3681AC-406C-4FDA-8948-96449836BE05}"/>
              </a:ext>
            </a:extLst>
          </p:cNvPr>
          <p:cNvSpPr>
            <a:spLocks xmlns:a="http://schemas.openxmlformats.org/drawingml/2006/main" noGrp="1"/>
          </p:cNvSpPr>
          <p:nvPr/>
        </p:nvSpPr>
        <p:spPr>
          <a:xfrm xmlns:a="http://schemas.openxmlformats.org/drawingml/2006/main">
            <a:off x="400050" y="3524250"/>
            <a:ext cx="546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6D8C"/>
                </a:solidFill>
                <a:latin typeface="Arial"/>
                <a:ea typeface="Arial"/>
                <a:cs typeface="Arial"/>
              </a:defRPr>
            </a:defPPr>
          </a:lstStyle>
          <a:p xmlns:a="http://schemas.openxmlformats.org/drawingml/2006/main">
            <a:pPr>
              <a:defRPr sz="1800" b="1">
                <a:solidFill>
                  <a:srgbClr val="176D8C"/>
                </a:solidFill>
                <a:latin typeface="Arial"/>
                <a:ea typeface="Arial"/>
                <a:cs typeface="Arial"/>
              </a:defRPr>
            </a:pPr>
            <a:r>
              <a:rPr sz="1800" b="1">
                <a:solidFill>
                  <a:srgbClr val="176D8C"/>
                </a:solidFill>
                <a:latin typeface="Arial"/>
                <a:ea typeface="Arial"/>
                <a:cs typeface="Arial"/>
              </a:rPr>
              <a:t>Blood pressure: larger difference</a:t>
            </a:r>
          </a:p>
        </p:txBody>
      </p:sp>
      <p:sp>
        <p:nvSpPr>
          <p:cNvPr id="7" name="text">
            <a:extLst xmlns:a="http://schemas.openxmlformats.org/drawingml/2006/main">
              <a:ext uri="{FF2B5EF4-FFF2-40B4-BE49-F238E27FC236}">
                <a16:creationId xmlns:a16="http://schemas.microsoft.com/office/drawing/2014/main" id="{94344945-C51A-47A0-B6F9-38F291660020}"/>
              </a:ext>
            </a:extLst>
          </p:cNvPr>
          <p:cNvSpPr>
            <a:spLocks xmlns:a="http://schemas.openxmlformats.org/drawingml/2006/main" noGrp="1"/>
          </p:cNvSpPr>
          <p:nvPr/>
        </p:nvSpPr>
        <p:spPr>
          <a:xfrm xmlns:a="http://schemas.openxmlformats.org/drawingml/2006/main">
            <a:off x="6362700" y="3524250"/>
            <a:ext cx="544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6D8C"/>
                </a:solidFill>
                <a:latin typeface="Arial"/>
                <a:ea typeface="Arial"/>
                <a:cs typeface="Arial"/>
              </a:defRPr>
            </a:defPPr>
          </a:lstStyle>
          <a:p xmlns:a="http://schemas.openxmlformats.org/drawingml/2006/main">
            <a:pPr>
              <a:defRPr sz="1800" b="1">
                <a:solidFill>
                  <a:srgbClr val="176D8C"/>
                </a:solidFill>
                <a:latin typeface="Arial"/>
                <a:ea typeface="Arial"/>
                <a:cs typeface="Arial"/>
              </a:defRPr>
            </a:pPr>
            <a:r>
              <a:rPr sz="1800" b="1">
                <a:solidFill>
                  <a:srgbClr val="176D8C"/>
                </a:solidFill>
                <a:latin typeface="Arial"/>
                <a:ea typeface="Arial"/>
                <a:cs typeface="Arial"/>
              </a:rPr>
              <a:t>Smoking: smaller difference</a:t>
            </a:r>
          </a:p>
        </p:txBody>
      </p:sp>
      <p:graphicFrame>
        <p:nvGraphicFramePr>
          <p:cNvPr id="8" name="Chart">
            <a:extLst xmlns:a="http://schemas.openxmlformats.org/drawingml/2006/main">
              <a:ext uri="{FF2B5EF4-FFF2-40B4-BE49-F238E27FC236}">
                <a16:creationId xmlns:a16="http://schemas.microsoft.com/office/drawing/2014/main" id="{D678B5EC-6BE0-43E0-8EFF-08449139CDD3}"/>
              </a:ext>
            </a:extLst>
          </p:cNvPr>
          <p:cNvGraphicFramePr/>
          <p:nvPr/>
        </p:nvGraphicFramePr>
        <p:xfrm>
          <a:off xmlns:a="http://schemas.openxmlformats.org/drawingml/2006/main" x="257175" y="3886200"/>
          <a:ext xmlns:a="http://schemas.openxmlformats.org/drawingml/2006/main" cx="5553075" cy="1933575"/>
        </p:xfrm>
        <a:graphic xmlns:a="http://schemas.openxmlformats.org/drawingml/2006/main">
          <a:graphicData uri="http://schemas.openxmlformats.org/drawingml/2006/chart">
            <c:chart xmlns:r="http://schemas.openxmlformats.org/officeDocument/2006/relationships" xmlns:c="http://schemas.openxmlformats.org/drawingml/2006/chart" r:id="Rb0e2e8d7d8e04fc5"/>
          </a:graphicData>
        </a:graphic>
      </p:graphicFrame>
      <p:graphicFrame>
        <p:nvGraphicFramePr>
          <p:cNvPr id="9" name="Chart">
            <a:extLst xmlns:a="http://schemas.openxmlformats.org/drawingml/2006/main">
              <a:ext uri="{FF2B5EF4-FFF2-40B4-BE49-F238E27FC236}">
                <a16:creationId xmlns:a16="http://schemas.microsoft.com/office/drawing/2014/main" id="{E8ADBFCD-A98A-4F08-AA6B-A4C07FE85E15}"/>
              </a:ext>
            </a:extLst>
          </p:cNvPr>
          <p:cNvGraphicFramePr/>
          <p:nvPr/>
        </p:nvGraphicFramePr>
        <p:xfrm>
          <a:off xmlns:a="http://schemas.openxmlformats.org/drawingml/2006/main" x="6229350" y="3886200"/>
          <a:ext xmlns:a="http://schemas.openxmlformats.org/drawingml/2006/main" cx="5553075" cy="1933575"/>
        </p:xfrm>
        <a:graphic xmlns:a="http://schemas.openxmlformats.org/drawingml/2006/main">
          <a:graphicData uri="http://schemas.openxmlformats.org/drawingml/2006/chart">
            <c:chart xmlns:r="http://schemas.openxmlformats.org/officeDocument/2006/relationships" xmlns:c="http://schemas.openxmlformats.org/drawingml/2006/chart" r:id="R10cca119f1d34fbe"/>
          </a:graphicData>
        </a:graphic>
      </p:graphicFrame>
      <p:sp>
        <p:nvSpPr>
          <p:cNvPr id="10" name="text">
            <a:extLst xmlns:a="http://schemas.openxmlformats.org/drawingml/2006/main">
              <a:ext uri="{FF2B5EF4-FFF2-40B4-BE49-F238E27FC236}">
                <a16:creationId xmlns:a16="http://schemas.microsoft.com/office/drawing/2014/main" id="{CA4EAC31-A12A-4D20-ABF9-BAB46186BABA}"/>
              </a:ext>
            </a:extLst>
          </p:cNvPr>
          <p:cNvSpPr>
            <a:spLocks xmlns:a="http://schemas.openxmlformats.org/drawingml/2006/main" noGrp="1"/>
          </p:cNvSpPr>
          <p:nvPr/>
        </p:nvSpPr>
        <p:spPr>
          <a:xfrm xmlns:a="http://schemas.openxmlformats.org/drawingml/2006/main">
            <a:off x="400050" y="5819775"/>
            <a:ext cx="5457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83044"/>
                </a:solidFill>
                <a:latin typeface="Arial"/>
                <a:ea typeface="Arial"/>
                <a:cs typeface="Arial"/>
              </a:defRPr>
            </a:defPPr>
          </a:lstStyle>
          <a:p xmlns:a="http://schemas.openxmlformats.org/drawingml/2006/main">
            <a:pPr>
              <a:defRPr sz="1575" b="1">
                <a:solidFill>
                  <a:srgbClr val="183044"/>
                </a:solidFill>
                <a:latin typeface="Arial"/>
                <a:ea typeface="Arial"/>
                <a:cs typeface="Arial"/>
              </a:defRPr>
            </a:pPr>
            <a:r>
              <a:rPr sz="1575" b="1">
                <a:solidFill>
                  <a:srgbClr val="183044"/>
                </a:solidFill>
                <a:latin typeface="Arial"/>
                <a:ea typeface="Arial"/>
                <a:cs typeface="Arial"/>
              </a:rPr>
              <a:t>Association size: V = 0.275</a:t>
            </a:r>
          </a:p>
        </p:txBody>
      </p:sp>
      <p:sp>
        <p:nvSpPr>
          <p:cNvPr id="11" name="text">
            <a:extLst xmlns:a="http://schemas.openxmlformats.org/drawingml/2006/main">
              <a:ext uri="{FF2B5EF4-FFF2-40B4-BE49-F238E27FC236}">
                <a16:creationId xmlns:a16="http://schemas.microsoft.com/office/drawing/2014/main" id="{572C3ACC-E92D-4F69-9AA2-EEB98FD5D011}"/>
              </a:ext>
            </a:extLst>
          </p:cNvPr>
          <p:cNvSpPr>
            <a:spLocks xmlns:a="http://schemas.openxmlformats.org/drawingml/2006/main" noGrp="1"/>
          </p:cNvSpPr>
          <p:nvPr/>
        </p:nvSpPr>
        <p:spPr>
          <a:xfrm xmlns:a="http://schemas.openxmlformats.org/drawingml/2006/main">
            <a:off x="6362700" y="5819775"/>
            <a:ext cx="5448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83044"/>
                </a:solidFill>
                <a:latin typeface="Arial"/>
                <a:ea typeface="Arial"/>
                <a:cs typeface="Arial"/>
              </a:defRPr>
            </a:defPPr>
          </a:lstStyle>
          <a:p xmlns:a="http://schemas.openxmlformats.org/drawingml/2006/main">
            <a:pPr>
              <a:defRPr sz="1575" b="1">
                <a:solidFill>
                  <a:srgbClr val="183044"/>
                </a:solidFill>
                <a:latin typeface="Arial"/>
                <a:ea typeface="Arial"/>
                <a:cs typeface="Arial"/>
              </a:defRPr>
            </a:pPr>
            <a:r>
              <a:rPr sz="1575" b="1">
                <a:solidFill>
                  <a:srgbClr val="183044"/>
                </a:solidFill>
                <a:latin typeface="Arial"/>
                <a:ea typeface="Arial"/>
                <a:cs typeface="Arial"/>
              </a:rPr>
              <a:t>Association size: V = 0.045</a:t>
            </a:r>
          </a:p>
        </p:txBody>
      </p:sp>
      <p:sp>
        <p:nvSpPr>
          <p:cNvPr id="12" name="">
            <a:extLst xmlns:a="http://schemas.openxmlformats.org/drawingml/2006/main">
              <a:ext uri="{FF2B5EF4-FFF2-40B4-BE49-F238E27FC236}">
                <a16:creationId xmlns:a16="http://schemas.microsoft.com/office/drawing/2014/main" id="{3F69786F-03E6-4E32-9E3B-84F00E9E83A2}"/>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32A384F-C9D5-4B9A-9407-27E4409BD85A}"/>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Positive status is more closely related to high blood pressure than to ever-smoking in this sample.</a:t>
            </a:r>
          </a:p>
        </p:txBody>
      </p:sp>
      <p:sp>
        <p:nvSpPr>
          <p:cNvPr id="14" name="text">
            <a:extLst xmlns:a="http://schemas.openxmlformats.org/drawingml/2006/main">
              <a:ext uri="{FF2B5EF4-FFF2-40B4-BE49-F238E27FC236}">
                <a16:creationId xmlns:a16="http://schemas.microsoft.com/office/drawing/2014/main" id="{FC05FDFF-5D01-4006-ABEA-D13EFB5AD7AB}"/>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9 / 11</a:t>
            </a:r>
          </a:p>
        </p:txBody>
      </p:sp>
    </p:spTree>
    <p:extLst>
      <p:ext uri="{BB962C8B-B14F-4D97-AF65-F5344CB8AC3E}">
        <p14:creationId xmlns:p14="http://schemas.microsoft.com/office/powerpoint/2010/main" val="590196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6182AE36-74F5-491F-ADBC-E59DE514F1D0}"/>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 11: ANOVA in completely randomized designs, randomized blocks and Latin Square</a:t>
            </a:r>
          </a:p>
        </p:txBody>
      </p:sp>
      <p:sp>
        <p:nvSpPr>
          <p:cNvPr id="2" name="">
            <a:extLst xmlns:a="http://schemas.openxmlformats.org/drawingml/2006/main">
              <a:ext uri="{FF2B5EF4-FFF2-40B4-BE49-F238E27FC236}">
                <a16:creationId xmlns:a16="http://schemas.microsoft.com/office/drawing/2014/main" id="{5B0E2C52-E1E3-4F37-9D12-735CF2F92CC2}"/>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E68E140E-31AE-4E8B-BAC4-A26589E439E4}"/>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ANOVA and experimental designs</a:t>
            </a:r>
          </a:p>
        </p:txBody>
      </p:sp>
      <p:sp>
        <p:nvSpPr>
          <p:cNvPr id="4" name="text">
            <a:extLst xmlns:a="http://schemas.openxmlformats.org/drawingml/2006/main">
              <a:ext uri="{FF2B5EF4-FFF2-40B4-BE49-F238E27FC236}">
                <a16:creationId xmlns:a16="http://schemas.microsoft.com/office/drawing/2014/main" id="{08C2ACF6-F4C5-4E0D-906E-C3EBBE94CB59}"/>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ANOVA compares means. CRD has no blocks. RBD controls one factor and Latin Square controls two.</a:t>
            </a:r>
          </a:p>
        </p:txBody>
      </p:sp>
      <p:graphicFrame>
        <p:nvGraphicFramePr>
          <p:cNvPr id="5" name="">
            <a:extLst xmlns:a="http://schemas.openxmlformats.org/drawingml/2006/main">
              <a:ext uri="{FF2B5EF4-FFF2-40B4-BE49-F238E27FC236}">
                <a16:creationId xmlns:a16="http://schemas.microsoft.com/office/drawing/2014/main" id="{70569AD1-CEE2-446A-9457-917FE0D3D0BF}"/>
              </a:ext>
            </a:extLst>
          </p:cNvPr>
          <p:cNvGraphicFramePr/>
          <p:nvPr/>
        </p:nvGraphicFramePr>
        <p:xfrm>
          <a:off xmlns:a="http://schemas.openxmlformats.org/drawingml/2006/main" x="400050" y="1571625"/>
          <a:ext xmlns:a="http://schemas.openxmlformats.org/drawingml/2006/main" cx="11391900" cy="1143000"/>
        </p:xfrm>
        <a:graphic xmlns:a="http://schemas.openxmlformats.org/drawingml/2006/main">
          <a:graphicData uri="http://schemas.openxmlformats.org/drawingml/2006/table">
            <a:tbl>
              <a:tblPr/>
              <a:tblGrid>
                <a:gridCol w="7905750"/>
                <a:gridCol w="1743075"/>
                <a:gridCol w="1743075"/>
              </a:tblGrid>
              <a:tr h="381000">
                <a:tc>
                  <a:txBody>
                    <a:bodyPr>
                      <a:noAutofit/>
                    </a:bodyPr>
                    <a:lstStyle/>
                    <a:p>
                      <a:pPr algn="l"/>
                      <a:r>
                        <a:rPr sz="1725" b="1">
                          <a:solidFill>
                            <a:srgbClr val="FFFFFF"/>
                          </a:solidFill>
                          <a:latin typeface="Arial"/>
                          <a:ea typeface="Arial"/>
                          <a:cs typeface="Arial"/>
                        </a:rPr>
                        <a:t>Comparison</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725" b="1">
                          <a:solidFill>
                            <a:srgbClr val="FFFFFF"/>
                          </a:solidFill>
                          <a:latin typeface="Arial"/>
                          <a:ea typeface="Arial"/>
                          <a:cs typeface="Arial"/>
                        </a:rPr>
                        <a:t>F</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725" b="1">
                          <a:solidFill>
                            <a:srgbClr val="FFFFFF"/>
                          </a:solidFill>
                          <a:latin typeface="Arial"/>
                          <a:ea typeface="Arial"/>
                          <a:cs typeface="Arial"/>
                        </a:rPr>
                        <a:t>p</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381000">
                <a:tc>
                  <a:txBody>
                    <a:bodyPr>
                      <a:noAutofit/>
                    </a:bodyPr>
                    <a:lstStyle/>
                    <a:p>
                      <a:pPr algn="l"/>
                      <a:r>
                        <a:rPr sz="1725" b="0">
                          <a:solidFill>
                            <a:srgbClr val="183044"/>
                          </a:solidFill>
                          <a:latin typeface="Arial"/>
                          <a:ea typeface="Arial"/>
                          <a:cs typeface="Arial"/>
                        </a:rPr>
                        <a:t>BMI by education (survey)</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725" b="0">
                          <a:solidFill>
                            <a:srgbClr val="183044"/>
                          </a:solidFill>
                          <a:latin typeface="Arial"/>
                          <a:ea typeface="Arial"/>
                          <a:cs typeface="Arial"/>
                        </a:rPr>
                        <a:t>14.41</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725" b="0">
                          <a:solidFill>
                            <a:srgbClr val="183044"/>
                          </a:solidFill>
                          <a:latin typeface="Arial"/>
                          <a:ea typeface="Arial"/>
                          <a:cs typeface="Arial"/>
                        </a:rPr>
                        <a:t>&lt;0.001</a:t>
                      </a:r>
                    </a:p>
                  </a:txBody>
                  <a:tcPr marL="91440" marR="91440" marT="45720" marB="45720">
                    <a:lnR w="9525">
                      <a:solidFill>
                        <a:srgbClr val="D6E0E5"/>
                      </a:solidFill>
                      <a:prstDash val="solid"/>
                    </a:lnR>
                    <a:lnB w="9525">
                      <a:solidFill>
                        <a:srgbClr val="D6E0E5"/>
                      </a:solidFill>
                      <a:prstDash val="solid"/>
                    </a:lnB>
                    <a:solidFill>
                      <a:srgbClr val="FFFFFF"/>
                    </a:solidFill>
                  </a:tcPr>
                </a:tc>
              </a:tr>
              <a:tr h="381000">
                <a:tc>
                  <a:txBody>
                    <a:bodyPr>
                      <a:noAutofit/>
                    </a:bodyPr>
                    <a:lstStyle/>
                    <a:p>
                      <a:pPr algn="l"/>
                      <a:r>
                        <a:rPr sz="1725" b="0">
                          <a:solidFill>
                            <a:srgbClr val="183044"/>
                          </a:solidFill>
                          <a:latin typeface="Arial"/>
                          <a:ea typeface="Arial"/>
                          <a:cs typeface="Arial"/>
                        </a:rPr>
                        <a:t>Potato CRD: 32 plots, 7 groups</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725" b="0">
                          <a:solidFill>
                            <a:srgbClr val="183044"/>
                          </a:solidFill>
                          <a:latin typeface="Arial"/>
                          <a:ea typeface="Arial"/>
                          <a:cs typeface="Arial"/>
                        </a:rPr>
                        <a:t>3.61</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725" b="0">
                          <a:solidFill>
                            <a:srgbClr val="183044"/>
                          </a:solidFill>
                          <a:latin typeface="Arial"/>
                          <a:ea typeface="Arial"/>
                          <a:cs typeface="Arial"/>
                        </a:rPr>
                        <a:t>0.010</a:t>
                      </a:r>
                    </a:p>
                  </a:txBody>
                  <a:tcPr marL="91440" marR="91440" marT="45720" marB="45720">
                    <a:lnR w="9525">
                      <a:solidFill>
                        <a:srgbClr val="D6E0E5"/>
                      </a:solidFill>
                      <a:prstDash val="solid"/>
                    </a:lnR>
                    <a:lnB w="9525">
                      <a:solidFill>
                        <a:srgbClr val="D6E0E5"/>
                      </a:solidFill>
                      <a:prstDash val="solid"/>
                    </a:lnB>
                    <a:solidFill>
                      <a:srgbClr val="EAF2F5"/>
                    </a:solidFill>
                  </a:tcPr>
                </a:tc>
              </a:tr>
            </a:tbl>
          </a:graphicData>
        </a:graphic>
      </p:graphicFrame>
      <p:sp>
        <p:nvSpPr>
          <p:cNvPr id="6" name="text">
            <a:extLst xmlns:a="http://schemas.openxmlformats.org/drawingml/2006/main">
              <a:ext uri="{FF2B5EF4-FFF2-40B4-BE49-F238E27FC236}">
                <a16:creationId xmlns:a16="http://schemas.microsoft.com/office/drawing/2014/main" id="{AB4DE23B-065E-49CB-8A89-C8A63AFE1077}"/>
              </a:ext>
            </a:extLst>
          </p:cNvPr>
          <p:cNvSpPr>
            <a:spLocks xmlns:a="http://schemas.openxmlformats.org/drawingml/2006/main" noGrp="1"/>
          </p:cNvSpPr>
          <p:nvPr/>
        </p:nvSpPr>
        <p:spPr>
          <a:xfrm xmlns:a="http://schemas.openxmlformats.org/drawingml/2006/main">
            <a:off x="400050" y="2847975"/>
            <a:ext cx="5648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Education: existing survey groups.</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CRD: 32 randomized plots, 7 sulfur treatments.</a:t>
            </a:r>
          </a:p>
        </p:txBody>
      </p:sp>
      <p:sp>
        <p:nvSpPr>
          <p:cNvPr id="7" name="text">
            <a:extLst xmlns:a="http://schemas.openxmlformats.org/drawingml/2006/main">
              <a:ext uri="{FF2B5EF4-FFF2-40B4-BE49-F238E27FC236}">
                <a16:creationId xmlns:a16="http://schemas.microsoft.com/office/drawing/2014/main" id="{52D74986-42C0-4C10-9FC0-4414CEEFA3E1}"/>
              </a:ext>
            </a:extLst>
          </p:cNvPr>
          <p:cNvSpPr>
            <a:spLocks xmlns:a="http://schemas.openxmlformats.org/drawingml/2006/main" noGrp="1"/>
          </p:cNvSpPr>
          <p:nvPr/>
        </p:nvSpPr>
        <p:spPr>
          <a:xfrm xmlns:a="http://schemas.openxmlformats.org/drawingml/2006/main">
            <a:off x="6362700" y="2847975"/>
            <a:ext cx="5419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Both tests detect a difference between means.</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F does not identify every differing pair.</a:t>
            </a:r>
          </a:p>
        </p:txBody>
      </p:sp>
      <p:sp>
        <p:nvSpPr>
          <p:cNvPr id="8" name="">
            <a:extLst xmlns:a="http://schemas.openxmlformats.org/drawingml/2006/main">
              <a:ext uri="{FF2B5EF4-FFF2-40B4-BE49-F238E27FC236}">
                <a16:creationId xmlns:a16="http://schemas.microsoft.com/office/drawing/2014/main" id="{776E168C-6704-42F5-967A-9FEC3DBFFC70}"/>
              </a:ext>
            </a:extLst>
          </p:cNvPr>
          <p:cNvSpPr>
            <a:spLocks xmlns:a="http://schemas.openxmlformats.org/drawingml/2006/main" noGrp="1"/>
          </p:cNvSpPr>
          <p:nvPr/>
        </p:nvSpPr>
        <p:spPr>
          <a:xfrm xmlns:a="http://schemas.openxmlformats.org/drawingml/2006/main">
            <a:off x="400050" y="3476625"/>
            <a:ext cx="11391900" cy="19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1635ECF-B937-4AAA-A95E-848920AB9FAD}"/>
              </a:ext>
            </a:extLst>
          </p:cNvPr>
          <p:cNvSpPr>
            <a:spLocks xmlns:a="http://schemas.openxmlformats.org/drawingml/2006/main" noGrp="1"/>
          </p:cNvSpPr>
          <p:nvPr/>
        </p:nvSpPr>
        <p:spPr>
          <a:xfrm xmlns:a="http://schemas.openxmlformats.org/drawingml/2006/main">
            <a:off x="400050" y="3648075"/>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6D8C"/>
                </a:solidFill>
                <a:latin typeface="Arial"/>
                <a:ea typeface="Arial"/>
                <a:cs typeface="Arial"/>
              </a:defRPr>
            </a:defPPr>
          </a:lstStyle>
          <a:p xmlns:a="http://schemas.openxmlformats.org/drawingml/2006/main">
            <a:pPr>
              <a:defRPr sz="1800" b="1">
                <a:solidFill>
                  <a:srgbClr val="176D8C"/>
                </a:solidFill>
                <a:latin typeface="Arial"/>
                <a:ea typeface="Arial"/>
                <a:cs typeface="Arial"/>
              </a:defRPr>
            </a:pPr>
            <a:r>
              <a:rPr sz="1800" b="1">
                <a:solidFill>
                  <a:srgbClr val="176D8C"/>
                </a:solidFill>
                <a:latin typeface="Arial"/>
                <a:ea typeface="Arial"/>
                <a:cs typeface="Arial"/>
              </a:rPr>
              <a:t>RBD: one blocking factor (rice)</a:t>
            </a:r>
          </a:p>
        </p:txBody>
      </p:sp>
      <p:sp>
        <p:nvSpPr>
          <p:cNvPr id="10" name="text">
            <a:extLst xmlns:a="http://schemas.openxmlformats.org/drawingml/2006/main">
              <a:ext uri="{FF2B5EF4-FFF2-40B4-BE49-F238E27FC236}">
                <a16:creationId xmlns:a16="http://schemas.microsoft.com/office/drawing/2014/main" id="{DC5A34C7-E938-478B-A468-F0D8D189B663}"/>
              </a:ext>
            </a:extLst>
          </p:cNvPr>
          <p:cNvSpPr>
            <a:spLocks xmlns:a="http://schemas.openxmlformats.org/drawingml/2006/main" noGrp="1"/>
          </p:cNvSpPr>
          <p:nvPr/>
        </p:nvSpPr>
        <p:spPr>
          <a:xfrm xmlns:a="http://schemas.openxmlformats.org/drawingml/2006/main">
            <a:off x="6362700" y="3648075"/>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6D8C"/>
                </a:solidFill>
                <a:latin typeface="Arial"/>
                <a:ea typeface="Arial"/>
                <a:cs typeface="Arial"/>
              </a:defRPr>
            </a:defPPr>
          </a:lstStyle>
          <a:p xmlns:a="http://schemas.openxmlformats.org/drawingml/2006/main">
            <a:pPr>
              <a:defRPr sz="1800" b="1">
                <a:solidFill>
                  <a:srgbClr val="176D8C"/>
                </a:solidFill>
                <a:latin typeface="Arial"/>
                <a:ea typeface="Arial"/>
                <a:cs typeface="Arial"/>
              </a:defRPr>
            </a:pPr>
            <a:r>
              <a:rPr sz="1800" b="1">
                <a:solidFill>
                  <a:srgbClr val="176D8C"/>
                </a:solidFill>
                <a:latin typeface="Arial"/>
                <a:ea typeface="Arial"/>
                <a:cs typeface="Arial"/>
              </a:rPr>
              <a:t>Latin Square: rows and columns</a:t>
            </a:r>
          </a:p>
        </p:txBody>
      </p:sp>
      <p:graphicFrame>
        <p:nvGraphicFramePr>
          <p:cNvPr id="11" name="Chart">
            <a:extLst xmlns:a="http://schemas.openxmlformats.org/drawingml/2006/main">
              <a:ext uri="{FF2B5EF4-FFF2-40B4-BE49-F238E27FC236}">
                <a16:creationId xmlns:a16="http://schemas.microsoft.com/office/drawing/2014/main" id="{BCDC3D7D-C82D-4A86-BDA6-0AB7D2E095CB}"/>
              </a:ext>
            </a:extLst>
          </p:cNvPr>
          <p:cNvGraphicFramePr/>
          <p:nvPr/>
        </p:nvGraphicFramePr>
        <p:xfrm>
          <a:off xmlns:a="http://schemas.openxmlformats.org/drawingml/2006/main" x="257175" y="4152900"/>
          <a:ext xmlns:a="http://schemas.openxmlformats.org/drawingml/2006/main" cx="3371850" cy="1752600"/>
        </p:xfrm>
        <a:graphic xmlns:a="http://schemas.openxmlformats.org/drawingml/2006/main">
          <a:graphicData uri="http://schemas.openxmlformats.org/drawingml/2006/chart">
            <c:chart xmlns:r="http://schemas.openxmlformats.org/officeDocument/2006/relationships" xmlns:c="http://schemas.openxmlformats.org/drawingml/2006/chart" r:id="Rd057bec6a7cd48e4"/>
          </a:graphicData>
        </a:graphic>
      </p:graphicFrame>
      <p:graphicFrame>
        <p:nvGraphicFramePr>
          <p:cNvPr id="12" name="">
            <a:extLst xmlns:a="http://schemas.openxmlformats.org/drawingml/2006/main">
              <a:ext uri="{FF2B5EF4-FFF2-40B4-BE49-F238E27FC236}">
                <a16:creationId xmlns:a16="http://schemas.microsoft.com/office/drawing/2014/main" id="{658684B0-9983-459E-86BF-5AC5C090A962}"/>
              </a:ext>
            </a:extLst>
          </p:cNvPr>
          <p:cNvGraphicFramePr/>
          <p:nvPr/>
        </p:nvGraphicFramePr>
        <p:xfrm>
          <a:off xmlns:a="http://schemas.openxmlformats.org/drawingml/2006/main" x="3829050" y="4171950"/>
          <a:ext xmlns:a="http://schemas.openxmlformats.org/drawingml/2006/main" cx="2028825" cy="1047750"/>
        </p:xfrm>
        <a:graphic xmlns:a="http://schemas.openxmlformats.org/drawingml/2006/main">
          <a:graphicData uri="http://schemas.openxmlformats.org/drawingml/2006/table">
            <a:tbl>
              <a:tblPr/>
              <a:tblGrid>
                <a:gridCol w="676275"/>
                <a:gridCol w="581025"/>
                <a:gridCol w="771525"/>
              </a:tblGrid>
              <a:tr h="349250">
                <a:tc>
                  <a:txBody>
                    <a:bodyPr>
                      <a:noAutofit/>
                    </a:bodyPr>
                    <a:lstStyle/>
                    <a:p>
                      <a:pPr algn="l"/>
                      <a:r>
                        <a:rPr sz="1425" b="1">
                          <a:solidFill>
                            <a:srgbClr val="FFFFFF"/>
                          </a:solidFill>
                          <a:latin typeface="Arial"/>
                          <a:ea typeface="Arial"/>
                          <a:cs typeface="Arial"/>
                        </a:rPr>
                        <a:t>Term</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425" b="1">
                          <a:solidFill>
                            <a:srgbClr val="FFFFFF"/>
                          </a:solidFill>
                          <a:latin typeface="Arial"/>
                          <a:ea typeface="Arial"/>
                          <a:cs typeface="Arial"/>
                        </a:rPr>
                        <a:t>F</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c>
                  <a:txBody>
                    <a:bodyPr>
                      <a:noAutofit/>
                    </a:bodyPr>
                    <a:lstStyle/>
                    <a:p>
                      <a:pPr algn="ctr"/>
                      <a:r>
                        <a:rPr sz="1425" b="1">
                          <a:solidFill>
                            <a:srgbClr val="FFFFFF"/>
                          </a:solidFill>
                          <a:latin typeface="Arial"/>
                          <a:ea typeface="Arial"/>
                          <a:cs typeface="Arial"/>
                        </a:rPr>
                        <a:t>p</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349250">
                <a:tc>
                  <a:txBody>
                    <a:bodyPr>
                      <a:noAutofit/>
                    </a:bodyPr>
                    <a:lstStyle/>
                    <a:p>
                      <a:pPr algn="l"/>
                      <a:r>
                        <a:rPr sz="1425" b="0">
                          <a:solidFill>
                            <a:srgbClr val="183044"/>
                          </a:solidFill>
                          <a:latin typeface="Arial"/>
                          <a:ea typeface="Arial"/>
                          <a:cs typeface="Arial"/>
                        </a:rPr>
                        <a:t>Block</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5.86</a:t>
                      </a:r>
                    </a:p>
                  </a:txBody>
                  <a:tcPr marL="91440" marR="91440" marT="45720" marB="45720">
                    <a:lnR w="9525">
                      <a:solidFill>
                        <a:srgbClr val="D6E0E5"/>
                      </a:solidFill>
                      <a:prstDash val="solid"/>
                    </a:lnR>
                    <a:lnB w="9525">
                      <a:solidFill>
                        <a:srgbClr val="D6E0E5"/>
                      </a:solidFill>
                      <a:prstDash val="solid"/>
                    </a:lnB>
                    <a:solidFill>
                      <a:srgbClr val="FFFFFF"/>
                    </a:solidFill>
                  </a:tcPr>
                </a:tc>
                <a:tc>
                  <a:txBody>
                    <a:bodyPr>
                      <a:noAutofit/>
                    </a:bodyPr>
                    <a:lstStyle/>
                    <a:p>
                      <a:pPr algn="ctr"/>
                      <a:r>
                        <a:rPr sz="1425" b="0">
                          <a:solidFill>
                            <a:srgbClr val="183044"/>
                          </a:solidFill>
                          <a:latin typeface="Arial"/>
                          <a:ea typeface="Arial"/>
                          <a:cs typeface="Arial"/>
                        </a:rPr>
                        <a:t>0.007</a:t>
                      </a:r>
                    </a:p>
                  </a:txBody>
                  <a:tcPr marL="91440" marR="91440" marT="45720" marB="45720">
                    <a:lnR w="9525">
                      <a:solidFill>
                        <a:srgbClr val="D6E0E5"/>
                      </a:solidFill>
                      <a:prstDash val="solid"/>
                    </a:lnR>
                    <a:lnB w="9525">
                      <a:solidFill>
                        <a:srgbClr val="D6E0E5"/>
                      </a:solidFill>
                      <a:prstDash val="solid"/>
                    </a:lnB>
                    <a:solidFill>
                      <a:srgbClr val="FFFFFF"/>
                    </a:solidFill>
                  </a:tcPr>
                </a:tc>
              </a:tr>
              <a:tr h="349250">
                <a:tc>
                  <a:txBody>
                    <a:bodyPr>
                      <a:noAutofit/>
                    </a:bodyPr>
                    <a:lstStyle/>
                    <a:p>
                      <a:pPr algn="l"/>
                      <a:r>
                        <a:rPr sz="1425" b="0">
                          <a:solidFill>
                            <a:srgbClr val="183044"/>
                          </a:solidFill>
                          <a:latin typeface="Arial"/>
                          <a:ea typeface="Arial"/>
                          <a:cs typeface="Arial"/>
                        </a:rPr>
                        <a:t>Rate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425" b="0">
                          <a:solidFill>
                            <a:srgbClr val="183044"/>
                          </a:solidFill>
                          <a:latin typeface="Arial"/>
                          <a:ea typeface="Arial"/>
                          <a:cs typeface="Arial"/>
                        </a:rPr>
                        <a:t>2.17</a:t>
                      </a:r>
                    </a:p>
                  </a:txBody>
                  <a:tcPr marL="91440" marR="91440" marT="45720" marB="45720">
                    <a:lnR w="9525">
                      <a:solidFill>
                        <a:srgbClr val="D6E0E5"/>
                      </a:solidFill>
                      <a:prstDash val="solid"/>
                    </a:lnR>
                    <a:lnB w="9525">
                      <a:solidFill>
                        <a:srgbClr val="D6E0E5"/>
                      </a:solidFill>
                      <a:prstDash val="solid"/>
                    </a:lnB>
                    <a:solidFill>
                      <a:srgbClr val="EAF2F5"/>
                    </a:solidFill>
                  </a:tcPr>
                </a:tc>
                <a:tc>
                  <a:txBody>
                    <a:bodyPr>
                      <a:noAutofit/>
                    </a:bodyPr>
                    <a:lstStyle/>
                    <a:p>
                      <a:pPr algn="ctr"/>
                      <a:r>
                        <a:rPr sz="1425" b="0">
                          <a:solidFill>
                            <a:srgbClr val="183044"/>
                          </a:solidFill>
                          <a:latin typeface="Arial"/>
                          <a:ea typeface="Arial"/>
                          <a:cs typeface="Arial"/>
                        </a:rPr>
                        <a:t>0.113</a:t>
                      </a:r>
                    </a:p>
                  </a:txBody>
                  <a:tcPr marL="91440" marR="91440" marT="45720" marB="45720">
                    <a:lnR w="9525">
                      <a:solidFill>
                        <a:srgbClr val="D6E0E5"/>
                      </a:solidFill>
                      <a:prstDash val="solid"/>
                    </a:lnR>
                    <a:lnB w="9525">
                      <a:solidFill>
                        <a:srgbClr val="D6E0E5"/>
                      </a:solidFill>
                      <a:prstDash val="solid"/>
                    </a:lnB>
                    <a:solidFill>
                      <a:srgbClr val="EAF2F5"/>
                    </a:solidFill>
                  </a:tcPr>
                </a:tc>
              </a:tr>
            </a:tbl>
          </a:graphicData>
        </a:graphic>
      </p:graphicFrame>
      <p:sp>
        <p:nvSpPr>
          <p:cNvPr id="13" name="text">
            <a:extLst xmlns:a="http://schemas.openxmlformats.org/drawingml/2006/main">
              <a:ext uri="{FF2B5EF4-FFF2-40B4-BE49-F238E27FC236}">
                <a16:creationId xmlns:a16="http://schemas.microsoft.com/office/drawing/2014/main" id="{E95F2A05-A61D-4F1F-ABE5-CFEC4EDDF131}"/>
              </a:ext>
            </a:extLst>
          </p:cNvPr>
          <p:cNvSpPr>
            <a:spLocks xmlns:a="http://schemas.openxmlformats.org/drawingml/2006/main" noGrp="1"/>
          </p:cNvSpPr>
          <p:nvPr/>
        </p:nvSpPr>
        <p:spPr>
          <a:xfrm xmlns:a="http://schemas.openxmlformats.org/drawingml/2006/main">
            <a:off x="3829050" y="5467350"/>
            <a:ext cx="2028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83044"/>
                </a:solidFill>
                <a:latin typeface="Arial"/>
                <a:ea typeface="Arial"/>
                <a:cs typeface="Arial"/>
              </a:defRPr>
            </a:defPPr>
          </a:lstStyle>
          <a:p xmlns:a="http://schemas.openxmlformats.org/drawingml/2006/main">
            <a:pPr>
              <a:defRPr sz="1425" b="1">
                <a:solidFill>
                  <a:srgbClr val="183044"/>
                </a:solidFill>
                <a:latin typeface="Arial"/>
                <a:ea typeface="Arial"/>
                <a:cs typeface="Arial"/>
              </a:defRPr>
            </a:pPr>
            <a:r>
              <a:rPr sz="1425" b="1">
                <a:solidFill>
                  <a:srgbClr val="183044"/>
                </a:solidFill>
                <a:latin typeface="Arial"/>
                <a:ea typeface="Arial"/>
                <a:cs typeface="Arial"/>
              </a:rPr>
              <a:t>6 rates in each block.</a:t>
            </a:r>
          </a:p>
          <a:p xmlns:a="http://schemas.openxmlformats.org/drawingml/2006/main">
            <a:pPr>
              <a:defRPr sz="1425" b="1">
                <a:solidFill>
                  <a:srgbClr val="183044"/>
                </a:solidFill>
                <a:latin typeface="Arial"/>
                <a:ea typeface="Arial"/>
                <a:cs typeface="Arial"/>
              </a:defRPr>
            </a:pPr>
            <a:r>
              <a:rPr sz="1425" b="1">
                <a:solidFill>
                  <a:srgbClr val="183044"/>
                </a:solidFill>
                <a:latin typeface="Arial"/>
                <a:ea typeface="Arial"/>
                <a:cs typeface="Arial"/>
              </a:rPr>
              <a:t>44.8% lower error.</a:t>
            </a:r>
          </a:p>
        </p:txBody>
      </p:sp>
      <p:sp>
        <p:nvSpPr>
          <p:cNvPr id="14" name="text">
            <a:extLst xmlns:a="http://schemas.openxmlformats.org/drawingml/2006/main">
              <a:ext uri="{FF2B5EF4-FFF2-40B4-BE49-F238E27FC236}">
                <a16:creationId xmlns:a16="http://schemas.microsoft.com/office/drawing/2014/main" id="{7956CB73-079B-47E0-8F8C-5ED0EA7DDDA5}"/>
              </a:ext>
            </a:extLst>
          </p:cNvPr>
          <p:cNvSpPr>
            <a:spLocks xmlns:a="http://schemas.openxmlformats.org/drawingml/2006/main" noGrp="1"/>
          </p:cNvSpPr>
          <p:nvPr/>
        </p:nvSpPr>
        <p:spPr>
          <a:xfrm xmlns:a="http://schemas.openxmlformats.org/drawingml/2006/main">
            <a:off x="400050" y="5857875"/>
            <a:ext cx="5457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15566"/>
                </a:solidFill>
                <a:latin typeface="Arial"/>
                <a:ea typeface="Arial"/>
                <a:cs typeface="Arial"/>
              </a:defRPr>
            </a:defPPr>
          </a:lstStyle>
          <a:p xmlns:a="http://schemas.openxmlformats.org/drawingml/2006/main">
            <a:pPr>
              <a:defRPr sz="1200" b="0">
                <a:solidFill>
                  <a:srgbClr val="415566"/>
                </a:solidFill>
                <a:latin typeface="Arial"/>
                <a:ea typeface="Arial"/>
                <a:cs typeface="Arial"/>
              </a:defRPr>
            </a:pPr>
            <a:r>
              <a:rPr sz="1200" b="0">
                <a:solidFill>
                  <a:srgbClr val="415566"/>
                </a:solidFill>
                <a:latin typeface="Arial"/>
                <a:ea typeface="Arial"/>
                <a:cs typeface="Arial"/>
              </a:rPr>
              <a:t>X: seeding rate (kg/ha). Y: yield (kg/ha). Rate p = 0.113.</a:t>
            </a:r>
          </a:p>
        </p:txBody>
      </p:sp>
      <p:graphicFrame>
        <p:nvGraphicFramePr>
          <p:cNvPr id="15" name="">
            <a:extLst xmlns:a="http://schemas.openxmlformats.org/drawingml/2006/main">
              <a:ext uri="{FF2B5EF4-FFF2-40B4-BE49-F238E27FC236}">
                <a16:creationId xmlns:a16="http://schemas.microsoft.com/office/drawing/2014/main" id="{DAAF6886-7024-46C3-BE5A-0B8BE37AA7AA}"/>
              </a:ext>
            </a:extLst>
          </p:cNvPr>
          <p:cNvGraphicFramePr/>
          <p:nvPr/>
        </p:nvGraphicFramePr>
        <p:xfrm>
          <a:off xmlns:a="http://schemas.openxmlformats.org/drawingml/2006/main" x="6372225" y="4152900"/>
          <a:ext xmlns:a="http://schemas.openxmlformats.org/drawingml/2006/main" cx="2590800" cy="1695450"/>
        </p:xfrm>
        <a:graphic xmlns:a="http://schemas.openxmlformats.org/drawingml/2006/main">
          <a:graphicData uri="http://schemas.openxmlformats.org/drawingml/2006/table">
            <a:tbl>
              <a:tblPr/>
              <a:tblGrid>
                <a:gridCol w="518160"/>
                <a:gridCol w="518160"/>
                <a:gridCol w="518160"/>
                <a:gridCol w="518160"/>
                <a:gridCol w="518160"/>
              </a:tblGrid>
              <a:tr h="339090">
                <a:tc>
                  <a:txBody>
                    <a:bodyPr>
                      <a:noAutofit/>
                    </a:bodyPr>
                    <a:lstStyle/>
                    <a:p>
                      <a:pPr algn="ctr"/>
                      <a:r>
                        <a:rPr sz="1575" b="1">
                          <a:solidFill>
                            <a:srgbClr val="183044"/>
                          </a:solidFill>
                          <a:latin typeface="Arial"/>
                          <a:ea typeface="Arial"/>
                          <a:cs typeface="Arial"/>
                        </a:rPr>
                        <a:t>B</a:t>
                      </a:r>
                    </a:p>
                  </a:txBody>
                  <a:tcPr marL="91440" marR="91440" marT="45720" marB="45720">
                    <a:lnL w="9525">
                      <a:solidFill>
                        <a:srgbClr val="D6E0E5"/>
                      </a:solidFill>
                      <a:prstDash val="solid"/>
                    </a:lnL>
                    <a:lnR w="9525">
                      <a:solidFill>
                        <a:srgbClr val="D6E0E5"/>
                      </a:solidFill>
                      <a:prstDash val="solid"/>
                    </a:lnR>
                    <a:lnT w="9525">
                      <a:solidFill>
                        <a:srgbClr val="D6E0E5"/>
                      </a:solidFill>
                      <a:prstDash val="solid"/>
                    </a:lnT>
                    <a:lnB w="9525">
                      <a:solidFill>
                        <a:srgbClr val="D6E0E5"/>
                      </a:solidFill>
                      <a:prstDash val="solid"/>
                    </a:lnB>
                    <a:solidFill>
                      <a:srgbClr val="D0E4ED"/>
                    </a:solidFill>
                  </a:tcPr>
                </a:tc>
                <a:tc>
                  <a:txBody>
                    <a:bodyPr>
                      <a:noAutofit/>
                    </a:bodyPr>
                    <a:lstStyle/>
                    <a:p>
                      <a:pPr algn="ctr"/>
                      <a:r>
                        <a:rPr sz="1575" b="1">
                          <a:solidFill>
                            <a:srgbClr val="183044"/>
                          </a:solidFill>
                          <a:latin typeface="Arial"/>
                          <a:ea typeface="Arial"/>
                          <a:cs typeface="Arial"/>
                        </a:rPr>
                        <a:t>D</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B9D6E2"/>
                    </a:solidFill>
                  </a:tcPr>
                </a:tc>
                <a:tc>
                  <a:txBody>
                    <a:bodyPr>
                      <a:noAutofit/>
                    </a:bodyPr>
                    <a:lstStyle/>
                    <a:p>
                      <a:pPr algn="ctr"/>
                      <a:r>
                        <a:rPr sz="1575" b="1">
                          <a:solidFill>
                            <a:srgbClr val="183044"/>
                          </a:solidFill>
                          <a:latin typeface="Arial"/>
                          <a:ea typeface="Arial"/>
                          <a:cs typeface="Arial"/>
                        </a:rPr>
                        <a:t>E</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EFF5F8"/>
                    </a:solidFill>
                  </a:tcPr>
                </a:tc>
                <a:tc>
                  <a:txBody>
                    <a:bodyPr>
                      <a:noAutofit/>
                    </a:bodyPr>
                    <a:lstStyle/>
                    <a:p>
                      <a:pPr algn="ctr"/>
                      <a:r>
                        <a:rPr sz="1575" b="1">
                          <a:solidFill>
                            <a:srgbClr val="183044"/>
                          </a:solidFill>
                          <a:latin typeface="Arial"/>
                          <a:ea typeface="Arial"/>
                          <a:cs typeface="Arial"/>
                        </a:rPr>
                        <a:t>A</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E4F0F5"/>
                    </a:solidFill>
                  </a:tcPr>
                </a:tc>
                <a:tc>
                  <a:txBody>
                    <a:bodyPr>
                      <a:noAutofit/>
                    </a:bodyPr>
                    <a:lstStyle/>
                    <a:p>
                      <a:pPr algn="ctr"/>
                      <a:r>
                        <a:rPr sz="1575" b="1">
                          <a:solidFill>
                            <a:srgbClr val="FFFFFF"/>
                          </a:solidFill>
                          <a:latin typeface="Arial"/>
                          <a:ea typeface="Arial"/>
                          <a:cs typeface="Arial"/>
                        </a:rPr>
                        <a:t>C</a:t>
                      </a:r>
                    </a:p>
                  </a:txBody>
                  <a:tcPr marL="91440" marR="91440" marT="45720" marB="45720">
                    <a:lnR w="9525">
                      <a:solidFill>
                        <a:srgbClr val="D6E0E5"/>
                      </a:solidFill>
                      <a:prstDash val="solid"/>
                    </a:lnR>
                    <a:lnT w="9525">
                      <a:solidFill>
                        <a:srgbClr val="D6E0E5"/>
                      </a:solidFill>
                      <a:prstDash val="solid"/>
                    </a:lnT>
                    <a:lnB w="9525">
                      <a:solidFill>
                        <a:srgbClr val="D6E0E5"/>
                      </a:solidFill>
                      <a:prstDash val="solid"/>
                    </a:lnB>
                    <a:solidFill>
                      <a:srgbClr val="176D8C"/>
                    </a:solidFill>
                  </a:tcPr>
                </a:tc>
              </a:tr>
              <a:tr h="339090">
                <a:tc>
                  <a:txBody>
                    <a:bodyPr>
                      <a:noAutofit/>
                    </a:bodyPr>
                    <a:lstStyle/>
                    <a:p>
                      <a:pPr algn="ctr"/>
                      <a:r>
                        <a:rPr sz="1575" b="1">
                          <a:solidFill>
                            <a:srgbClr val="FFFFFF"/>
                          </a:solidFill>
                          <a:latin typeface="Arial"/>
                          <a:ea typeface="Arial"/>
                          <a:cs typeface="Arial"/>
                        </a:rPr>
                        <a:t>C</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176D8C"/>
                    </a:solidFill>
                  </a:tcPr>
                </a:tc>
                <a:tc>
                  <a:txBody>
                    <a:bodyPr>
                      <a:noAutofit/>
                    </a:bodyPr>
                    <a:lstStyle/>
                    <a:p>
                      <a:pPr algn="ctr"/>
                      <a:r>
                        <a:rPr sz="1575" b="1">
                          <a:solidFill>
                            <a:srgbClr val="183044"/>
                          </a:solidFill>
                          <a:latin typeface="Arial"/>
                          <a:ea typeface="Arial"/>
                          <a:cs typeface="Arial"/>
                        </a:rPr>
                        <a:t>A</a:t>
                      </a:r>
                    </a:p>
                  </a:txBody>
                  <a:tcPr marL="91440" marR="91440" marT="45720" marB="45720">
                    <a:lnR w="9525">
                      <a:solidFill>
                        <a:srgbClr val="D6E0E5"/>
                      </a:solidFill>
                      <a:prstDash val="solid"/>
                    </a:lnR>
                    <a:lnB w="9525">
                      <a:solidFill>
                        <a:srgbClr val="D6E0E5"/>
                      </a:solidFill>
                      <a:prstDash val="solid"/>
                    </a:lnB>
                    <a:solidFill>
                      <a:srgbClr val="E4F0F5"/>
                    </a:solidFill>
                  </a:tcPr>
                </a:tc>
                <a:tc>
                  <a:txBody>
                    <a:bodyPr>
                      <a:noAutofit/>
                    </a:bodyPr>
                    <a:lstStyle/>
                    <a:p>
                      <a:pPr algn="ctr"/>
                      <a:r>
                        <a:rPr sz="1575" b="1">
                          <a:solidFill>
                            <a:srgbClr val="183044"/>
                          </a:solidFill>
                          <a:latin typeface="Arial"/>
                          <a:ea typeface="Arial"/>
                          <a:cs typeface="Arial"/>
                        </a:rPr>
                        <a:t>B</a:t>
                      </a:r>
                    </a:p>
                  </a:txBody>
                  <a:tcPr marL="91440" marR="91440" marT="45720" marB="45720">
                    <a:lnR w="9525">
                      <a:solidFill>
                        <a:srgbClr val="D6E0E5"/>
                      </a:solidFill>
                      <a:prstDash val="solid"/>
                    </a:lnR>
                    <a:lnB w="9525">
                      <a:solidFill>
                        <a:srgbClr val="D6E0E5"/>
                      </a:solidFill>
                      <a:prstDash val="solid"/>
                    </a:lnB>
                    <a:solidFill>
                      <a:srgbClr val="D0E4ED"/>
                    </a:solidFill>
                  </a:tcPr>
                </a:tc>
                <a:tc>
                  <a:txBody>
                    <a:bodyPr>
                      <a:noAutofit/>
                    </a:bodyPr>
                    <a:lstStyle/>
                    <a:p>
                      <a:pPr algn="ctr"/>
                      <a:r>
                        <a:rPr sz="1575" b="1">
                          <a:solidFill>
                            <a:srgbClr val="183044"/>
                          </a:solidFill>
                          <a:latin typeface="Arial"/>
                          <a:ea typeface="Arial"/>
                          <a:cs typeface="Arial"/>
                        </a:rPr>
                        <a:t>E</a:t>
                      </a:r>
                    </a:p>
                  </a:txBody>
                  <a:tcPr marL="91440" marR="91440" marT="45720" marB="45720">
                    <a:lnR w="9525">
                      <a:solidFill>
                        <a:srgbClr val="D6E0E5"/>
                      </a:solidFill>
                      <a:prstDash val="solid"/>
                    </a:lnR>
                    <a:lnB w="9525">
                      <a:solidFill>
                        <a:srgbClr val="D6E0E5"/>
                      </a:solidFill>
                      <a:prstDash val="solid"/>
                    </a:lnB>
                    <a:solidFill>
                      <a:srgbClr val="EFF5F8"/>
                    </a:solidFill>
                  </a:tcPr>
                </a:tc>
                <a:tc>
                  <a:txBody>
                    <a:bodyPr>
                      <a:noAutofit/>
                    </a:bodyPr>
                    <a:lstStyle/>
                    <a:p>
                      <a:pPr algn="ctr"/>
                      <a:r>
                        <a:rPr sz="1575" b="1">
                          <a:solidFill>
                            <a:srgbClr val="183044"/>
                          </a:solidFill>
                          <a:latin typeface="Arial"/>
                          <a:ea typeface="Arial"/>
                          <a:cs typeface="Arial"/>
                        </a:rPr>
                        <a:t>D</a:t>
                      </a:r>
                    </a:p>
                  </a:txBody>
                  <a:tcPr marL="91440" marR="91440" marT="45720" marB="45720">
                    <a:lnR w="9525">
                      <a:solidFill>
                        <a:srgbClr val="D6E0E5"/>
                      </a:solidFill>
                      <a:prstDash val="solid"/>
                    </a:lnR>
                    <a:lnB w="9525">
                      <a:solidFill>
                        <a:srgbClr val="D6E0E5"/>
                      </a:solidFill>
                      <a:prstDash val="solid"/>
                    </a:lnB>
                    <a:solidFill>
                      <a:srgbClr val="B9D6E2"/>
                    </a:solidFill>
                  </a:tcPr>
                </a:tc>
              </a:tr>
              <a:tr h="339090">
                <a:tc>
                  <a:txBody>
                    <a:bodyPr>
                      <a:noAutofit/>
                    </a:bodyPr>
                    <a:lstStyle/>
                    <a:p>
                      <a:pPr algn="ctr"/>
                      <a:r>
                        <a:rPr sz="1575" b="1">
                          <a:solidFill>
                            <a:srgbClr val="183044"/>
                          </a:solidFill>
                          <a:latin typeface="Arial"/>
                          <a:ea typeface="Arial"/>
                          <a:cs typeface="Arial"/>
                        </a:rPr>
                        <a:t>D</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B9D6E2"/>
                    </a:solidFill>
                  </a:tcPr>
                </a:tc>
                <a:tc>
                  <a:txBody>
                    <a:bodyPr>
                      <a:noAutofit/>
                    </a:bodyPr>
                    <a:lstStyle/>
                    <a:p>
                      <a:pPr algn="ctr"/>
                      <a:r>
                        <a:rPr sz="1575" b="1">
                          <a:solidFill>
                            <a:srgbClr val="FFFFFF"/>
                          </a:solidFill>
                          <a:latin typeface="Arial"/>
                          <a:ea typeface="Arial"/>
                          <a:cs typeface="Arial"/>
                        </a:rPr>
                        <a:t>C</a:t>
                      </a:r>
                    </a:p>
                  </a:txBody>
                  <a:tcPr marL="91440" marR="91440" marT="45720" marB="45720">
                    <a:lnR w="9525">
                      <a:solidFill>
                        <a:srgbClr val="D6E0E5"/>
                      </a:solidFill>
                      <a:prstDash val="solid"/>
                    </a:lnR>
                    <a:lnB w="9525">
                      <a:solidFill>
                        <a:srgbClr val="D6E0E5"/>
                      </a:solidFill>
                      <a:prstDash val="solid"/>
                    </a:lnB>
                    <a:solidFill>
                      <a:srgbClr val="176D8C"/>
                    </a:solidFill>
                  </a:tcPr>
                </a:tc>
                <a:tc>
                  <a:txBody>
                    <a:bodyPr>
                      <a:noAutofit/>
                    </a:bodyPr>
                    <a:lstStyle/>
                    <a:p>
                      <a:pPr algn="ctr"/>
                      <a:r>
                        <a:rPr sz="1575" b="1">
                          <a:solidFill>
                            <a:srgbClr val="183044"/>
                          </a:solidFill>
                          <a:latin typeface="Arial"/>
                          <a:ea typeface="Arial"/>
                          <a:cs typeface="Arial"/>
                        </a:rPr>
                        <a:t>A</a:t>
                      </a:r>
                    </a:p>
                  </a:txBody>
                  <a:tcPr marL="91440" marR="91440" marT="45720" marB="45720">
                    <a:lnR w="9525">
                      <a:solidFill>
                        <a:srgbClr val="D6E0E5"/>
                      </a:solidFill>
                      <a:prstDash val="solid"/>
                    </a:lnR>
                    <a:lnB w="9525">
                      <a:solidFill>
                        <a:srgbClr val="D6E0E5"/>
                      </a:solidFill>
                      <a:prstDash val="solid"/>
                    </a:lnB>
                    <a:solidFill>
                      <a:srgbClr val="E4F0F5"/>
                    </a:solidFill>
                  </a:tcPr>
                </a:tc>
                <a:tc>
                  <a:txBody>
                    <a:bodyPr>
                      <a:noAutofit/>
                    </a:bodyPr>
                    <a:lstStyle/>
                    <a:p>
                      <a:pPr algn="ctr"/>
                      <a:r>
                        <a:rPr sz="1575" b="1">
                          <a:solidFill>
                            <a:srgbClr val="183044"/>
                          </a:solidFill>
                          <a:latin typeface="Arial"/>
                          <a:ea typeface="Arial"/>
                          <a:cs typeface="Arial"/>
                        </a:rPr>
                        <a:t>B</a:t>
                      </a:r>
                    </a:p>
                  </a:txBody>
                  <a:tcPr marL="91440" marR="91440" marT="45720" marB="45720">
                    <a:lnR w="9525">
                      <a:solidFill>
                        <a:srgbClr val="D6E0E5"/>
                      </a:solidFill>
                      <a:prstDash val="solid"/>
                    </a:lnR>
                    <a:lnB w="9525">
                      <a:solidFill>
                        <a:srgbClr val="D6E0E5"/>
                      </a:solidFill>
                      <a:prstDash val="solid"/>
                    </a:lnB>
                    <a:solidFill>
                      <a:srgbClr val="D0E4ED"/>
                    </a:solidFill>
                  </a:tcPr>
                </a:tc>
                <a:tc>
                  <a:txBody>
                    <a:bodyPr>
                      <a:noAutofit/>
                    </a:bodyPr>
                    <a:lstStyle/>
                    <a:p>
                      <a:pPr algn="ctr"/>
                      <a:r>
                        <a:rPr sz="1575" b="1">
                          <a:solidFill>
                            <a:srgbClr val="183044"/>
                          </a:solidFill>
                          <a:latin typeface="Arial"/>
                          <a:ea typeface="Arial"/>
                          <a:cs typeface="Arial"/>
                        </a:rPr>
                        <a:t>E</a:t>
                      </a:r>
                    </a:p>
                  </a:txBody>
                  <a:tcPr marL="91440" marR="91440" marT="45720" marB="45720">
                    <a:lnR w="9525">
                      <a:solidFill>
                        <a:srgbClr val="D6E0E5"/>
                      </a:solidFill>
                      <a:prstDash val="solid"/>
                    </a:lnR>
                    <a:lnB w="9525">
                      <a:solidFill>
                        <a:srgbClr val="D6E0E5"/>
                      </a:solidFill>
                      <a:prstDash val="solid"/>
                    </a:lnB>
                    <a:solidFill>
                      <a:srgbClr val="EFF5F8"/>
                    </a:solidFill>
                  </a:tcPr>
                </a:tc>
              </a:tr>
              <a:tr h="339090">
                <a:tc>
                  <a:txBody>
                    <a:bodyPr>
                      <a:noAutofit/>
                    </a:bodyPr>
                    <a:lstStyle/>
                    <a:p>
                      <a:pPr algn="ctr"/>
                      <a:r>
                        <a:rPr sz="1575" b="1">
                          <a:solidFill>
                            <a:srgbClr val="183044"/>
                          </a:solidFill>
                          <a:latin typeface="Arial"/>
                          <a:ea typeface="Arial"/>
                          <a:cs typeface="Arial"/>
                        </a:rPr>
                        <a:t>E</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FF5F8"/>
                    </a:solidFill>
                  </a:tcPr>
                </a:tc>
                <a:tc>
                  <a:txBody>
                    <a:bodyPr>
                      <a:noAutofit/>
                    </a:bodyPr>
                    <a:lstStyle/>
                    <a:p>
                      <a:pPr algn="ctr"/>
                      <a:r>
                        <a:rPr sz="1575" b="1">
                          <a:solidFill>
                            <a:srgbClr val="183044"/>
                          </a:solidFill>
                          <a:latin typeface="Arial"/>
                          <a:ea typeface="Arial"/>
                          <a:cs typeface="Arial"/>
                        </a:rPr>
                        <a:t>B</a:t>
                      </a:r>
                    </a:p>
                  </a:txBody>
                  <a:tcPr marL="91440" marR="91440" marT="45720" marB="45720">
                    <a:lnR w="9525">
                      <a:solidFill>
                        <a:srgbClr val="D6E0E5"/>
                      </a:solidFill>
                      <a:prstDash val="solid"/>
                    </a:lnR>
                    <a:lnB w="9525">
                      <a:solidFill>
                        <a:srgbClr val="D6E0E5"/>
                      </a:solidFill>
                      <a:prstDash val="solid"/>
                    </a:lnB>
                    <a:solidFill>
                      <a:srgbClr val="D0E4ED"/>
                    </a:solidFill>
                  </a:tcPr>
                </a:tc>
                <a:tc>
                  <a:txBody>
                    <a:bodyPr>
                      <a:noAutofit/>
                    </a:bodyPr>
                    <a:lstStyle/>
                    <a:p>
                      <a:pPr algn="ctr"/>
                      <a:r>
                        <a:rPr sz="1575" b="1">
                          <a:solidFill>
                            <a:srgbClr val="FFFFFF"/>
                          </a:solidFill>
                          <a:latin typeface="Arial"/>
                          <a:ea typeface="Arial"/>
                          <a:cs typeface="Arial"/>
                        </a:rPr>
                        <a:t>C</a:t>
                      </a:r>
                    </a:p>
                  </a:txBody>
                  <a:tcPr marL="91440" marR="91440" marT="45720" marB="45720">
                    <a:lnR w="9525">
                      <a:solidFill>
                        <a:srgbClr val="D6E0E5"/>
                      </a:solidFill>
                      <a:prstDash val="solid"/>
                    </a:lnR>
                    <a:lnB w="9525">
                      <a:solidFill>
                        <a:srgbClr val="D6E0E5"/>
                      </a:solidFill>
                      <a:prstDash val="solid"/>
                    </a:lnB>
                    <a:solidFill>
                      <a:srgbClr val="176D8C"/>
                    </a:solidFill>
                  </a:tcPr>
                </a:tc>
                <a:tc>
                  <a:txBody>
                    <a:bodyPr>
                      <a:noAutofit/>
                    </a:bodyPr>
                    <a:lstStyle/>
                    <a:p>
                      <a:pPr algn="ctr"/>
                      <a:r>
                        <a:rPr sz="1575" b="1">
                          <a:solidFill>
                            <a:srgbClr val="183044"/>
                          </a:solidFill>
                          <a:latin typeface="Arial"/>
                          <a:ea typeface="Arial"/>
                          <a:cs typeface="Arial"/>
                        </a:rPr>
                        <a:t>D</a:t>
                      </a:r>
                    </a:p>
                  </a:txBody>
                  <a:tcPr marL="91440" marR="91440" marT="45720" marB="45720">
                    <a:lnR w="9525">
                      <a:solidFill>
                        <a:srgbClr val="D6E0E5"/>
                      </a:solidFill>
                      <a:prstDash val="solid"/>
                    </a:lnR>
                    <a:lnB w="9525">
                      <a:solidFill>
                        <a:srgbClr val="D6E0E5"/>
                      </a:solidFill>
                      <a:prstDash val="solid"/>
                    </a:lnB>
                    <a:solidFill>
                      <a:srgbClr val="B9D6E2"/>
                    </a:solidFill>
                  </a:tcPr>
                </a:tc>
                <a:tc>
                  <a:txBody>
                    <a:bodyPr>
                      <a:noAutofit/>
                    </a:bodyPr>
                    <a:lstStyle/>
                    <a:p>
                      <a:pPr algn="ctr"/>
                      <a:r>
                        <a:rPr sz="1575" b="1">
                          <a:solidFill>
                            <a:srgbClr val="183044"/>
                          </a:solidFill>
                          <a:latin typeface="Arial"/>
                          <a:ea typeface="Arial"/>
                          <a:cs typeface="Arial"/>
                        </a:rPr>
                        <a:t>A</a:t>
                      </a:r>
                    </a:p>
                  </a:txBody>
                  <a:tcPr marL="91440" marR="91440" marT="45720" marB="45720">
                    <a:lnR w="9525">
                      <a:solidFill>
                        <a:srgbClr val="D6E0E5"/>
                      </a:solidFill>
                      <a:prstDash val="solid"/>
                    </a:lnR>
                    <a:lnB w="9525">
                      <a:solidFill>
                        <a:srgbClr val="D6E0E5"/>
                      </a:solidFill>
                      <a:prstDash val="solid"/>
                    </a:lnB>
                    <a:solidFill>
                      <a:srgbClr val="E4F0F5"/>
                    </a:solidFill>
                  </a:tcPr>
                </a:tc>
              </a:tr>
              <a:tr h="339090">
                <a:tc>
                  <a:txBody>
                    <a:bodyPr>
                      <a:noAutofit/>
                    </a:bodyPr>
                    <a:lstStyle/>
                    <a:p>
                      <a:pPr algn="ctr"/>
                      <a:r>
                        <a:rPr sz="1575" b="1">
                          <a:solidFill>
                            <a:srgbClr val="183044"/>
                          </a:solidFill>
                          <a:latin typeface="Arial"/>
                          <a:ea typeface="Arial"/>
                          <a:cs typeface="Arial"/>
                        </a:rPr>
                        <a:t>A</a:t>
                      </a:r>
                    </a:p>
                  </a:txBody>
                  <a:tcPr marL="91440" marR="91440" marT="45720" marB="45720">
                    <a:lnL w="9525">
                      <a:solidFill>
                        <a:srgbClr val="D6E0E5"/>
                      </a:solidFill>
                      <a:prstDash val="solid"/>
                    </a:lnL>
                    <a:lnR w="9525">
                      <a:solidFill>
                        <a:srgbClr val="D6E0E5"/>
                      </a:solidFill>
                      <a:prstDash val="solid"/>
                    </a:lnR>
                    <a:lnB w="9525">
                      <a:solidFill>
                        <a:srgbClr val="D6E0E5"/>
                      </a:solidFill>
                      <a:prstDash val="solid"/>
                    </a:lnB>
                    <a:solidFill>
                      <a:srgbClr val="E4F0F5"/>
                    </a:solidFill>
                  </a:tcPr>
                </a:tc>
                <a:tc>
                  <a:txBody>
                    <a:bodyPr>
                      <a:noAutofit/>
                    </a:bodyPr>
                    <a:lstStyle/>
                    <a:p>
                      <a:pPr algn="ctr"/>
                      <a:r>
                        <a:rPr sz="1575" b="1">
                          <a:solidFill>
                            <a:srgbClr val="183044"/>
                          </a:solidFill>
                          <a:latin typeface="Arial"/>
                          <a:ea typeface="Arial"/>
                          <a:cs typeface="Arial"/>
                        </a:rPr>
                        <a:t>E</a:t>
                      </a:r>
                    </a:p>
                  </a:txBody>
                  <a:tcPr marL="91440" marR="91440" marT="45720" marB="45720">
                    <a:lnR w="9525">
                      <a:solidFill>
                        <a:srgbClr val="D6E0E5"/>
                      </a:solidFill>
                      <a:prstDash val="solid"/>
                    </a:lnR>
                    <a:lnB w="9525">
                      <a:solidFill>
                        <a:srgbClr val="D6E0E5"/>
                      </a:solidFill>
                      <a:prstDash val="solid"/>
                    </a:lnB>
                    <a:solidFill>
                      <a:srgbClr val="EFF5F8"/>
                    </a:solidFill>
                  </a:tcPr>
                </a:tc>
                <a:tc>
                  <a:txBody>
                    <a:bodyPr>
                      <a:noAutofit/>
                    </a:bodyPr>
                    <a:lstStyle/>
                    <a:p>
                      <a:pPr algn="ctr"/>
                      <a:r>
                        <a:rPr sz="1575" b="1">
                          <a:solidFill>
                            <a:srgbClr val="183044"/>
                          </a:solidFill>
                          <a:latin typeface="Arial"/>
                          <a:ea typeface="Arial"/>
                          <a:cs typeface="Arial"/>
                        </a:rPr>
                        <a:t>D</a:t>
                      </a:r>
                    </a:p>
                  </a:txBody>
                  <a:tcPr marL="91440" marR="91440" marT="45720" marB="45720">
                    <a:lnR w="9525">
                      <a:solidFill>
                        <a:srgbClr val="D6E0E5"/>
                      </a:solidFill>
                      <a:prstDash val="solid"/>
                    </a:lnR>
                    <a:lnB w="9525">
                      <a:solidFill>
                        <a:srgbClr val="D6E0E5"/>
                      </a:solidFill>
                      <a:prstDash val="solid"/>
                    </a:lnB>
                    <a:solidFill>
                      <a:srgbClr val="B9D6E2"/>
                    </a:solidFill>
                  </a:tcPr>
                </a:tc>
                <a:tc>
                  <a:txBody>
                    <a:bodyPr>
                      <a:noAutofit/>
                    </a:bodyPr>
                    <a:lstStyle/>
                    <a:p>
                      <a:pPr algn="ctr"/>
                      <a:r>
                        <a:rPr sz="1575" b="1">
                          <a:solidFill>
                            <a:srgbClr val="FFFFFF"/>
                          </a:solidFill>
                          <a:latin typeface="Arial"/>
                          <a:ea typeface="Arial"/>
                          <a:cs typeface="Arial"/>
                        </a:rPr>
                        <a:t>C</a:t>
                      </a:r>
                    </a:p>
                  </a:txBody>
                  <a:tcPr marL="91440" marR="91440" marT="45720" marB="45720">
                    <a:lnR w="9525">
                      <a:solidFill>
                        <a:srgbClr val="D6E0E5"/>
                      </a:solidFill>
                      <a:prstDash val="solid"/>
                    </a:lnR>
                    <a:lnB w="9525">
                      <a:solidFill>
                        <a:srgbClr val="D6E0E5"/>
                      </a:solidFill>
                      <a:prstDash val="solid"/>
                    </a:lnB>
                    <a:solidFill>
                      <a:srgbClr val="176D8C"/>
                    </a:solidFill>
                  </a:tcPr>
                </a:tc>
                <a:tc>
                  <a:txBody>
                    <a:bodyPr>
                      <a:noAutofit/>
                    </a:bodyPr>
                    <a:lstStyle/>
                    <a:p>
                      <a:pPr algn="ctr"/>
                      <a:r>
                        <a:rPr sz="1575" b="1">
                          <a:solidFill>
                            <a:srgbClr val="183044"/>
                          </a:solidFill>
                          <a:latin typeface="Arial"/>
                          <a:ea typeface="Arial"/>
                          <a:cs typeface="Arial"/>
                        </a:rPr>
                        <a:t>B</a:t>
                      </a:r>
                    </a:p>
                  </a:txBody>
                  <a:tcPr marL="91440" marR="91440" marT="45720" marB="45720">
                    <a:lnR w="9525">
                      <a:solidFill>
                        <a:srgbClr val="D6E0E5"/>
                      </a:solidFill>
                      <a:prstDash val="solid"/>
                    </a:lnR>
                    <a:lnB w="9525">
                      <a:solidFill>
                        <a:srgbClr val="D6E0E5"/>
                      </a:solidFill>
                      <a:prstDash val="solid"/>
                    </a:lnB>
                    <a:solidFill>
                      <a:srgbClr val="D0E4ED"/>
                    </a:solidFill>
                  </a:tcPr>
                </a:tc>
              </a:tr>
            </a:tbl>
          </a:graphicData>
        </a:graphic>
      </p:graphicFrame>
      <p:sp>
        <p:nvSpPr>
          <p:cNvPr id="16" name="text">
            <a:extLst xmlns:a="http://schemas.openxmlformats.org/drawingml/2006/main">
              <a:ext uri="{FF2B5EF4-FFF2-40B4-BE49-F238E27FC236}">
                <a16:creationId xmlns:a16="http://schemas.microsoft.com/office/drawing/2014/main" id="{1671EF64-B51A-43D0-B97E-E1DD54AB7E4A}"/>
              </a:ext>
            </a:extLst>
          </p:cNvPr>
          <p:cNvSpPr>
            <a:spLocks xmlns:a="http://schemas.openxmlformats.org/drawingml/2006/main" noGrp="1"/>
          </p:cNvSpPr>
          <p:nvPr/>
        </p:nvSpPr>
        <p:spPr>
          <a:xfrm xmlns:a="http://schemas.openxmlformats.org/drawingml/2006/main">
            <a:off x="9220200" y="4152900"/>
            <a:ext cx="25812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Wheat: 5 treatments in a 5 × 5 grid. Each letter occurs once per row and column.</a:t>
            </a:r>
          </a:p>
        </p:txBody>
      </p:sp>
      <p:sp>
        <p:nvSpPr>
          <p:cNvPr id="17" name="text">
            <a:extLst xmlns:a="http://schemas.openxmlformats.org/drawingml/2006/main">
              <a:ext uri="{FF2B5EF4-FFF2-40B4-BE49-F238E27FC236}">
                <a16:creationId xmlns:a16="http://schemas.microsoft.com/office/drawing/2014/main" id="{DA52A6D0-2F90-4A70-A01B-08320FF9338D}"/>
              </a:ext>
            </a:extLst>
          </p:cNvPr>
          <p:cNvSpPr>
            <a:spLocks xmlns:a="http://schemas.openxmlformats.org/drawingml/2006/main" noGrp="1"/>
          </p:cNvSpPr>
          <p:nvPr/>
        </p:nvSpPr>
        <p:spPr>
          <a:xfrm xmlns:a="http://schemas.openxmlformats.org/drawingml/2006/main">
            <a:off x="9220200" y="5105400"/>
            <a:ext cx="2581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F = 21.03, p &lt; 0.001</a:t>
            </a:r>
          </a:p>
        </p:txBody>
      </p:sp>
      <p:sp>
        <p:nvSpPr>
          <p:cNvPr id="18" name="text">
            <a:extLst xmlns:a="http://schemas.openxmlformats.org/drawingml/2006/main">
              <a:ext uri="{FF2B5EF4-FFF2-40B4-BE49-F238E27FC236}">
                <a16:creationId xmlns:a16="http://schemas.microsoft.com/office/drawing/2014/main" id="{3828A982-31AC-4F2B-834D-5D533833A612}"/>
              </a:ext>
            </a:extLst>
          </p:cNvPr>
          <p:cNvSpPr>
            <a:spLocks xmlns:a="http://schemas.openxmlformats.org/drawingml/2006/main" noGrp="1"/>
          </p:cNvSpPr>
          <p:nvPr/>
        </p:nvSpPr>
        <p:spPr>
          <a:xfrm xmlns:a="http://schemas.openxmlformats.org/drawingml/2006/main">
            <a:off x="9220200" y="5505450"/>
            <a:ext cx="25812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83044"/>
                </a:solidFill>
                <a:latin typeface="Arial"/>
                <a:ea typeface="Arial"/>
                <a:cs typeface="Arial"/>
              </a:defRPr>
            </a:defPPr>
          </a:lstStyle>
          <a:p xmlns:a="http://schemas.openxmlformats.org/drawingml/2006/main">
            <a:pPr>
              <a:defRPr sz="1575" b="1">
                <a:solidFill>
                  <a:srgbClr val="183044"/>
                </a:solidFill>
                <a:latin typeface="Arial"/>
                <a:ea typeface="Arial"/>
                <a:cs typeface="Arial"/>
              </a:defRPr>
            </a:pPr>
            <a:r>
              <a:rPr sz="1575" b="1">
                <a:solidFill>
                  <a:srgbClr val="183044"/>
                </a:solidFill>
                <a:latin typeface="Arial"/>
                <a:ea typeface="Arial"/>
                <a:cs typeface="Arial"/>
              </a:rPr>
              <a:t>C: highest mean, 13.12.</a:t>
            </a:r>
          </a:p>
          <a:p xmlns:a="http://schemas.openxmlformats.org/drawingml/2006/main">
            <a:pPr>
              <a:defRPr sz="1575" b="1">
                <a:solidFill>
                  <a:srgbClr val="183044"/>
                </a:solidFill>
                <a:latin typeface="Arial"/>
                <a:ea typeface="Arial"/>
                <a:cs typeface="Arial"/>
              </a:defRPr>
            </a:pPr>
            <a:r>
              <a:rPr sz="1575" b="1">
                <a:solidFill>
                  <a:srgbClr val="183044"/>
                </a:solidFill>
                <a:latin typeface="Arial"/>
                <a:ea typeface="Arial"/>
                <a:cs typeface="Arial"/>
              </a:rPr>
              <a:t>Weekly dusting.</a:t>
            </a:r>
          </a:p>
        </p:txBody>
      </p:sp>
      <p:sp>
        <p:nvSpPr>
          <p:cNvPr id="19" name="">
            <a:extLst xmlns:a="http://schemas.openxmlformats.org/drawingml/2006/main">
              <a:ext uri="{FF2B5EF4-FFF2-40B4-BE49-F238E27FC236}">
                <a16:creationId xmlns:a16="http://schemas.microsoft.com/office/drawing/2014/main" id="{0EAF98C2-23E0-492A-AB29-39F33693B985}"/>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4DF41D8C-4A57-4C93-BEFB-C1E20A20AA52}"/>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Blocks reduce unexplained error. Weekly dusting (C) has the highest wheat yield in its experiment.</a:t>
            </a:r>
          </a:p>
        </p:txBody>
      </p:sp>
      <p:sp>
        <p:nvSpPr>
          <p:cNvPr id="21" name="text">
            <a:extLst xmlns:a="http://schemas.openxmlformats.org/drawingml/2006/main">
              <a:ext uri="{FF2B5EF4-FFF2-40B4-BE49-F238E27FC236}">
                <a16:creationId xmlns:a16="http://schemas.microsoft.com/office/drawing/2014/main" id="{92C2153A-16B0-453B-BD02-780FF4947512}"/>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10 / 11</a:t>
            </a:r>
          </a:p>
        </p:txBody>
      </p:sp>
    </p:spTree>
    <p:extLst>
      <p:ext uri="{BB962C8B-B14F-4D97-AF65-F5344CB8AC3E}">
        <p14:creationId xmlns:p14="http://schemas.microsoft.com/office/powerpoint/2010/main" val="1841437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88E4227C-32DF-419E-A1E6-467FC60B024D}"/>
              </a:ext>
            </a:extLst>
          </p:cNvPr>
          <p:cNvSpPr>
            <a:spLocks xmlns:a="http://schemas.openxmlformats.org/drawingml/2006/main" noGrp="1"/>
          </p:cNvSpPr>
          <p:nvPr/>
        </p:nvSpPr>
        <p:spPr>
          <a:xfrm xmlns:a="http://schemas.openxmlformats.org/drawingml/2006/main">
            <a:off x="590550" y="76200"/>
            <a:ext cx="1122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176D8C"/>
                </a:solidFill>
                <a:latin typeface="Arial"/>
                <a:ea typeface="Arial"/>
                <a:cs typeface="Arial"/>
              </a:defRPr>
            </a:defPPr>
          </a:lstStyle>
          <a:p xmlns:a="http://schemas.openxmlformats.org/drawingml/2006/main">
            <a:pPr>
              <a:defRPr sz="1350" b="1">
                <a:solidFill>
                  <a:srgbClr val="176D8C"/>
                </a:solidFill>
                <a:latin typeface="Arial"/>
                <a:ea typeface="Arial"/>
                <a:cs typeface="Arial"/>
              </a:defRPr>
            </a:pPr>
            <a:r>
              <a:rPr sz="1350" b="1">
                <a:solidFill>
                  <a:srgbClr val="176D8C"/>
                </a:solidFill>
                <a:latin typeface="Arial"/>
                <a:ea typeface="Arial"/>
                <a:cs typeface="Arial"/>
              </a:rPr>
              <a:t>LABS 1–11: Findings, limitations and next steps</a:t>
            </a:r>
          </a:p>
        </p:txBody>
      </p:sp>
      <p:sp>
        <p:nvSpPr>
          <p:cNvPr id="2" name="">
            <a:extLst xmlns:a="http://schemas.openxmlformats.org/drawingml/2006/main">
              <a:ext uri="{FF2B5EF4-FFF2-40B4-BE49-F238E27FC236}">
                <a16:creationId xmlns:a16="http://schemas.microsoft.com/office/drawing/2014/main" id="{78F8BC27-2F7A-42BA-9644-B4EB50AD989F}"/>
              </a:ext>
            </a:extLst>
          </p:cNvPr>
          <p:cNvSpPr>
            <a:spLocks xmlns:a="http://schemas.openxmlformats.org/drawingml/2006/main" noGrp="1"/>
          </p:cNvSpPr>
          <p:nvPr/>
        </p:nvSpPr>
        <p:spPr>
          <a:xfrm xmlns:a="http://schemas.openxmlformats.org/drawingml/2006/main">
            <a:off x="381000" y="381000"/>
            <a:ext cx="47625" cy="4381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AD3A385F-142D-409A-8575-0D7188A9F44F}"/>
              </a:ext>
            </a:extLst>
          </p:cNvPr>
          <p:cNvSpPr>
            <a:spLocks xmlns:a="http://schemas.openxmlformats.org/drawingml/2006/main" noGrp="1"/>
          </p:cNvSpPr>
          <p:nvPr/>
        </p:nvSpPr>
        <p:spPr>
          <a:xfrm xmlns:a="http://schemas.openxmlformats.org/drawingml/2006/main">
            <a:off x="590550" y="342900"/>
            <a:ext cx="1122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83044"/>
                </a:solidFill>
                <a:latin typeface="Arial"/>
                <a:ea typeface="Arial"/>
                <a:cs typeface="Arial"/>
              </a:defRPr>
            </a:defPPr>
          </a:lstStyle>
          <a:p xmlns:a="http://schemas.openxmlformats.org/drawingml/2006/main">
            <a:pPr>
              <a:defRPr sz="2850" b="1">
                <a:solidFill>
                  <a:srgbClr val="183044"/>
                </a:solidFill>
                <a:latin typeface="Arial"/>
                <a:ea typeface="Arial"/>
                <a:cs typeface="Arial"/>
              </a:defRPr>
            </a:pPr>
            <a:r>
              <a:rPr sz="2850" b="1">
                <a:solidFill>
                  <a:srgbClr val="183044"/>
                </a:solidFill>
                <a:latin typeface="Arial"/>
                <a:ea typeface="Arial"/>
                <a:cs typeface="Arial"/>
              </a:rPr>
              <a:t>Conclusion: findings and next steps</a:t>
            </a:r>
          </a:p>
        </p:txBody>
      </p:sp>
      <p:sp>
        <p:nvSpPr>
          <p:cNvPr id="4" name="text">
            <a:extLst xmlns:a="http://schemas.openxmlformats.org/drawingml/2006/main">
              <a:ext uri="{FF2B5EF4-FFF2-40B4-BE49-F238E27FC236}">
                <a16:creationId xmlns:a16="http://schemas.microsoft.com/office/drawing/2014/main" id="{C7F3F9F0-1097-4A3B-A61F-F77EF0FFC6EC}"/>
              </a:ext>
            </a:extLst>
          </p:cNvPr>
          <p:cNvSpPr>
            <a:spLocks xmlns:a="http://schemas.openxmlformats.org/drawingml/2006/main" noGrp="1"/>
          </p:cNvSpPr>
          <p:nvPr/>
        </p:nvSpPr>
        <p:spPr>
          <a:xfrm xmlns:a="http://schemas.openxmlformats.org/drawingml/2006/main">
            <a:off x="400050" y="97155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15566"/>
                </a:solidFill>
                <a:latin typeface="Arial"/>
                <a:ea typeface="Arial"/>
                <a:cs typeface="Arial"/>
              </a:defRPr>
            </a:defPPr>
          </a:lstStyle>
          <a:p xmlns:a="http://schemas.openxmlformats.org/drawingml/2006/main">
            <a:pPr>
              <a:defRPr sz="1725" b="0">
                <a:solidFill>
                  <a:srgbClr val="415566"/>
                </a:solidFill>
                <a:latin typeface="Arial"/>
                <a:ea typeface="Arial"/>
                <a:cs typeface="Arial"/>
              </a:defRPr>
            </a:pPr>
            <a:r>
              <a:rPr sz="1725" b="0">
                <a:solidFill>
                  <a:srgbClr val="415566"/>
                </a:solidFill>
                <a:latin typeface="Arial"/>
                <a:ea typeface="Arial"/>
                <a:cs typeface="Arial"/>
              </a:rPr>
              <a:t>We described health patterns and applied every course method using documented data.</a:t>
            </a:r>
          </a:p>
        </p:txBody>
      </p:sp>
      <p:sp>
        <p:nvSpPr>
          <p:cNvPr id="5" name="text">
            <a:extLst xmlns:a="http://schemas.openxmlformats.org/drawingml/2006/main">
              <a:ext uri="{FF2B5EF4-FFF2-40B4-BE49-F238E27FC236}">
                <a16:creationId xmlns:a16="http://schemas.microsoft.com/office/drawing/2014/main" id="{0C84142A-9DA1-48A0-8FB1-67097B294AF6}"/>
              </a:ext>
            </a:extLst>
          </p:cNvPr>
          <p:cNvSpPr>
            <a:spLocks xmlns:a="http://schemas.openxmlformats.org/drawingml/2006/main" noGrp="1"/>
          </p:cNvSpPr>
          <p:nvPr/>
        </p:nvSpPr>
        <p:spPr>
          <a:xfrm xmlns:a="http://schemas.openxmlformats.org/drawingml/2006/main">
            <a:off x="400050" y="1581150"/>
            <a:ext cx="714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6D8C"/>
                </a:solidFill>
                <a:latin typeface="Arial"/>
                <a:ea typeface="Arial"/>
                <a:cs typeface="Arial"/>
              </a:defRPr>
            </a:defPPr>
          </a:lstStyle>
          <a:p xmlns:a="http://schemas.openxmlformats.org/drawingml/2006/main">
            <a:pPr>
              <a:defRPr sz="1875" b="1">
                <a:solidFill>
                  <a:srgbClr val="176D8C"/>
                </a:solidFill>
                <a:latin typeface="Arial"/>
                <a:ea typeface="Arial"/>
                <a:cs typeface="Arial"/>
              </a:defRPr>
            </a:pPr>
            <a:r>
              <a:rPr sz="1875" b="1">
                <a:solidFill>
                  <a:srgbClr val="176D8C"/>
                </a:solidFill>
                <a:latin typeface="Arial"/>
                <a:ea typeface="Arial"/>
                <a:cs typeface="Arial"/>
              </a:rPr>
              <a:t>What we found</a:t>
            </a:r>
          </a:p>
        </p:txBody>
      </p:sp>
      <p:sp>
        <p:nvSpPr>
          <p:cNvPr id="6" name="text">
            <a:extLst xmlns:a="http://schemas.openxmlformats.org/drawingml/2006/main">
              <a:ext uri="{FF2B5EF4-FFF2-40B4-BE49-F238E27FC236}">
                <a16:creationId xmlns:a16="http://schemas.microsoft.com/office/drawing/2014/main" id="{2C13B10C-416C-4313-883F-3D786DCEA3AA}"/>
              </a:ext>
            </a:extLst>
          </p:cNvPr>
          <p:cNvSpPr>
            <a:spLocks xmlns:a="http://schemas.openxmlformats.org/drawingml/2006/main" noGrp="1"/>
          </p:cNvSpPr>
          <p:nvPr/>
        </p:nvSpPr>
        <p:spPr>
          <a:xfrm xmlns:a="http://schemas.openxmlformats.org/drawingml/2006/main">
            <a:off x="400050" y="1990725"/>
            <a:ext cx="712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83044"/>
                </a:solidFill>
                <a:latin typeface="Arial"/>
                <a:ea typeface="Arial"/>
                <a:cs typeface="Arial"/>
              </a:defRPr>
            </a:defPPr>
          </a:lstStyle>
          <a:p xmlns:a="http://schemas.openxmlformats.org/drawingml/2006/main">
            <a:pPr>
              <a:defRPr sz="1725" b="1">
                <a:solidFill>
                  <a:srgbClr val="183044"/>
                </a:solidFill>
                <a:latin typeface="Arial"/>
                <a:ea typeface="Arial"/>
                <a:cs typeface="Arial"/>
              </a:defRPr>
            </a:pPr>
            <a:r>
              <a:rPr sz="1725" b="1">
                <a:solidFill>
                  <a:srgbClr val="183044"/>
                </a:solidFill>
                <a:latin typeface="Arial"/>
                <a:ea typeface="Arial"/>
                <a:cs typeface="Arial"/>
              </a:rPr>
              <a:t>Higher average BMI in positive groups</a:t>
            </a:r>
          </a:p>
        </p:txBody>
      </p:sp>
      <p:sp>
        <p:nvSpPr>
          <p:cNvPr id="7" name="text">
            <a:extLst xmlns:a="http://schemas.openxmlformats.org/drawingml/2006/main">
              <a:ext uri="{FF2B5EF4-FFF2-40B4-BE49-F238E27FC236}">
                <a16:creationId xmlns:a16="http://schemas.microsoft.com/office/drawing/2014/main" id="{E06CD85B-9EBE-46D2-A31C-CAD4A3B3D864}"/>
              </a:ext>
            </a:extLst>
          </p:cNvPr>
          <p:cNvSpPr>
            <a:spLocks xmlns:a="http://schemas.openxmlformats.org/drawingml/2006/main" noGrp="1"/>
          </p:cNvSpPr>
          <p:nvPr/>
        </p:nvSpPr>
        <p:spPr>
          <a:xfrm xmlns:a="http://schemas.openxmlformats.org/drawingml/2006/main">
            <a:off x="400050" y="2324100"/>
            <a:ext cx="712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27.72 without diabetes, 32.85 prediabetes, 31.98 diabetes.</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Individual values still overlap.</a:t>
            </a:r>
          </a:p>
        </p:txBody>
      </p:sp>
      <p:sp>
        <p:nvSpPr>
          <p:cNvPr id="8" name="">
            <a:extLst xmlns:a="http://schemas.openxmlformats.org/drawingml/2006/main">
              <a:ext uri="{FF2B5EF4-FFF2-40B4-BE49-F238E27FC236}">
                <a16:creationId xmlns:a16="http://schemas.microsoft.com/office/drawing/2014/main" id="{033DD777-4BE5-4D09-A28E-46181BE41539}"/>
              </a:ext>
            </a:extLst>
          </p:cNvPr>
          <p:cNvSpPr>
            <a:spLocks xmlns:a="http://schemas.openxmlformats.org/drawingml/2006/main" noGrp="1"/>
          </p:cNvSpPr>
          <p:nvPr/>
        </p:nvSpPr>
        <p:spPr>
          <a:xfrm xmlns:a="http://schemas.openxmlformats.org/drawingml/2006/main">
            <a:off x="400050" y="2886075"/>
            <a:ext cx="7124700" cy="19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BC22C17-7E9F-4D3C-95C4-DA30674CF317}"/>
              </a:ext>
            </a:extLst>
          </p:cNvPr>
          <p:cNvSpPr>
            <a:spLocks xmlns:a="http://schemas.openxmlformats.org/drawingml/2006/main" noGrp="1"/>
          </p:cNvSpPr>
          <p:nvPr/>
        </p:nvSpPr>
        <p:spPr>
          <a:xfrm xmlns:a="http://schemas.openxmlformats.org/drawingml/2006/main">
            <a:off x="400050" y="2952750"/>
            <a:ext cx="712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83044"/>
                </a:solidFill>
                <a:latin typeface="Arial"/>
                <a:ea typeface="Arial"/>
                <a:cs typeface="Arial"/>
              </a:defRPr>
            </a:defPPr>
          </a:lstStyle>
          <a:p xmlns:a="http://schemas.openxmlformats.org/drawingml/2006/main">
            <a:pPr>
              <a:defRPr sz="1725" b="1">
                <a:solidFill>
                  <a:srgbClr val="183044"/>
                </a:solidFill>
                <a:latin typeface="Arial"/>
                <a:ea typeface="Arial"/>
                <a:cs typeface="Arial"/>
              </a:defRPr>
            </a:pPr>
            <a:r>
              <a:rPr sz="1725" b="1">
                <a:solidFill>
                  <a:srgbClr val="183044"/>
                </a:solidFill>
                <a:latin typeface="Arial"/>
                <a:ea typeface="Arial"/>
                <a:cs typeface="Arial"/>
              </a:rPr>
              <a:t>Regression explains a small share</a:t>
            </a:r>
          </a:p>
        </p:txBody>
      </p:sp>
      <p:sp>
        <p:nvSpPr>
          <p:cNvPr id="10" name="text">
            <a:extLst xmlns:a="http://schemas.openxmlformats.org/drawingml/2006/main">
              <a:ext uri="{FF2B5EF4-FFF2-40B4-BE49-F238E27FC236}">
                <a16:creationId xmlns:a16="http://schemas.microsoft.com/office/drawing/2014/main" id="{2E7D6ECE-6100-444A-89E9-69DBA423F14E}"/>
              </a:ext>
            </a:extLst>
          </p:cNvPr>
          <p:cNvSpPr>
            <a:spLocks xmlns:a="http://schemas.openxmlformats.org/drawingml/2006/main" noGrp="1"/>
          </p:cNvSpPr>
          <p:nvPr/>
        </p:nvSpPr>
        <p:spPr>
          <a:xfrm xmlns:a="http://schemas.openxmlformats.org/drawingml/2006/main">
            <a:off x="400050" y="3286125"/>
            <a:ext cx="712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R²: 1.03% (simple), 6.81% (multiple).</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Most BMI variation remains unexplained.</a:t>
            </a:r>
          </a:p>
        </p:txBody>
      </p:sp>
      <p:sp>
        <p:nvSpPr>
          <p:cNvPr id="11" name="">
            <a:extLst xmlns:a="http://schemas.openxmlformats.org/drawingml/2006/main">
              <a:ext uri="{FF2B5EF4-FFF2-40B4-BE49-F238E27FC236}">
                <a16:creationId xmlns:a16="http://schemas.microsoft.com/office/drawing/2014/main" id="{B991BC40-F8FD-4A65-9E8A-A831E96CB446}"/>
              </a:ext>
            </a:extLst>
          </p:cNvPr>
          <p:cNvSpPr>
            <a:spLocks xmlns:a="http://schemas.openxmlformats.org/drawingml/2006/main" noGrp="1"/>
          </p:cNvSpPr>
          <p:nvPr/>
        </p:nvSpPr>
        <p:spPr>
          <a:xfrm xmlns:a="http://schemas.openxmlformats.org/drawingml/2006/main">
            <a:off x="400050" y="3848100"/>
            <a:ext cx="7124700" cy="19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79D24E6-6E5E-4B0E-870F-B0C4AF9C072B}"/>
              </a:ext>
            </a:extLst>
          </p:cNvPr>
          <p:cNvSpPr>
            <a:spLocks xmlns:a="http://schemas.openxmlformats.org/drawingml/2006/main" noGrp="1"/>
          </p:cNvSpPr>
          <p:nvPr/>
        </p:nvSpPr>
        <p:spPr>
          <a:xfrm xmlns:a="http://schemas.openxmlformats.org/drawingml/2006/main">
            <a:off x="400050" y="3914775"/>
            <a:ext cx="712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83044"/>
                </a:solidFill>
                <a:latin typeface="Arial"/>
                <a:ea typeface="Arial"/>
                <a:cs typeface="Arial"/>
              </a:defRPr>
            </a:defPPr>
          </a:lstStyle>
          <a:p xmlns:a="http://schemas.openxmlformats.org/drawingml/2006/main">
            <a:pPr>
              <a:defRPr sz="1725" b="1">
                <a:solidFill>
                  <a:srgbClr val="183044"/>
                </a:solidFill>
                <a:latin typeface="Arial"/>
                <a:ea typeface="Arial"/>
                <a:cs typeface="Arial"/>
              </a:defRPr>
            </a:pPr>
            <a:r>
              <a:rPr sz="1725" b="1">
                <a:solidFill>
                  <a:srgbClr val="183044"/>
                </a:solidFill>
                <a:latin typeface="Arial"/>
                <a:ea typeface="Arial"/>
                <a:cs typeface="Arial"/>
              </a:rPr>
              <a:t>Outliers and model checks matter</a:t>
            </a:r>
          </a:p>
        </p:txBody>
      </p:sp>
      <p:sp>
        <p:nvSpPr>
          <p:cNvPr id="13" name="text">
            <a:extLst xmlns:a="http://schemas.openxmlformats.org/drawingml/2006/main">
              <a:ext uri="{FF2B5EF4-FFF2-40B4-BE49-F238E27FC236}">
                <a16:creationId xmlns:a16="http://schemas.microsoft.com/office/drawing/2014/main" id="{143BC838-2DA6-40AB-8913-F10A750B04F2}"/>
              </a:ext>
            </a:extLst>
          </p:cNvPr>
          <p:cNvSpPr>
            <a:spLocks xmlns:a="http://schemas.openxmlformats.org/drawingml/2006/main" noGrp="1"/>
          </p:cNvSpPr>
          <p:nvPr/>
        </p:nvSpPr>
        <p:spPr>
          <a:xfrm xmlns:a="http://schemas.openxmlformats.org/drawingml/2006/main">
            <a:off x="400050" y="4248150"/>
            <a:ext cx="712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Removing 114 flags lowers mean BMI from 28.40 to 27.65.</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Binomial fits reasonably. Normal and Poisson fit poorly.</a:t>
            </a:r>
          </a:p>
        </p:txBody>
      </p:sp>
      <p:sp>
        <p:nvSpPr>
          <p:cNvPr id="14" name="">
            <a:extLst xmlns:a="http://schemas.openxmlformats.org/drawingml/2006/main">
              <a:ext uri="{FF2B5EF4-FFF2-40B4-BE49-F238E27FC236}">
                <a16:creationId xmlns:a16="http://schemas.microsoft.com/office/drawing/2014/main" id="{16C84698-2081-49DB-BFF9-3A406A6368B2}"/>
              </a:ext>
            </a:extLst>
          </p:cNvPr>
          <p:cNvSpPr>
            <a:spLocks xmlns:a="http://schemas.openxmlformats.org/drawingml/2006/main" noGrp="1"/>
          </p:cNvSpPr>
          <p:nvPr/>
        </p:nvSpPr>
        <p:spPr>
          <a:xfrm xmlns:a="http://schemas.openxmlformats.org/drawingml/2006/main">
            <a:off x="400050" y="4810125"/>
            <a:ext cx="7124700" cy="19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00FAAB6-A4C2-4662-A163-BE293346C04F}"/>
              </a:ext>
            </a:extLst>
          </p:cNvPr>
          <p:cNvSpPr>
            <a:spLocks xmlns:a="http://schemas.openxmlformats.org/drawingml/2006/main" noGrp="1"/>
          </p:cNvSpPr>
          <p:nvPr/>
        </p:nvSpPr>
        <p:spPr>
          <a:xfrm xmlns:a="http://schemas.openxmlformats.org/drawingml/2006/main">
            <a:off x="400050" y="4876800"/>
            <a:ext cx="712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83044"/>
                </a:solidFill>
                <a:latin typeface="Arial"/>
                <a:ea typeface="Arial"/>
                <a:cs typeface="Arial"/>
              </a:defRPr>
            </a:defPPr>
          </a:lstStyle>
          <a:p xmlns:a="http://schemas.openxmlformats.org/drawingml/2006/main">
            <a:pPr>
              <a:defRPr sz="1725" b="1">
                <a:solidFill>
                  <a:srgbClr val="183044"/>
                </a:solidFill>
                <a:latin typeface="Arial"/>
                <a:ea typeface="Arial"/>
                <a:cs typeface="Arial"/>
              </a:defRPr>
            </a:pPr>
            <a:r>
              <a:rPr sz="1725" b="1">
                <a:solidFill>
                  <a:srgbClr val="183044"/>
                </a:solidFill>
                <a:latin typeface="Arial"/>
                <a:ea typeface="Arial"/>
                <a:cs typeface="Arial"/>
              </a:rPr>
              <a:t>The design changes the comparison</a:t>
            </a:r>
          </a:p>
        </p:txBody>
      </p:sp>
      <p:sp>
        <p:nvSpPr>
          <p:cNvPr id="16" name="text">
            <a:extLst xmlns:a="http://schemas.openxmlformats.org/drawingml/2006/main">
              <a:ext uri="{FF2B5EF4-FFF2-40B4-BE49-F238E27FC236}">
                <a16:creationId xmlns:a16="http://schemas.microsoft.com/office/drawing/2014/main" id="{4AA45633-3C80-40D4-A24C-772E229B9393}"/>
              </a:ext>
            </a:extLst>
          </p:cNvPr>
          <p:cNvSpPr>
            <a:spLocks xmlns:a="http://schemas.openxmlformats.org/drawingml/2006/main" noGrp="1"/>
          </p:cNvSpPr>
          <p:nvPr/>
        </p:nvSpPr>
        <p:spPr>
          <a:xfrm xmlns:a="http://schemas.openxmlformats.org/drawingml/2006/main">
            <a:off x="400050" y="5210175"/>
            <a:ext cx="712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BP has a larger status association than smoking.</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Blocks cut error by 44.8%. Wheat treatment C yields most.</a:t>
            </a:r>
          </a:p>
        </p:txBody>
      </p:sp>
      <p:sp>
        <p:nvSpPr>
          <p:cNvPr id="17" name="">
            <a:extLst xmlns:a="http://schemas.openxmlformats.org/drawingml/2006/main">
              <a:ext uri="{FF2B5EF4-FFF2-40B4-BE49-F238E27FC236}">
                <a16:creationId xmlns:a16="http://schemas.microsoft.com/office/drawing/2014/main" id="{991254F5-634F-44B6-9198-C63D8E82855D}"/>
              </a:ext>
            </a:extLst>
          </p:cNvPr>
          <p:cNvSpPr>
            <a:spLocks xmlns:a="http://schemas.openxmlformats.org/drawingml/2006/main" noGrp="1"/>
          </p:cNvSpPr>
          <p:nvPr/>
        </p:nvSpPr>
        <p:spPr>
          <a:xfrm xmlns:a="http://schemas.openxmlformats.org/drawingml/2006/main">
            <a:off x="7839075" y="1619250"/>
            <a:ext cx="19050" cy="4210050"/>
          </a:xfrm>
          <a:prstGeom xmlns:a="http://schemas.openxmlformats.org/drawingml/2006/main" prst="rect">
            <a:avLst/>
          </a:prstGeom>
          <a:solidFill xmlns:a="http://schemas.openxmlformats.org/drawingml/2006/main">
            <a:srgbClr val="CCDCE4"/>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372059CC-69D9-4928-86BE-0B58D54BD6BD}"/>
              </a:ext>
            </a:extLst>
          </p:cNvPr>
          <p:cNvSpPr>
            <a:spLocks xmlns:a="http://schemas.openxmlformats.org/drawingml/2006/main" noGrp="1"/>
          </p:cNvSpPr>
          <p:nvPr/>
        </p:nvSpPr>
        <p:spPr>
          <a:xfrm xmlns:a="http://schemas.openxmlformats.org/drawingml/2006/main">
            <a:off x="8191500" y="1581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6D8C"/>
                </a:solidFill>
                <a:latin typeface="Arial"/>
                <a:ea typeface="Arial"/>
                <a:cs typeface="Arial"/>
              </a:defRPr>
            </a:defPPr>
          </a:lstStyle>
          <a:p xmlns:a="http://schemas.openxmlformats.org/drawingml/2006/main">
            <a:pPr>
              <a:defRPr sz="1875" b="1">
                <a:solidFill>
                  <a:srgbClr val="176D8C"/>
                </a:solidFill>
                <a:latin typeface="Arial"/>
                <a:ea typeface="Arial"/>
                <a:cs typeface="Arial"/>
              </a:defRPr>
            </a:pPr>
            <a:r>
              <a:rPr sz="1875" b="1">
                <a:solidFill>
                  <a:srgbClr val="176D8C"/>
                </a:solidFill>
                <a:latin typeface="Arial"/>
                <a:ea typeface="Arial"/>
                <a:cs typeface="Arial"/>
              </a:rPr>
              <a:t>Limits</a:t>
            </a:r>
          </a:p>
        </p:txBody>
      </p:sp>
      <p:sp>
        <p:nvSpPr>
          <p:cNvPr id="19" name="text">
            <a:extLst xmlns:a="http://schemas.openxmlformats.org/drawingml/2006/main">
              <a:ext uri="{FF2B5EF4-FFF2-40B4-BE49-F238E27FC236}">
                <a16:creationId xmlns:a16="http://schemas.microsoft.com/office/drawing/2014/main" id="{BFB39869-E973-4F84-B6D3-6315A3E82A00}"/>
              </a:ext>
            </a:extLst>
          </p:cNvPr>
          <p:cNvSpPr>
            <a:spLocks xmlns:a="http://schemas.openxmlformats.org/drawingml/2006/main" noGrp="1"/>
          </p:cNvSpPr>
          <p:nvPr/>
        </p:nvSpPr>
        <p:spPr>
          <a:xfrm xmlns:a="http://schemas.openxmlformats.org/drawingml/2006/main">
            <a:off x="8191500" y="2038350"/>
            <a:ext cx="35909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2015, self-reported data.</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Small groups add uncertainty.</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Associations do not prove causes.</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Low R² limits prediction.</a:t>
            </a:r>
          </a:p>
        </p:txBody>
      </p:sp>
      <p:sp>
        <p:nvSpPr>
          <p:cNvPr id="20" name="text">
            <a:extLst xmlns:a="http://schemas.openxmlformats.org/drawingml/2006/main">
              <a:ext uri="{FF2B5EF4-FFF2-40B4-BE49-F238E27FC236}">
                <a16:creationId xmlns:a16="http://schemas.microsoft.com/office/drawing/2014/main" id="{83DB21AD-E454-4514-9A76-DE9010273A87}"/>
              </a:ext>
            </a:extLst>
          </p:cNvPr>
          <p:cNvSpPr>
            <a:spLocks xmlns:a="http://schemas.openxmlformats.org/drawingml/2006/main" noGrp="1"/>
          </p:cNvSpPr>
          <p:nvPr/>
        </p:nvSpPr>
        <p:spPr>
          <a:xfrm xmlns:a="http://schemas.openxmlformats.org/drawingml/2006/main">
            <a:off x="8191500" y="3724275"/>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6D8C"/>
                </a:solidFill>
                <a:latin typeface="Arial"/>
                <a:ea typeface="Arial"/>
                <a:cs typeface="Arial"/>
              </a:defRPr>
            </a:defPPr>
          </a:lstStyle>
          <a:p xmlns:a="http://schemas.openxmlformats.org/drawingml/2006/main">
            <a:pPr>
              <a:defRPr sz="1875" b="1">
                <a:solidFill>
                  <a:srgbClr val="176D8C"/>
                </a:solidFill>
                <a:latin typeface="Arial"/>
                <a:ea typeface="Arial"/>
                <a:cs typeface="Arial"/>
              </a:defRPr>
            </a:pPr>
            <a:r>
              <a:rPr sz="1875" b="1">
                <a:solidFill>
                  <a:srgbClr val="176D8C"/>
                </a:solidFill>
                <a:latin typeface="Arial"/>
                <a:ea typeface="Arial"/>
                <a:cs typeface="Arial"/>
              </a:rPr>
              <a:t>Next steps</a:t>
            </a:r>
          </a:p>
        </p:txBody>
      </p:sp>
      <p:sp>
        <p:nvSpPr>
          <p:cNvPr id="21" name="text">
            <a:extLst xmlns:a="http://schemas.openxmlformats.org/drawingml/2006/main">
              <a:ext uri="{FF2B5EF4-FFF2-40B4-BE49-F238E27FC236}">
                <a16:creationId xmlns:a16="http://schemas.microsoft.com/office/drawing/2014/main" id="{DFFC96A9-776F-40E6-B68D-2BA29953C5A5}"/>
              </a:ext>
            </a:extLst>
          </p:cNvPr>
          <p:cNvSpPr>
            <a:spLocks xmlns:a="http://schemas.openxmlformats.org/drawingml/2006/main" noGrp="1"/>
          </p:cNvSpPr>
          <p:nvPr/>
        </p:nvSpPr>
        <p:spPr>
          <a:xfrm xmlns:a="http://schemas.openxmlformats.org/drawingml/2006/main">
            <a:off x="8191500" y="4181475"/>
            <a:ext cx="35909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83044"/>
                </a:solidFill>
                <a:latin typeface="Arial"/>
                <a:ea typeface="Arial"/>
                <a:cs typeface="Arial"/>
              </a:defRPr>
            </a:defPPr>
          </a:lstStyle>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Use newer, better measurements.</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Add useful BMI predictors.</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Evaluate on unseen data.</a:t>
            </a:r>
          </a:p>
          <a:p xmlns:a="http://schemas.openxmlformats.org/drawingml/2006/main">
            <a:pPr>
              <a:defRPr sz="1575" b="0">
                <a:solidFill>
                  <a:srgbClr val="183044"/>
                </a:solidFill>
                <a:latin typeface="Arial"/>
                <a:ea typeface="Arial"/>
                <a:cs typeface="Arial"/>
              </a:defRPr>
            </a:pPr>
            <a:r>
              <a:rPr sz="1575" b="0">
                <a:solidFill>
                  <a:srgbClr val="183044"/>
                </a:solidFill>
                <a:latin typeface="Arial"/>
                <a:ea typeface="Arial"/>
                <a:cs typeface="Arial"/>
              </a:rPr>
              <a:t>Repeat the model checks.</a:t>
            </a:r>
          </a:p>
        </p:txBody>
      </p:sp>
      <p:sp>
        <p:nvSpPr>
          <p:cNvPr id="22" name="">
            <a:extLst xmlns:a="http://schemas.openxmlformats.org/drawingml/2006/main">
              <a:ext uri="{FF2B5EF4-FFF2-40B4-BE49-F238E27FC236}">
                <a16:creationId xmlns:a16="http://schemas.microsoft.com/office/drawing/2014/main" id="{23D20C93-156A-40B7-9201-C8E8B091DF6E}"/>
              </a:ext>
            </a:extLst>
          </p:cNvPr>
          <p:cNvSpPr>
            <a:spLocks xmlns:a="http://schemas.openxmlformats.org/drawingml/2006/main" noGrp="1"/>
          </p:cNvSpPr>
          <p:nvPr/>
        </p:nvSpPr>
        <p:spPr>
          <a:xfrm xmlns:a="http://schemas.openxmlformats.org/drawingml/2006/main">
            <a:off x="400050" y="6153150"/>
            <a:ext cx="11391900" cy="19050"/>
          </a:xfrm>
          <a:prstGeom xmlns:a="http://schemas.openxmlformats.org/drawingml/2006/main" prst="rect">
            <a:avLst/>
          </a:prstGeom>
          <a:solidFill xmlns:a="http://schemas.openxmlformats.org/drawingml/2006/main">
            <a:srgbClr val="176D8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A1BB844B-36C5-45BD-AD3E-FF2867FEB341}"/>
              </a:ext>
            </a:extLst>
          </p:cNvPr>
          <p:cNvSpPr>
            <a:spLocks xmlns:a="http://schemas.openxmlformats.org/drawingml/2006/main" noGrp="1"/>
          </p:cNvSpPr>
          <p:nvPr/>
        </p:nvSpPr>
        <p:spPr>
          <a:xfrm xmlns:a="http://schemas.openxmlformats.org/drawingml/2006/main">
            <a:off x="400050" y="62674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6D8C"/>
                </a:solidFill>
                <a:latin typeface="Arial"/>
                <a:ea typeface="Arial"/>
                <a:cs typeface="Arial"/>
              </a:defRPr>
            </a:defPPr>
          </a:lstStyle>
          <a:p xmlns:a="http://schemas.openxmlformats.org/drawingml/2006/main">
            <a:pPr>
              <a:defRPr sz="1650" b="1">
                <a:solidFill>
                  <a:srgbClr val="176D8C"/>
                </a:solidFill>
                <a:latin typeface="Arial"/>
                <a:ea typeface="Arial"/>
                <a:cs typeface="Arial"/>
              </a:defRPr>
            </a:pPr>
            <a:r>
              <a:rPr sz="1650" b="1">
                <a:solidFill>
                  <a:srgbClr val="176D8C"/>
                </a:solidFill>
                <a:latin typeface="Arial"/>
                <a:ea typeface="Arial"/>
                <a:cs typeface="Arial"/>
              </a:rPr>
              <a:t>All 11 labs are covered. The findings follow the data and their limitations.</a:t>
            </a:r>
          </a:p>
        </p:txBody>
      </p:sp>
      <p:sp>
        <p:nvSpPr>
          <p:cNvPr id="24" name="text">
            <a:extLst xmlns:a="http://schemas.openxmlformats.org/drawingml/2006/main">
              <a:ext uri="{FF2B5EF4-FFF2-40B4-BE49-F238E27FC236}">
                <a16:creationId xmlns:a16="http://schemas.microsoft.com/office/drawing/2014/main" id="{C5001087-2F8C-4E4F-8EA2-8D032B375793}"/>
              </a:ext>
            </a:extLst>
          </p:cNvPr>
          <p:cNvSpPr>
            <a:spLocks xmlns:a="http://schemas.openxmlformats.org/drawingml/2006/main" noGrp="1"/>
          </p:cNvSpPr>
          <p:nvPr/>
        </p:nvSpPr>
        <p:spPr>
          <a:xfrm xmlns:a="http://schemas.openxmlformats.org/drawingml/2006/main">
            <a:off x="11353800" y="6581775"/>
            <a:ext cx="657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415566"/>
                </a:solidFill>
                <a:latin typeface="Arial"/>
                <a:ea typeface="Arial"/>
                <a:cs typeface="Arial"/>
              </a:defRPr>
            </a:defPPr>
          </a:lstStyle>
          <a:p xmlns:a="http://schemas.openxmlformats.org/drawingml/2006/main">
            <a:pPr>
              <a:defRPr sz="1050" b="0">
                <a:solidFill>
                  <a:srgbClr val="415566"/>
                </a:solidFill>
                <a:latin typeface="Arial"/>
                <a:ea typeface="Arial"/>
                <a:cs typeface="Arial"/>
              </a:defRPr>
            </a:pPr>
            <a:r>
              <a:rPr sz="1050" b="0">
                <a:solidFill>
                  <a:srgbClr val="415566"/>
                </a:solidFill>
                <a:latin typeface="Arial"/>
                <a:ea typeface="Arial"/>
                <a:cs typeface="Arial"/>
              </a:rPr>
              <a:t>11 / 11</a:t>
            </a:r>
          </a:p>
        </p:txBody>
      </p:sp>
    </p:spTree>
    <p:extLst>
      <p:ext uri="{BB962C8B-B14F-4D97-AF65-F5344CB8AC3E}">
        <p14:creationId xmlns:p14="http://schemas.microsoft.com/office/powerpoint/2010/main" val="810615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2026-10-12T16:17:09.1480000Z</dcterms:created>
  <dcterms:modified xsi:type="dcterms:W3CDTF">2026-10-12T16:17:09.1490000Z</dcterms:modified>
</coreProperties>
</file>