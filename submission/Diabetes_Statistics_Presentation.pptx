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dad1cafb98c466b" /><Relationship Type="http://schemas.openxmlformats.org/officeDocument/2006/relationships/extended-properties" Target="/docProps/app.xml" Id="R7f960a981c534507" /><Relationship Type="http://schemas.openxmlformats.org/officeDocument/2006/relationships/officeDocument" Target="/ppt/presentation.xml" Id="R1dec25644a1d49de" /></Relationships>
</file>

<file path=ppt/presentation.xml><?xml version="1.0" encoding="utf-8"?>
<p:presentation xmlns:p="http://schemas.openxmlformats.org/presentationml/2006/main">
  <p:sldMasterIdLst>
    <p:sldMasterId xmlns:r="http://schemas.openxmlformats.org/officeDocument/2006/relationships" id="2147483648" r:id="R0a0e63670b0b44c5"/>
  </p:sldMasterIdLst>
  <p:notesMasterIdLst>
    <p:notesMasterId xmlns:r="http://schemas.openxmlformats.org/officeDocument/2006/relationships" r:id="Rcffa9580f5664d0f"/>
  </p:notesMasterIdLst>
  <p:sldIdLst>
    <p:sldId xmlns:r="http://schemas.openxmlformats.org/officeDocument/2006/relationships" id="256" r:id="R589d5988acc14edd"/>
    <p:sldId xmlns:r="http://schemas.openxmlformats.org/officeDocument/2006/relationships" id="257" r:id="Rd45a3f6f082344f7"/>
    <p:sldId xmlns:r="http://schemas.openxmlformats.org/officeDocument/2006/relationships" id="258" r:id="Re9fa035d81df4e62"/>
    <p:sldId xmlns:r="http://schemas.openxmlformats.org/officeDocument/2006/relationships" id="259" r:id="R8720a36ba9f54959"/>
    <p:sldId xmlns:r="http://schemas.openxmlformats.org/officeDocument/2006/relationships" id="260" r:id="R951ed559cfcc43f8"/>
    <p:sldId xmlns:r="http://schemas.openxmlformats.org/officeDocument/2006/relationships" id="261" r:id="R224815dcbc2b4fb1"/>
    <p:sldId xmlns:r="http://schemas.openxmlformats.org/officeDocument/2006/relationships" id="262" r:id="R9aa433a10af14e18"/>
    <p:sldId xmlns:r="http://schemas.openxmlformats.org/officeDocument/2006/relationships" id="263" r:id="R3cf6c9daa1b944cb"/>
    <p:sldId xmlns:r="http://schemas.openxmlformats.org/officeDocument/2006/relationships" id="264" r:id="Rc10db69e63f340aa"/>
    <p:sldId xmlns:r="http://schemas.openxmlformats.org/officeDocument/2006/relationships" id="265" r:id="R107cb1469f71411f"/>
    <p:sldId xmlns:r="http://schemas.openxmlformats.org/officeDocument/2006/relationships" id="266" r:id="R494068374fa24433"/>
    <p:sldId xmlns:r="http://schemas.openxmlformats.org/officeDocument/2006/relationships" id="267" r:id="Redd55d0b6d814f1b"/>
    <p:sldId xmlns:r="http://schemas.openxmlformats.org/officeDocument/2006/relationships" id="268" r:id="R968b0f6a2e2b4022"/>
    <p:sldId xmlns:r="http://schemas.openxmlformats.org/officeDocument/2006/relationships" id="269" r:id="R0464737fec444907"/>
    <p:sldId xmlns:r="http://schemas.openxmlformats.org/officeDocument/2006/relationships" id="270" r:id="Rb2ef14cc62c74a49"/>
    <p:sldId xmlns:r="http://schemas.openxmlformats.org/officeDocument/2006/relationships" id="271" r:id="R9150b5d61c5d4161"/>
    <p:sldId xmlns:r="http://schemas.openxmlformats.org/officeDocument/2006/relationships" id="272" r:id="Re7a000d025e7480b"/>
    <p:sldId xmlns:r="http://schemas.openxmlformats.org/officeDocument/2006/relationships" id="273" r:id="R597733e1851749fb"/>
    <p:sldId xmlns:r="http://schemas.openxmlformats.org/officeDocument/2006/relationships" id="274" r:id="Rb7f02d3a49944c89"/>
    <p:sldId xmlns:r="http://schemas.openxmlformats.org/officeDocument/2006/relationships" id="275" r:id="R7a1463efff934bb8"/>
    <p:sldId xmlns:r="http://schemas.openxmlformats.org/officeDocument/2006/relationships" id="276" r:id="Rdf82a0a4e1cf4085"/>
    <p:sldId xmlns:r="http://schemas.openxmlformats.org/officeDocument/2006/relationships" id="277" r:id="R7e46547297c24b36"/>
    <p:sldId xmlns:r="http://schemas.openxmlformats.org/officeDocument/2006/relationships" id="278" r:id="Rcfb48de420644846"/>
    <p:sldId xmlns:r="http://schemas.openxmlformats.org/officeDocument/2006/relationships" id="279" r:id="Rbd8a62e178774803"/>
    <p:sldId xmlns:r="http://schemas.openxmlformats.org/officeDocument/2006/relationships" id="280" r:id="Rfd3e569ff6a54cc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209d9cef1c7489b" /><Relationship Type="http://schemas.openxmlformats.org/officeDocument/2006/relationships/slideMaster" Target="/ppt/slideMasters/slideMaster1.xml" Id="R0a0e63670b0b44c5" /><Relationship Type="http://schemas.openxmlformats.org/officeDocument/2006/relationships/notesMaster" Target="/ppt/notesMasters/notesMaster1.xml" Id="Rcffa9580f5664d0f" /><Relationship Type="http://schemas.openxmlformats.org/officeDocument/2006/relationships/presProps" Target="/ppt/presProps.xml" Id="Ra19304f6d3214bb9" /><Relationship Type="http://schemas.openxmlformats.org/officeDocument/2006/relationships/tableStyles" Target="/ppt/tableStyles.xml" Id="R31723016b7274336" /><Relationship Type="http://schemas.openxmlformats.org/officeDocument/2006/relationships/slide" Target="/ppt/slides/slide1.xml" Id="R589d5988acc14edd" /><Relationship Type="http://schemas.openxmlformats.org/officeDocument/2006/relationships/slide" Target="/ppt/slides/slide2.xml" Id="Rd45a3f6f082344f7" /><Relationship Type="http://schemas.openxmlformats.org/officeDocument/2006/relationships/slide" Target="/ppt/slides/slide3.xml" Id="Re9fa035d81df4e62" /><Relationship Type="http://schemas.openxmlformats.org/officeDocument/2006/relationships/slide" Target="/ppt/slides/slide4.xml" Id="R8720a36ba9f54959" /><Relationship Type="http://schemas.openxmlformats.org/officeDocument/2006/relationships/slide" Target="/ppt/slides/slide5.xml" Id="R951ed559cfcc43f8" /><Relationship Type="http://schemas.openxmlformats.org/officeDocument/2006/relationships/slide" Target="/ppt/slides/slide6.xml" Id="R224815dcbc2b4fb1" /><Relationship Type="http://schemas.openxmlformats.org/officeDocument/2006/relationships/slide" Target="/ppt/slides/slide7.xml" Id="R9aa433a10af14e18" /><Relationship Type="http://schemas.openxmlformats.org/officeDocument/2006/relationships/slide" Target="/ppt/slides/slide8.xml" Id="R3cf6c9daa1b944cb" /><Relationship Type="http://schemas.openxmlformats.org/officeDocument/2006/relationships/slide" Target="/ppt/slides/slide9.xml" Id="Rc10db69e63f340aa" /><Relationship Type="http://schemas.openxmlformats.org/officeDocument/2006/relationships/slide" Target="/ppt/slides/slide10.xml" Id="R107cb1469f71411f" /><Relationship Type="http://schemas.openxmlformats.org/officeDocument/2006/relationships/slide" Target="/ppt/slides/slide11.xml" Id="R494068374fa24433" /><Relationship Type="http://schemas.openxmlformats.org/officeDocument/2006/relationships/slide" Target="/ppt/slides/slide12.xml" Id="Redd55d0b6d814f1b" /><Relationship Type="http://schemas.openxmlformats.org/officeDocument/2006/relationships/slide" Target="/ppt/slides/slide13.xml" Id="R968b0f6a2e2b4022" /><Relationship Type="http://schemas.openxmlformats.org/officeDocument/2006/relationships/slide" Target="/ppt/slides/slide14.xml" Id="R0464737fec444907" /><Relationship Type="http://schemas.openxmlformats.org/officeDocument/2006/relationships/slide" Target="/ppt/slides/slide15.xml" Id="Rb2ef14cc62c74a49" /><Relationship Type="http://schemas.openxmlformats.org/officeDocument/2006/relationships/slide" Target="/ppt/slides/slide16.xml" Id="R9150b5d61c5d4161" /><Relationship Type="http://schemas.openxmlformats.org/officeDocument/2006/relationships/slide" Target="/ppt/slides/slide17.xml" Id="Re7a000d025e7480b" /><Relationship Type="http://schemas.openxmlformats.org/officeDocument/2006/relationships/slide" Target="/ppt/slides/slide18.xml" Id="R597733e1851749fb" /><Relationship Type="http://schemas.openxmlformats.org/officeDocument/2006/relationships/slide" Target="/ppt/slides/slide19.xml" Id="Rb7f02d3a49944c89" /><Relationship Type="http://schemas.openxmlformats.org/officeDocument/2006/relationships/slide" Target="/ppt/slides/slide20.xml" Id="R7a1463efff934bb8" /><Relationship Type="http://schemas.openxmlformats.org/officeDocument/2006/relationships/slide" Target="/ppt/slides/slide21.xml" Id="Rdf82a0a4e1cf4085" /><Relationship Type="http://schemas.openxmlformats.org/officeDocument/2006/relationships/slide" Target="/ppt/slides/slide22.xml" Id="R7e46547297c24b36" /><Relationship Type="http://schemas.openxmlformats.org/officeDocument/2006/relationships/slide" Target="/ppt/slides/slide23.xml" Id="Rcfb48de420644846" /><Relationship Type="http://schemas.openxmlformats.org/officeDocument/2006/relationships/slide" Target="/ppt/slides/slide24.xml" Id="Rbd8a62e178774803" /><Relationship Type="http://schemas.openxmlformats.org/officeDocument/2006/relationships/slide" Target="/ppt/slides/slide25.xml" Id="Rfd3e569ff6a54cc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ef6ea28e3cf448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f7de331ed64bfe" /><Relationship Type="http://schemas.openxmlformats.org/officeDocument/2006/relationships/notesMaster" Target="/ppt/notesMasters/notesMaster1.xml" Id="Rcb61460ed417414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8afe6646c444d6" /><Relationship Type="http://schemas.openxmlformats.org/officeDocument/2006/relationships/notesMaster" Target="/ppt/notesMasters/notesMaster1.xml" Id="Rf231d7b8ff2542b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c91fff809244b57" /><Relationship Type="http://schemas.openxmlformats.org/officeDocument/2006/relationships/notesMaster" Target="/ppt/notesMasters/notesMaster1.xml" Id="R7540d382659e46e5" /></Relationships>
</file>

<file path=ppt/notesSlides/_rels/notesSlide4.xml.rels>&#65279;<?xml version="1.0" encoding="utf-8"?><Relationships xmlns="http://schemas.openxmlformats.org/package/2006/relationships"><Relationship Type="http://schemas.openxmlformats.org/officeDocument/2006/relationships/slide" Target="/ppt/slides/slide4.xml" Id="R95f5c4aee1434920" /><Relationship Type="http://schemas.openxmlformats.org/officeDocument/2006/relationships/notesMaster" Target="/ppt/notesMasters/notesMaster1.xml" Id="R3e6672f957a74bcc" /></Relationships>
</file>

<file path=ppt/notesSlides/_rels/notesSlide5.xml.rels>&#65279;<?xml version="1.0" encoding="utf-8"?><Relationships xmlns="http://schemas.openxmlformats.org/package/2006/relationships"><Relationship Type="http://schemas.openxmlformats.org/officeDocument/2006/relationships/slide" Target="/ppt/slides/slide5.xml" Id="R5ba55f258f5045d8" /><Relationship Type="http://schemas.openxmlformats.org/officeDocument/2006/relationships/notesMaster" Target="/ppt/notesMasters/notesMaster1.xml" Id="R256b1a6612d64f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81adddd20c824718" /><Relationship Type="http://schemas.openxmlformats.org/officeDocument/2006/relationships/notesMaster" Target="/ppt/notesMasters/notesMaster1.xml" Id="Rfe4356fba1b54b86" /></Relationships>
</file>

<file path=ppt/notesSlides/_rels/notesSlide7.xml.rels>&#65279;<?xml version="1.0" encoding="utf-8"?><Relationships xmlns="http://schemas.openxmlformats.org/package/2006/relationships"><Relationship Type="http://schemas.openxmlformats.org/officeDocument/2006/relationships/slide" Target="/ppt/slides/slide7.xml" Id="R5cffd28c6ade4600" /><Relationship Type="http://schemas.openxmlformats.org/officeDocument/2006/relationships/notesMaster" Target="/ppt/notesMasters/notesMaster1.xml" Id="R28b1af34f54d46fa" /></Relationships>
</file>

<file path=ppt/notesSlides/_rels/notesSlide8.xml.rels>&#65279;<?xml version="1.0" encoding="utf-8"?><Relationships xmlns="http://schemas.openxmlformats.org/package/2006/relationships"><Relationship Type="http://schemas.openxmlformats.org/officeDocument/2006/relationships/slide" Target="/ppt/slides/slide8.xml" Id="R680d167b8ac34f5f" /><Relationship Type="http://schemas.openxmlformats.org/officeDocument/2006/relationships/notesMaster" Target="/ppt/notesMasters/notesMaster1.xml" Id="R033e3b1a97a14893" /></Relationships>
</file>

<file path=ppt/notesSlides/_rels/notesSlide9.xml.rels>&#65279;<?xml version="1.0" encoding="utf-8"?><Relationships xmlns="http://schemas.openxmlformats.org/package/2006/relationships"><Relationship Type="http://schemas.openxmlformats.org/officeDocument/2006/relationships/slide" Target="/ppt/slides/slide9.xml" Id="R7dff5137f9fa4b6a" /><Relationship Type="http://schemas.openxmlformats.org/officeDocument/2006/relationships/notesMaster" Target="/ppt/notesMasters/notesMaster1.xml" Id="R486a2defd83b49b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dc777eca13642ed" /><Relationship Type="http://schemas.openxmlformats.org/officeDocument/2006/relationships/notesMaster" Target="/ppt/notesMasters/notesMaster1.xml" Id="R83c0a3077d5c4f7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820734e601c4156" /><Relationship Type="http://schemas.openxmlformats.org/officeDocument/2006/relationships/notesMaster" Target="/ppt/notesMasters/notesMaster1.xml" Id="Rf144d8423d004cd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ea51b5e6f6441c2" /><Relationship Type="http://schemas.openxmlformats.org/officeDocument/2006/relationships/notesMaster" Target="/ppt/notesMasters/notesMaster1.xml" Id="R4a926f63fdd143d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271e6e1c0e74b73" /><Relationship Type="http://schemas.openxmlformats.org/officeDocument/2006/relationships/notesMaster" Target="/ppt/notesMasters/notesMaster1.xml" Id="Rbfc6698a558d407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5c8b0dd12964ae1" /><Relationship Type="http://schemas.openxmlformats.org/officeDocument/2006/relationships/notesMaster" Target="/ppt/notesMasters/notesMaster1.xml" Id="R3cd4c31177974d7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4f1265c20a9418d" /><Relationship Type="http://schemas.openxmlformats.org/officeDocument/2006/relationships/notesMaster" Target="/ppt/notesMasters/notesMaster1.xml" Id="R124fe5cf4b7b49e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06ce33efec6492e" /><Relationship Type="http://schemas.openxmlformats.org/officeDocument/2006/relationships/notesMaster" Target="/ppt/notesMasters/notesMaster1.xml" Id="R4bfe124a003f4bc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d2adc719a9b4c0d" /><Relationship Type="http://schemas.openxmlformats.org/officeDocument/2006/relationships/notesMaster" Target="/ppt/notesMasters/notesMaster1.xml" Id="Rd8e6a03630394ef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e0b3d55e5514cd5" /><Relationship Type="http://schemas.openxmlformats.org/officeDocument/2006/relationships/notesMaster" Target="/ppt/notesMasters/notesMaster1.xml" Id="R2a7c09fde876496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d106b3e0edc4a65" /><Relationship Type="http://schemas.openxmlformats.org/officeDocument/2006/relationships/notesMaster" Target="/ppt/notesMasters/notesMaster1.xml" Id="R7de67baf85394e8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fe840ae8dc74769" /><Relationship Type="http://schemas.openxmlformats.org/officeDocument/2006/relationships/notesMaster" Target="/ppt/notesMasters/notesMaster1.xml" Id="R40669ce228c7489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127444270e54468" /><Relationship Type="http://schemas.openxmlformats.org/officeDocument/2006/relationships/notesMaster" Target="/ppt/notesMasters/notesMaster1.xml" Id="R409883a0ea5e414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6b4398af79f4157" /><Relationship Type="http://schemas.openxmlformats.org/officeDocument/2006/relationships/notesMaster" Target="/ppt/notesMasters/notesMaster1.xml" Id="R1f6f0323fc2b4e1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bb0d4f2378e41b4" /><Relationship Type="http://schemas.openxmlformats.org/officeDocument/2006/relationships/notesMaster" Target="/ppt/notesMasters/notesMaster1.xml" Id="R191c3d92c16845a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03539acf407486b" /><Relationship Type="http://schemas.openxmlformats.org/officeDocument/2006/relationships/notesMaster" Target="/ppt/notesMasters/notesMaster1.xml" Id="R1cfe8be462164ca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77a25f44a5648ed" /><Relationship Type="http://schemas.openxmlformats.org/officeDocument/2006/relationships/notesMaster" Target="/ppt/notesMasters/notesMaster1.xml" Id="R0b984079ab6941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investigation uses a random working sample of the processed BRFSS dataset. Separate published experiments demonstrate statistical designs absent from the cross-sectional survey. Suggested timing: 20 seconds.</a:t>
            </a:r>
          </a:p>
          <a:p xmlns:a="http://schemas.openxmlformats.org/drawingml/2006/main">
            <a:r>
              <a:t>Sources of calculations: the matching saved R exercise outputs. Main sample n=3000 unless stated otherwise.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the project aims to demonstrate statistical reasoning rather than diagnose a person. Every one of the 11 indicative experiments in the supplied syllabus has a matching R exercise. Outlier analysis and removal are additional presentation requirements. Suggested timing: 40 seconds.</a:t>
            </a:r>
          </a:p>
          <a:p xmlns:a="http://schemas.openxmlformats.org/drawingml/2006/main">
            <a:r>
              <a:t>Sources of calculations: the matching saved R exercise outputs. Main sample n=3000 unless stated otherwise.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The CDC original has 441,456 records. The 253,680-row file is a processed derivative. The exact CSV has 22 raw columns. Sample classes: 2,531 no diabetes, 48 prediabetes, 421 diabetes. The combined label includes 469 positive respondents. Suggested timing: 45 seconds.</a:t>
            </a:r>
          </a:p>
          <a:p xmlns:a="http://schemas.openxmlformats.org/drawingml/2006/main">
            <a:r>
              <a:t>Sources of calculations: the matching saved R exercise outputs. Main sample n=3000 unless stated otherwise.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https://archive.ics.uci.edu/dataset/891/cdc+diabetes+health+indicators. See Lab01_Data_Types/output/variable_dictionary.csv. Age is a band, not years. Income is a band, not an exact salary. Smoker does not necessarily mean currently smoking. Factors preserve the intended types in RDS. Suggested timing: 40 seconds.</a:t>
            </a:r>
          </a:p>
          <a:p xmlns:a="http://schemas.openxmlformats.org/drawingml/2006/main">
            <a:r>
              <a:t>Sources of calculations: the matching saved R exercise outputs. Main sample n=3000 unless stated otherwise.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Labs 0, 1 and 1B. The sample has 13 repeated feature profiles, which do not establish duplicate respondents. Acquisition records a SHA-256 checksum. RDS retains categorical levels. Each script uses common helpers and a master runner. Suggested timing: 45 seconds.</a:t>
            </a:r>
          </a:p>
          <a:p xmlns:a="http://schemas.openxmlformats.org/drawingml/2006/main">
            <a:r>
              <a:t>Sources of calculations: the matching saved R exercise outputs. Main sample n=3000 unless stated otherwise.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Lab01B_Outlier_Analysis. Formula: lower fence = Q1 - 1.5 IQR, upper fence = Q3 + 1.5 IQR. Observed BMI range 15-89. No low-side flags occurred. The ledger saves source row, BMI and health status. We do not apply IQR removal to binary or ordinal codes. Suggested timing: 45 seconds.</a:t>
            </a:r>
          </a:p>
          <a:p xmlns:a="http://schemas.openxmlformats.org/drawingml/2006/main">
            <a:r>
              <a:t>Sources of calculations: the matching saved R exercise outputs. Main sample n=3000 unless stated otherwise. Lab01B_Outlier_Analysis/output/bmi_outlier_fences.png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Lab01B_Outlier_Analysis/output/before_after.csv. SD changes from 6.35 to 4.96. Simple slope changes from 0.0749 to 0.0327. Simple R² falls from 1.03% to 0.31%. This is why automatic removal could bias the health story. Suggested timing: 55 seconds.</a:t>
            </a:r>
          </a:p>
          <a:p xmlns:a="http://schemas.openxmlformats.org/drawingml/2006/main">
            <a:r>
              <a:t>Sources of calculations: the matching saved R exercise outputs. Main sample n=3000 unless stated otherwise. Lab01B_Outlier_Analysis/output/bmi_before_after.png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Lab02_Summary_Stats/output/numeric_summary.csv. All variables use n=3000. BMI variance units are (kg/m²)², and day-count variance units are days². Sample variance uses n-1. The histogram uses bins of width 2 BMI units. Suggested timing: 40 seconds.</a:t>
            </a:r>
          </a:p>
          <a:p xmlns:a="http://schemas.openxmlformats.org/drawingml/2006/main">
            <a:r>
              <a:t>Sources of calculations: the matching saved R exercise outputs. Main sample n=3000 unless stated otherwise. Lab02_Summary_Stats/output/hist_bmi.png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Lab02_Summary_Stats frequencies and Lab11 education_groups.csv. The smallest education group is unsuitable for precise standalone conclusions. Pie, bar, histogram, boxplot and density collectively demonstrate the required range of graphical representations. Suggested timing: 30 seconds.</a:t>
            </a:r>
          </a:p>
          <a:p xmlns:a="http://schemas.openxmlformats.org/drawingml/2006/main">
            <a:r>
              <a:t>Sources of calculations: the matching saved R exercise outputs. Main sample n=3000 unless stated otherwise. Lab02_Summary_Stats/output/bar_education.png, Lab02_Summary_Stats/output/pie_sex.png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Lab02_Summary_Stats/output/bmi_by_status.csv. Sample counts are 2531,48,421. Mean CIs respectively 27.49-27.95,30.71-35.00,31.29-32.68. A boxplot shows median, quartiles, whiskers and potential extremes; a density plot shows shape. No causal claim is justified. Suggested timing: 40 seconds.</a:t>
            </a:r>
          </a:p>
          <a:p xmlns:a="http://schemas.openxmlformats.org/drawingml/2006/main">
            <a:r>
              <a:t>Sources of calculations: the matching saved R exercise outputs. Main sample n=3000 unless stated otherwise. Lab02_Summary_Stats/output/box_bmi_by_diabetes.png, Lab02_Summary_Stats/output/density_bmi.png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Lab02 and Lab06. The count plot preserves discrete day values rather than smoothing beyond the 0-30 range. PhysHlth denotes self-reported poor physical health in the previous 30 days. Suggested timing: 30 seconds.</a:t>
            </a:r>
          </a:p>
          <a:p xmlns:a="http://schemas.openxmlformats.org/drawingml/2006/main">
            <a:r>
              <a:t>Sources of calculations: the matching saved R exercise outputs. Main sample n=3000 unless stated otherwise. Lab02_Summary_Stats/output/bar_phys_days.png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Lab03 coefficients and metrics. PhysHlth units are days. One extra poor-health day is associated with about 0.075 BMI units on average in the fitted line. Pearson measures linear association, Spearman compares ranks. The confidence intervals use ordinary unweighted assumptions. The covariance and full three-variable correlation tables are in the report. Suggested timing: 55 seconds.</a:t>
            </a:r>
          </a:p>
          <a:p xmlns:a="http://schemas.openxmlformats.org/drawingml/2006/main">
            <a:r>
              <a:t>Sources of calculations: the matching saved R exercise outputs. Main sample n=3000 unless stated otherwise. Lab03_Correlation_Regression/output/scatter_bmi_physhlth.png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Lab04 joint_predictor_tests.csv. Formula BMI ~ Age + PhysActivity + Income + Education + Smoker. Reference categories age50-54, income35-50k, high school, inactivity and never100 cigarettes. Full coefficients and CIs are in the report appendix/CSV. Smoking is not associated with BMI after this adjustment (p=.786), which addresses a different outcome from the status comparison. Adjusted R² penalizes model size. No classification accuracy is claimed. Suggested timing: 55 seconds.</a:t>
            </a:r>
          </a:p>
          <a:p xmlns:a="http://schemas.openxmlformats.org/drawingml/2006/main">
            <a:r>
              <a:t>Sources of calculations: the matching saved R exercise outputs. Main sample n=3000 unless stated otherwise.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Lab04 diagnostics, influence.csv and filtered coefficients. Cook threshold4/n flags140 observations for review, not automatic deletion. The design-column VIF table checks dummy-column collinearity and depends on reference coding. The simple model diagnostic sheet and individual residual plot appear in the full figure atlas. Suggested timing: 45 seconds.</a:t>
            </a:r>
          </a:p>
          <a:p xmlns:a="http://schemas.openxmlformats.org/drawingml/2006/main">
            <a:r>
              <a:t>Sources of calculations: the matching saved R exercise outputs. Main sample n=3000 unless stated otherwise. Lab04_Multiple_Regression/output/multiple_diagnostics.png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Lab06. A normality test on the raw response is not a blanket decision about all t-tests or regressions. We assess each model and use Welch comparisons where appropriate. Suggested timing: 40 seconds.</a:t>
            </a:r>
          </a:p>
          <a:p xmlns:a="http://schemas.openxmlformats.org/drawingml/2006/main">
            <a:r>
              <a:t>Sources of calculations: the matching saved R exercise outputs. Main sample n=3000 unless stated otherwise. Lab06_Normal_Poisson_Fitting/output/normal_bmi_hist.png, Lab06_Normal_Poisson_Fitting/output/normal_bmi_qq.png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Lab05. GOF guidance: https://www.itl.nist.gov/div898/handbook/eda/section3/eda35f.htm. The five pooled bins have minimum expected frequency16.65. One fitted parameter yields df5-1-1=3. Grouped fitted p is .1550. Original sparse endpoint cells would invalidate the unpooled approximation. Blocks are arbitrary; independence and common probability are approximations. Suggested timing: 45 seconds.</a:t>
            </a:r>
          </a:p>
          <a:p xmlns:a="http://schemas.openxmlformats.org/drawingml/2006/main">
            <a:r>
              <a:t>Sources of calculations: the matching saved R exercise outputs. Main sample n=3000 unless stated otherwise. Lab05_Binomial_Fitting/output/binomial_observed_vs_expected.png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Lab06. The ordinary Poisson upper tail &gt;30 is included. Grouped-bin maximum likelihood gives lambda1.797, different from raw mean4.152 because of pooling and severe misfit. The chart overlays ordinary Poisson at the raw mean, while the inferential statistic uses the explicitly documented grouped fit. Both support the same inadequacy conclusion. Minimum fitted expected bin7.65. p underflows to zero numerically, so report p&lt;.001 rather than p=0. Suggested timing: 45 seconds.</a:t>
            </a:r>
          </a:p>
          <a:p xmlns:a="http://schemas.openxmlformats.org/drawingml/2006/main">
            <a:r>
              <a:t>Sources of calculations: the matching saved R exercise outputs. Main sample n=3000 unless stated otherwise. Lab06_Normal_Poisson_Fitting/output/poisson_physhlth.png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Lab07. BMI test df2999. Proportion test df1 with continuity correction. State H0 and H1, compare p to alpha, and interpret the effect/CI. The proportion outcome includes prediabetes. These unweighted analyses demonstrate syllabus methods. Suggested timing: 40 seconds.</a:t>
            </a:r>
          </a:p>
          <a:p xmlns:a="http://schemas.openxmlformats.org/drawingml/2006/main">
            <a:r>
              <a:t>Sources of calculations: the matching saved R exercise outputs. Main sample n=3000 unless stated otherwise.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Labs08 and09a. BMI uses Welch t, p .004368. The explicit positive-event proportion difference never minus ever is -3.27 percentage points, CI -5.95 to -.59. PhysHlth female minusmale Welch p .0000669. Smoker means ever100 cigarettes. These are unadjusted observational comparisons. Suggested timing: 50 seconds.</a:t>
            </a:r>
          </a:p>
          <a:p xmlns:a="http://schemas.openxmlformats.org/drawingml/2006/main">
            <a:r>
              <a:t>Sources of calculations: the matching saved R exercise outputs. Main sample n=3000 unless stated otherwise. Lab08_TwoSample_Tests/output/box_bmi_by_sex.png, Lab08_TwoSample_Tests/output/bar_diabetes_by_smoker.png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https://stat.ethz.ch/R-manual/R-devel/library/MASS/html/anorexia.html. Lab09b. t2.216,df28. Before mean82.69lb and after85.70lb. Shapiro p .00795 for differences. Signed-rank sensitivity p 0.0645 tests a related distributional hypothesis rather than the same mean. An uncontrolled within-group change does not by itself demonstrate treatment efficacy. Suggested timing: 45 seconds.</a:t>
            </a:r>
          </a:p>
          <a:p xmlns:a="http://schemas.openxmlformats.org/drawingml/2006/main">
            <a:r>
              <a:t>Sources of calculations: the matching saved R exercise outputs. Main sample n=3000 unless stated otherwise. Lab09_Paired_TTest/output/paired_weights.png, Lab09_Paired_TTest/output/paired_difference_qq.png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Lab10. All contingency expected counts exceed5. Pearson contingency tests omit continuity correction, while Lab08 prop.test retains it; small p differences are expected. CramersV measures association strength, not causal impact. Age categories have unequal widths. Suggested timing: 50 seconds.</a:t>
            </a:r>
          </a:p>
          <a:p xmlns:a="http://schemas.openxmlformats.org/drawingml/2006/main">
            <a:r>
              <a:t>Sources of calculations: the matching saved R exercise outputs. Main sample n=3000 unless stated otherwise. Lab10_ChiSquare_Tests/output/stacked_diabetes_by_highbp.png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Lab11 and https://kwstat.github.io/agridat/reference/cochran.crd.html. Education eta-squared .02349, about2.35% variation. Fligner variance p .00013, Welch p .000351. No-school n2 makes reference contrasts imprecise. Use separate-variance Holm-adjusted comparisons for interpretation; Tukey remains in course output. CRD controlO has8 replicates and each sulfur treatment4. Tukey finds O minusF12 infection16.875 percentage points, CI3.74-30.01,p .005965. CRD residual normality/variance diagnostics are in the full atlas. Suggested timing: 60 seconds.</a:t>
            </a:r>
          </a:p>
          <a:p xmlns:a="http://schemas.openxmlformats.org/drawingml/2006/main">
            <a:r>
              <a:t>Sources of calculations: the matching saved R exercise outputs. Main sample n=3000 unless stated otherwise. Lab11_ANOVA_CRD/output/box_bmi_by_education.png, Lab11_ANOVA_CRD/output/crd_infection.png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https://kwstat.github.io/agridat/reference/gomez.seedrate.html. Gomez and Gomez1984 p26,24 plots. Yieldkg/ha, seedingratekg/ha. No-block MSE200152 versus blocked110558. Rate means highest75kg/ha but non-significant overall result cannot establish an optimum. Additive model assumes no treatment-by-block interaction. This complete-block dataset replaces the original npk proposal. Suggested timing: 50 seconds.</a:t>
            </a:r>
          </a:p>
          <a:p xmlns:a="http://schemas.openxmlformats.org/drawingml/2006/main">
            <a:r>
              <a:t>Sources of calculations: the matching saved R exercise outputs. Main sample n=3000 unless stated otherwise. Lab12_ANOVA_RBD/output/rbd_yield_by_rate.png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https://kwstat.github.io/agridat/reference/goulden.latin.html. Goulden1952 p216. A before rains,B after rains,C weekly dusting,D weekly drifting,E untreated. Mean yields6.84,6.46,13.12,7.96,4.92. Source does not specify yield units, so retain source scale. TreatmentF21.03,p .00002366. The additive Latin model assumes no interactions. Layout verifies treatment balance. Diagnostics and treatment boxplot are in the figure atlas. Suggested timing: 50 seconds.</a:t>
            </a:r>
          </a:p>
          <a:p xmlns:a="http://schemas.openxmlformats.org/drawingml/2006/main">
            <a:r>
              <a:t>Sources of calculations: the matching saved R exercise outputs. Main sample n=3000 unless stated otherwise. Lab13_Latin_Square/output/latin_square_layout.png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55 seconds. Answer the aim and distinguish practical magnitude from statistical significance. The RBD rate test is non-significant even though blocks matter. Final sources: 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https://stat.ethz.ch/R-manual/R-devel/library/MASS/html/anorexia.html</a:t>
            </a:r>
          </a:p>
          <a:p xmlns:a="http://schemas.openxmlformats.org/drawingml/2006/main">
            <a:r>
              <a:t>https://www.itl.nist.gov/div898/handbook/eda/section3/eda35f.htm</a:t>
            </a:r>
          </a:p>
          <a:p xmlns:a="http://schemas.openxmlformats.org/drawingml/2006/main">
            <a:r>
              <a:t>Course source: supplied BMAT202P syllabus PDF, version1.0. Rubric: four categories, five marks each. All reported numbers originate in the saved R outputs.</a:t>
            </a:r>
          </a:p>
          <a:p xmlns:a="http://schemas.openxmlformats.org/drawingml/2006/main">
            <a:r>
              <a:t>Sources of calculations: the matching saved R exercise outputs. Main sample n=3000 unless stated otherwise.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9ef7e7cdc494d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8f958b8e2c249e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8662db5a80442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d813f54486a4ce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d5584bd239c484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2c39d2bb0aa48c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FF0947F-AA55-41A9-9A03-F74FF6EE733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4BA5626-8900-44AF-83FB-73ABA41F4B0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6F7571F-5960-4B7D-944D-657E1955A01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8F40714-7400-4D11-B671-ECB5A797DC3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98BBD74-5077-48DA-99B2-5D93B2245B2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9977FAA-FFC9-4D2C-B875-80C79815FA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57A9187-D005-4D99-98D0-912D435906E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79C3B4E-7502-4A35-9E18-81FD07C8A86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4D32E1A-ECA4-4476-9F4A-6EBF2A34441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9F89D40-448C-49CD-88C4-4EEF6570B30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159dc66540410b" /><Relationship Type="http://schemas.openxmlformats.org/officeDocument/2006/relationships/slideLayout" Target="/ppt/slideLayouts/slideLayout1.xml" Id="Reec885642ec246d3" /><Relationship Type="http://schemas.openxmlformats.org/officeDocument/2006/relationships/slideLayout" Target="/ppt/slideLayouts/slideLayout2.xml" Id="R9617adc6d607477c" /><Relationship Type="http://schemas.openxmlformats.org/officeDocument/2006/relationships/slideLayout" Target="/ppt/slideLayouts/slideLayout3.xml" Id="R2ae422dd462746c5" /><Relationship Type="http://schemas.openxmlformats.org/officeDocument/2006/relationships/slideLayout" Target="/ppt/slideLayouts/slideLayout4.xml" Id="Ra70337183d2c4716" /><Relationship Type="http://schemas.openxmlformats.org/officeDocument/2006/relationships/slideLayout" Target="/ppt/slideLayouts/slideLayout5.xml" Id="R3b8b52f3b9f44581" /><Relationship Type="http://schemas.openxmlformats.org/officeDocument/2006/relationships/slideLayout" Target="/ppt/slideLayouts/slideLayout6.xml" Id="Re91cb86286db4a7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ec885642ec246d3"/>
    <p:sldLayoutId xmlns:r="http://schemas.openxmlformats.org/officeDocument/2006/relationships" id="2147483650" r:id="R9617adc6d607477c"/>
    <p:sldLayoutId xmlns:r="http://schemas.openxmlformats.org/officeDocument/2006/relationships" id="2147483651" r:id="R2ae422dd462746c5"/>
    <p:sldLayoutId xmlns:r="http://schemas.openxmlformats.org/officeDocument/2006/relationships" id="2147483652" r:id="Ra70337183d2c4716"/>
    <p:sldLayoutId xmlns:r="http://schemas.openxmlformats.org/officeDocument/2006/relationships" id="2147483653" r:id="R3b8b52f3b9f44581"/>
    <p:sldLayoutId xmlns:r="http://schemas.openxmlformats.org/officeDocument/2006/relationships" id="2147483654" r:id="Re91cb86286db4a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3eb9d1bf06b4c82" /><Relationship Type="http://schemas.openxmlformats.org/officeDocument/2006/relationships/notesSlide" Target="/ppt/notesSlides/notesSlide1.xml" Id="R52e2b043fb18401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1350f7dbc154e42" /><Relationship Type="http://schemas.openxmlformats.org/officeDocument/2006/relationships/notesSlide" Target="/ppt/notesSlides/notesSlide2.xml" Id="R04ebb97af9c74d6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bb2ffdeea044fa4" /><Relationship Type="http://schemas.openxmlformats.org/officeDocument/2006/relationships/chart" Target="/ppt/slides/charts/chart1.xml" Id="R9004cd7e2e764543" /><Relationship Type="http://schemas.openxmlformats.org/officeDocument/2006/relationships/notesSlide" Target="/ppt/notesSlides/notesSlide3.xml" Id="Rca1d1ba8c21f4b6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06a67132ce44206" /><Relationship Type="http://schemas.openxmlformats.org/officeDocument/2006/relationships/notesSlide" Target="/ppt/notesSlides/notesSlide4.xml" Id="Rb97ac01f9bbe40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de7d869346f43d9" /><Relationship Type="http://schemas.openxmlformats.org/officeDocument/2006/relationships/notesSlide" Target="/ppt/notesSlides/notesSlide5.xml" Id="R2c5ba640bf344e1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c8d400fb2dc49d0" /><Relationship Type="http://schemas.openxmlformats.org/officeDocument/2006/relationships/image" Target="/ppt/media/image.png" Id="Rc73eea7198544400" /><Relationship Type="http://schemas.openxmlformats.org/officeDocument/2006/relationships/notesSlide" Target="/ppt/notesSlides/notesSlide6.xml" Id="R4d8806d9d6504fa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f4ccb9f48594b1f" /><Relationship Type="http://schemas.openxmlformats.org/officeDocument/2006/relationships/image" Target="/ppt/media/image2.png" Id="R0ad4b5d91fc54372" /><Relationship Type="http://schemas.openxmlformats.org/officeDocument/2006/relationships/notesSlide" Target="/ppt/notesSlides/notesSlide7.xml" Id="Ree9eddc0f573432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c2da7f206854e59" /><Relationship Type="http://schemas.openxmlformats.org/officeDocument/2006/relationships/image" Target="/ppt/media/image3.png" Id="Rf981ff87647b46f5" /><Relationship Type="http://schemas.openxmlformats.org/officeDocument/2006/relationships/notesSlide" Target="/ppt/notesSlides/notesSlide8.xml" Id="Re8b9549f262643a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6f10166c9574770" /><Relationship Type="http://schemas.openxmlformats.org/officeDocument/2006/relationships/image" Target="/ppt/media/image4.png" Id="R2446b616f4564fba" /><Relationship Type="http://schemas.openxmlformats.org/officeDocument/2006/relationships/image" Target="/ppt/media/image5.png" Id="Rd2658f8bd16b4ff2" /><Relationship Type="http://schemas.openxmlformats.org/officeDocument/2006/relationships/notesSlide" Target="/ppt/notesSlides/notesSlide9.xml" Id="R50255a311df6436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5269479cb8f414a" /><Relationship Type="http://schemas.openxmlformats.org/officeDocument/2006/relationships/image" Target="/ppt/media/image6.png" Id="R925b86f716454f45" /><Relationship Type="http://schemas.openxmlformats.org/officeDocument/2006/relationships/image" Target="/ppt/media/image7.png" Id="Rb399e54c66fa4c55" /><Relationship Type="http://schemas.openxmlformats.org/officeDocument/2006/relationships/notesSlide" Target="/ppt/notesSlides/notesSlide10.xml" Id="Re5c3bb5aca7a424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ad02bc6dd5d485b" /><Relationship Type="http://schemas.openxmlformats.org/officeDocument/2006/relationships/image" Target="/ppt/media/image8.png" Id="R4c57e8d2a39d41f5" /><Relationship Type="http://schemas.openxmlformats.org/officeDocument/2006/relationships/notesSlide" Target="/ppt/notesSlides/notesSlide11.xml" Id="R01f543cfc172482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86b9afed338489d" /><Relationship Type="http://schemas.openxmlformats.org/officeDocument/2006/relationships/image" Target="/ppt/media/image9.png" Id="R21073e46e97549fd" /><Relationship Type="http://schemas.openxmlformats.org/officeDocument/2006/relationships/notesSlide" Target="/ppt/notesSlides/notesSlide12.xml" Id="Ree6e5bfbd891451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ad299cc165a47f3" /><Relationship Type="http://schemas.openxmlformats.org/officeDocument/2006/relationships/notesSlide" Target="/ppt/notesSlides/notesSlide13.xml" Id="R6a6ac84c1c7c4ed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0876f7b030b4db9" /><Relationship Type="http://schemas.openxmlformats.org/officeDocument/2006/relationships/image" Target="/ppt/media/image10.png" Id="R1e9c49f04d9c4765" /><Relationship Type="http://schemas.openxmlformats.org/officeDocument/2006/relationships/notesSlide" Target="/ppt/notesSlides/notesSlide14.xml" Id="R61521a3b26c94f5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132290f723d4f5c" /><Relationship Type="http://schemas.openxmlformats.org/officeDocument/2006/relationships/image" Target="/ppt/media/image11.png" Id="Rb6e71140e3a945fa" /><Relationship Type="http://schemas.openxmlformats.org/officeDocument/2006/relationships/image" Target="/ppt/media/image12.png" Id="R20de163f5fbd4027" /><Relationship Type="http://schemas.openxmlformats.org/officeDocument/2006/relationships/notesSlide" Target="/ppt/notesSlides/notesSlide15.xml" Id="R886e801ac169420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1c6d340949d466d" /><Relationship Type="http://schemas.openxmlformats.org/officeDocument/2006/relationships/image" Target="/ppt/media/image13.png" Id="Rfc0ec8f146374f11" /><Relationship Type="http://schemas.openxmlformats.org/officeDocument/2006/relationships/notesSlide" Target="/ppt/notesSlides/notesSlide16.xml" Id="Raac22237b578406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b79d4d7b17b42f5" /><Relationship Type="http://schemas.openxmlformats.org/officeDocument/2006/relationships/image" Target="/ppt/media/image14.png" Id="R15027cf5f55a41a2" /><Relationship Type="http://schemas.openxmlformats.org/officeDocument/2006/relationships/notesSlide" Target="/ppt/notesSlides/notesSlide17.xml" Id="Rd59c41c2a5864f9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33ef90d78374492" /><Relationship Type="http://schemas.openxmlformats.org/officeDocument/2006/relationships/notesSlide" Target="/ppt/notesSlides/notesSlide18.xml" Id="Rcebb9a92d46b4b9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af9230d34014f32" /><Relationship Type="http://schemas.openxmlformats.org/officeDocument/2006/relationships/image" Target="/ppt/media/image15.png" Id="R4ee0cd8138054370" /><Relationship Type="http://schemas.openxmlformats.org/officeDocument/2006/relationships/image" Target="/ppt/media/image16.png" Id="R6aed75a9a5794a02" /><Relationship Type="http://schemas.openxmlformats.org/officeDocument/2006/relationships/notesSlide" Target="/ppt/notesSlides/notesSlide19.xml" Id="R9870e2d7e683484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ecda557d4ac4044" /><Relationship Type="http://schemas.openxmlformats.org/officeDocument/2006/relationships/image" Target="/ppt/media/image17.png" Id="Refe9af4c5d234282" /><Relationship Type="http://schemas.openxmlformats.org/officeDocument/2006/relationships/image" Target="/ppt/media/image18.png" Id="Rde85a25c0bce4d71" /><Relationship Type="http://schemas.openxmlformats.org/officeDocument/2006/relationships/notesSlide" Target="/ppt/notesSlides/notesSlide20.xml" Id="Ra3e7cf20d7c944c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3734186b869454f" /><Relationship Type="http://schemas.openxmlformats.org/officeDocument/2006/relationships/image" Target="/ppt/media/image19.png" Id="R3c0d9ad19cd849a5" /><Relationship Type="http://schemas.openxmlformats.org/officeDocument/2006/relationships/notesSlide" Target="/ppt/notesSlides/notesSlide21.xml" Id="R8fd5d31aac77495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1f98459e8d64b5f" /><Relationship Type="http://schemas.openxmlformats.org/officeDocument/2006/relationships/image" Target="/ppt/media/image20.png" Id="R50e417a3ef754369" /><Relationship Type="http://schemas.openxmlformats.org/officeDocument/2006/relationships/image" Target="/ppt/media/image21.png" Id="Rfd53d82fa6d44677" /><Relationship Type="http://schemas.openxmlformats.org/officeDocument/2006/relationships/notesSlide" Target="/ppt/notesSlides/notesSlide22.xml" Id="Rb749c4fbfc304c5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a90281b6f7b4b77" /><Relationship Type="http://schemas.openxmlformats.org/officeDocument/2006/relationships/image" Target="/ppt/media/image22.png" Id="Rc6f847a1c44547da" /><Relationship Type="http://schemas.openxmlformats.org/officeDocument/2006/relationships/notesSlide" Target="/ppt/notesSlides/notesSlide23.xml" Id="R545fd632e26645b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c6a43062a20494e" /><Relationship Type="http://schemas.openxmlformats.org/officeDocument/2006/relationships/image" Target="/ppt/media/image23.png" Id="R582c5068d6db4482" /><Relationship Type="http://schemas.openxmlformats.org/officeDocument/2006/relationships/notesSlide" Target="/ppt/notesSlides/notesSlide24.xml" Id="Rd5ee85c1ddc3429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9ebc9584bd9480a" /><Relationship Type="http://schemas.openxmlformats.org/officeDocument/2006/relationships/notesSlide" Target="/ppt/notesSlides/notesSlide25.xml" Id="R7554afa7ea0d4f4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Full derivative</c:v>
          </c:tx>
          <c:spPr>
            <a:solidFill xmlns:a="http://schemas.openxmlformats.org/drawingml/2006/main">
              <a:srgbClr val="176D8C"/>
            </a:solidFill>
          </c:spPr>
          <c:cat>
            <c:strRef>
              <c:f>'Chart Data'!$A$2:$A$4</c:f>
              <c:strCache>
                <c:ptCount val="3"/>
                <c:pt idx="0">
                  <c:v>No diabetes</c:v>
                </c:pt>
                <c:pt idx="1">
                  <c:v>Prediabetes</c:v>
                </c:pt>
                <c:pt idx="2">
                  <c:v>Diabetes</c:v>
                </c:pt>
              </c:strCache>
            </c:strRef>
          </c:cat>
          <c:val>
            <c:numRef>
              <c:f>'Chart Data'!$B$2:$B$4</c:f>
              <c:numCache>
                <c:formatCode>0</c:formatCode>
                <c:ptCount val="3"/>
                <c:pt idx="0">
                  <c:v>84.2412</c:v>
                </c:pt>
                <c:pt idx="1">
                  <c:v>1.8255</c:v>
                </c:pt>
                <c:pt idx="2">
                  <c:v>13.9333</c:v>
                </c:pt>
              </c:numCache>
            </c:numRef>
          </c:val>
        </c:ser>
        <c:ser>
          <c:idx val="1"/>
          <c:order val="1"/>
          <c:tx>
            <c:v>Working sample</c:v>
          </c:tx>
          <c:spPr>
            <a:solidFill xmlns:a="http://schemas.openxmlformats.org/drawingml/2006/main">
              <a:srgbClr val="D87945"/>
            </a:solidFill>
          </c:spPr>
          <c:cat>
            <c:strRef>
              <c:f>'Chart Data'!$C$2:$C$4</c:f>
              <c:strCache>
                <c:ptCount val="3"/>
                <c:pt idx="0">
                  <c:v>No diabetes</c:v>
                </c:pt>
                <c:pt idx="1">
                  <c:v>Prediabetes</c:v>
                </c:pt>
                <c:pt idx="2">
                  <c:v>Diabetes</c:v>
                </c:pt>
              </c:strCache>
            </c:strRef>
          </c:cat>
          <c:val>
            <c:numRef>
              <c:f>'Chart Data'!$D$2:$D$4</c:f>
              <c:numCache>
                <c:formatCode>0</c:formatCode>
                <c:ptCount val="3"/>
                <c:pt idx="0">
                  <c:v>84.3667</c:v>
                </c:pt>
                <c:pt idx="1">
                  <c:v>1.6</c:v>
                </c:pt>
                <c:pt idx="2">
                  <c:v>14.0333</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7C7CE"/>
            </a:solidFill>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DE5E9"/>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Respondents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majorUnit val="2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EDF4F6"/>
        </a:soli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E4AD18F5-4768-4043-A470-8BD2D30D35D2}"/>
              </a:ext>
            </a:extLst>
          </p:cNvPr>
          <p:cNvSpPr>
            <a:spLocks xmlns:a="http://schemas.openxmlformats.org/drawingml/2006/main" noGrp="1"/>
          </p:cNvSpPr>
          <p:nvPr/>
        </p:nvSpPr>
        <p:spPr>
          <a:xfrm xmlns:a="http://schemas.openxmlformats.org/drawingml/2006/main">
            <a:off x="647700" y="857250"/>
            <a:ext cx="10858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4275" b="1">
                <a:solidFill>
                  <a:srgbClr val="183044"/>
                </a:solidFill>
                <a:latin typeface="Arial"/>
                <a:ea typeface="Arial"/>
                <a:cs typeface="Arial"/>
              </a:defRPr>
            </a:defPPr>
          </a:lstStyle>
          <a:p xmlns:a="http://schemas.openxmlformats.org/drawingml/2006/main">
            <a:pPr>
              <a:defRPr sz="4275" b="1">
                <a:solidFill>
                  <a:srgbClr val="183044"/>
                </a:solidFill>
                <a:latin typeface="Arial"/>
                <a:ea typeface="Arial"/>
                <a:cs typeface="Arial"/>
              </a:defRPr>
            </a:pPr>
            <a:r>
              <a:rPr sz="4275" b="1">
                <a:solidFill>
                  <a:srgbClr val="183044"/>
                </a:solidFill>
                <a:latin typeface="Arial"/>
                <a:ea typeface="Arial"/>
                <a:cs typeface="Arial"/>
              </a:rPr>
              <a:t>Statistical analysis of diabetes</a:t>
            </a:r>
          </a:p>
          <a:p xmlns:a="http://schemas.openxmlformats.org/drawingml/2006/main">
            <a:pPr>
              <a:defRPr sz="4275" b="1">
                <a:solidFill>
                  <a:srgbClr val="183044"/>
                </a:solidFill>
                <a:latin typeface="Arial"/>
                <a:ea typeface="Arial"/>
                <a:cs typeface="Arial"/>
              </a:defRPr>
            </a:pPr>
            <a:r>
              <a:rPr sz="4275" b="1">
                <a:solidFill>
                  <a:srgbClr val="183044"/>
                </a:solidFill>
                <a:latin typeface="Arial"/>
                <a:ea typeface="Arial"/>
                <a:cs typeface="Arial"/>
              </a:rPr>
              <a:t>and lifestyle indicators</a:t>
            </a:r>
          </a:p>
        </p:txBody>
      </p:sp>
      <p:sp>
        <p:nvSpPr>
          <p:cNvPr id="2" name="text">
            <a:extLst xmlns:a="http://schemas.openxmlformats.org/drawingml/2006/main">
              <a:ext uri="{FF2B5EF4-FFF2-40B4-BE49-F238E27FC236}">
                <a16:creationId xmlns:a16="http://schemas.microsoft.com/office/drawing/2014/main" id="{284ED6B6-7B0D-45B8-BFF1-2AD3A98BCAD5}"/>
              </a:ext>
            </a:extLst>
          </p:cNvPr>
          <p:cNvSpPr>
            <a:spLocks xmlns:a="http://schemas.openxmlformats.org/drawingml/2006/main" noGrp="1"/>
          </p:cNvSpPr>
          <p:nvPr/>
        </p:nvSpPr>
        <p:spPr>
          <a:xfrm xmlns:a="http://schemas.openxmlformats.org/drawingml/2006/main">
            <a:off x="685800" y="2762250"/>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415566"/>
                </a:solidFill>
                <a:latin typeface="Arial"/>
                <a:ea typeface="Arial"/>
                <a:cs typeface="Arial"/>
              </a:defRPr>
            </a:defPPr>
          </a:lstStyle>
          <a:p xmlns:a="http://schemas.openxmlformats.org/drawingml/2006/main">
            <a:pPr>
              <a:defRPr sz="2175" b="0">
                <a:solidFill>
                  <a:srgbClr val="415566"/>
                </a:solidFill>
                <a:latin typeface="Arial"/>
                <a:ea typeface="Arial"/>
                <a:cs typeface="Arial"/>
              </a:defRPr>
            </a:pPr>
            <a:r>
              <a:rPr sz="2175" b="0">
                <a:solidFill>
                  <a:srgbClr val="415566"/>
                </a:solidFill>
                <a:latin typeface="Arial"/>
                <a:ea typeface="Arial"/>
                <a:cs typeface="Arial"/>
              </a:rPr>
              <a:t>BMAT202P Probability and Statistics Lab</a:t>
            </a:r>
          </a:p>
          <a:p xmlns:a="http://schemas.openxmlformats.org/drawingml/2006/main">
            <a:pPr>
              <a:defRPr sz="2175" b="0">
                <a:solidFill>
                  <a:srgbClr val="415566"/>
                </a:solidFill>
                <a:latin typeface="Arial"/>
                <a:ea typeface="Arial"/>
                <a:cs typeface="Arial"/>
              </a:defRPr>
            </a:pPr>
            <a:r>
              <a:rPr sz="2175" b="0">
                <a:solidFill>
                  <a:srgbClr val="415566"/>
                </a:solidFill>
                <a:latin typeface="Arial"/>
                <a:ea typeface="Arial"/>
                <a:cs typeface="Arial"/>
              </a:rPr>
              <a:t>CDC BRFSS 2015 with experimental design supplements</a:t>
            </a:r>
          </a:p>
        </p:txBody>
      </p:sp>
      <p:sp>
        <p:nvSpPr>
          <p:cNvPr id="3" name="text">
            <a:extLst xmlns:a="http://schemas.openxmlformats.org/drawingml/2006/main">
              <a:ext uri="{FF2B5EF4-FFF2-40B4-BE49-F238E27FC236}">
                <a16:creationId xmlns:a16="http://schemas.microsoft.com/office/drawing/2014/main" id="{980A2D2D-28C7-4E92-B4E0-552C05B5E5D0}"/>
              </a:ext>
            </a:extLst>
          </p:cNvPr>
          <p:cNvSpPr>
            <a:spLocks xmlns:a="http://schemas.openxmlformats.org/drawingml/2006/main" noGrp="1"/>
          </p:cNvSpPr>
          <p:nvPr/>
        </p:nvSpPr>
        <p:spPr>
          <a:xfrm xmlns:a="http://schemas.openxmlformats.org/drawingml/2006/main">
            <a:off x="685800" y="4076700"/>
            <a:ext cx="10477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3044"/>
                </a:solidFill>
                <a:latin typeface="Arial"/>
                <a:ea typeface="Arial"/>
                <a:cs typeface="Arial"/>
              </a:defRPr>
            </a:defPPr>
          </a:lstStyle>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YASH RAJ - 24BDS1209</a:t>
            </a:r>
          </a:p>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HRISHIKESH DAMODAR NAYAK - 24BDS1007</a:t>
            </a:r>
          </a:p>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HARDIK LALLA - 24BDS1010</a:t>
            </a:r>
          </a:p>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ARYAN RAJ - 24BDS1094</a:t>
            </a:r>
          </a:p>
        </p:txBody>
      </p:sp>
      <p:sp>
        <p:nvSpPr>
          <p:cNvPr id="4" name="text">
            <a:extLst xmlns:a="http://schemas.openxmlformats.org/drawingml/2006/main">
              <a:ext uri="{FF2B5EF4-FFF2-40B4-BE49-F238E27FC236}">
                <a16:creationId xmlns:a16="http://schemas.microsoft.com/office/drawing/2014/main" id="{D6A6C629-1712-4FF4-A163-ACBA212126D0}"/>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01</a:t>
            </a:r>
          </a:p>
        </p:txBody>
      </p:sp>
    </p:spTree>
    <p:extLst>
      <p:ext uri="{BB962C8B-B14F-4D97-AF65-F5344CB8AC3E}">
        <p14:creationId xmlns:p14="http://schemas.microsoft.com/office/powerpoint/2010/main" val="74727517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260F645F-8119-4C7B-9102-B961E6C3A64F}"/>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Aim and course coverage</a:t>
            </a:r>
          </a:p>
        </p:txBody>
      </p:sp>
      <p:sp>
        <p:nvSpPr>
          <p:cNvPr id="2" name="text">
            <a:extLst xmlns:a="http://schemas.openxmlformats.org/drawingml/2006/main">
              <a:ext uri="{FF2B5EF4-FFF2-40B4-BE49-F238E27FC236}">
                <a16:creationId xmlns:a16="http://schemas.microsoft.com/office/drawing/2014/main" id="{F07A160D-18B1-4C6F-9DA6-A4C71CB7B279}"/>
              </a:ext>
            </a:extLst>
          </p:cNvPr>
          <p:cNvSpPr>
            <a:spLocks xmlns:a="http://schemas.openxmlformats.org/drawingml/2006/main" noGrp="1"/>
          </p:cNvSpPr>
          <p:nvPr/>
        </p:nvSpPr>
        <p:spPr>
          <a:xfrm xmlns:a="http://schemas.openxmlformats.org/drawingml/2006/main">
            <a:off x="609600" y="1333500"/>
            <a:ext cx="10953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83044"/>
                </a:solidFill>
                <a:latin typeface="Arial"/>
                <a:ea typeface="Arial"/>
                <a:cs typeface="Arial"/>
              </a:defRPr>
            </a:defPPr>
          </a:lstStyle>
          <a:p xmlns:a="http://schemas.openxmlformats.org/drawingml/2006/main">
            <a:pPr>
              <a:defRPr sz="2100" b="0">
                <a:solidFill>
                  <a:srgbClr val="183044"/>
                </a:solidFill>
                <a:latin typeface="Arial"/>
                <a:ea typeface="Arial"/>
                <a:cs typeface="Arial"/>
              </a:defRPr>
            </a:pPr>
            <a:r>
              <a:rPr sz="2100" b="0">
                <a:solidFill>
                  <a:srgbClr val="183044"/>
                </a:solidFill>
                <a:latin typeface="Arial"/>
                <a:ea typeface="Arial"/>
                <a:cs typeface="Arial"/>
              </a:rPr>
              <a:t>Aim: describe BMI and health indicators, examine their associations, and apply the statistical methods prescribed in BMAT202P.</a:t>
            </a:r>
          </a:p>
        </p:txBody>
      </p:sp>
      <p:sp>
        <p:nvSpPr>
          <p:cNvPr id="3" name="text">
            <a:extLst xmlns:a="http://schemas.openxmlformats.org/drawingml/2006/main">
              <a:ext uri="{FF2B5EF4-FFF2-40B4-BE49-F238E27FC236}">
                <a16:creationId xmlns:a16="http://schemas.microsoft.com/office/drawing/2014/main" id="{5FD75E61-F796-45D0-A437-60A41FB325C3}"/>
              </a:ext>
            </a:extLst>
          </p:cNvPr>
          <p:cNvSpPr>
            <a:spLocks xmlns:a="http://schemas.openxmlformats.org/drawingml/2006/main" noGrp="1"/>
          </p:cNvSpPr>
          <p:nvPr/>
        </p:nvSpPr>
        <p:spPr>
          <a:xfrm xmlns:a="http://schemas.openxmlformats.org/drawingml/2006/main">
            <a:off x="609600" y="2495550"/>
            <a:ext cx="10953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83044"/>
                </a:solidFill>
                <a:latin typeface="Arial"/>
                <a:ea typeface="Arial"/>
                <a:cs typeface="Arial"/>
              </a:defRPr>
            </a:defPPr>
          </a:lstStyle>
          <a:p xmlns:a="http://schemas.openxmlformats.org/drawingml/2006/main">
            <a:pPr>
              <a:defRPr sz="2100" b="0">
                <a:solidFill>
                  <a:srgbClr val="183044"/>
                </a:solidFill>
                <a:latin typeface="Arial"/>
                <a:ea typeface="Arial"/>
                <a:cs typeface="Arial"/>
              </a:defRPr>
            </a:pPr>
            <a:r>
              <a:rPr sz="2100" b="0">
                <a:solidFill>
                  <a:srgbClr val="183044"/>
                </a:solidFill>
                <a:latin typeface="Arial"/>
                <a:ea typeface="Arial"/>
                <a:cs typeface="Arial"/>
              </a:rPr>
              <a:t>Questions: How does BMI vary across health groups? How much BMI variation do the regression models explain? Which probability models fit the observations?</a:t>
            </a:r>
          </a:p>
        </p:txBody>
      </p:sp>
      <p:sp>
        <p:nvSpPr>
          <p:cNvPr id="4" name="text">
            <a:extLst xmlns:a="http://schemas.openxmlformats.org/drawingml/2006/main">
              <a:ext uri="{FF2B5EF4-FFF2-40B4-BE49-F238E27FC236}">
                <a16:creationId xmlns:a16="http://schemas.microsoft.com/office/drawing/2014/main" id="{3809C90D-EDDA-4EEE-BA5A-D811BDA1B830}"/>
              </a:ext>
            </a:extLst>
          </p:cNvPr>
          <p:cNvSpPr>
            <a:spLocks xmlns:a="http://schemas.openxmlformats.org/drawingml/2006/main" noGrp="1"/>
          </p:cNvSpPr>
          <p:nvPr/>
        </p:nvSpPr>
        <p:spPr>
          <a:xfrm xmlns:a="http://schemas.openxmlformats.org/drawingml/2006/main">
            <a:off x="609600" y="3657600"/>
            <a:ext cx="10953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83044"/>
                </a:solidFill>
                <a:latin typeface="Arial"/>
                <a:ea typeface="Arial"/>
                <a:cs typeface="Arial"/>
              </a:defRPr>
            </a:defPPr>
          </a:lstStyle>
          <a:p xmlns:a="http://schemas.openxmlformats.org/drawingml/2006/main">
            <a:pPr>
              <a:defRPr sz="2100" b="0">
                <a:solidFill>
                  <a:srgbClr val="183044"/>
                </a:solidFill>
                <a:latin typeface="Arial"/>
                <a:ea typeface="Arial"/>
                <a:cs typeface="Arial"/>
              </a:defRPr>
            </a:pPr>
            <a:r>
              <a:rPr sz="2100" b="0">
                <a:solidFill>
                  <a:srgbClr val="183044"/>
                </a:solidFill>
                <a:latin typeface="Arial"/>
                <a:ea typeface="Arial"/>
                <a:cs typeface="Arial"/>
              </a:rPr>
              <a:t>The course also requires independent and paired tests, chi-square tests, CRD, RBD and Latin Square ANOVA.</a:t>
            </a:r>
          </a:p>
        </p:txBody>
      </p:sp>
      <p:sp>
        <p:nvSpPr>
          <p:cNvPr id="5" name="text">
            <a:extLst xmlns:a="http://schemas.openxmlformats.org/drawingml/2006/main">
              <a:ext uri="{FF2B5EF4-FFF2-40B4-BE49-F238E27FC236}">
                <a16:creationId xmlns:a16="http://schemas.microsoft.com/office/drawing/2014/main" id="{D63327AE-0936-4EFC-94A3-61BE5D556740}"/>
              </a:ext>
            </a:extLst>
          </p:cNvPr>
          <p:cNvSpPr>
            <a:spLocks xmlns:a="http://schemas.openxmlformats.org/drawingml/2006/main" noGrp="1"/>
          </p:cNvSpPr>
          <p:nvPr/>
        </p:nvSpPr>
        <p:spPr>
          <a:xfrm xmlns:a="http://schemas.openxmlformats.org/drawingml/2006/main">
            <a:off x="609600" y="4819650"/>
            <a:ext cx="10953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83044"/>
                </a:solidFill>
                <a:latin typeface="Arial"/>
                <a:ea typeface="Arial"/>
                <a:cs typeface="Arial"/>
              </a:defRPr>
            </a:defPPr>
          </a:lstStyle>
          <a:p xmlns:a="http://schemas.openxmlformats.org/drawingml/2006/main">
            <a:pPr>
              <a:defRPr sz="2100" b="0">
                <a:solidFill>
                  <a:srgbClr val="183044"/>
                </a:solidFill>
                <a:latin typeface="Arial"/>
                <a:ea typeface="Arial"/>
                <a:cs typeface="Arial"/>
              </a:defRPr>
            </a:pPr>
            <a:r>
              <a:rPr sz="2100" b="0">
                <a:solidFill>
                  <a:srgbClr val="183044"/>
                </a:solidFill>
                <a:latin typeface="Arial"/>
                <a:ea typeface="Arial"/>
                <a:cs typeface="Arial"/>
              </a:rPr>
              <a:t>The health study is observational. The design supplements use separate experimental data.</a:t>
            </a:r>
          </a:p>
        </p:txBody>
      </p:sp>
      <p:sp>
        <p:nvSpPr>
          <p:cNvPr id="6" name="text">
            <a:extLst xmlns:a="http://schemas.openxmlformats.org/drawingml/2006/main">
              <a:ext uri="{FF2B5EF4-FFF2-40B4-BE49-F238E27FC236}">
                <a16:creationId xmlns:a16="http://schemas.microsoft.com/office/drawing/2014/main" id="{75350409-57B0-4FEF-985E-BCBB5B5F30A3}"/>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02</a:t>
            </a:r>
          </a:p>
        </p:txBody>
      </p:sp>
    </p:spTree>
    <p:extLst>
      <p:ext uri="{BB962C8B-B14F-4D97-AF65-F5344CB8AC3E}">
        <p14:creationId xmlns:p14="http://schemas.microsoft.com/office/powerpoint/2010/main" val="170266946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C15D8548-D6BF-4859-A464-A40148AC33DA}"/>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Dataset source and working sample</a:t>
            </a:r>
          </a:p>
        </p:txBody>
      </p:sp>
      <p:graphicFrame>
        <p:nvGraphicFramePr>
          <p:cNvPr id="2" name="Chart">
            <a:extLst xmlns:a="http://schemas.openxmlformats.org/drawingml/2006/main">
              <a:ext uri="{FF2B5EF4-FFF2-40B4-BE49-F238E27FC236}">
                <a16:creationId xmlns:a16="http://schemas.microsoft.com/office/drawing/2014/main" id="{63DECD1E-28F0-40F5-8C3E-78DF1AEC0590}"/>
              </a:ext>
            </a:extLst>
          </p:cNvPr>
          <p:cNvGraphicFramePr/>
          <p:nvPr/>
        </p:nvGraphicFramePr>
        <p:xfrm>
          <a:off xmlns:a="http://schemas.openxmlformats.org/drawingml/2006/main" x="514350" y="1447800"/>
          <a:ext xmlns:a="http://schemas.openxmlformats.org/drawingml/2006/main" cx="6572250" cy="4191000"/>
        </p:xfrm>
        <a:graphic xmlns:a="http://schemas.openxmlformats.org/drawingml/2006/main">
          <a:graphicData uri="http://schemas.openxmlformats.org/drawingml/2006/chart">
            <c:chart xmlns:r="http://schemas.openxmlformats.org/officeDocument/2006/relationships" xmlns:c="http://schemas.openxmlformats.org/drawingml/2006/chart" r:id="R9004cd7e2e764543"/>
          </a:graphicData>
        </a:graphic>
      </p:graphicFrame>
      <p:sp>
        <p:nvSpPr>
          <p:cNvPr id="3" name="text">
            <a:extLst xmlns:a="http://schemas.openxmlformats.org/drawingml/2006/main">
              <a:ext uri="{FF2B5EF4-FFF2-40B4-BE49-F238E27FC236}">
                <a16:creationId xmlns:a16="http://schemas.microsoft.com/office/drawing/2014/main" id="{39059712-1B73-411C-80D3-55DA76B1E883}"/>
              </a:ext>
            </a:extLst>
          </p:cNvPr>
          <p:cNvSpPr>
            <a:spLocks xmlns:a="http://schemas.openxmlformats.org/drawingml/2006/main" noGrp="1"/>
          </p:cNvSpPr>
          <p:nvPr/>
        </p:nvSpPr>
        <p:spPr>
          <a:xfrm xmlns:a="http://schemas.openxmlformats.org/drawingml/2006/main">
            <a:off x="7562850" y="1504950"/>
            <a:ext cx="40005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3044"/>
                </a:solidFill>
                <a:latin typeface="Arial"/>
                <a:ea typeface="Arial"/>
                <a:cs typeface="Arial"/>
              </a:defRPr>
            </a:defPPr>
          </a:lstStyle>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The derivative contains 253,680 respondents, 21 predictors and one three-class target.</a:t>
            </a:r>
          </a:p>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We sampled 3,000 records without replacement using seed 101.</a:t>
            </a:r>
          </a:p>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Combined positive status is 15.63% in the sample and 15.76% in the full derivative.</a:t>
            </a:r>
          </a:p>
        </p:txBody>
      </p:sp>
      <p:sp>
        <p:nvSpPr>
          <p:cNvPr id="4" name="text">
            <a:extLst xmlns:a="http://schemas.openxmlformats.org/drawingml/2006/main">
              <a:ext uri="{FF2B5EF4-FFF2-40B4-BE49-F238E27FC236}">
                <a16:creationId xmlns:a16="http://schemas.microsoft.com/office/drawing/2014/main" id="{FBB8B68B-15EB-4C00-A2FD-9262E2C3F5F6}"/>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These are unweighted dataset proportions. They do not estimate national prevalence.</a:t>
            </a:r>
          </a:p>
        </p:txBody>
      </p:sp>
      <p:sp>
        <p:nvSpPr>
          <p:cNvPr id="5" name="text">
            <a:extLst xmlns:a="http://schemas.openxmlformats.org/drawingml/2006/main">
              <a:ext uri="{FF2B5EF4-FFF2-40B4-BE49-F238E27FC236}">
                <a16:creationId xmlns:a16="http://schemas.microsoft.com/office/drawing/2014/main" id="{F89B6284-9574-4CC7-93AA-2D31FCE67AB1}"/>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03</a:t>
            </a:r>
          </a:p>
        </p:txBody>
      </p:sp>
    </p:spTree>
    <p:extLst>
      <p:ext uri="{BB962C8B-B14F-4D97-AF65-F5344CB8AC3E}">
        <p14:creationId xmlns:p14="http://schemas.microsoft.com/office/powerpoint/2010/main" val="10326719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347CA0C0-2687-4D38-B2EF-B93E54192CC5}"/>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Variable definitions</a:t>
            </a:r>
          </a:p>
        </p:txBody>
      </p:sp>
      <p:sp>
        <p:nvSpPr>
          <p:cNvPr id="2" name="text">
            <a:extLst xmlns:a="http://schemas.openxmlformats.org/drawingml/2006/main">
              <a:ext uri="{FF2B5EF4-FFF2-40B4-BE49-F238E27FC236}">
                <a16:creationId xmlns:a16="http://schemas.microsoft.com/office/drawing/2014/main" id="{5627BB9C-1B21-4396-B62B-B96E3AD78397}"/>
              </a:ext>
            </a:extLst>
          </p:cNvPr>
          <p:cNvSpPr>
            <a:spLocks xmlns:a="http://schemas.openxmlformats.org/drawingml/2006/main" noGrp="1"/>
          </p:cNvSpPr>
          <p:nvPr/>
        </p:nvSpPr>
        <p:spPr>
          <a:xfrm xmlns:a="http://schemas.openxmlformats.org/drawingml/2006/main">
            <a:off x="609600" y="1200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3044"/>
                </a:solidFill>
                <a:latin typeface="Arial"/>
                <a:ea typeface="Arial"/>
                <a:cs typeface="Arial"/>
              </a:defRPr>
            </a:defPPr>
          </a:lstStyle>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The codebook distinguishes measurements, counts and coded categories.</a:t>
            </a:r>
          </a:p>
        </p:txBody>
      </p:sp>
      <p:graphicFrame>
        <p:nvGraphicFramePr>
          <p:cNvPr id="3" name="">
            <a:extLst xmlns:a="http://schemas.openxmlformats.org/drawingml/2006/main">
              <a:ext uri="{FF2B5EF4-FFF2-40B4-BE49-F238E27FC236}">
                <a16:creationId xmlns:a16="http://schemas.microsoft.com/office/drawing/2014/main" id="{CAC84860-9EDA-4A5D-ACC8-47781A956C34}"/>
              </a:ext>
            </a:extLst>
          </p:cNvPr>
          <p:cNvGraphicFramePr/>
          <p:nvPr/>
        </p:nvGraphicFramePr>
        <p:xfrm>
          <a:off xmlns:a="http://schemas.openxmlformats.org/drawingml/2006/main" x="609600" y="2238375"/>
          <a:ext xmlns:a="http://schemas.openxmlformats.org/drawingml/2006/main" cx="10953750" cy="3571875"/>
        </p:xfrm>
        <a:graphic xmlns:a="http://schemas.openxmlformats.org/drawingml/2006/main">
          <a:graphicData uri="http://schemas.openxmlformats.org/drawingml/2006/table">
            <a:tbl>
              <a:tblPr firstRow="1" bandRow="1"/>
              <a:tblGrid>
                <a:gridCol w="3651250"/>
                <a:gridCol w="3651250"/>
                <a:gridCol w="3651250"/>
              </a:tblGrid>
              <a:tr h="510268">
                <a:tc>
                  <a:txBody>
                    <a:bodyPr>
                      <a:noAutofit/>
                    </a:bodyPr>
                    <a:lstStyle/>
                    <a:p>
                      <a:pPr algn="l"/>
                      <a:r>
                        <a:rPr sz="1800" b="1">
                          <a:solidFill>
                            <a:srgbClr val="FFFFFF"/>
                          </a:solidFill>
                          <a:latin typeface="Arial"/>
                          <a:ea typeface="Arial"/>
                          <a:cs typeface="Arial"/>
                        </a:rPr>
                        <a:t>Variable</a:t>
                      </a:r>
                    </a:p>
                  </a:txBody>
                  <a:tcPr marL="91440" marR="91440" marT="45720" marB="45720">
                    <a:solidFill>
                      <a:srgbClr val="176D8C"/>
                    </a:solidFill>
                  </a:tcPr>
                </a:tc>
                <a:tc>
                  <a:txBody>
                    <a:bodyPr>
                      <a:noAutofit/>
                    </a:bodyPr>
                    <a:lstStyle/>
                    <a:p>
                      <a:pPr algn="ctr"/>
                      <a:r>
                        <a:rPr sz="1800" b="1">
                          <a:solidFill>
                            <a:srgbClr val="FFFFFF"/>
                          </a:solidFill>
                          <a:latin typeface="Arial"/>
                          <a:ea typeface="Arial"/>
                          <a:cs typeface="Arial"/>
                        </a:rPr>
                        <a:t>Meaning</a:t>
                      </a:r>
                    </a:p>
                  </a:txBody>
                  <a:tcPr marL="91440" marR="91440" marT="45720" marB="45720">
                    <a:solidFill>
                      <a:srgbClr val="176D8C"/>
                    </a:solidFill>
                  </a:tcPr>
                </a:tc>
                <a:tc>
                  <a:txBody>
                    <a:bodyPr>
                      <a:noAutofit/>
                    </a:bodyPr>
                    <a:lstStyle/>
                    <a:p>
                      <a:pPr algn="ctr"/>
                      <a:r>
                        <a:rPr sz="1800" b="1">
                          <a:solidFill>
                            <a:srgbClr val="FFFFFF"/>
                          </a:solidFill>
                          <a:latin typeface="Arial"/>
                          <a:ea typeface="Arial"/>
                          <a:cs typeface="Arial"/>
                        </a:rPr>
                        <a:t>Statistical type</a:t>
                      </a:r>
                    </a:p>
                  </a:txBody>
                  <a:tcPr marL="91440" marR="91440" marT="45720" marB="45720">
                    <a:solidFill>
                      <a:srgbClr val="176D8C"/>
                    </a:solidFill>
                  </a:tcPr>
                </a:tc>
              </a:tr>
              <a:tr h="510268">
                <a:tc>
                  <a:txBody>
                    <a:bodyPr>
                      <a:noAutofit/>
                    </a:bodyPr>
                    <a:lstStyle/>
                    <a:p>
                      <a:pPr algn="l"/>
                      <a:r>
                        <a:rPr sz="1800" b="0">
                          <a:solidFill>
                            <a:srgbClr val="183044"/>
                          </a:solidFill>
                          <a:latin typeface="Arial"/>
                          <a:ea typeface="Arial"/>
                          <a:cs typeface="Arial"/>
                        </a:rPr>
                        <a:t>Diabetes_012</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No diabetes / prediabetes / diabetes</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Categorical outcome</a:t>
                      </a:r>
                    </a:p>
                  </a:txBody>
                  <a:tcPr marL="91440" marR="91440" marT="45720" marB="45720">
                    <a:solidFill>
                      <a:srgbClr val="FFFFFF"/>
                    </a:solidFill>
                  </a:tcPr>
                </a:tc>
              </a:tr>
              <a:tr h="510268">
                <a:tc>
                  <a:txBody>
                    <a:bodyPr>
                      <a:noAutofit/>
                    </a:bodyPr>
                    <a:lstStyle/>
                    <a:p>
                      <a:pPr algn="l"/>
                      <a:r>
                        <a:rPr sz="1800" b="0">
                          <a:solidFill>
                            <a:srgbClr val="183044"/>
                          </a:solidFill>
                          <a:latin typeface="Arial"/>
                          <a:ea typeface="Arial"/>
                          <a:cs typeface="Arial"/>
                        </a:rPr>
                        <a:t>Diabetes_binary</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Prediabetes OR diabetes = Yes</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Binary outcome</a:t>
                      </a:r>
                    </a:p>
                  </a:txBody>
                  <a:tcPr marL="91440" marR="91440" marT="45720" marB="45720">
                    <a:solidFill>
                      <a:srgbClr val="F0F5F7"/>
                    </a:solidFill>
                  </a:tcPr>
                </a:tc>
              </a:tr>
              <a:tr h="510268">
                <a:tc>
                  <a:txBody>
                    <a:bodyPr>
                      <a:noAutofit/>
                    </a:bodyPr>
                    <a:lstStyle/>
                    <a:p>
                      <a:pPr algn="l"/>
                      <a:r>
                        <a:rPr sz="1800" b="0">
                          <a:solidFill>
                            <a:srgbClr val="183044"/>
                          </a:solidFill>
                          <a:latin typeface="Arial"/>
                          <a:ea typeface="Arial"/>
                          <a:cs typeface="Arial"/>
                        </a:rPr>
                        <a:t>BMI</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Body mass index in kg/m²</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Continuous measure</a:t>
                      </a:r>
                    </a:p>
                  </a:txBody>
                  <a:tcPr marL="91440" marR="91440" marT="45720" marB="45720">
                    <a:solidFill>
                      <a:srgbClr val="FFFFFF"/>
                    </a:solidFill>
                  </a:tcPr>
                </a:tc>
              </a:tr>
              <a:tr h="510268">
                <a:tc>
                  <a:txBody>
                    <a:bodyPr>
                      <a:noAutofit/>
                    </a:bodyPr>
                    <a:lstStyle/>
                    <a:p>
                      <a:pPr algn="l"/>
                      <a:r>
                        <a:rPr sz="1800" b="0">
                          <a:solidFill>
                            <a:srgbClr val="183044"/>
                          </a:solidFill>
                          <a:latin typeface="Arial"/>
                          <a:ea typeface="Arial"/>
                          <a:cs typeface="Arial"/>
                        </a:rPr>
                        <a:t>MentHlth / PhysHlth</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Poor-health days in a 30-day window</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Bounded count</a:t>
                      </a:r>
                    </a:p>
                  </a:txBody>
                  <a:tcPr marL="91440" marR="91440" marT="45720" marB="45720">
                    <a:solidFill>
                      <a:srgbClr val="F0F5F7"/>
                    </a:solidFill>
                  </a:tcPr>
                </a:tc>
              </a:tr>
              <a:tr h="510268">
                <a:tc>
                  <a:txBody>
                    <a:bodyPr>
                      <a:noAutofit/>
                    </a:bodyPr>
                    <a:lstStyle/>
                    <a:p>
                      <a:pPr algn="l"/>
                      <a:r>
                        <a:rPr sz="1800" b="0">
                          <a:solidFill>
                            <a:srgbClr val="183044"/>
                          </a:solidFill>
                          <a:latin typeface="Arial"/>
                          <a:ea typeface="Arial"/>
                          <a:cs typeface="Arial"/>
                        </a:rPr>
                        <a:t>Age / Income / Education</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Bands with unequal spacing</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Ordinal categories</a:t>
                      </a:r>
                    </a:p>
                  </a:txBody>
                  <a:tcPr marL="91440" marR="91440" marT="45720" marB="45720">
                    <a:solidFill>
                      <a:srgbClr val="FFFFFF"/>
                    </a:solidFill>
                  </a:tcPr>
                </a:tc>
              </a:tr>
              <a:tr h="510268">
                <a:tc>
                  <a:txBody>
                    <a:bodyPr>
                      <a:noAutofit/>
                    </a:bodyPr>
                    <a:lstStyle/>
                    <a:p>
                      <a:pPr algn="l"/>
                      <a:r>
                        <a:rPr sz="1800" b="0">
                          <a:solidFill>
                            <a:srgbClr val="183044"/>
                          </a:solidFill>
                          <a:latin typeface="Arial"/>
                          <a:ea typeface="Arial"/>
                          <a:cs typeface="Arial"/>
                        </a:rPr>
                        <a:t>Smoker</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Ever smoked at least 100 cigarettes</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Binary indicator</a:t>
                      </a:r>
                    </a:p>
                  </a:txBody>
                  <a:tcPr marL="91440" marR="91440" marT="45720" marB="45720">
                    <a:solidFill>
                      <a:srgbClr val="F0F5F7"/>
                    </a:solidFill>
                  </a:tcPr>
                </a:tc>
              </a:tr>
            </a:tbl>
          </a:graphicData>
        </a:graphic>
      </p:graphicFrame>
      <p:sp>
        <p:nvSpPr>
          <p:cNvPr id="4" name="text">
            <a:extLst xmlns:a="http://schemas.openxmlformats.org/drawingml/2006/main">
              <a:ext uri="{FF2B5EF4-FFF2-40B4-BE49-F238E27FC236}">
                <a16:creationId xmlns:a16="http://schemas.microsoft.com/office/drawing/2014/main" id="{71116C0B-8B99-4D25-A5A5-0C232C25EBC7}"/>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04</a:t>
            </a:r>
          </a:p>
        </p:txBody>
      </p:sp>
    </p:spTree>
    <p:extLst>
      <p:ext uri="{BB962C8B-B14F-4D97-AF65-F5344CB8AC3E}">
        <p14:creationId xmlns:p14="http://schemas.microsoft.com/office/powerpoint/2010/main" val="204946848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
            <a:extLst xmlns:a="http://schemas.openxmlformats.org/drawingml/2006/main">
              <a:ext uri="{FF2B5EF4-FFF2-40B4-BE49-F238E27FC236}">
                <a16:creationId xmlns:a16="http://schemas.microsoft.com/office/drawing/2014/main" id="{98BAABFC-F98A-4173-B7C4-152D1F3CB023}"/>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Data preparation</a:t>
            </a:r>
          </a:p>
        </p:txBody>
      </p:sp>
      <p:sp>
        <p:nvSpPr>
          <p:cNvPr id="2" name="">
            <a:extLst xmlns:a="http://schemas.openxmlformats.org/drawingml/2006/main">
              <a:ext uri="{FF2B5EF4-FFF2-40B4-BE49-F238E27FC236}">
                <a16:creationId xmlns:a16="http://schemas.microsoft.com/office/drawing/2014/main" id="{849220E1-05D6-45FF-A2B1-4B9E627DD9F9}"/>
              </a:ext>
            </a:extLst>
          </p:cNvPr>
          <p:cNvSpPr>
            <a:spLocks xmlns:a="http://schemas.openxmlformats.org/drawingml/2006/main" noGrp="1"/>
          </p:cNvSpPr>
          <p:nvPr/>
        </p:nvSpPr>
        <p:spPr>
          <a:xfrm xmlns:a="http://schemas.openxmlformats.org/drawingml/2006/main">
            <a:off x="609600" y="1381125"/>
            <a:ext cx="2286000" cy="1143000"/>
          </a:xfrm>
          <a:prstGeom xmlns:a="http://schemas.openxmlformats.org/drawingml/2006/main" prst="rect">
            <a:avLst/>
          </a:prstGeom>
          <a:solidFill xmlns:a="http://schemas.openxmlformats.org/drawingml/2006/main">
            <a:srgbClr val="EDF4F6"/>
          </a:solidFill>
          <a:ln xmlns:a="http://schemas.openxmlformats.org/drawingml/2006/main" w="19050">
            <a:solidFill>
              <a:srgbClr val="176D8C"/>
            </a:solidFill>
          </a:ln>
        </p:spPr>
        <p:txBody>
          <a:bodyPr xmlns:a="http://schemas.openxmlformats.org/drawingml/2006/main">
            <a:noAutofit/>
          </a:bodyPr>
          <a:lstStyle xmlns:a="http://schemas.openxmlformats.org/drawingml/2006/main">
            <a:defPPr algn="ctr">
              <a:defRPr sz="2025" b="0">
                <a:solidFill>
                  <a:srgbClr val="183044"/>
                </a:solidFill>
                <a:latin typeface="Arial"/>
                <a:ea typeface="Arial"/>
                <a:cs typeface="Arial"/>
              </a:defRPr>
            </a:defPPr>
          </a:lstStyle>
          <a:p xmlns:a="http://schemas.openxmlformats.org/drawingml/2006/main">
            <a:pPr algn="ctr">
              <a:defRPr sz="2025" b="0">
                <a:solidFill>
                  <a:srgbClr val="183044"/>
                </a:solidFill>
                <a:latin typeface="Arial"/>
                <a:ea typeface="Arial"/>
                <a:cs typeface="Arial"/>
              </a:defRPr>
            </a:pPr>
            <a:r>
              <a:rPr sz="2025" b="0">
                <a:solidFill>
                  <a:srgbClr val="183044"/>
                </a:solidFill>
                <a:latin typeface="Arial"/>
                <a:ea typeface="Arial"/>
                <a:cs typeface="Arial"/>
              </a:rPr>
              <a:t>Import</a:t>
            </a:r>
          </a:p>
          <a:p xmlns:a="http://schemas.openxmlformats.org/drawingml/2006/main">
            <a:pPr algn="ctr">
              <a:defRPr sz="2025" b="0">
                <a:solidFill>
                  <a:srgbClr val="183044"/>
                </a:solidFill>
                <a:latin typeface="Arial"/>
                <a:ea typeface="Arial"/>
                <a:cs typeface="Arial"/>
              </a:defRPr>
            </a:pPr>
            <a:r>
              <a:rPr sz="2025" b="0">
                <a:solidFill>
                  <a:srgbClr val="183044"/>
                </a:solidFill>
                <a:latin typeface="Arial"/>
                <a:ea typeface="Arial"/>
                <a:cs typeface="Arial"/>
              </a:rPr>
              <a:t>253,680 rows</a:t>
            </a:r>
          </a:p>
        </p:txBody>
      </p:sp>
      <p:sp>
        <p:nvSpPr>
          <p:cNvPr id="3" name="">
            <a:extLst xmlns:a="http://schemas.openxmlformats.org/drawingml/2006/main">
              <a:ext uri="{FF2B5EF4-FFF2-40B4-BE49-F238E27FC236}">
                <a16:creationId xmlns:a16="http://schemas.microsoft.com/office/drawing/2014/main" id="{5206188F-969C-4A8D-B424-102A0A18A35F}"/>
              </a:ext>
            </a:extLst>
          </p:cNvPr>
          <p:cNvSpPr>
            <a:spLocks xmlns:a="http://schemas.openxmlformats.org/drawingml/2006/main" noGrp="1"/>
          </p:cNvSpPr>
          <p:nvPr/>
        </p:nvSpPr>
        <p:spPr>
          <a:xfrm xmlns:a="http://schemas.openxmlformats.org/drawingml/2006/main">
            <a:off x="2990850" y="1790700"/>
            <a:ext cx="304800" cy="266700"/>
          </a:xfrm>
          <a:prstGeom xmlns:a="http://schemas.openxmlformats.org/drawingml/2006/main" prst="rightArrow">
            <a:avLst/>
          </a:prstGeom>
          <a:solidFill xmlns:a="http://schemas.openxmlformats.org/drawingml/2006/main">
            <a:srgbClr val="176D8C"/>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A2BFC3C-55B6-4DD8-83D9-DD5754881106}"/>
              </a:ext>
            </a:extLst>
          </p:cNvPr>
          <p:cNvSpPr>
            <a:spLocks xmlns:a="http://schemas.openxmlformats.org/drawingml/2006/main" noGrp="1"/>
          </p:cNvSpPr>
          <p:nvPr/>
        </p:nvSpPr>
        <p:spPr>
          <a:xfrm xmlns:a="http://schemas.openxmlformats.org/drawingml/2006/main">
            <a:off x="3390900" y="1381125"/>
            <a:ext cx="2286000" cy="1143000"/>
          </a:xfrm>
          <a:prstGeom xmlns:a="http://schemas.openxmlformats.org/drawingml/2006/main" prst="rect">
            <a:avLst/>
          </a:prstGeom>
          <a:solidFill xmlns:a="http://schemas.openxmlformats.org/drawingml/2006/main">
            <a:srgbClr val="EDF4F6"/>
          </a:solidFill>
          <a:ln xmlns:a="http://schemas.openxmlformats.org/drawingml/2006/main" w="19050">
            <a:solidFill>
              <a:srgbClr val="176D8C"/>
            </a:solidFill>
          </a:ln>
        </p:spPr>
        <p:txBody>
          <a:bodyPr xmlns:a="http://schemas.openxmlformats.org/drawingml/2006/main">
            <a:noAutofit/>
          </a:bodyPr>
          <a:lstStyle xmlns:a="http://schemas.openxmlformats.org/drawingml/2006/main">
            <a:defPPr algn="ctr">
              <a:defRPr sz="2025" b="0">
                <a:solidFill>
                  <a:srgbClr val="183044"/>
                </a:solidFill>
                <a:latin typeface="Arial"/>
                <a:ea typeface="Arial"/>
                <a:cs typeface="Arial"/>
              </a:defRPr>
            </a:defPPr>
          </a:lstStyle>
          <a:p xmlns:a="http://schemas.openxmlformats.org/drawingml/2006/main">
            <a:pPr algn="ctr">
              <a:defRPr sz="2025" b="0">
                <a:solidFill>
                  <a:srgbClr val="183044"/>
                </a:solidFill>
                <a:latin typeface="Arial"/>
                <a:ea typeface="Arial"/>
                <a:cs typeface="Arial"/>
              </a:defRPr>
            </a:pPr>
            <a:r>
              <a:rPr sz="2025" b="0">
                <a:solidFill>
                  <a:srgbClr val="183044"/>
                </a:solidFill>
                <a:latin typeface="Arial"/>
                <a:ea typeface="Arial"/>
                <a:cs typeface="Arial"/>
              </a:rPr>
              <a:t>Sample</a:t>
            </a:r>
          </a:p>
          <a:p xmlns:a="http://schemas.openxmlformats.org/drawingml/2006/main">
            <a:pPr algn="ctr">
              <a:defRPr sz="2025" b="0">
                <a:solidFill>
                  <a:srgbClr val="183044"/>
                </a:solidFill>
                <a:latin typeface="Arial"/>
                <a:ea typeface="Arial"/>
                <a:cs typeface="Arial"/>
              </a:defRPr>
            </a:pPr>
            <a:r>
              <a:rPr sz="2025" b="0">
                <a:solidFill>
                  <a:srgbClr val="183044"/>
                </a:solidFill>
                <a:latin typeface="Arial"/>
                <a:ea typeface="Arial"/>
                <a:cs typeface="Arial"/>
              </a:rPr>
              <a:t>3,000 rows</a:t>
            </a:r>
          </a:p>
        </p:txBody>
      </p:sp>
      <p:sp>
        <p:nvSpPr>
          <p:cNvPr id="5" name="">
            <a:extLst xmlns:a="http://schemas.openxmlformats.org/drawingml/2006/main">
              <a:ext uri="{FF2B5EF4-FFF2-40B4-BE49-F238E27FC236}">
                <a16:creationId xmlns:a16="http://schemas.microsoft.com/office/drawing/2014/main" id="{235B18B1-28DE-4874-91AB-DB42B59665C4}"/>
              </a:ext>
            </a:extLst>
          </p:cNvPr>
          <p:cNvSpPr>
            <a:spLocks xmlns:a="http://schemas.openxmlformats.org/drawingml/2006/main" noGrp="1"/>
          </p:cNvSpPr>
          <p:nvPr/>
        </p:nvSpPr>
        <p:spPr>
          <a:xfrm xmlns:a="http://schemas.openxmlformats.org/drawingml/2006/main">
            <a:off x="5772150" y="1790700"/>
            <a:ext cx="304800" cy="266700"/>
          </a:xfrm>
          <a:prstGeom xmlns:a="http://schemas.openxmlformats.org/drawingml/2006/main" prst="rightArrow">
            <a:avLst/>
          </a:prstGeom>
          <a:solidFill xmlns:a="http://schemas.openxmlformats.org/drawingml/2006/main">
            <a:srgbClr val="176D8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837C52D-D72E-40E3-8790-76AF792A2C4A}"/>
              </a:ext>
            </a:extLst>
          </p:cNvPr>
          <p:cNvSpPr>
            <a:spLocks xmlns:a="http://schemas.openxmlformats.org/drawingml/2006/main" noGrp="1"/>
          </p:cNvSpPr>
          <p:nvPr/>
        </p:nvSpPr>
        <p:spPr>
          <a:xfrm xmlns:a="http://schemas.openxmlformats.org/drawingml/2006/main">
            <a:off x="6172200" y="1381125"/>
            <a:ext cx="2286000" cy="1143000"/>
          </a:xfrm>
          <a:prstGeom xmlns:a="http://schemas.openxmlformats.org/drawingml/2006/main" prst="rect">
            <a:avLst/>
          </a:prstGeom>
          <a:solidFill xmlns:a="http://schemas.openxmlformats.org/drawingml/2006/main">
            <a:srgbClr val="EDF4F6"/>
          </a:solidFill>
          <a:ln xmlns:a="http://schemas.openxmlformats.org/drawingml/2006/main" w="19050">
            <a:solidFill>
              <a:srgbClr val="176D8C"/>
            </a:solidFill>
          </a:ln>
        </p:spPr>
        <p:txBody>
          <a:bodyPr xmlns:a="http://schemas.openxmlformats.org/drawingml/2006/main">
            <a:noAutofit/>
          </a:bodyPr>
          <a:lstStyle xmlns:a="http://schemas.openxmlformats.org/drawingml/2006/main">
            <a:defPPr algn="ctr">
              <a:defRPr sz="2025" b="0">
                <a:solidFill>
                  <a:srgbClr val="183044"/>
                </a:solidFill>
                <a:latin typeface="Arial"/>
                <a:ea typeface="Arial"/>
                <a:cs typeface="Arial"/>
              </a:defRPr>
            </a:defPPr>
          </a:lstStyle>
          <a:p xmlns:a="http://schemas.openxmlformats.org/drawingml/2006/main">
            <a:pPr algn="ctr">
              <a:defRPr sz="2025" b="0">
                <a:solidFill>
                  <a:srgbClr val="183044"/>
                </a:solidFill>
                <a:latin typeface="Arial"/>
                <a:ea typeface="Arial"/>
                <a:cs typeface="Arial"/>
              </a:defRPr>
            </a:pPr>
            <a:r>
              <a:rPr sz="2025" b="0">
                <a:solidFill>
                  <a:srgbClr val="183044"/>
                </a:solidFill>
                <a:latin typeface="Arial"/>
                <a:ea typeface="Arial"/>
                <a:cs typeface="Arial"/>
              </a:rPr>
              <a:t>Validate</a:t>
            </a:r>
          </a:p>
          <a:p xmlns:a="http://schemas.openxmlformats.org/drawingml/2006/main">
            <a:pPr algn="ctr">
              <a:defRPr sz="2025" b="0">
                <a:solidFill>
                  <a:srgbClr val="183044"/>
                </a:solidFill>
                <a:latin typeface="Arial"/>
                <a:ea typeface="Arial"/>
                <a:cs typeface="Arial"/>
              </a:defRPr>
            </a:pPr>
            <a:r>
              <a:rPr sz="2025" b="0">
                <a:solidFill>
                  <a:srgbClr val="183044"/>
                </a:solidFill>
                <a:latin typeface="Arial"/>
                <a:ea typeface="Arial"/>
                <a:cs typeface="Arial"/>
              </a:rPr>
              <a:t>3,000 retained</a:t>
            </a:r>
          </a:p>
        </p:txBody>
      </p:sp>
      <p:sp>
        <p:nvSpPr>
          <p:cNvPr id="7" name="">
            <a:extLst xmlns:a="http://schemas.openxmlformats.org/drawingml/2006/main">
              <a:ext uri="{FF2B5EF4-FFF2-40B4-BE49-F238E27FC236}">
                <a16:creationId xmlns:a16="http://schemas.microsoft.com/office/drawing/2014/main" id="{7A7BA195-16DA-4267-8AF6-A55D384C1407}"/>
              </a:ext>
            </a:extLst>
          </p:cNvPr>
          <p:cNvSpPr>
            <a:spLocks xmlns:a="http://schemas.openxmlformats.org/drawingml/2006/main" noGrp="1"/>
          </p:cNvSpPr>
          <p:nvPr/>
        </p:nvSpPr>
        <p:spPr>
          <a:xfrm xmlns:a="http://schemas.openxmlformats.org/drawingml/2006/main">
            <a:off x="8553450" y="1790700"/>
            <a:ext cx="304800" cy="266700"/>
          </a:xfrm>
          <a:prstGeom xmlns:a="http://schemas.openxmlformats.org/drawingml/2006/main" prst="rightArrow">
            <a:avLst/>
          </a:prstGeom>
          <a:solidFill xmlns:a="http://schemas.openxmlformats.org/drawingml/2006/main">
            <a:srgbClr val="176D8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B3387BB-51C2-4EB7-BB9E-6B3400B19FFB}"/>
              </a:ext>
            </a:extLst>
          </p:cNvPr>
          <p:cNvSpPr>
            <a:spLocks xmlns:a="http://schemas.openxmlformats.org/drawingml/2006/main" noGrp="1"/>
          </p:cNvSpPr>
          <p:nvPr/>
        </p:nvSpPr>
        <p:spPr>
          <a:xfrm xmlns:a="http://schemas.openxmlformats.org/drawingml/2006/main">
            <a:off x="8953500" y="1381125"/>
            <a:ext cx="2286000" cy="1143000"/>
          </a:xfrm>
          <a:prstGeom xmlns:a="http://schemas.openxmlformats.org/drawingml/2006/main" prst="rect">
            <a:avLst/>
          </a:prstGeom>
          <a:solidFill xmlns:a="http://schemas.openxmlformats.org/drawingml/2006/main">
            <a:srgbClr val="EDF4F6"/>
          </a:solidFill>
          <a:ln xmlns:a="http://schemas.openxmlformats.org/drawingml/2006/main" w="19050">
            <a:solidFill>
              <a:srgbClr val="176D8C"/>
            </a:solidFill>
          </a:ln>
        </p:spPr>
        <p:txBody>
          <a:bodyPr xmlns:a="http://schemas.openxmlformats.org/drawingml/2006/main">
            <a:noAutofit/>
          </a:bodyPr>
          <a:lstStyle xmlns:a="http://schemas.openxmlformats.org/drawingml/2006/main">
            <a:defPPr algn="ctr">
              <a:defRPr sz="2025" b="0">
                <a:solidFill>
                  <a:srgbClr val="183044"/>
                </a:solidFill>
                <a:latin typeface="Arial"/>
                <a:ea typeface="Arial"/>
                <a:cs typeface="Arial"/>
              </a:defRPr>
            </a:defPPr>
          </a:lstStyle>
          <a:p xmlns:a="http://schemas.openxmlformats.org/drawingml/2006/main">
            <a:pPr algn="ctr">
              <a:defRPr sz="2025" b="0">
                <a:solidFill>
                  <a:srgbClr val="183044"/>
                </a:solidFill>
                <a:latin typeface="Arial"/>
                <a:ea typeface="Arial"/>
                <a:cs typeface="Arial"/>
              </a:defRPr>
            </a:pPr>
            <a:r>
              <a:rPr sz="2025" b="0">
                <a:solidFill>
                  <a:srgbClr val="183044"/>
                </a:solidFill>
                <a:latin typeface="Arial"/>
                <a:ea typeface="Arial"/>
                <a:cs typeface="Arial"/>
              </a:rPr>
              <a:t>Sensitivity</a:t>
            </a:r>
          </a:p>
          <a:p xmlns:a="http://schemas.openxmlformats.org/drawingml/2006/main">
            <a:pPr algn="ctr">
              <a:defRPr sz="2025" b="0">
                <a:solidFill>
                  <a:srgbClr val="183044"/>
                </a:solidFill>
                <a:latin typeface="Arial"/>
                <a:ea typeface="Arial"/>
                <a:cs typeface="Arial"/>
              </a:defRPr>
            </a:pPr>
            <a:r>
              <a:rPr sz="2025" b="0">
                <a:solidFill>
                  <a:srgbClr val="183044"/>
                </a:solidFill>
                <a:latin typeface="Arial"/>
                <a:ea typeface="Arial"/>
                <a:cs typeface="Arial"/>
              </a:rPr>
              <a:t>2,886 retained</a:t>
            </a:r>
          </a:p>
        </p:txBody>
      </p:sp>
      <p:sp>
        <p:nvSpPr>
          <p:cNvPr id="9" name="text">
            <a:extLst xmlns:a="http://schemas.openxmlformats.org/drawingml/2006/main">
              <a:ext uri="{FF2B5EF4-FFF2-40B4-BE49-F238E27FC236}">
                <a16:creationId xmlns:a16="http://schemas.microsoft.com/office/drawing/2014/main" id="{242B45FA-DBAF-491B-8E24-E290A6EDB33E}"/>
              </a:ext>
            </a:extLst>
          </p:cNvPr>
          <p:cNvSpPr>
            <a:spLocks xmlns:a="http://schemas.openxmlformats.org/drawingml/2006/main" noGrp="1"/>
          </p:cNvSpPr>
          <p:nvPr/>
        </p:nvSpPr>
        <p:spPr>
          <a:xfrm xmlns:a="http://schemas.openxmlformats.org/drawingml/2006/main">
            <a:off x="609600" y="3095625"/>
            <a:ext cx="10953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83044"/>
                </a:solidFill>
                <a:latin typeface="Arial"/>
                <a:ea typeface="Arial"/>
                <a:cs typeface="Arial"/>
              </a:defRPr>
            </a:defPPr>
          </a:lstStyle>
          <a:p xmlns:a="http://schemas.openxmlformats.org/drawingml/2006/main">
            <a:pPr>
              <a:defRPr sz="2100" b="0">
                <a:solidFill>
                  <a:srgbClr val="183044"/>
                </a:solidFill>
                <a:latin typeface="Arial"/>
                <a:ea typeface="Arial"/>
                <a:cs typeface="Arial"/>
              </a:defRPr>
            </a:pPr>
            <a:r>
              <a:rPr sz="2100" b="0">
                <a:solidFill>
                  <a:srgbClr val="183044"/>
                </a:solidFill>
                <a:latin typeface="Arial"/>
                <a:ea typeface="Arial"/>
                <a:cs typeface="Arial"/>
              </a:rPr>
              <a:t>Validation checks column names, allowed codes, missing values and measurement ranges.</a:t>
            </a:r>
          </a:p>
          <a:p xmlns:a="http://schemas.openxmlformats.org/drawingml/2006/main">
            <a:pPr>
              <a:defRPr sz="2100" b="0">
                <a:solidFill>
                  <a:srgbClr val="183044"/>
                </a:solidFill>
                <a:latin typeface="Arial"/>
                <a:ea typeface="Arial"/>
                <a:cs typeface="Arial"/>
              </a:defRPr>
            </a:pPr>
            <a:r>
              <a:rPr sz="2100" b="0">
                <a:solidFill>
                  <a:srgbClr val="183044"/>
                </a:solidFill>
                <a:latin typeface="Arial"/>
                <a:ea typeface="Arial"/>
                <a:cs typeface="Arial"/>
              </a:rPr>
              <a:t>No invalid or missing records occurred in the 3,000-person working sample.</a:t>
            </a:r>
          </a:p>
          <a:p xmlns:a="http://schemas.openxmlformats.org/drawingml/2006/main">
            <a:pPr>
              <a:defRPr sz="2100" b="0">
                <a:solidFill>
                  <a:srgbClr val="183044"/>
                </a:solidFill>
                <a:latin typeface="Arial"/>
                <a:ea typeface="Arial"/>
                <a:cs typeface="Arial"/>
              </a:defRPr>
            </a:pPr>
            <a:r>
              <a:rPr sz="2100" b="0">
                <a:solidFill>
                  <a:srgbClr val="183044"/>
                </a:solidFill>
                <a:latin typeface="Arial"/>
                <a:ea typeface="Arial"/>
                <a:cs typeface="Arial"/>
              </a:rPr>
              <a:t>We preserve source-row identifiers and factor types in RDS. Identical feature profiles can belong to different people, so we retain them.</a:t>
            </a:r>
          </a:p>
        </p:txBody>
      </p:sp>
      <p:sp>
        <p:nvSpPr>
          <p:cNvPr id="10" name="text">
            <a:extLst xmlns:a="http://schemas.openxmlformats.org/drawingml/2006/main">
              <a:ext uri="{FF2B5EF4-FFF2-40B4-BE49-F238E27FC236}">
                <a16:creationId xmlns:a16="http://schemas.microsoft.com/office/drawing/2014/main" id="{208FD6A2-DF90-4906-99C6-AED65D8BAA46}"/>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The original sample remains available alongside the separate BMI-filtered dataset.</a:t>
            </a:r>
          </a:p>
        </p:txBody>
      </p:sp>
      <p:sp>
        <p:nvSpPr>
          <p:cNvPr id="11" name="text">
            <a:extLst xmlns:a="http://schemas.openxmlformats.org/drawingml/2006/main">
              <a:ext uri="{FF2B5EF4-FFF2-40B4-BE49-F238E27FC236}">
                <a16:creationId xmlns:a16="http://schemas.microsoft.com/office/drawing/2014/main" id="{554379AB-13B3-4B7E-BA62-FBA25E5D7B03}"/>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05</a:t>
            </a:r>
          </a:p>
        </p:txBody>
      </p:sp>
    </p:spTree>
    <p:extLst>
      <p:ext uri="{BB962C8B-B14F-4D97-AF65-F5344CB8AC3E}">
        <p14:creationId xmlns:p14="http://schemas.microsoft.com/office/powerpoint/2010/main" val="173853471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00BFCBA7-5D3C-416B-BE89-541137B32C16}"/>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BMI outlier analysis</a:t>
            </a:r>
          </a:p>
        </p:txBody>
      </p:sp>
      <p:pic>
        <p:nvPicPr>
          <p:cNvPr id="2" name="">
            <a:extLst xmlns:a="http://schemas.openxmlformats.org/drawingml/2006/main">
              <a:ext uri="{FF2B5EF4-FFF2-40B4-BE49-F238E27FC236}">
                <a16:creationId xmlns:a16="http://schemas.microsoft.com/office/drawing/2014/main" id="{1E4A5676-D56E-4325-A99B-C65D2C2F9022}"/>
              </a:ext>
            </a:extLst>
          </p:cNvPr>
          <p:cNvPicPr>
            <a:picLocks xmlns:a="http://schemas.openxmlformats.org/drawingml/2006/main" noChangeAspect="1"/>
          </p:cNvPicPr>
          <p:nvPr/>
        </p:nvPicPr>
        <p:blipFill>
          <a:blip xmlns:r="http://schemas.openxmlformats.org/officeDocument/2006/relationships" xmlns:a="http://schemas.openxmlformats.org/drawingml/2006/main" r:embed="Rc73eea7198544400"/>
          <a:stretch xmlns:a="http://schemas.openxmlformats.org/drawingml/2006/main"/>
        </p:blipFill>
        <p:spPr>
          <a:xfrm xmlns:a="http://schemas.openxmlformats.org/drawingml/2006/main">
            <a:off x="906379" y="1409700"/>
            <a:ext cx="6797842" cy="4305300"/>
          </a:xfrm>
          <a:prstGeom xmlns:a="http://schemas.openxmlformats.org/drawingml/2006/main" prst="rect">
            <a:avLst/>
          </a:prstGeom>
        </p:spPr>
      </p:pic>
      <p:sp>
        <p:nvSpPr>
          <p:cNvPr id="3" name="text">
            <a:extLst xmlns:a="http://schemas.openxmlformats.org/drawingml/2006/main">
              <a:ext uri="{FF2B5EF4-FFF2-40B4-BE49-F238E27FC236}">
                <a16:creationId xmlns:a16="http://schemas.microsoft.com/office/drawing/2014/main" id="{216E3501-B594-4255-B6FD-8960B3BA7308}"/>
              </a:ext>
            </a:extLst>
          </p:cNvPr>
          <p:cNvSpPr>
            <a:spLocks xmlns:a="http://schemas.openxmlformats.org/drawingml/2006/main" noGrp="1"/>
          </p:cNvSpPr>
          <p:nvPr/>
        </p:nvSpPr>
        <p:spPr>
          <a:xfrm xmlns:a="http://schemas.openxmlformats.org/drawingml/2006/main">
            <a:off x="8572500" y="1466850"/>
            <a:ext cx="31242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Q1 = 24.0 and Q3 = 31.0, giving IQR = 7.0.</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The 1.5 IQR fences are 13.5 and 41.5.</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114 respondents (3.8%) fall outside the fences.</a:t>
            </a:r>
          </a:p>
        </p:txBody>
      </p:sp>
      <p:sp>
        <p:nvSpPr>
          <p:cNvPr id="4" name="text">
            <a:extLst xmlns:a="http://schemas.openxmlformats.org/drawingml/2006/main">
              <a:ext uri="{FF2B5EF4-FFF2-40B4-BE49-F238E27FC236}">
                <a16:creationId xmlns:a16="http://schemas.microsoft.com/office/drawing/2014/main" id="{97483CBB-E4BB-47E4-9427-98708995F381}"/>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An unusual but valid BMI is not automatically a recording error.</a:t>
            </a:r>
          </a:p>
        </p:txBody>
      </p:sp>
      <p:sp>
        <p:nvSpPr>
          <p:cNvPr id="5" name="text">
            <a:extLst xmlns:a="http://schemas.openxmlformats.org/drawingml/2006/main">
              <a:ext uri="{FF2B5EF4-FFF2-40B4-BE49-F238E27FC236}">
                <a16:creationId xmlns:a16="http://schemas.microsoft.com/office/drawing/2014/main" id="{46D02C32-4EDF-4315-A90F-349C5BD4C718}"/>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06</a:t>
            </a:r>
          </a:p>
        </p:txBody>
      </p:sp>
    </p:spTree>
    <p:extLst>
      <p:ext uri="{BB962C8B-B14F-4D97-AF65-F5344CB8AC3E}">
        <p14:creationId xmlns:p14="http://schemas.microsoft.com/office/powerpoint/2010/main" val="109705055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E9A63B89-D4F4-4986-9180-62869E889EA9}"/>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Outlier removal and its effect</a:t>
            </a:r>
          </a:p>
        </p:txBody>
      </p:sp>
      <p:sp>
        <p:nvSpPr>
          <p:cNvPr id="2" name="text">
            <a:extLst xmlns:a="http://schemas.openxmlformats.org/drawingml/2006/main">
              <a:ext uri="{FF2B5EF4-FFF2-40B4-BE49-F238E27FC236}">
                <a16:creationId xmlns:a16="http://schemas.microsoft.com/office/drawing/2014/main" id="{CBE1F647-B5DD-4229-8A5B-9B17EB99260C}"/>
              </a:ext>
            </a:extLst>
          </p:cNvPr>
          <p:cNvSpPr>
            <a:spLocks xmlns:a="http://schemas.openxmlformats.org/drawingml/2006/main" noGrp="1"/>
          </p:cNvSpPr>
          <p:nvPr/>
        </p:nvSpPr>
        <p:spPr>
          <a:xfrm xmlns:a="http://schemas.openxmlformats.org/drawingml/2006/main">
            <a:off x="609600" y="11049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We removed the 114 BMI flags only in a sensitivity dataset. The primary analysis retains all valid records.</a:t>
            </a:r>
          </a:p>
        </p:txBody>
      </p:sp>
      <p:pic>
        <p:nvPicPr>
          <p:cNvPr id="3" name="">
            <a:extLst xmlns:a="http://schemas.openxmlformats.org/drawingml/2006/main">
              <a:ext uri="{FF2B5EF4-FFF2-40B4-BE49-F238E27FC236}">
                <a16:creationId xmlns:a16="http://schemas.microsoft.com/office/drawing/2014/main" id="{1A35E013-8DD9-4F66-811D-863A16D88970}"/>
              </a:ext>
            </a:extLst>
          </p:cNvPr>
          <p:cNvPicPr>
            <a:picLocks xmlns:a="http://schemas.openxmlformats.org/drawingml/2006/main" noChangeAspect="1"/>
          </p:cNvPicPr>
          <p:nvPr/>
        </p:nvPicPr>
        <p:blipFill>
          <a:blip xmlns:r="http://schemas.openxmlformats.org/officeDocument/2006/relationships" xmlns:a="http://schemas.openxmlformats.org/drawingml/2006/main" r:embed="R0ad4b5d91fc54372"/>
          <a:stretch xmlns:a="http://schemas.openxmlformats.org/drawingml/2006/main"/>
        </p:blipFill>
        <p:spPr>
          <a:xfrm xmlns:a="http://schemas.openxmlformats.org/drawingml/2006/main">
            <a:off x="770021" y="2286000"/>
            <a:ext cx="5489408" cy="3476625"/>
          </a:xfrm>
          <a:prstGeom xmlns:a="http://schemas.openxmlformats.org/drawingml/2006/main" prst="rect">
            <a:avLst/>
          </a:prstGeom>
        </p:spPr>
      </p:pic>
      <p:graphicFrame>
        <p:nvGraphicFramePr>
          <p:cNvPr id="4" name="">
            <a:extLst xmlns:a="http://schemas.openxmlformats.org/drawingml/2006/main">
              <a:ext uri="{FF2B5EF4-FFF2-40B4-BE49-F238E27FC236}">
                <a16:creationId xmlns:a16="http://schemas.microsoft.com/office/drawing/2014/main" id="{F4A26341-097B-4A84-BE1E-3AD842DE6309}"/>
              </a:ext>
            </a:extLst>
          </p:cNvPr>
          <p:cNvGraphicFramePr/>
          <p:nvPr/>
        </p:nvGraphicFramePr>
        <p:xfrm>
          <a:off xmlns:a="http://schemas.openxmlformats.org/drawingml/2006/main" x="6991350" y="2324100"/>
          <a:ext xmlns:a="http://schemas.openxmlformats.org/drawingml/2006/main" cx="4667250" cy="2857500"/>
        </p:xfrm>
        <a:graphic xmlns:a="http://schemas.openxmlformats.org/drawingml/2006/main">
          <a:graphicData uri="http://schemas.openxmlformats.org/drawingml/2006/table">
            <a:tbl>
              <a:tblPr firstRow="1" bandRow="1"/>
              <a:tblGrid>
                <a:gridCol w="1555750"/>
                <a:gridCol w="1555750"/>
                <a:gridCol w="1555750"/>
              </a:tblGrid>
              <a:tr h="476250">
                <a:tc>
                  <a:txBody>
                    <a:bodyPr>
                      <a:noAutofit/>
                    </a:bodyPr>
                    <a:lstStyle/>
                    <a:p>
                      <a:pPr algn="l"/>
                      <a:r>
                        <a:rPr sz="1575" b="1">
                          <a:solidFill>
                            <a:srgbClr val="FFFFFF"/>
                          </a:solidFill>
                          <a:latin typeface="Arial"/>
                          <a:ea typeface="Arial"/>
                          <a:cs typeface="Arial"/>
                        </a:rPr>
                        <a:t>Measure</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Full sample</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Filtered</a:t>
                      </a:r>
                    </a:p>
                  </a:txBody>
                  <a:tcPr marL="91440" marR="91440" marT="45720" marB="45720">
                    <a:solidFill>
                      <a:srgbClr val="176D8C"/>
                    </a:solidFill>
                  </a:tcPr>
                </a:tc>
              </a:tr>
              <a:tr h="476250">
                <a:tc>
                  <a:txBody>
                    <a:bodyPr>
                      <a:noAutofit/>
                    </a:bodyPr>
                    <a:lstStyle/>
                    <a:p>
                      <a:pPr algn="l"/>
                      <a:r>
                        <a:rPr sz="1575" b="0">
                          <a:solidFill>
                            <a:srgbClr val="183044"/>
                          </a:solidFill>
                          <a:latin typeface="Arial"/>
                          <a:ea typeface="Arial"/>
                          <a:cs typeface="Arial"/>
                        </a:rPr>
                        <a:t>Respondents</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3,000</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2,886</a:t>
                      </a:r>
                    </a:p>
                  </a:txBody>
                  <a:tcPr marL="91440" marR="91440" marT="45720" marB="45720">
                    <a:solidFill>
                      <a:srgbClr val="FFFFFF"/>
                    </a:solidFill>
                  </a:tcPr>
                </a:tc>
              </a:tr>
              <a:tr h="476250">
                <a:tc>
                  <a:txBody>
                    <a:bodyPr>
                      <a:noAutofit/>
                    </a:bodyPr>
                    <a:lstStyle/>
                    <a:p>
                      <a:pPr algn="l"/>
                      <a:r>
                        <a:rPr sz="1575" b="0">
                          <a:solidFill>
                            <a:srgbClr val="183044"/>
                          </a:solidFill>
                          <a:latin typeface="Arial"/>
                          <a:ea typeface="Arial"/>
                          <a:cs typeface="Arial"/>
                        </a:rPr>
                        <a:t>Mean BMI</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28.40</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27.65</a:t>
                      </a:r>
                    </a:p>
                  </a:txBody>
                  <a:tcPr marL="91440" marR="91440" marT="45720" marB="45720">
                    <a:solidFill>
                      <a:srgbClr val="F0F5F7"/>
                    </a:solidFill>
                  </a:tcPr>
                </a:tc>
              </a:tr>
              <a:tr h="476250">
                <a:tc>
                  <a:txBody>
                    <a:bodyPr>
                      <a:noAutofit/>
                    </a:bodyPr>
                    <a:lstStyle/>
                    <a:p>
                      <a:pPr algn="l"/>
                      <a:r>
                        <a:rPr sz="1575" b="0">
                          <a:solidFill>
                            <a:srgbClr val="183044"/>
                          </a:solidFill>
                          <a:latin typeface="Arial"/>
                          <a:ea typeface="Arial"/>
                          <a:cs typeface="Arial"/>
                        </a:rPr>
                        <a:t>BMI variance</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40.34</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24.59</a:t>
                      </a:r>
                    </a:p>
                  </a:txBody>
                  <a:tcPr marL="91440" marR="91440" marT="45720" marB="45720">
                    <a:solidFill>
                      <a:srgbClr val="FFFFFF"/>
                    </a:solidFill>
                  </a:tcPr>
                </a:tc>
              </a:tr>
              <a:tr h="476250">
                <a:tc>
                  <a:txBody>
                    <a:bodyPr>
                      <a:noAutofit/>
                    </a:bodyPr>
                    <a:lstStyle/>
                    <a:p>
                      <a:pPr algn="l"/>
                      <a:r>
                        <a:rPr sz="1575" b="0">
                          <a:solidFill>
                            <a:srgbClr val="183044"/>
                          </a:solidFill>
                          <a:latin typeface="Arial"/>
                          <a:ea typeface="Arial"/>
                          <a:cs typeface="Arial"/>
                        </a:rPr>
                        <a:t>Positive status</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15.63%</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14.62%</a:t>
                      </a:r>
                    </a:p>
                  </a:txBody>
                  <a:tcPr marL="91440" marR="91440" marT="45720" marB="45720">
                    <a:solidFill>
                      <a:srgbClr val="F0F5F7"/>
                    </a:solidFill>
                  </a:tcPr>
                </a:tc>
              </a:tr>
              <a:tr h="476250">
                <a:tc>
                  <a:txBody>
                    <a:bodyPr>
                      <a:noAutofit/>
                    </a:bodyPr>
                    <a:lstStyle/>
                    <a:p>
                      <a:pPr algn="l"/>
                      <a:r>
                        <a:rPr sz="1575" b="0">
                          <a:solidFill>
                            <a:srgbClr val="183044"/>
                          </a:solidFill>
                          <a:latin typeface="Arial"/>
                          <a:ea typeface="Arial"/>
                          <a:cs typeface="Arial"/>
                        </a:rPr>
                        <a:t>Pearson r</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0.102</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0.056</a:t>
                      </a:r>
                    </a:p>
                  </a:txBody>
                  <a:tcPr marL="91440" marR="91440" marT="45720" marB="45720">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33A9FDA4-6824-4918-87CD-1AB1DB8528EB}"/>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Filtering lowers both average BMI and the positive-status proportion. It changes the sample composition.</a:t>
            </a:r>
          </a:p>
        </p:txBody>
      </p:sp>
      <p:sp>
        <p:nvSpPr>
          <p:cNvPr id="6" name="text">
            <a:extLst xmlns:a="http://schemas.openxmlformats.org/drawingml/2006/main">
              <a:ext uri="{FF2B5EF4-FFF2-40B4-BE49-F238E27FC236}">
                <a16:creationId xmlns:a16="http://schemas.microsoft.com/office/drawing/2014/main" id="{06371709-C360-463B-A52D-D643A41A45AA}"/>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07</a:t>
            </a:r>
          </a:p>
        </p:txBody>
      </p:sp>
    </p:spTree>
    <p:extLst>
      <p:ext uri="{BB962C8B-B14F-4D97-AF65-F5344CB8AC3E}">
        <p14:creationId xmlns:p14="http://schemas.microsoft.com/office/powerpoint/2010/main" val="75478299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D1FCCC98-1A30-414D-92B4-434603C53C4D}"/>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Summary statistics and variance</a:t>
            </a:r>
          </a:p>
        </p:txBody>
      </p:sp>
      <p:sp>
        <p:nvSpPr>
          <p:cNvPr id="2" name="text">
            <a:extLst xmlns:a="http://schemas.openxmlformats.org/drawingml/2006/main">
              <a:ext uri="{FF2B5EF4-FFF2-40B4-BE49-F238E27FC236}">
                <a16:creationId xmlns:a16="http://schemas.microsoft.com/office/drawing/2014/main" id="{06FF1E91-7335-4A49-8035-C282868A6753}"/>
              </a:ext>
            </a:extLst>
          </p:cNvPr>
          <p:cNvSpPr>
            <a:spLocks xmlns:a="http://schemas.openxmlformats.org/drawingml/2006/main" noGrp="1"/>
          </p:cNvSpPr>
          <p:nvPr/>
        </p:nvSpPr>
        <p:spPr>
          <a:xfrm xmlns:a="http://schemas.openxmlformats.org/drawingml/2006/main">
            <a:off x="609600" y="11049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BMI has a right tail. Poor-health day counts have median zero and substantial variation.</a:t>
            </a:r>
          </a:p>
        </p:txBody>
      </p:sp>
      <p:pic>
        <p:nvPicPr>
          <p:cNvPr id="3" name="">
            <a:extLst xmlns:a="http://schemas.openxmlformats.org/drawingml/2006/main">
              <a:ext uri="{FF2B5EF4-FFF2-40B4-BE49-F238E27FC236}">
                <a16:creationId xmlns:a16="http://schemas.microsoft.com/office/drawing/2014/main" id="{6ACD7C68-944C-4927-A6CB-E7CE1FE16B88}"/>
              </a:ext>
            </a:extLst>
          </p:cNvPr>
          <p:cNvPicPr>
            <a:picLocks xmlns:a="http://schemas.openxmlformats.org/drawingml/2006/main" noChangeAspect="1"/>
          </p:cNvPicPr>
          <p:nvPr/>
        </p:nvPicPr>
        <p:blipFill>
          <a:blip xmlns:r="http://schemas.openxmlformats.org/officeDocument/2006/relationships" xmlns:a="http://schemas.openxmlformats.org/drawingml/2006/main" r:embed="Rf981ff87647b46f5"/>
          <a:stretch xmlns:a="http://schemas.openxmlformats.org/drawingml/2006/main"/>
        </p:blipFill>
        <p:spPr>
          <a:xfrm xmlns:a="http://schemas.openxmlformats.org/drawingml/2006/main">
            <a:off x="770021" y="2286000"/>
            <a:ext cx="5489408" cy="3476625"/>
          </a:xfrm>
          <a:prstGeom xmlns:a="http://schemas.openxmlformats.org/drawingml/2006/main" prst="rect">
            <a:avLst/>
          </a:prstGeom>
        </p:spPr>
      </p:pic>
      <p:graphicFrame>
        <p:nvGraphicFramePr>
          <p:cNvPr id="4" name="">
            <a:extLst xmlns:a="http://schemas.openxmlformats.org/drawingml/2006/main">
              <a:ext uri="{FF2B5EF4-FFF2-40B4-BE49-F238E27FC236}">
                <a16:creationId xmlns:a16="http://schemas.microsoft.com/office/drawing/2014/main" id="{7810AAA0-4DC4-4E7C-8A1E-1205F4B0ACD3}"/>
              </a:ext>
            </a:extLst>
          </p:cNvPr>
          <p:cNvGraphicFramePr/>
          <p:nvPr/>
        </p:nvGraphicFramePr>
        <p:xfrm>
          <a:off xmlns:a="http://schemas.openxmlformats.org/drawingml/2006/main" x="6991350" y="2324100"/>
          <a:ext xmlns:a="http://schemas.openxmlformats.org/drawingml/2006/main" cx="4667250" cy="1905000"/>
        </p:xfrm>
        <a:graphic xmlns:a="http://schemas.openxmlformats.org/drawingml/2006/main">
          <a:graphicData uri="http://schemas.openxmlformats.org/drawingml/2006/table">
            <a:tbl>
              <a:tblPr firstRow="1" bandRow="1"/>
              <a:tblGrid>
                <a:gridCol w="1428750"/>
                <a:gridCol w="809625"/>
                <a:gridCol w="809625"/>
                <a:gridCol w="809625"/>
                <a:gridCol w="809625"/>
              </a:tblGrid>
              <a:tr h="476250">
                <a:tc>
                  <a:txBody>
                    <a:bodyPr>
                      <a:noAutofit/>
                    </a:bodyPr>
                    <a:lstStyle/>
                    <a:p>
                      <a:pPr algn="l"/>
                      <a:r>
                        <a:rPr sz="1425" b="1">
                          <a:solidFill>
                            <a:srgbClr val="FFFFFF"/>
                          </a:solidFill>
                          <a:latin typeface="Arial"/>
                          <a:ea typeface="Arial"/>
                          <a:cs typeface="Arial"/>
                        </a:rPr>
                        <a:t>Variable</a:t>
                      </a:r>
                    </a:p>
                  </a:txBody>
                  <a:tcPr marL="91440" marR="91440" marT="45720" marB="45720">
                    <a:solidFill>
                      <a:srgbClr val="176D8C"/>
                    </a:solidFill>
                  </a:tcPr>
                </a:tc>
                <a:tc>
                  <a:txBody>
                    <a:bodyPr>
                      <a:noAutofit/>
                    </a:bodyPr>
                    <a:lstStyle/>
                    <a:p>
                      <a:pPr algn="ctr"/>
                      <a:r>
                        <a:rPr sz="1425" b="1">
                          <a:solidFill>
                            <a:srgbClr val="FFFFFF"/>
                          </a:solidFill>
                          <a:latin typeface="Arial"/>
                          <a:ea typeface="Arial"/>
                          <a:cs typeface="Arial"/>
                        </a:rPr>
                        <a:t>Mean</a:t>
                      </a:r>
                    </a:p>
                  </a:txBody>
                  <a:tcPr marL="91440" marR="91440" marT="45720" marB="45720">
                    <a:solidFill>
                      <a:srgbClr val="176D8C"/>
                    </a:solidFill>
                  </a:tcPr>
                </a:tc>
                <a:tc>
                  <a:txBody>
                    <a:bodyPr>
                      <a:noAutofit/>
                    </a:bodyPr>
                    <a:lstStyle/>
                    <a:p>
                      <a:pPr algn="ctr"/>
                      <a:r>
                        <a:rPr sz="1425" b="1">
                          <a:solidFill>
                            <a:srgbClr val="FFFFFF"/>
                          </a:solidFill>
                          <a:latin typeface="Arial"/>
                          <a:ea typeface="Arial"/>
                          <a:cs typeface="Arial"/>
                        </a:rPr>
                        <a:t>Median</a:t>
                      </a:r>
                    </a:p>
                  </a:txBody>
                  <a:tcPr marL="91440" marR="91440" marT="45720" marB="45720">
                    <a:solidFill>
                      <a:srgbClr val="176D8C"/>
                    </a:solidFill>
                  </a:tcPr>
                </a:tc>
                <a:tc>
                  <a:txBody>
                    <a:bodyPr>
                      <a:noAutofit/>
                    </a:bodyPr>
                    <a:lstStyle/>
                    <a:p>
                      <a:pPr algn="ctr"/>
                      <a:r>
                        <a:rPr sz="1425" b="1">
                          <a:solidFill>
                            <a:srgbClr val="FFFFFF"/>
                          </a:solidFill>
                          <a:latin typeface="Arial"/>
                          <a:ea typeface="Arial"/>
                          <a:cs typeface="Arial"/>
                        </a:rPr>
                        <a:t>SD</a:t>
                      </a:r>
                    </a:p>
                  </a:txBody>
                  <a:tcPr marL="91440" marR="91440" marT="45720" marB="45720">
                    <a:solidFill>
                      <a:srgbClr val="176D8C"/>
                    </a:solidFill>
                  </a:tcPr>
                </a:tc>
                <a:tc>
                  <a:txBody>
                    <a:bodyPr>
                      <a:noAutofit/>
                    </a:bodyPr>
                    <a:lstStyle/>
                    <a:p>
                      <a:pPr algn="ctr"/>
                      <a:r>
                        <a:rPr sz="1425" b="1">
                          <a:solidFill>
                            <a:srgbClr val="FFFFFF"/>
                          </a:solidFill>
                          <a:latin typeface="Arial"/>
                          <a:ea typeface="Arial"/>
                          <a:cs typeface="Arial"/>
                        </a:rPr>
                        <a:t>Var.</a:t>
                      </a:r>
                    </a:p>
                  </a:txBody>
                  <a:tcPr marL="91440" marR="91440" marT="45720" marB="45720">
                    <a:solidFill>
                      <a:srgbClr val="176D8C"/>
                    </a:solidFill>
                  </a:tcPr>
                </a:tc>
              </a:tr>
              <a:tr h="476250">
                <a:tc>
                  <a:txBody>
                    <a:bodyPr>
                      <a:noAutofit/>
                    </a:bodyPr>
                    <a:lstStyle/>
                    <a:p>
                      <a:pPr algn="l"/>
                      <a:r>
                        <a:rPr sz="1425" b="0">
                          <a:solidFill>
                            <a:srgbClr val="183044"/>
                          </a:solidFill>
                          <a:latin typeface="Arial"/>
                          <a:ea typeface="Arial"/>
                          <a:cs typeface="Arial"/>
                        </a:rPr>
                        <a:t>BMI</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28.40</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27</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6.35</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40.34</a:t>
                      </a:r>
                    </a:p>
                  </a:txBody>
                  <a:tcPr marL="91440" marR="91440" marT="45720" marB="45720">
                    <a:solidFill>
                      <a:srgbClr val="FFFFFF"/>
                    </a:solidFill>
                  </a:tcPr>
                </a:tc>
              </a:tr>
              <a:tr h="476250">
                <a:tc>
                  <a:txBody>
                    <a:bodyPr>
                      <a:noAutofit/>
                    </a:bodyPr>
                    <a:lstStyle/>
                    <a:p>
                      <a:pPr algn="l"/>
                      <a:r>
                        <a:rPr sz="1425" b="0">
                          <a:solidFill>
                            <a:srgbClr val="183044"/>
                          </a:solidFill>
                          <a:latin typeface="Arial"/>
                          <a:ea typeface="Arial"/>
                          <a:cs typeface="Arial"/>
                        </a:rPr>
                        <a:t>Mental days</a:t>
                      </a:r>
                    </a:p>
                  </a:txBody>
                  <a:tcPr marL="91440" marR="91440" marT="45720" marB="45720">
                    <a:solidFill>
                      <a:srgbClr val="F0F5F7"/>
                    </a:solidFill>
                  </a:tcPr>
                </a:tc>
                <a:tc>
                  <a:txBody>
                    <a:bodyPr>
                      <a:noAutofit/>
                    </a:bodyPr>
                    <a:lstStyle/>
                    <a:p>
                      <a:pPr algn="ctr"/>
                      <a:r>
                        <a:rPr sz="1425" b="0">
                          <a:solidFill>
                            <a:srgbClr val="183044"/>
                          </a:solidFill>
                          <a:latin typeface="Arial"/>
                          <a:ea typeface="Arial"/>
                          <a:cs typeface="Arial"/>
                        </a:rPr>
                        <a:t>3.26</a:t>
                      </a:r>
                    </a:p>
                  </a:txBody>
                  <a:tcPr marL="91440" marR="91440" marT="45720" marB="45720">
                    <a:solidFill>
                      <a:srgbClr val="F0F5F7"/>
                    </a:solidFill>
                  </a:tcPr>
                </a:tc>
                <a:tc>
                  <a:txBody>
                    <a:bodyPr>
                      <a:noAutofit/>
                    </a:bodyPr>
                    <a:lstStyle/>
                    <a:p>
                      <a:pPr algn="ctr"/>
                      <a:r>
                        <a:rPr sz="1425" b="0">
                          <a:solidFill>
                            <a:srgbClr val="183044"/>
                          </a:solidFill>
                          <a:latin typeface="Arial"/>
                          <a:ea typeface="Arial"/>
                          <a:cs typeface="Arial"/>
                        </a:rPr>
                        <a:t>0</a:t>
                      </a:r>
                    </a:p>
                  </a:txBody>
                  <a:tcPr marL="91440" marR="91440" marT="45720" marB="45720">
                    <a:solidFill>
                      <a:srgbClr val="F0F5F7"/>
                    </a:solidFill>
                  </a:tcPr>
                </a:tc>
                <a:tc>
                  <a:txBody>
                    <a:bodyPr>
                      <a:noAutofit/>
                    </a:bodyPr>
                    <a:lstStyle/>
                    <a:p>
                      <a:pPr algn="ctr"/>
                      <a:r>
                        <a:rPr sz="1425" b="0">
                          <a:solidFill>
                            <a:srgbClr val="183044"/>
                          </a:solidFill>
                          <a:latin typeface="Arial"/>
                          <a:ea typeface="Arial"/>
                          <a:cs typeface="Arial"/>
                        </a:rPr>
                        <a:t>7.39</a:t>
                      </a:r>
                    </a:p>
                  </a:txBody>
                  <a:tcPr marL="91440" marR="91440" marT="45720" marB="45720">
                    <a:solidFill>
                      <a:srgbClr val="F0F5F7"/>
                    </a:solidFill>
                  </a:tcPr>
                </a:tc>
                <a:tc>
                  <a:txBody>
                    <a:bodyPr>
                      <a:noAutofit/>
                    </a:bodyPr>
                    <a:lstStyle/>
                    <a:p>
                      <a:pPr algn="ctr"/>
                      <a:r>
                        <a:rPr sz="1425" b="0">
                          <a:solidFill>
                            <a:srgbClr val="183044"/>
                          </a:solidFill>
                          <a:latin typeface="Arial"/>
                          <a:ea typeface="Arial"/>
                          <a:cs typeface="Arial"/>
                        </a:rPr>
                        <a:t>54.67</a:t>
                      </a:r>
                    </a:p>
                  </a:txBody>
                  <a:tcPr marL="91440" marR="91440" marT="45720" marB="45720">
                    <a:solidFill>
                      <a:srgbClr val="F0F5F7"/>
                    </a:solidFill>
                  </a:tcPr>
                </a:tc>
              </a:tr>
              <a:tr h="476250">
                <a:tc>
                  <a:txBody>
                    <a:bodyPr>
                      <a:noAutofit/>
                    </a:bodyPr>
                    <a:lstStyle/>
                    <a:p>
                      <a:pPr algn="l"/>
                      <a:r>
                        <a:rPr sz="1425" b="0">
                          <a:solidFill>
                            <a:srgbClr val="183044"/>
                          </a:solidFill>
                          <a:latin typeface="Arial"/>
                          <a:ea typeface="Arial"/>
                          <a:cs typeface="Arial"/>
                        </a:rPr>
                        <a:t>Physical days</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4.15</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0</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8.62</a:t>
                      </a:r>
                    </a:p>
                  </a:txBody>
                  <a:tcPr marL="91440" marR="91440" marT="45720" marB="45720">
                    <a:solidFill>
                      <a:srgbClr val="FFFFFF"/>
                    </a:solidFill>
                  </a:tcPr>
                </a:tc>
                <a:tc>
                  <a:txBody>
                    <a:bodyPr>
                      <a:noAutofit/>
                    </a:bodyPr>
                    <a:lstStyle/>
                    <a:p>
                      <a:pPr algn="ctr"/>
                      <a:r>
                        <a:rPr sz="1425" b="0">
                          <a:solidFill>
                            <a:srgbClr val="183044"/>
                          </a:solidFill>
                          <a:latin typeface="Arial"/>
                          <a:ea typeface="Arial"/>
                          <a:cs typeface="Arial"/>
                        </a:rPr>
                        <a:t>74.24</a:t>
                      </a:r>
                    </a:p>
                  </a:txBody>
                  <a:tcPr marL="91440" marR="91440" marT="45720" marB="45720">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9689E5B0-3995-452B-98E8-C31221505E09}"/>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Variance measures squared spread. Standard deviation returns that spread to the original units.</a:t>
            </a:r>
          </a:p>
        </p:txBody>
      </p:sp>
      <p:sp>
        <p:nvSpPr>
          <p:cNvPr id="6" name="text">
            <a:extLst xmlns:a="http://schemas.openxmlformats.org/drawingml/2006/main">
              <a:ext uri="{FF2B5EF4-FFF2-40B4-BE49-F238E27FC236}">
                <a16:creationId xmlns:a16="http://schemas.microsoft.com/office/drawing/2014/main" id="{D934E494-BABD-4A8B-9EAA-F6BC031899B2}"/>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08</a:t>
            </a:r>
          </a:p>
        </p:txBody>
      </p:sp>
    </p:spTree>
    <p:extLst>
      <p:ext uri="{BB962C8B-B14F-4D97-AF65-F5344CB8AC3E}">
        <p14:creationId xmlns:p14="http://schemas.microsoft.com/office/powerpoint/2010/main" val="74977753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E2DEA9E1-087D-4415-AF89-0FF7B913709E}"/>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Graphical representations of categories</a:t>
            </a:r>
          </a:p>
        </p:txBody>
      </p:sp>
      <p:sp>
        <p:nvSpPr>
          <p:cNvPr id="2" name="text">
            <a:extLst xmlns:a="http://schemas.openxmlformats.org/drawingml/2006/main">
              <a:ext uri="{FF2B5EF4-FFF2-40B4-BE49-F238E27FC236}">
                <a16:creationId xmlns:a16="http://schemas.microsoft.com/office/drawing/2014/main" id="{62EF3106-5FB0-4EFD-8C5C-84249CACF4F7}"/>
              </a:ext>
            </a:extLst>
          </p:cNvPr>
          <p:cNvSpPr>
            <a:spLocks xmlns:a="http://schemas.openxmlformats.org/drawingml/2006/main" noGrp="1"/>
          </p:cNvSpPr>
          <p:nvPr/>
        </p:nvSpPr>
        <p:spPr>
          <a:xfrm xmlns:a="http://schemas.openxmlformats.org/drawingml/2006/main">
            <a:off x="609600" y="1123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Bar charts compare education counts. A pie chart demonstrates the course requirement for categorical proportions.</a:t>
            </a:r>
          </a:p>
        </p:txBody>
      </p:sp>
      <p:pic>
        <p:nvPicPr>
          <p:cNvPr id="3" name="">
            <a:extLst xmlns:a="http://schemas.openxmlformats.org/drawingml/2006/main">
              <a:ext uri="{FF2B5EF4-FFF2-40B4-BE49-F238E27FC236}">
                <a16:creationId xmlns:a16="http://schemas.microsoft.com/office/drawing/2014/main" id="{B7F5147C-1A2A-46FF-8B95-7B00A600E944}"/>
              </a:ext>
            </a:extLst>
          </p:cNvPr>
          <p:cNvPicPr>
            <a:picLocks xmlns:a="http://schemas.openxmlformats.org/drawingml/2006/main" noChangeAspect="1"/>
          </p:cNvPicPr>
          <p:nvPr/>
        </p:nvPicPr>
        <p:blipFill>
          <a:blip xmlns:r="http://schemas.openxmlformats.org/officeDocument/2006/relationships" xmlns:a="http://schemas.openxmlformats.org/drawingml/2006/main" r:embed="R2446b616f4564fba"/>
          <a:stretch xmlns:a="http://schemas.openxmlformats.org/drawingml/2006/main"/>
        </p:blipFill>
        <p:spPr>
          <a:xfrm xmlns:a="http://schemas.openxmlformats.org/drawingml/2006/main">
            <a:off x="547938" y="2190750"/>
            <a:ext cx="5323974" cy="33718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2C93511C-5509-4A73-B182-6D40C86C078C}"/>
              </a:ext>
            </a:extLst>
          </p:cNvPr>
          <p:cNvPicPr>
            <a:picLocks xmlns:a="http://schemas.openxmlformats.org/drawingml/2006/main" noChangeAspect="1"/>
          </p:cNvPicPr>
          <p:nvPr/>
        </p:nvPicPr>
        <p:blipFill>
          <a:blip xmlns:r="http://schemas.openxmlformats.org/officeDocument/2006/relationships" xmlns:a="http://schemas.openxmlformats.org/drawingml/2006/main" r:embed="Rd2658f8bd16b4ff2"/>
          <a:stretch xmlns:a="http://schemas.openxmlformats.org/drawingml/2006/main"/>
        </p:blipFill>
        <p:spPr>
          <a:xfrm xmlns:a="http://schemas.openxmlformats.org/drawingml/2006/main">
            <a:off x="6339138" y="2190750"/>
            <a:ext cx="5323974" cy="337185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AB049445-D0FB-4118-93B0-8F4998BB842A}"/>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Group sizes matter. The no-school education category contains only two respondents.</a:t>
            </a:r>
          </a:p>
        </p:txBody>
      </p:sp>
      <p:sp>
        <p:nvSpPr>
          <p:cNvPr id="6" name="text">
            <a:extLst xmlns:a="http://schemas.openxmlformats.org/drawingml/2006/main">
              <a:ext uri="{FF2B5EF4-FFF2-40B4-BE49-F238E27FC236}">
                <a16:creationId xmlns:a16="http://schemas.microsoft.com/office/drawing/2014/main" id="{6227BEE6-251D-40D6-9B3B-6D56CE42938F}"/>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09</a:t>
            </a:r>
          </a:p>
        </p:txBody>
      </p:sp>
    </p:spTree>
    <p:extLst>
      <p:ext uri="{BB962C8B-B14F-4D97-AF65-F5344CB8AC3E}">
        <p14:creationId xmlns:p14="http://schemas.microsoft.com/office/powerpoint/2010/main" val="90440535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B3AE4C88-7A17-4E26-A068-ED9EB18AC97C}"/>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BMI across health-status groups</a:t>
            </a:r>
          </a:p>
        </p:txBody>
      </p:sp>
      <p:sp>
        <p:nvSpPr>
          <p:cNvPr id="2" name="text">
            <a:extLst xmlns:a="http://schemas.openxmlformats.org/drawingml/2006/main">
              <a:ext uri="{FF2B5EF4-FFF2-40B4-BE49-F238E27FC236}">
                <a16:creationId xmlns:a16="http://schemas.microsoft.com/office/drawing/2014/main" id="{98964D6E-E43D-44D4-A641-16E670327E55}"/>
              </a:ext>
            </a:extLst>
          </p:cNvPr>
          <p:cNvSpPr>
            <a:spLocks xmlns:a="http://schemas.openxmlformats.org/drawingml/2006/main" noGrp="1"/>
          </p:cNvSpPr>
          <p:nvPr/>
        </p:nvSpPr>
        <p:spPr>
          <a:xfrm xmlns:a="http://schemas.openxmlformats.org/drawingml/2006/main">
            <a:off x="609600" y="1123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Mean BMI is 27.72 for no diabetes, 32.85 for prediabetes and 31.98 for diabetes. The distributions overlap.</a:t>
            </a:r>
          </a:p>
        </p:txBody>
      </p:sp>
      <p:pic>
        <p:nvPicPr>
          <p:cNvPr id="3" name="">
            <a:extLst xmlns:a="http://schemas.openxmlformats.org/drawingml/2006/main">
              <a:ext uri="{FF2B5EF4-FFF2-40B4-BE49-F238E27FC236}">
                <a16:creationId xmlns:a16="http://schemas.microsoft.com/office/drawing/2014/main" id="{6DBF8660-F700-450B-ACD0-F29A5ECD8618}"/>
              </a:ext>
            </a:extLst>
          </p:cNvPr>
          <p:cNvPicPr>
            <a:picLocks xmlns:a="http://schemas.openxmlformats.org/drawingml/2006/main" noChangeAspect="1"/>
          </p:cNvPicPr>
          <p:nvPr/>
        </p:nvPicPr>
        <p:blipFill>
          <a:blip xmlns:r="http://schemas.openxmlformats.org/officeDocument/2006/relationships" xmlns:a="http://schemas.openxmlformats.org/drawingml/2006/main" r:embed="R925b86f716454f45"/>
          <a:stretch xmlns:a="http://schemas.openxmlformats.org/drawingml/2006/main"/>
        </p:blipFill>
        <p:spPr>
          <a:xfrm xmlns:a="http://schemas.openxmlformats.org/drawingml/2006/main">
            <a:off x="547938" y="2190750"/>
            <a:ext cx="5323974" cy="33718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F5ED18CE-8F65-4BFA-8298-262819EBFE63}"/>
              </a:ext>
            </a:extLst>
          </p:cNvPr>
          <p:cNvPicPr>
            <a:picLocks xmlns:a="http://schemas.openxmlformats.org/drawingml/2006/main" noChangeAspect="1"/>
          </p:cNvPicPr>
          <p:nvPr/>
        </p:nvPicPr>
        <p:blipFill>
          <a:blip xmlns:r="http://schemas.openxmlformats.org/officeDocument/2006/relationships" xmlns:a="http://schemas.openxmlformats.org/drawingml/2006/main" r:embed="Rb399e54c66fa4c55"/>
          <a:stretch xmlns:a="http://schemas.openxmlformats.org/drawingml/2006/main"/>
        </p:blipFill>
        <p:spPr>
          <a:xfrm xmlns:a="http://schemas.openxmlformats.org/drawingml/2006/main">
            <a:off x="6339138" y="2190750"/>
            <a:ext cx="5323974" cy="337185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49F30D6F-4609-4925-BB02-9204B45BF7CE}"/>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The prediabetes group has only 48 respondents. Group differences describe associations.</a:t>
            </a:r>
          </a:p>
        </p:txBody>
      </p:sp>
      <p:sp>
        <p:nvSpPr>
          <p:cNvPr id="6" name="text">
            <a:extLst xmlns:a="http://schemas.openxmlformats.org/drawingml/2006/main">
              <a:ext uri="{FF2B5EF4-FFF2-40B4-BE49-F238E27FC236}">
                <a16:creationId xmlns:a16="http://schemas.microsoft.com/office/drawing/2014/main" id="{AD181346-D0A5-4C43-BE8F-621D6D8851A4}"/>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10</a:t>
            </a:r>
          </a:p>
        </p:txBody>
      </p:sp>
    </p:spTree>
    <p:extLst>
      <p:ext uri="{BB962C8B-B14F-4D97-AF65-F5344CB8AC3E}">
        <p14:creationId xmlns:p14="http://schemas.microsoft.com/office/powerpoint/2010/main" val="8401856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E7543AEE-B2F6-454E-8C0C-5BBBA314C70E}"/>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Poor physical health days</a:t>
            </a:r>
          </a:p>
        </p:txBody>
      </p:sp>
      <p:pic>
        <p:nvPicPr>
          <p:cNvPr id="2" name="">
            <a:extLst xmlns:a="http://schemas.openxmlformats.org/drawingml/2006/main">
              <a:ext uri="{FF2B5EF4-FFF2-40B4-BE49-F238E27FC236}">
                <a16:creationId xmlns:a16="http://schemas.microsoft.com/office/drawing/2014/main" id="{BD0F2336-9936-4750-8C69-8B1B624B8790}"/>
              </a:ext>
            </a:extLst>
          </p:cNvPr>
          <p:cNvPicPr>
            <a:picLocks xmlns:a="http://schemas.openxmlformats.org/drawingml/2006/main" noChangeAspect="1"/>
          </p:cNvPicPr>
          <p:nvPr/>
        </p:nvPicPr>
        <p:blipFill>
          <a:blip xmlns:r="http://schemas.openxmlformats.org/officeDocument/2006/relationships" xmlns:a="http://schemas.openxmlformats.org/drawingml/2006/main" r:embed="R4c57e8d2a39d41f5"/>
          <a:stretch xmlns:a="http://schemas.openxmlformats.org/drawingml/2006/main"/>
        </p:blipFill>
        <p:spPr>
          <a:xfrm xmlns:a="http://schemas.openxmlformats.org/drawingml/2006/main">
            <a:off x="906379" y="1409700"/>
            <a:ext cx="6797842" cy="4305300"/>
          </a:xfrm>
          <a:prstGeom xmlns:a="http://schemas.openxmlformats.org/drawingml/2006/main" prst="rect">
            <a:avLst/>
          </a:prstGeom>
        </p:spPr>
      </p:pic>
      <p:sp>
        <p:nvSpPr>
          <p:cNvPr id="3" name="text">
            <a:extLst xmlns:a="http://schemas.openxmlformats.org/drawingml/2006/main">
              <a:ext uri="{FF2B5EF4-FFF2-40B4-BE49-F238E27FC236}">
                <a16:creationId xmlns:a16="http://schemas.microsoft.com/office/drawing/2014/main" id="{5F65EB1C-375E-4111-A199-AF68DD3B8374}"/>
              </a:ext>
            </a:extLst>
          </p:cNvPr>
          <p:cNvSpPr>
            <a:spLocks xmlns:a="http://schemas.openxmlformats.org/drawingml/2006/main" noGrp="1"/>
          </p:cNvSpPr>
          <p:nvPr/>
        </p:nvSpPr>
        <p:spPr>
          <a:xfrm xmlns:a="http://schemas.openxmlformats.org/drawingml/2006/main">
            <a:off x="8572500" y="1466850"/>
            <a:ext cx="31242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62.9% report zero poor-health days.</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7.4% report all 30 days.</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The mean is 4.15 days, while variance is 74.24 days².</a:t>
            </a:r>
          </a:p>
        </p:txBody>
      </p:sp>
      <p:sp>
        <p:nvSpPr>
          <p:cNvPr id="4" name="text">
            <a:extLst xmlns:a="http://schemas.openxmlformats.org/drawingml/2006/main">
              <a:ext uri="{FF2B5EF4-FFF2-40B4-BE49-F238E27FC236}">
                <a16:creationId xmlns:a16="http://schemas.microsoft.com/office/drawing/2014/main" id="{34BA64D1-8731-46BA-9E2D-E66CC6BCC928}"/>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The spikes at zero and 30 are important features of this bounded count.</a:t>
            </a:r>
          </a:p>
        </p:txBody>
      </p:sp>
      <p:sp>
        <p:nvSpPr>
          <p:cNvPr id="5" name="text">
            <a:extLst xmlns:a="http://schemas.openxmlformats.org/drawingml/2006/main">
              <a:ext uri="{FF2B5EF4-FFF2-40B4-BE49-F238E27FC236}">
                <a16:creationId xmlns:a16="http://schemas.microsoft.com/office/drawing/2014/main" id="{FBE83ABE-5473-400E-A688-EC65B9BDCBCD}"/>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11</a:t>
            </a:r>
          </a:p>
        </p:txBody>
      </p:sp>
    </p:spTree>
    <p:extLst>
      <p:ext uri="{BB962C8B-B14F-4D97-AF65-F5344CB8AC3E}">
        <p14:creationId xmlns:p14="http://schemas.microsoft.com/office/powerpoint/2010/main" val="43027052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0F951A11-334D-4185-ACD2-E9E6B4BAA1B0}"/>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Correlation and simple regression</a:t>
            </a:r>
          </a:p>
        </p:txBody>
      </p:sp>
      <p:sp>
        <p:nvSpPr>
          <p:cNvPr id="2" name="text">
            <a:extLst xmlns:a="http://schemas.openxmlformats.org/drawingml/2006/main">
              <a:ext uri="{FF2B5EF4-FFF2-40B4-BE49-F238E27FC236}">
                <a16:creationId xmlns:a16="http://schemas.microsoft.com/office/drawing/2014/main" id="{73EF11C3-024D-413B-8041-DB19EE8FBEB9}"/>
              </a:ext>
            </a:extLst>
          </p:cNvPr>
          <p:cNvSpPr>
            <a:spLocks xmlns:a="http://schemas.openxmlformats.org/drawingml/2006/main" noGrp="1"/>
          </p:cNvSpPr>
          <p:nvPr/>
        </p:nvSpPr>
        <p:spPr>
          <a:xfrm xmlns:a="http://schemas.openxmlformats.org/drawingml/2006/main">
            <a:off x="609600" y="11049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Pearson r = 0.102, with 95% CI 0.066 to 0.137.</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BMI = 28.09 + 0.0749 × PhysHlth.</a:t>
            </a:r>
          </a:p>
        </p:txBody>
      </p:sp>
      <p:pic>
        <p:nvPicPr>
          <p:cNvPr id="3" name="">
            <a:extLst xmlns:a="http://schemas.openxmlformats.org/drawingml/2006/main">
              <a:ext uri="{FF2B5EF4-FFF2-40B4-BE49-F238E27FC236}">
                <a16:creationId xmlns:a16="http://schemas.microsoft.com/office/drawing/2014/main" id="{1F01CCA1-B9DF-4A5A-B029-D22B334FC062}"/>
              </a:ext>
            </a:extLst>
          </p:cNvPr>
          <p:cNvPicPr>
            <a:picLocks xmlns:a="http://schemas.openxmlformats.org/drawingml/2006/main" noChangeAspect="1"/>
          </p:cNvPicPr>
          <p:nvPr/>
        </p:nvPicPr>
        <p:blipFill>
          <a:blip xmlns:r="http://schemas.openxmlformats.org/officeDocument/2006/relationships" xmlns:a="http://schemas.openxmlformats.org/drawingml/2006/main" r:embed="R21073e46e97549fd"/>
          <a:stretch xmlns:a="http://schemas.openxmlformats.org/drawingml/2006/main"/>
        </p:blipFill>
        <p:spPr>
          <a:xfrm xmlns:a="http://schemas.openxmlformats.org/drawingml/2006/main">
            <a:off x="770021" y="2286000"/>
            <a:ext cx="5489408" cy="3476625"/>
          </a:xfrm>
          <a:prstGeom xmlns:a="http://schemas.openxmlformats.org/drawingml/2006/main" prst="rect">
            <a:avLst/>
          </a:prstGeom>
        </p:spPr>
      </p:pic>
      <p:graphicFrame>
        <p:nvGraphicFramePr>
          <p:cNvPr id="4" name="">
            <a:extLst xmlns:a="http://schemas.openxmlformats.org/drawingml/2006/main">
              <a:ext uri="{FF2B5EF4-FFF2-40B4-BE49-F238E27FC236}">
                <a16:creationId xmlns:a16="http://schemas.microsoft.com/office/drawing/2014/main" id="{02680A08-1545-4C7D-9677-3AB3C262E7CC}"/>
              </a:ext>
            </a:extLst>
          </p:cNvPr>
          <p:cNvGraphicFramePr/>
          <p:nvPr/>
        </p:nvGraphicFramePr>
        <p:xfrm>
          <a:off xmlns:a="http://schemas.openxmlformats.org/drawingml/2006/main" x="6991350" y="2324100"/>
          <a:ext xmlns:a="http://schemas.openxmlformats.org/drawingml/2006/main" cx="4667250" cy="2857500"/>
        </p:xfrm>
        <a:graphic xmlns:a="http://schemas.openxmlformats.org/drawingml/2006/main">
          <a:graphicData uri="http://schemas.openxmlformats.org/drawingml/2006/table">
            <a:tbl>
              <a:tblPr firstRow="1" bandRow="1"/>
              <a:tblGrid>
                <a:gridCol w="2333625"/>
                <a:gridCol w="2333625"/>
              </a:tblGrid>
              <a:tr h="476250">
                <a:tc>
                  <a:txBody>
                    <a:bodyPr>
                      <a:noAutofit/>
                    </a:bodyPr>
                    <a:lstStyle/>
                    <a:p>
                      <a:pPr algn="l"/>
                      <a:r>
                        <a:rPr sz="1575" b="1">
                          <a:solidFill>
                            <a:srgbClr val="FFFFFF"/>
                          </a:solidFill>
                          <a:latin typeface="Arial"/>
                          <a:ea typeface="Arial"/>
                          <a:cs typeface="Arial"/>
                        </a:rPr>
                        <a:t>Statistic</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Result</a:t>
                      </a:r>
                    </a:p>
                  </a:txBody>
                  <a:tcPr marL="91440" marR="91440" marT="45720" marB="45720">
                    <a:solidFill>
                      <a:srgbClr val="176D8C"/>
                    </a:solidFill>
                  </a:tcPr>
                </a:tc>
              </a:tr>
              <a:tr h="476250">
                <a:tc>
                  <a:txBody>
                    <a:bodyPr>
                      <a:noAutofit/>
                    </a:bodyPr>
                    <a:lstStyle/>
                    <a:p>
                      <a:pPr algn="l"/>
                      <a:r>
                        <a:rPr sz="1575" b="0">
                          <a:solidFill>
                            <a:srgbClr val="183044"/>
                          </a:solidFill>
                          <a:latin typeface="Arial"/>
                          <a:ea typeface="Arial"/>
                          <a:cs typeface="Arial"/>
                        </a:rPr>
                        <a:t>Pearson r</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0.102</a:t>
                      </a:r>
                    </a:p>
                  </a:txBody>
                  <a:tcPr marL="91440" marR="91440" marT="45720" marB="45720">
                    <a:solidFill>
                      <a:srgbClr val="FFFFFF"/>
                    </a:solidFill>
                  </a:tcPr>
                </a:tc>
              </a:tr>
              <a:tr h="476250">
                <a:tc>
                  <a:txBody>
                    <a:bodyPr>
                      <a:noAutofit/>
                    </a:bodyPr>
                    <a:lstStyle/>
                    <a:p>
                      <a:pPr algn="l"/>
                      <a:r>
                        <a:rPr sz="1575" b="0">
                          <a:solidFill>
                            <a:srgbClr val="183044"/>
                          </a:solidFill>
                          <a:latin typeface="Arial"/>
                          <a:ea typeface="Arial"/>
                          <a:cs typeface="Arial"/>
                        </a:rPr>
                        <a:t>Spearman r</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0.108</a:t>
                      </a:r>
                    </a:p>
                  </a:txBody>
                  <a:tcPr marL="91440" marR="91440" marT="45720" marB="45720">
                    <a:solidFill>
                      <a:srgbClr val="F0F5F7"/>
                    </a:solidFill>
                  </a:tcPr>
                </a:tc>
              </a:tr>
              <a:tr h="476250">
                <a:tc>
                  <a:txBody>
                    <a:bodyPr>
                      <a:noAutofit/>
                    </a:bodyPr>
                    <a:lstStyle/>
                    <a:p>
                      <a:pPr algn="l"/>
                      <a:r>
                        <a:rPr sz="1575" b="0">
                          <a:solidFill>
                            <a:srgbClr val="183044"/>
                          </a:solidFill>
                          <a:latin typeface="Arial"/>
                          <a:ea typeface="Arial"/>
                          <a:cs typeface="Arial"/>
                        </a:rPr>
                        <a:t>Slope CI</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0.0486 to 0.1012</a:t>
                      </a:r>
                    </a:p>
                  </a:txBody>
                  <a:tcPr marL="91440" marR="91440" marT="45720" marB="45720">
                    <a:solidFill>
                      <a:srgbClr val="FFFFFF"/>
                    </a:solidFill>
                  </a:tcPr>
                </a:tc>
              </a:tr>
              <a:tr h="476250">
                <a:tc>
                  <a:txBody>
                    <a:bodyPr>
                      <a:noAutofit/>
                    </a:bodyPr>
                    <a:lstStyle/>
                    <a:p>
                      <a:pPr algn="l"/>
                      <a:r>
                        <a:rPr sz="1575" b="0">
                          <a:solidFill>
                            <a:srgbClr val="183044"/>
                          </a:solidFill>
                          <a:latin typeface="Arial"/>
                          <a:ea typeface="Arial"/>
                          <a:cs typeface="Arial"/>
                        </a:rPr>
                        <a:t>R²</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1.03%</a:t>
                      </a:r>
                    </a:p>
                  </a:txBody>
                  <a:tcPr marL="91440" marR="91440" marT="45720" marB="45720">
                    <a:solidFill>
                      <a:srgbClr val="F0F5F7"/>
                    </a:solidFill>
                  </a:tcPr>
                </a:tc>
              </a:tr>
              <a:tr h="476250">
                <a:tc>
                  <a:txBody>
                    <a:bodyPr>
                      <a:noAutofit/>
                    </a:bodyPr>
                    <a:lstStyle/>
                    <a:p>
                      <a:pPr algn="l"/>
                      <a:r>
                        <a:rPr sz="1575" b="0">
                          <a:solidFill>
                            <a:srgbClr val="183044"/>
                          </a:solidFill>
                          <a:latin typeface="Arial"/>
                          <a:ea typeface="Arial"/>
                          <a:cs typeface="Arial"/>
                        </a:rPr>
                        <a:t>Slope p</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&lt;0.001</a:t>
                      </a:r>
                    </a:p>
                  </a:txBody>
                  <a:tcPr marL="91440" marR="91440" marT="45720" marB="45720">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EC2F3F73-3C2B-4943-B999-3183717D806A}"/>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A significant association explains only 1.03% of BMI variation.</a:t>
            </a:r>
          </a:p>
        </p:txBody>
      </p:sp>
      <p:sp>
        <p:nvSpPr>
          <p:cNvPr id="6" name="text">
            <a:extLst xmlns:a="http://schemas.openxmlformats.org/drawingml/2006/main">
              <a:ext uri="{FF2B5EF4-FFF2-40B4-BE49-F238E27FC236}">
                <a16:creationId xmlns:a16="http://schemas.microsoft.com/office/drawing/2014/main" id="{938F401D-EB4F-4E65-BD56-E473D3311BF2}"/>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12</a:t>
            </a:r>
          </a:p>
        </p:txBody>
      </p:sp>
    </p:spTree>
    <p:extLst>
      <p:ext uri="{BB962C8B-B14F-4D97-AF65-F5344CB8AC3E}">
        <p14:creationId xmlns:p14="http://schemas.microsoft.com/office/powerpoint/2010/main" val="40833827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078E6AE6-A9A1-46ED-A429-F97DEB850D96}"/>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Multiple linear regression</a:t>
            </a:r>
          </a:p>
        </p:txBody>
      </p:sp>
      <p:sp>
        <p:nvSpPr>
          <p:cNvPr id="2" name="text">
            <a:extLst xmlns:a="http://schemas.openxmlformats.org/drawingml/2006/main">
              <a:ext uri="{FF2B5EF4-FFF2-40B4-BE49-F238E27FC236}">
                <a16:creationId xmlns:a16="http://schemas.microsoft.com/office/drawing/2014/main" id="{3589BB04-D6C8-4C69-9D63-2CDE18997021}"/>
              </a:ext>
            </a:extLst>
          </p:cNvPr>
          <p:cNvSpPr>
            <a:spLocks xmlns:a="http://schemas.openxmlformats.org/drawingml/2006/main" noGrp="1"/>
          </p:cNvSpPr>
          <p:nvPr/>
        </p:nvSpPr>
        <p:spPr>
          <a:xfrm xmlns:a="http://schemas.openxmlformats.org/drawingml/2006/main">
            <a:off x="609600" y="1200150"/>
            <a:ext cx="10953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3044"/>
                </a:solidFill>
                <a:latin typeface="Arial"/>
                <a:ea typeface="Arial"/>
                <a:cs typeface="Arial"/>
              </a:defRPr>
            </a:defPPr>
          </a:lstStyle>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Response: BMI. Predictors: age band, physical activity, income band, education and ever-smoking.</a:t>
            </a:r>
          </a:p>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R² = 6.81%. Adjusted R² = 5.99%.</a:t>
            </a:r>
          </a:p>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Joint tests compare each categorical predictor while keeping the others in the model.</a:t>
            </a:r>
          </a:p>
        </p:txBody>
      </p:sp>
      <p:graphicFrame>
        <p:nvGraphicFramePr>
          <p:cNvPr id="3" name="">
            <a:extLst xmlns:a="http://schemas.openxmlformats.org/drawingml/2006/main">
              <a:ext uri="{FF2B5EF4-FFF2-40B4-BE49-F238E27FC236}">
                <a16:creationId xmlns:a16="http://schemas.microsoft.com/office/drawing/2014/main" id="{ECF921C5-ABF7-44B2-AC3D-8374DEE38203}"/>
              </a:ext>
            </a:extLst>
          </p:cNvPr>
          <p:cNvGraphicFramePr/>
          <p:nvPr/>
        </p:nvGraphicFramePr>
        <p:xfrm>
          <a:off xmlns:a="http://schemas.openxmlformats.org/drawingml/2006/main" x="609600" y="2809875"/>
          <a:ext xmlns:a="http://schemas.openxmlformats.org/drawingml/2006/main" cx="10953750" cy="3000375"/>
        </p:xfrm>
        <a:graphic xmlns:a="http://schemas.openxmlformats.org/drawingml/2006/main">
          <a:graphicData uri="http://schemas.openxmlformats.org/drawingml/2006/table">
            <a:tbl>
              <a:tblPr firstRow="1" bandRow="1"/>
              <a:tblGrid>
                <a:gridCol w="2738438"/>
                <a:gridCol w="2738438"/>
                <a:gridCol w="2738438"/>
                <a:gridCol w="2738438"/>
              </a:tblGrid>
              <a:tr h="500063">
                <a:tc>
                  <a:txBody>
                    <a:bodyPr>
                      <a:noAutofit/>
                    </a:bodyPr>
                    <a:lstStyle/>
                    <a:p>
                      <a:pPr algn="l"/>
                      <a:r>
                        <a:rPr sz="1800" b="1">
                          <a:solidFill>
                            <a:srgbClr val="FFFFFF"/>
                          </a:solidFill>
                          <a:latin typeface="Arial"/>
                          <a:ea typeface="Arial"/>
                          <a:cs typeface="Arial"/>
                        </a:rPr>
                        <a:t>Predictor</a:t>
                      </a:r>
                    </a:p>
                  </a:txBody>
                  <a:tcPr marL="91440" marR="91440" marT="45720" marB="45720">
                    <a:solidFill>
                      <a:srgbClr val="176D8C"/>
                    </a:solidFill>
                  </a:tcPr>
                </a:tc>
                <a:tc>
                  <a:txBody>
                    <a:bodyPr>
                      <a:noAutofit/>
                    </a:bodyPr>
                    <a:lstStyle/>
                    <a:p>
                      <a:pPr algn="ctr"/>
                      <a:r>
                        <a:rPr sz="1800" b="1">
                          <a:solidFill>
                            <a:srgbClr val="FFFFFF"/>
                          </a:solidFill>
                          <a:latin typeface="Arial"/>
                          <a:ea typeface="Arial"/>
                          <a:cs typeface="Arial"/>
                        </a:rPr>
                        <a:t>df</a:t>
                      </a:r>
                    </a:p>
                  </a:txBody>
                  <a:tcPr marL="91440" marR="91440" marT="45720" marB="45720">
                    <a:solidFill>
                      <a:srgbClr val="176D8C"/>
                    </a:solidFill>
                  </a:tcPr>
                </a:tc>
                <a:tc>
                  <a:txBody>
                    <a:bodyPr>
                      <a:noAutofit/>
                    </a:bodyPr>
                    <a:lstStyle/>
                    <a:p>
                      <a:pPr algn="ctr"/>
                      <a:r>
                        <a:rPr sz="1800" b="1">
                          <a:solidFill>
                            <a:srgbClr val="FFFFFF"/>
                          </a:solidFill>
                          <a:latin typeface="Arial"/>
                          <a:ea typeface="Arial"/>
                          <a:cs typeface="Arial"/>
                        </a:rPr>
                        <a:t>Partial F</a:t>
                      </a:r>
                    </a:p>
                  </a:txBody>
                  <a:tcPr marL="91440" marR="91440" marT="45720" marB="45720">
                    <a:solidFill>
                      <a:srgbClr val="176D8C"/>
                    </a:solidFill>
                  </a:tcPr>
                </a:tc>
                <a:tc>
                  <a:txBody>
                    <a:bodyPr>
                      <a:noAutofit/>
                    </a:bodyPr>
                    <a:lstStyle/>
                    <a:p>
                      <a:pPr algn="ctr"/>
                      <a:r>
                        <a:rPr sz="1800" b="1">
                          <a:solidFill>
                            <a:srgbClr val="FFFFFF"/>
                          </a:solidFill>
                          <a:latin typeface="Arial"/>
                          <a:ea typeface="Arial"/>
                          <a:cs typeface="Arial"/>
                        </a:rPr>
                        <a:t>p</a:t>
                      </a:r>
                    </a:p>
                  </a:txBody>
                  <a:tcPr marL="91440" marR="91440" marT="45720" marB="45720">
                    <a:solidFill>
                      <a:srgbClr val="176D8C"/>
                    </a:solidFill>
                  </a:tcPr>
                </a:tc>
              </a:tr>
              <a:tr h="500063">
                <a:tc>
                  <a:txBody>
                    <a:bodyPr>
                      <a:noAutofit/>
                    </a:bodyPr>
                    <a:lstStyle/>
                    <a:p>
                      <a:pPr algn="l"/>
                      <a:r>
                        <a:rPr sz="1800" b="0">
                          <a:solidFill>
                            <a:srgbClr val="183044"/>
                          </a:solidFill>
                          <a:latin typeface="Arial"/>
                          <a:ea typeface="Arial"/>
                          <a:cs typeface="Arial"/>
                        </a:rPr>
                        <a:t>Age</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12</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9.17</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&lt;0.001</a:t>
                      </a:r>
                    </a:p>
                  </a:txBody>
                  <a:tcPr marL="91440" marR="91440" marT="45720" marB="45720">
                    <a:solidFill>
                      <a:srgbClr val="FFFFFF"/>
                    </a:solidFill>
                  </a:tcPr>
                </a:tc>
              </a:tr>
              <a:tr h="500063">
                <a:tc>
                  <a:txBody>
                    <a:bodyPr>
                      <a:noAutofit/>
                    </a:bodyPr>
                    <a:lstStyle/>
                    <a:p>
                      <a:pPr algn="l"/>
                      <a:r>
                        <a:rPr sz="1800" b="0">
                          <a:solidFill>
                            <a:srgbClr val="183044"/>
                          </a:solidFill>
                          <a:latin typeface="Arial"/>
                          <a:ea typeface="Arial"/>
                          <a:cs typeface="Arial"/>
                        </a:rPr>
                        <a:t>PhysActivity</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1</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13.30</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&lt;0.001</a:t>
                      </a:r>
                    </a:p>
                  </a:txBody>
                  <a:tcPr marL="91440" marR="91440" marT="45720" marB="45720">
                    <a:solidFill>
                      <a:srgbClr val="F0F5F7"/>
                    </a:solidFill>
                  </a:tcPr>
                </a:tc>
              </a:tr>
              <a:tr h="500063">
                <a:tc>
                  <a:txBody>
                    <a:bodyPr>
                      <a:noAutofit/>
                    </a:bodyPr>
                    <a:lstStyle/>
                    <a:p>
                      <a:pPr algn="l"/>
                      <a:r>
                        <a:rPr sz="1800" b="0">
                          <a:solidFill>
                            <a:srgbClr val="183044"/>
                          </a:solidFill>
                          <a:latin typeface="Arial"/>
                          <a:ea typeface="Arial"/>
                          <a:cs typeface="Arial"/>
                        </a:rPr>
                        <a:t>Income</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7</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4.43</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&lt;0.001</a:t>
                      </a:r>
                    </a:p>
                  </a:txBody>
                  <a:tcPr marL="91440" marR="91440" marT="45720" marB="45720">
                    <a:solidFill>
                      <a:srgbClr val="FFFFFF"/>
                    </a:solidFill>
                  </a:tcPr>
                </a:tc>
              </a:tr>
              <a:tr h="500063">
                <a:tc>
                  <a:txBody>
                    <a:bodyPr>
                      <a:noAutofit/>
                    </a:bodyPr>
                    <a:lstStyle/>
                    <a:p>
                      <a:pPr algn="l"/>
                      <a:r>
                        <a:rPr sz="1800" b="0">
                          <a:solidFill>
                            <a:srgbClr val="183044"/>
                          </a:solidFill>
                          <a:latin typeface="Arial"/>
                          <a:ea typeface="Arial"/>
                          <a:cs typeface="Arial"/>
                        </a:rPr>
                        <a:t>Education</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5</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8.03</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&lt;0.001</a:t>
                      </a:r>
                    </a:p>
                  </a:txBody>
                  <a:tcPr marL="91440" marR="91440" marT="45720" marB="45720">
                    <a:solidFill>
                      <a:srgbClr val="F0F5F7"/>
                    </a:solidFill>
                  </a:tcPr>
                </a:tc>
              </a:tr>
              <a:tr h="500063">
                <a:tc>
                  <a:txBody>
                    <a:bodyPr>
                      <a:noAutofit/>
                    </a:bodyPr>
                    <a:lstStyle/>
                    <a:p>
                      <a:pPr algn="l"/>
                      <a:r>
                        <a:rPr sz="1800" b="0">
                          <a:solidFill>
                            <a:srgbClr val="183044"/>
                          </a:solidFill>
                          <a:latin typeface="Arial"/>
                          <a:ea typeface="Arial"/>
                          <a:cs typeface="Arial"/>
                        </a:rPr>
                        <a:t>Smoker</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1</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0.07</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0.786</a:t>
                      </a:r>
                    </a:p>
                  </a:txBody>
                  <a:tcPr marL="91440" marR="91440" marT="45720" marB="45720">
                    <a:solidFill>
                      <a:srgbClr val="FFFFFF"/>
                    </a:solidFill>
                  </a:tcPr>
                </a:tc>
              </a:tr>
            </a:tbl>
          </a:graphicData>
        </a:graphic>
      </p:graphicFrame>
      <p:sp>
        <p:nvSpPr>
          <p:cNvPr id="4" name="text">
            <a:extLst xmlns:a="http://schemas.openxmlformats.org/drawingml/2006/main">
              <a:ext uri="{FF2B5EF4-FFF2-40B4-BE49-F238E27FC236}">
                <a16:creationId xmlns:a16="http://schemas.microsoft.com/office/drawing/2014/main" id="{0FA92278-350E-4A85-9252-ACEFAFD6541C}"/>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The model leaves most BMI variation unexplained. Statistical adjustment does not establish causation.</a:t>
            </a:r>
          </a:p>
        </p:txBody>
      </p:sp>
      <p:sp>
        <p:nvSpPr>
          <p:cNvPr id="5" name="text">
            <a:extLst xmlns:a="http://schemas.openxmlformats.org/drawingml/2006/main">
              <a:ext uri="{FF2B5EF4-FFF2-40B4-BE49-F238E27FC236}">
                <a16:creationId xmlns:a16="http://schemas.microsoft.com/office/drawing/2014/main" id="{3860738B-8332-454C-B3BA-D150C831F3D3}"/>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13</a:t>
            </a:r>
          </a:p>
        </p:txBody>
      </p:sp>
    </p:spTree>
    <p:extLst>
      <p:ext uri="{BB962C8B-B14F-4D97-AF65-F5344CB8AC3E}">
        <p14:creationId xmlns:p14="http://schemas.microsoft.com/office/powerpoint/2010/main" val="63338119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5DEE37B5-31FB-49CB-9225-249BFB9763AF}"/>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Regression diagnostics and sensitivity</a:t>
            </a:r>
          </a:p>
        </p:txBody>
      </p:sp>
      <p:pic>
        <p:nvPicPr>
          <p:cNvPr id="2" name="">
            <a:extLst xmlns:a="http://schemas.openxmlformats.org/drawingml/2006/main">
              <a:ext uri="{FF2B5EF4-FFF2-40B4-BE49-F238E27FC236}">
                <a16:creationId xmlns:a16="http://schemas.microsoft.com/office/drawing/2014/main" id="{E5585C71-1FAD-408D-9D0A-C2DA62A733CB}"/>
              </a:ext>
            </a:extLst>
          </p:cNvPr>
          <p:cNvPicPr>
            <a:picLocks xmlns:a="http://schemas.openxmlformats.org/drawingml/2006/main" noChangeAspect="1"/>
          </p:cNvPicPr>
          <p:nvPr/>
        </p:nvPicPr>
        <p:blipFill>
          <a:blip xmlns:r="http://schemas.openxmlformats.org/officeDocument/2006/relationships" xmlns:a="http://schemas.openxmlformats.org/drawingml/2006/main" r:embed="R1e9c49f04d9c4765"/>
          <a:stretch xmlns:a="http://schemas.openxmlformats.org/drawingml/2006/main"/>
        </p:blipFill>
        <p:spPr>
          <a:xfrm xmlns:a="http://schemas.openxmlformats.org/drawingml/2006/main">
            <a:off x="1255712" y="1409700"/>
            <a:ext cx="6099175" cy="4305300"/>
          </a:xfrm>
          <a:prstGeom xmlns:a="http://schemas.openxmlformats.org/drawingml/2006/main" prst="rect">
            <a:avLst/>
          </a:prstGeom>
        </p:spPr>
      </p:pic>
      <p:sp>
        <p:nvSpPr>
          <p:cNvPr id="3" name="text">
            <a:extLst xmlns:a="http://schemas.openxmlformats.org/drawingml/2006/main">
              <a:ext uri="{FF2B5EF4-FFF2-40B4-BE49-F238E27FC236}">
                <a16:creationId xmlns:a16="http://schemas.microsoft.com/office/drawing/2014/main" id="{2A8C96A7-9C6C-4D48-AE46-A9175FF20D0B}"/>
              </a:ext>
            </a:extLst>
          </p:cNvPr>
          <p:cNvSpPr>
            <a:spLocks xmlns:a="http://schemas.openxmlformats.org/drawingml/2006/main" noGrp="1"/>
          </p:cNvSpPr>
          <p:nvPr/>
        </p:nvSpPr>
        <p:spPr>
          <a:xfrm xmlns:a="http://schemas.openxmlformats.org/drawingml/2006/main">
            <a:off x="8572500" y="1466850"/>
            <a:ext cx="31242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Residual plots assess linear form and changing spread. The Q-Q plot checks residual shape.</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Leverage and Cook’s distance identify observations that may influence the fitted coefficients.</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After BMI filtering, adjusted R² changes from 5.99% to 4.89%.</a:t>
            </a:r>
          </a:p>
        </p:txBody>
      </p:sp>
      <p:sp>
        <p:nvSpPr>
          <p:cNvPr id="4" name="text">
            <a:extLst xmlns:a="http://schemas.openxmlformats.org/drawingml/2006/main">
              <a:ext uri="{FF2B5EF4-FFF2-40B4-BE49-F238E27FC236}">
                <a16:creationId xmlns:a16="http://schemas.microsoft.com/office/drawing/2014/main" id="{7909F1CB-E7C5-4565-9FC6-61DD62264B60}"/>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Valid extreme observations affect the fit. Model conclusions remain cautious and descriptive.</a:t>
            </a:r>
          </a:p>
        </p:txBody>
      </p:sp>
      <p:sp>
        <p:nvSpPr>
          <p:cNvPr id="5" name="text">
            <a:extLst xmlns:a="http://schemas.openxmlformats.org/drawingml/2006/main">
              <a:ext uri="{FF2B5EF4-FFF2-40B4-BE49-F238E27FC236}">
                <a16:creationId xmlns:a16="http://schemas.microsoft.com/office/drawing/2014/main" id="{8388870A-C50D-42D2-93D4-61D221CA06E9}"/>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14</a:t>
            </a:r>
          </a:p>
        </p:txBody>
      </p:sp>
    </p:spTree>
    <p:extLst>
      <p:ext uri="{BB962C8B-B14F-4D97-AF65-F5344CB8AC3E}">
        <p14:creationId xmlns:p14="http://schemas.microsoft.com/office/powerpoint/2010/main" val="206682023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970B255F-3EF0-4AEC-90BE-570DD7E4E39C}"/>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Fitting the normal distribution</a:t>
            </a:r>
          </a:p>
        </p:txBody>
      </p:sp>
      <p:sp>
        <p:nvSpPr>
          <p:cNvPr id="2" name="text">
            <a:extLst xmlns:a="http://schemas.openxmlformats.org/drawingml/2006/main">
              <a:ext uri="{FF2B5EF4-FFF2-40B4-BE49-F238E27FC236}">
                <a16:creationId xmlns:a16="http://schemas.microsoft.com/office/drawing/2014/main" id="{3A7F5A63-D096-4577-BB7F-0CD455A40265}"/>
              </a:ext>
            </a:extLst>
          </p:cNvPr>
          <p:cNvSpPr>
            <a:spLocks xmlns:a="http://schemas.openxmlformats.org/drawingml/2006/main" noGrp="1"/>
          </p:cNvSpPr>
          <p:nvPr/>
        </p:nvSpPr>
        <p:spPr>
          <a:xfrm xmlns:a="http://schemas.openxmlformats.org/drawingml/2006/main">
            <a:off x="609600" y="1123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The fitted normal model uses mean 28.40 and SD 6.35.</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Shapiro-Wilk gives W = 0.897 and p &lt; 0.001 for all 3,000 BMI values.</a:t>
            </a:r>
          </a:p>
        </p:txBody>
      </p:sp>
      <p:pic>
        <p:nvPicPr>
          <p:cNvPr id="3" name="">
            <a:extLst xmlns:a="http://schemas.openxmlformats.org/drawingml/2006/main">
              <a:ext uri="{FF2B5EF4-FFF2-40B4-BE49-F238E27FC236}">
                <a16:creationId xmlns:a16="http://schemas.microsoft.com/office/drawing/2014/main" id="{C8127FB6-547E-4852-8146-F5BE4FF704FD}"/>
              </a:ext>
            </a:extLst>
          </p:cNvPr>
          <p:cNvPicPr>
            <a:picLocks xmlns:a="http://schemas.openxmlformats.org/drawingml/2006/main" noChangeAspect="1"/>
          </p:cNvPicPr>
          <p:nvPr/>
        </p:nvPicPr>
        <p:blipFill>
          <a:blip xmlns:r="http://schemas.openxmlformats.org/officeDocument/2006/relationships" xmlns:a="http://schemas.openxmlformats.org/drawingml/2006/main" r:embed="Rb6e71140e3a945fa"/>
          <a:stretch xmlns:a="http://schemas.openxmlformats.org/drawingml/2006/main"/>
        </p:blipFill>
        <p:spPr>
          <a:xfrm xmlns:a="http://schemas.openxmlformats.org/drawingml/2006/main">
            <a:off x="547938" y="2190750"/>
            <a:ext cx="5323974" cy="33718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BC2BAC52-C893-4876-9741-DA97ED995608}"/>
              </a:ext>
            </a:extLst>
          </p:cNvPr>
          <p:cNvPicPr>
            <a:picLocks xmlns:a="http://schemas.openxmlformats.org/drawingml/2006/main" noChangeAspect="1"/>
          </p:cNvPicPr>
          <p:nvPr/>
        </p:nvPicPr>
        <p:blipFill>
          <a:blip xmlns:r="http://schemas.openxmlformats.org/officeDocument/2006/relationships" xmlns:a="http://schemas.openxmlformats.org/drawingml/2006/main" r:embed="R20de163f5fbd4027"/>
          <a:stretch xmlns:a="http://schemas.openxmlformats.org/drawingml/2006/main"/>
        </p:blipFill>
        <p:spPr>
          <a:xfrm xmlns:a="http://schemas.openxmlformats.org/drawingml/2006/main">
            <a:off x="6339138" y="2190750"/>
            <a:ext cx="5323974" cy="337185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EC2FBE8C-68F2-4952-99E0-49611A085881}"/>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The right tail departs from a normal distribution. Model residuals need their own checks.</a:t>
            </a:r>
          </a:p>
        </p:txBody>
      </p:sp>
      <p:sp>
        <p:nvSpPr>
          <p:cNvPr id="6" name="text">
            <a:extLst xmlns:a="http://schemas.openxmlformats.org/drawingml/2006/main">
              <a:ext uri="{FF2B5EF4-FFF2-40B4-BE49-F238E27FC236}">
                <a16:creationId xmlns:a16="http://schemas.microsoft.com/office/drawing/2014/main" id="{FDE6F46E-BC80-4172-831D-685D7AFFED84}"/>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15</a:t>
            </a:r>
          </a:p>
        </p:txBody>
      </p:sp>
    </p:spTree>
    <p:extLst>
      <p:ext uri="{BB962C8B-B14F-4D97-AF65-F5344CB8AC3E}">
        <p14:creationId xmlns:p14="http://schemas.microsoft.com/office/powerpoint/2010/main" val="173140926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AF810AB9-DACE-4DB6-A52F-894739E74D41}"/>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Fitting the binomial distribution</a:t>
            </a:r>
          </a:p>
        </p:txBody>
      </p:sp>
      <p:pic>
        <p:nvPicPr>
          <p:cNvPr id="2" name="">
            <a:extLst xmlns:a="http://schemas.openxmlformats.org/drawingml/2006/main">
              <a:ext uri="{FF2B5EF4-FFF2-40B4-BE49-F238E27FC236}">
                <a16:creationId xmlns:a16="http://schemas.microsoft.com/office/drawing/2014/main" id="{2D633977-8383-494C-ACA8-9067C2925CAF}"/>
              </a:ext>
            </a:extLst>
          </p:cNvPr>
          <p:cNvPicPr>
            <a:picLocks xmlns:a="http://schemas.openxmlformats.org/drawingml/2006/main" noChangeAspect="1"/>
          </p:cNvPicPr>
          <p:nvPr/>
        </p:nvPicPr>
        <p:blipFill>
          <a:blip xmlns:r="http://schemas.openxmlformats.org/officeDocument/2006/relationships" xmlns:a="http://schemas.openxmlformats.org/drawingml/2006/main" r:embed="Rfc0ec8f146374f11"/>
          <a:stretch xmlns:a="http://schemas.openxmlformats.org/drawingml/2006/main"/>
        </p:blipFill>
        <p:spPr>
          <a:xfrm xmlns:a="http://schemas.openxmlformats.org/drawingml/2006/main">
            <a:off x="906379" y="1409700"/>
            <a:ext cx="6797842" cy="4305300"/>
          </a:xfrm>
          <a:prstGeom xmlns:a="http://schemas.openxmlformats.org/drawingml/2006/main" prst="rect">
            <a:avLst/>
          </a:prstGeom>
        </p:spPr>
      </p:pic>
      <p:sp>
        <p:nvSpPr>
          <p:cNvPr id="3" name="text">
            <a:extLst xmlns:a="http://schemas.openxmlformats.org/drawingml/2006/main">
              <a:ext uri="{FF2B5EF4-FFF2-40B4-BE49-F238E27FC236}">
                <a16:creationId xmlns:a16="http://schemas.microsoft.com/office/drawing/2014/main" id="{6FA91B1D-7483-4BF3-A68E-11A3F7788095}"/>
              </a:ext>
            </a:extLst>
          </p:cNvPr>
          <p:cNvSpPr>
            <a:spLocks xmlns:a="http://schemas.openxmlformats.org/drawingml/2006/main" noGrp="1"/>
          </p:cNvSpPr>
          <p:nvPr/>
        </p:nvSpPr>
        <p:spPr>
          <a:xfrm xmlns:a="http://schemas.openxmlformats.org/drawingml/2006/main">
            <a:off x="8572500" y="1466850"/>
            <a:ext cx="31242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We count combined-positive statuses in 300 artificial blocks of ten.</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The individual sample proportion is 0.1563.</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After pooling and fitting to bin counts, χ² = 0.287, df = 3, p = 0.962.</a:t>
            </a:r>
          </a:p>
        </p:txBody>
      </p:sp>
      <p:sp>
        <p:nvSpPr>
          <p:cNvPr id="4" name="text">
            <a:extLst xmlns:a="http://schemas.openxmlformats.org/drawingml/2006/main">
              <a:ext uri="{FF2B5EF4-FFF2-40B4-BE49-F238E27FC236}">
                <a16:creationId xmlns:a16="http://schemas.microsoft.com/office/drawing/2014/main" id="{7C22CB08-9395-4205-92BE-62E1C87FF079}"/>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The pooled test does not reject the binomial teaching model. It does not prove identical individual risk.</a:t>
            </a:r>
          </a:p>
        </p:txBody>
      </p:sp>
      <p:sp>
        <p:nvSpPr>
          <p:cNvPr id="5" name="text">
            <a:extLst xmlns:a="http://schemas.openxmlformats.org/drawingml/2006/main">
              <a:ext uri="{FF2B5EF4-FFF2-40B4-BE49-F238E27FC236}">
                <a16:creationId xmlns:a16="http://schemas.microsoft.com/office/drawing/2014/main" id="{05A25542-792C-4E2B-84F4-262D519A5C2D}"/>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16</a:t>
            </a:r>
          </a:p>
        </p:txBody>
      </p:sp>
    </p:spTree>
    <p:extLst>
      <p:ext uri="{BB962C8B-B14F-4D97-AF65-F5344CB8AC3E}">
        <p14:creationId xmlns:p14="http://schemas.microsoft.com/office/powerpoint/2010/main" val="142700896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59B3DD34-0A3A-4ECF-9B80-F0B93738EC6C}"/>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Fitting the Poisson distribution</a:t>
            </a:r>
          </a:p>
        </p:txBody>
      </p:sp>
      <p:pic>
        <p:nvPicPr>
          <p:cNvPr id="2" name="">
            <a:extLst xmlns:a="http://schemas.openxmlformats.org/drawingml/2006/main">
              <a:ext uri="{FF2B5EF4-FFF2-40B4-BE49-F238E27FC236}">
                <a16:creationId xmlns:a16="http://schemas.microsoft.com/office/drawing/2014/main" id="{8B1DAEAA-DEB1-4B51-8EE0-61A6910C02BF}"/>
              </a:ext>
            </a:extLst>
          </p:cNvPr>
          <p:cNvPicPr>
            <a:picLocks xmlns:a="http://schemas.openxmlformats.org/drawingml/2006/main" noChangeAspect="1"/>
          </p:cNvPicPr>
          <p:nvPr/>
        </p:nvPicPr>
        <p:blipFill>
          <a:blip xmlns:r="http://schemas.openxmlformats.org/officeDocument/2006/relationships" xmlns:a="http://schemas.openxmlformats.org/drawingml/2006/main" r:embed="R15027cf5f55a41a2"/>
          <a:stretch xmlns:a="http://schemas.openxmlformats.org/drawingml/2006/main"/>
        </p:blipFill>
        <p:spPr>
          <a:xfrm xmlns:a="http://schemas.openxmlformats.org/drawingml/2006/main">
            <a:off x="906379" y="1409700"/>
            <a:ext cx="6797842" cy="4305300"/>
          </a:xfrm>
          <a:prstGeom xmlns:a="http://schemas.openxmlformats.org/drawingml/2006/main" prst="rect">
            <a:avLst/>
          </a:prstGeom>
        </p:spPr>
      </p:pic>
      <p:sp>
        <p:nvSpPr>
          <p:cNvPr id="3" name="text">
            <a:extLst xmlns:a="http://schemas.openxmlformats.org/drawingml/2006/main">
              <a:ext uri="{FF2B5EF4-FFF2-40B4-BE49-F238E27FC236}">
                <a16:creationId xmlns:a16="http://schemas.microsoft.com/office/drawing/2014/main" id="{C18C9401-56BF-4B8A-B399-4EE8C3F86BBD}"/>
              </a:ext>
            </a:extLst>
          </p:cNvPr>
          <p:cNvSpPr>
            <a:spLocks xmlns:a="http://schemas.openxmlformats.org/drawingml/2006/main" noGrp="1"/>
          </p:cNvSpPr>
          <p:nvPr/>
        </p:nvSpPr>
        <p:spPr>
          <a:xfrm xmlns:a="http://schemas.openxmlformats.org/drawingml/2006/main">
            <a:off x="8572500" y="1466850"/>
            <a:ext cx="31242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The ordinary Poisson mean estimate is λ = 4.15.</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Variance/mean = 17.88, far above the Poisson value of one.</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The pooled test refits λ = 1.80 and gives χ² = 41781.7, df = 6, p &lt; 0.001.</a:t>
            </a:r>
          </a:p>
        </p:txBody>
      </p:sp>
      <p:sp>
        <p:nvSpPr>
          <p:cNvPr id="4" name="text">
            <a:extLst xmlns:a="http://schemas.openxmlformats.org/drawingml/2006/main">
              <a:ext uri="{FF2B5EF4-FFF2-40B4-BE49-F238E27FC236}">
                <a16:creationId xmlns:a16="http://schemas.microsoft.com/office/drawing/2014/main" id="{1B4EBB51-2F83-414C-BBAD-673F3EA6BFA4}"/>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The Poisson model poorly describes these bounded, zero-heavy day counts.</a:t>
            </a:r>
          </a:p>
        </p:txBody>
      </p:sp>
      <p:sp>
        <p:nvSpPr>
          <p:cNvPr id="5" name="text">
            <a:extLst xmlns:a="http://schemas.openxmlformats.org/drawingml/2006/main">
              <a:ext uri="{FF2B5EF4-FFF2-40B4-BE49-F238E27FC236}">
                <a16:creationId xmlns:a16="http://schemas.microsoft.com/office/drawing/2014/main" id="{363848B4-2557-4D3C-B6FF-21DE2F370420}"/>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17</a:t>
            </a:r>
          </a:p>
        </p:txBody>
      </p:sp>
    </p:spTree>
    <p:extLst>
      <p:ext uri="{BB962C8B-B14F-4D97-AF65-F5344CB8AC3E}">
        <p14:creationId xmlns:p14="http://schemas.microsoft.com/office/powerpoint/2010/main" val="18015648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489461B7-B572-46AF-A905-ED23AA2B8F97}"/>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One-sample hypothesis tests</a:t>
            </a:r>
          </a:p>
        </p:txBody>
      </p:sp>
      <p:sp>
        <p:nvSpPr>
          <p:cNvPr id="2" name="text">
            <a:extLst xmlns:a="http://schemas.openxmlformats.org/drawingml/2006/main">
              <a:ext uri="{FF2B5EF4-FFF2-40B4-BE49-F238E27FC236}">
                <a16:creationId xmlns:a16="http://schemas.microsoft.com/office/drawing/2014/main" id="{B8E0997B-4A77-45BC-8B23-3560DDCB4FB1}"/>
              </a:ext>
            </a:extLst>
          </p:cNvPr>
          <p:cNvSpPr>
            <a:spLocks xmlns:a="http://schemas.openxmlformats.org/drawingml/2006/main" noGrp="1"/>
          </p:cNvSpPr>
          <p:nvPr/>
        </p:nvSpPr>
        <p:spPr>
          <a:xfrm xmlns:a="http://schemas.openxmlformats.org/drawingml/2006/main">
            <a:off x="609600" y="1200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3044"/>
                </a:solidFill>
                <a:latin typeface="Arial"/>
                <a:ea typeface="Arial"/>
                <a:cs typeface="Arial"/>
              </a:defRPr>
            </a:defPPr>
          </a:lstStyle>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We use two-sided alternatives and α = 0.05. The values 27 and 11% are hypothetical classroom benchmarks.</a:t>
            </a:r>
          </a:p>
        </p:txBody>
      </p:sp>
      <p:graphicFrame>
        <p:nvGraphicFramePr>
          <p:cNvPr id="3" name="">
            <a:extLst xmlns:a="http://schemas.openxmlformats.org/drawingml/2006/main">
              <a:ext uri="{FF2B5EF4-FFF2-40B4-BE49-F238E27FC236}">
                <a16:creationId xmlns:a16="http://schemas.microsoft.com/office/drawing/2014/main" id="{0A4DA832-EEBF-429A-A3C9-F3312782E9D2}"/>
              </a:ext>
            </a:extLst>
          </p:cNvPr>
          <p:cNvGraphicFramePr/>
          <p:nvPr/>
        </p:nvGraphicFramePr>
        <p:xfrm>
          <a:off xmlns:a="http://schemas.openxmlformats.org/drawingml/2006/main" x="609600" y="2238375"/>
          <a:ext xmlns:a="http://schemas.openxmlformats.org/drawingml/2006/main" cx="10953750" cy="3571875"/>
        </p:xfrm>
        <a:graphic xmlns:a="http://schemas.openxmlformats.org/drawingml/2006/main">
          <a:graphicData uri="http://schemas.openxmlformats.org/drawingml/2006/table">
            <a:tbl>
              <a:tblPr firstRow="1" bandRow="1"/>
              <a:tblGrid>
                <a:gridCol w="2738438"/>
                <a:gridCol w="2738438"/>
                <a:gridCol w="2738438"/>
                <a:gridCol w="2738438"/>
              </a:tblGrid>
              <a:tr h="1190625">
                <a:tc>
                  <a:txBody>
                    <a:bodyPr>
                      <a:noAutofit/>
                    </a:bodyPr>
                    <a:lstStyle/>
                    <a:p>
                      <a:pPr algn="l"/>
                      <a:r>
                        <a:rPr sz="1800" b="1">
                          <a:solidFill>
                            <a:srgbClr val="FFFFFF"/>
                          </a:solidFill>
                          <a:latin typeface="Arial"/>
                          <a:ea typeface="Arial"/>
                          <a:cs typeface="Arial"/>
                        </a:rPr>
                        <a:t>Question</a:t>
                      </a:r>
                    </a:p>
                  </a:txBody>
                  <a:tcPr marL="91440" marR="91440" marT="45720" marB="45720">
                    <a:solidFill>
                      <a:srgbClr val="176D8C"/>
                    </a:solidFill>
                  </a:tcPr>
                </a:tc>
                <a:tc>
                  <a:txBody>
                    <a:bodyPr>
                      <a:noAutofit/>
                    </a:bodyPr>
                    <a:lstStyle/>
                    <a:p>
                      <a:pPr algn="ctr"/>
                      <a:r>
                        <a:rPr sz="1800" b="1">
                          <a:solidFill>
                            <a:srgbClr val="FFFFFF"/>
                          </a:solidFill>
                          <a:latin typeface="Arial"/>
                          <a:ea typeface="Arial"/>
                          <a:cs typeface="Arial"/>
                        </a:rPr>
                        <a:t>Estimate and 95% CI</a:t>
                      </a:r>
                    </a:p>
                  </a:txBody>
                  <a:tcPr marL="91440" marR="91440" marT="45720" marB="45720">
                    <a:solidFill>
                      <a:srgbClr val="176D8C"/>
                    </a:solidFill>
                  </a:tcPr>
                </a:tc>
                <a:tc>
                  <a:txBody>
                    <a:bodyPr>
                      <a:noAutofit/>
                    </a:bodyPr>
                    <a:lstStyle/>
                    <a:p>
                      <a:pPr algn="ctr"/>
                      <a:r>
                        <a:rPr sz="1800" b="1">
                          <a:solidFill>
                            <a:srgbClr val="FFFFFF"/>
                          </a:solidFill>
                          <a:latin typeface="Arial"/>
                          <a:ea typeface="Arial"/>
                          <a:cs typeface="Arial"/>
                        </a:rPr>
                        <a:t>Statistic</a:t>
                      </a:r>
                    </a:p>
                  </a:txBody>
                  <a:tcPr marL="91440" marR="91440" marT="45720" marB="45720">
                    <a:solidFill>
                      <a:srgbClr val="176D8C"/>
                    </a:solidFill>
                  </a:tcPr>
                </a:tc>
                <a:tc>
                  <a:txBody>
                    <a:bodyPr>
                      <a:noAutofit/>
                    </a:bodyPr>
                    <a:lstStyle/>
                    <a:p>
                      <a:pPr algn="ctr"/>
                      <a:r>
                        <a:rPr sz="1800" b="1">
                          <a:solidFill>
                            <a:srgbClr val="FFFFFF"/>
                          </a:solidFill>
                          <a:latin typeface="Arial"/>
                          <a:ea typeface="Arial"/>
                          <a:cs typeface="Arial"/>
                        </a:rPr>
                        <a:t>p</a:t>
                      </a:r>
                    </a:p>
                  </a:txBody>
                  <a:tcPr marL="91440" marR="91440" marT="45720" marB="45720">
                    <a:solidFill>
                      <a:srgbClr val="176D8C"/>
                    </a:solidFill>
                  </a:tcPr>
                </a:tc>
              </a:tr>
              <a:tr h="1190625">
                <a:tc>
                  <a:txBody>
                    <a:bodyPr>
                      <a:noAutofit/>
                    </a:bodyPr>
                    <a:lstStyle/>
                    <a:p>
                      <a:pPr algn="l"/>
                      <a:r>
                        <a:rPr sz="1800" b="0">
                          <a:solidFill>
                            <a:srgbClr val="183044"/>
                          </a:solidFill>
                          <a:latin typeface="Arial"/>
                          <a:ea typeface="Arial"/>
                          <a:cs typeface="Arial"/>
                        </a:rPr>
                        <a:t>Mean BMI = 27</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28.40 [28.17, 28.63]</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t = 12.06</a:t>
                      </a:r>
                    </a:p>
                  </a:txBody>
                  <a:tcPr marL="91440" marR="91440" marT="45720" marB="45720">
                    <a:solidFill>
                      <a:srgbClr val="FFFFFF"/>
                    </a:solidFill>
                  </a:tcPr>
                </a:tc>
                <a:tc>
                  <a:txBody>
                    <a:bodyPr>
                      <a:noAutofit/>
                    </a:bodyPr>
                    <a:lstStyle/>
                    <a:p>
                      <a:pPr algn="ctr"/>
                      <a:r>
                        <a:rPr sz="1800" b="0">
                          <a:solidFill>
                            <a:srgbClr val="183044"/>
                          </a:solidFill>
                          <a:latin typeface="Arial"/>
                          <a:ea typeface="Arial"/>
                          <a:cs typeface="Arial"/>
                        </a:rPr>
                        <a:t>&lt;0.001</a:t>
                      </a:r>
                    </a:p>
                  </a:txBody>
                  <a:tcPr marL="91440" marR="91440" marT="45720" marB="45720">
                    <a:solidFill>
                      <a:srgbClr val="FFFFFF"/>
                    </a:solidFill>
                  </a:tcPr>
                </a:tc>
              </a:tr>
              <a:tr h="1190625">
                <a:tc>
                  <a:txBody>
                    <a:bodyPr>
                      <a:noAutofit/>
                    </a:bodyPr>
                    <a:lstStyle/>
                    <a:p>
                      <a:pPr algn="l"/>
                      <a:r>
                        <a:rPr sz="1800" b="0">
                          <a:solidFill>
                            <a:srgbClr val="183044"/>
                          </a:solidFill>
                          <a:latin typeface="Arial"/>
                          <a:ea typeface="Arial"/>
                          <a:cs typeface="Arial"/>
                        </a:rPr>
                        <a:t>Positive proportion = 11%</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15.63% [14.36%, 16.99%]</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χ² = 65.31</a:t>
                      </a:r>
                    </a:p>
                  </a:txBody>
                  <a:tcPr marL="91440" marR="91440" marT="45720" marB="45720">
                    <a:solidFill>
                      <a:srgbClr val="F0F5F7"/>
                    </a:solidFill>
                  </a:tcPr>
                </a:tc>
                <a:tc>
                  <a:txBody>
                    <a:bodyPr>
                      <a:noAutofit/>
                    </a:bodyPr>
                    <a:lstStyle/>
                    <a:p>
                      <a:pPr algn="ctr"/>
                      <a:r>
                        <a:rPr sz="1800" b="0">
                          <a:solidFill>
                            <a:srgbClr val="183044"/>
                          </a:solidFill>
                          <a:latin typeface="Arial"/>
                          <a:ea typeface="Arial"/>
                          <a:cs typeface="Arial"/>
                        </a:rPr>
                        <a:t>&lt;0.001</a:t>
                      </a:r>
                    </a:p>
                  </a:txBody>
                  <a:tcPr marL="91440" marR="91440" marT="45720" marB="45720">
                    <a:solidFill>
                      <a:srgbClr val="F0F5F7"/>
                    </a:solidFill>
                  </a:tcPr>
                </a:tc>
              </a:tr>
            </a:tbl>
          </a:graphicData>
        </a:graphic>
      </p:graphicFrame>
      <p:sp>
        <p:nvSpPr>
          <p:cNvPr id="4" name="text">
            <a:extLst xmlns:a="http://schemas.openxmlformats.org/drawingml/2006/main">
              <a:ext uri="{FF2B5EF4-FFF2-40B4-BE49-F238E27FC236}">
                <a16:creationId xmlns:a16="http://schemas.microsoft.com/office/drawing/2014/main" id="{31EE7B29-38BD-4C6B-B99F-8B114D1C0F75}"/>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Both teaching nulls are rejected. The 11% value is not a sourced national prevalence claim.</a:t>
            </a:r>
          </a:p>
        </p:txBody>
      </p:sp>
      <p:sp>
        <p:nvSpPr>
          <p:cNvPr id="5" name="text">
            <a:extLst xmlns:a="http://schemas.openxmlformats.org/drawingml/2006/main">
              <a:ext uri="{FF2B5EF4-FFF2-40B4-BE49-F238E27FC236}">
                <a16:creationId xmlns:a16="http://schemas.microsoft.com/office/drawing/2014/main" id="{F24267E8-5D82-4BC1-B2A2-45651BC73330}"/>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18</a:t>
            </a:r>
          </a:p>
        </p:txBody>
      </p:sp>
    </p:spTree>
    <p:extLst>
      <p:ext uri="{BB962C8B-B14F-4D97-AF65-F5344CB8AC3E}">
        <p14:creationId xmlns:p14="http://schemas.microsoft.com/office/powerpoint/2010/main" val="14087332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1D231AE8-C714-410C-BB3C-F016228650B4}"/>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Two-sample and independent comparisons</a:t>
            </a:r>
          </a:p>
        </p:txBody>
      </p:sp>
      <p:sp>
        <p:nvSpPr>
          <p:cNvPr id="2" name="text">
            <a:extLst xmlns:a="http://schemas.openxmlformats.org/drawingml/2006/main">
              <a:ext uri="{FF2B5EF4-FFF2-40B4-BE49-F238E27FC236}">
                <a16:creationId xmlns:a16="http://schemas.microsoft.com/office/drawing/2014/main" id="{B85E9496-3C8B-47AF-B72D-E55BD0D6312C}"/>
              </a:ext>
            </a:extLst>
          </p:cNvPr>
          <p:cNvSpPr>
            <a:spLocks xmlns:a="http://schemas.openxmlformats.org/drawingml/2006/main" noGrp="1"/>
          </p:cNvSpPr>
          <p:nvPr/>
        </p:nvSpPr>
        <p:spPr>
          <a:xfrm xmlns:a="http://schemas.openxmlformats.org/drawingml/2006/main">
            <a:off x="609600" y="1123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Female minus male mean BMI is −0.65, with 95% CI −1.10 to −0.20 (p = 0.004).</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Combined-positive proportions are 14.09% for never-smoking and 17.36% for ever-smoking (p = 0.016).</a:t>
            </a:r>
          </a:p>
        </p:txBody>
      </p:sp>
      <p:pic>
        <p:nvPicPr>
          <p:cNvPr id="3" name="">
            <a:extLst xmlns:a="http://schemas.openxmlformats.org/drawingml/2006/main">
              <a:ext uri="{FF2B5EF4-FFF2-40B4-BE49-F238E27FC236}">
                <a16:creationId xmlns:a16="http://schemas.microsoft.com/office/drawing/2014/main" id="{03168D22-E04E-4BC1-9264-8F0644CB5C1F}"/>
              </a:ext>
            </a:extLst>
          </p:cNvPr>
          <p:cNvPicPr>
            <a:picLocks xmlns:a="http://schemas.openxmlformats.org/drawingml/2006/main" noChangeAspect="1"/>
          </p:cNvPicPr>
          <p:nvPr/>
        </p:nvPicPr>
        <p:blipFill>
          <a:blip xmlns:r="http://schemas.openxmlformats.org/officeDocument/2006/relationships" xmlns:a="http://schemas.openxmlformats.org/drawingml/2006/main" r:embed="R4ee0cd8138054370"/>
          <a:stretch xmlns:a="http://schemas.openxmlformats.org/drawingml/2006/main"/>
        </p:blipFill>
        <p:spPr>
          <a:xfrm xmlns:a="http://schemas.openxmlformats.org/drawingml/2006/main">
            <a:off x="547938" y="2190750"/>
            <a:ext cx="5323974" cy="33718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85F65625-9C69-4464-ADC7-08F1A5948DE0}"/>
              </a:ext>
            </a:extLst>
          </p:cNvPr>
          <p:cNvPicPr>
            <a:picLocks xmlns:a="http://schemas.openxmlformats.org/drawingml/2006/main" noChangeAspect="1"/>
          </p:cNvPicPr>
          <p:nvPr/>
        </p:nvPicPr>
        <p:blipFill>
          <a:blip xmlns:r="http://schemas.openxmlformats.org/officeDocument/2006/relationships" xmlns:a="http://schemas.openxmlformats.org/drawingml/2006/main" r:embed="R6aed75a9a5794a02"/>
          <a:stretch xmlns:a="http://schemas.openxmlformats.org/drawingml/2006/main"/>
        </p:blipFill>
        <p:spPr>
          <a:xfrm xmlns:a="http://schemas.openxmlformats.org/drawingml/2006/main">
            <a:off x="6339138" y="2190750"/>
            <a:ext cx="5323974" cy="337185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D75BCB16-39FF-4794-8694-084F0D87C238}"/>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The independent PhysHlth test finds 1.25 more poor-health days for females, CI 0.63 to 1.86.</a:t>
            </a:r>
          </a:p>
        </p:txBody>
      </p:sp>
      <p:sp>
        <p:nvSpPr>
          <p:cNvPr id="6" name="text">
            <a:extLst xmlns:a="http://schemas.openxmlformats.org/drawingml/2006/main">
              <a:ext uri="{FF2B5EF4-FFF2-40B4-BE49-F238E27FC236}">
                <a16:creationId xmlns:a16="http://schemas.microsoft.com/office/drawing/2014/main" id="{19DA2C3E-09C0-4ACE-BFB3-A400D3DA7381}"/>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19</a:t>
            </a:r>
          </a:p>
        </p:txBody>
      </p:sp>
    </p:spTree>
    <p:extLst>
      <p:ext uri="{BB962C8B-B14F-4D97-AF65-F5344CB8AC3E}">
        <p14:creationId xmlns:p14="http://schemas.microsoft.com/office/powerpoint/2010/main" val="164372634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99AA0EF7-8FDE-4AA4-837C-68AC6218087B}"/>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Paired t-test supplement</a:t>
            </a:r>
          </a:p>
        </p:txBody>
      </p:sp>
      <p:sp>
        <p:nvSpPr>
          <p:cNvPr id="2" name="text">
            <a:extLst xmlns:a="http://schemas.openxmlformats.org/drawingml/2006/main">
              <a:ext uri="{FF2B5EF4-FFF2-40B4-BE49-F238E27FC236}">
                <a16:creationId xmlns:a16="http://schemas.microsoft.com/office/drawing/2014/main" id="{ECC42044-E4EC-4B0A-B49C-7B220FDEEC16}"/>
              </a:ext>
            </a:extLst>
          </p:cNvPr>
          <p:cNvSpPr>
            <a:spLocks xmlns:a="http://schemas.openxmlformats.org/drawingml/2006/main" noGrp="1"/>
          </p:cNvSpPr>
          <p:nvPr/>
        </p:nvSpPr>
        <p:spPr>
          <a:xfrm xmlns:a="http://schemas.openxmlformats.org/drawingml/2006/main">
            <a:off x="609600" y="1123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The CBT group in MASS::anorexia has 29 paired before/after weights.</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Mean change is +3.01 lb, with 95% CI +0.23 to +5.79 lb. The paired t-test gives p = 0.035.</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The signed-rank sensitivity test gives p = 0.064; the evidence depends on the method.</a:t>
            </a:r>
          </a:p>
        </p:txBody>
      </p:sp>
      <p:pic>
        <p:nvPicPr>
          <p:cNvPr id="3" name="">
            <a:extLst xmlns:a="http://schemas.openxmlformats.org/drawingml/2006/main">
              <a:ext uri="{FF2B5EF4-FFF2-40B4-BE49-F238E27FC236}">
                <a16:creationId xmlns:a16="http://schemas.microsoft.com/office/drawing/2014/main" id="{B709B5FF-265F-4C74-A704-8A23BD233752}"/>
              </a:ext>
            </a:extLst>
          </p:cNvPr>
          <p:cNvPicPr>
            <a:picLocks xmlns:a="http://schemas.openxmlformats.org/drawingml/2006/main" noChangeAspect="1"/>
          </p:cNvPicPr>
          <p:nvPr/>
        </p:nvPicPr>
        <p:blipFill>
          <a:blip xmlns:r="http://schemas.openxmlformats.org/officeDocument/2006/relationships" xmlns:a="http://schemas.openxmlformats.org/drawingml/2006/main" r:embed="Refe9af4c5d234282"/>
          <a:stretch xmlns:a="http://schemas.openxmlformats.org/drawingml/2006/main"/>
        </p:blipFill>
        <p:spPr>
          <a:xfrm xmlns:a="http://schemas.openxmlformats.org/drawingml/2006/main">
            <a:off x="547938" y="2190750"/>
            <a:ext cx="5323974" cy="33718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1DE13351-7A36-42CF-B181-B0A1983198B2}"/>
              </a:ext>
            </a:extLst>
          </p:cNvPr>
          <p:cNvPicPr>
            <a:picLocks xmlns:a="http://schemas.openxmlformats.org/drawingml/2006/main" noChangeAspect="1"/>
          </p:cNvPicPr>
          <p:nvPr/>
        </p:nvPicPr>
        <p:blipFill>
          <a:blip xmlns:r="http://schemas.openxmlformats.org/officeDocument/2006/relationships" xmlns:a="http://schemas.openxmlformats.org/drawingml/2006/main" r:embed="Rde85a25c0bce4d71"/>
          <a:stretch xmlns:a="http://schemas.openxmlformats.org/drawingml/2006/main"/>
        </p:blipFill>
        <p:spPr>
          <a:xfrm xmlns:a="http://schemas.openxmlformats.org/drawingml/2006/main">
            <a:off x="6339138" y="2190750"/>
            <a:ext cx="5323974" cy="337185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85F20015-AD11-4F32-A664-AC06BCA4729E}"/>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Pairing compares each patient with herself. The difference distribution is non-normal, so interpretation is cautious.</a:t>
            </a:r>
          </a:p>
        </p:txBody>
      </p:sp>
      <p:sp>
        <p:nvSpPr>
          <p:cNvPr id="6" name="text">
            <a:extLst xmlns:a="http://schemas.openxmlformats.org/drawingml/2006/main">
              <a:ext uri="{FF2B5EF4-FFF2-40B4-BE49-F238E27FC236}">
                <a16:creationId xmlns:a16="http://schemas.microsoft.com/office/drawing/2014/main" id="{6818654B-90D1-46AE-ADBA-E8B59192D395}"/>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20</a:t>
            </a:r>
          </a:p>
        </p:txBody>
      </p:sp>
    </p:spTree>
    <p:extLst>
      <p:ext uri="{BB962C8B-B14F-4D97-AF65-F5344CB8AC3E}">
        <p14:creationId xmlns:p14="http://schemas.microsoft.com/office/powerpoint/2010/main" val="51591550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07600341-D5B8-4D83-8442-546075B8738D}"/>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Chi-square tests and categorical association</a:t>
            </a:r>
          </a:p>
        </p:txBody>
      </p:sp>
      <p:sp>
        <p:nvSpPr>
          <p:cNvPr id="2" name="text">
            <a:extLst xmlns:a="http://schemas.openxmlformats.org/drawingml/2006/main">
              <a:ext uri="{FF2B5EF4-FFF2-40B4-BE49-F238E27FC236}">
                <a16:creationId xmlns:a16="http://schemas.microsoft.com/office/drawing/2014/main" id="{47F77B4C-9FA2-499D-A3FB-5E84FFF44E9E}"/>
              </a:ext>
            </a:extLst>
          </p:cNvPr>
          <p:cNvSpPr>
            <a:spLocks xmlns:a="http://schemas.openxmlformats.org/drawingml/2006/main" noGrp="1"/>
          </p:cNvSpPr>
          <p:nvPr/>
        </p:nvSpPr>
        <p:spPr>
          <a:xfrm xmlns:a="http://schemas.openxmlformats.org/drawingml/2006/main">
            <a:off x="609600" y="11049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Combined-positive status is 6.93% among respondents without high BP and 27.06% among those with high BP.</a:t>
            </a:r>
          </a:p>
        </p:txBody>
      </p:sp>
      <p:pic>
        <p:nvPicPr>
          <p:cNvPr id="3" name="">
            <a:extLst xmlns:a="http://schemas.openxmlformats.org/drawingml/2006/main">
              <a:ext uri="{FF2B5EF4-FFF2-40B4-BE49-F238E27FC236}">
                <a16:creationId xmlns:a16="http://schemas.microsoft.com/office/drawing/2014/main" id="{5B568758-3278-4530-9FD1-9150E3CC6F3E}"/>
              </a:ext>
            </a:extLst>
          </p:cNvPr>
          <p:cNvPicPr>
            <a:picLocks xmlns:a="http://schemas.openxmlformats.org/drawingml/2006/main" noChangeAspect="1"/>
          </p:cNvPicPr>
          <p:nvPr/>
        </p:nvPicPr>
        <p:blipFill>
          <a:blip xmlns:r="http://schemas.openxmlformats.org/officeDocument/2006/relationships" xmlns:a="http://schemas.openxmlformats.org/drawingml/2006/main" r:embed="R3c0d9ad19cd849a5"/>
          <a:stretch xmlns:a="http://schemas.openxmlformats.org/drawingml/2006/main"/>
        </p:blipFill>
        <p:spPr>
          <a:xfrm xmlns:a="http://schemas.openxmlformats.org/drawingml/2006/main">
            <a:off x="770021" y="2286000"/>
            <a:ext cx="5489408" cy="3476625"/>
          </a:xfrm>
          <a:prstGeom xmlns:a="http://schemas.openxmlformats.org/drawingml/2006/main" prst="rect">
            <a:avLst/>
          </a:prstGeom>
        </p:spPr>
      </p:pic>
      <p:graphicFrame>
        <p:nvGraphicFramePr>
          <p:cNvPr id="4" name="">
            <a:extLst xmlns:a="http://schemas.openxmlformats.org/drawingml/2006/main">
              <a:ext uri="{FF2B5EF4-FFF2-40B4-BE49-F238E27FC236}">
                <a16:creationId xmlns:a16="http://schemas.microsoft.com/office/drawing/2014/main" id="{A2F7C982-8B96-4BFB-B758-C00582728D75}"/>
              </a:ext>
            </a:extLst>
          </p:cNvPr>
          <p:cNvGraphicFramePr/>
          <p:nvPr/>
        </p:nvGraphicFramePr>
        <p:xfrm>
          <a:off xmlns:a="http://schemas.openxmlformats.org/drawingml/2006/main" x="6991350" y="2324100"/>
          <a:ext xmlns:a="http://schemas.openxmlformats.org/drawingml/2006/main" cx="4667250" cy="1905000"/>
        </p:xfrm>
        <a:graphic xmlns:a="http://schemas.openxmlformats.org/drawingml/2006/main">
          <a:graphicData uri="http://schemas.openxmlformats.org/drawingml/2006/table">
            <a:tbl>
              <a:tblPr firstRow="1" bandRow="1"/>
              <a:tblGrid>
                <a:gridCol w="1166813"/>
                <a:gridCol w="1166813"/>
                <a:gridCol w="1166813"/>
                <a:gridCol w="1166813"/>
              </a:tblGrid>
              <a:tr h="476250">
                <a:tc>
                  <a:txBody>
                    <a:bodyPr>
                      <a:noAutofit/>
                    </a:bodyPr>
                    <a:lstStyle/>
                    <a:p>
                      <a:pPr algn="l"/>
                      <a:r>
                        <a:rPr sz="1575" b="1">
                          <a:solidFill>
                            <a:srgbClr val="FFFFFF"/>
                          </a:solidFill>
                          <a:latin typeface="Arial"/>
                          <a:ea typeface="Arial"/>
                          <a:cs typeface="Arial"/>
                        </a:rPr>
                        <a:t>Test</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χ²</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Effect size</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p</a:t>
                      </a:r>
                    </a:p>
                  </a:txBody>
                  <a:tcPr marL="91440" marR="91440" marT="45720" marB="45720">
                    <a:solidFill>
                      <a:srgbClr val="176D8C"/>
                    </a:solidFill>
                  </a:tcPr>
                </a:tc>
              </a:tr>
              <a:tr h="476250">
                <a:tc>
                  <a:txBody>
                    <a:bodyPr>
                      <a:noAutofit/>
                    </a:bodyPr>
                    <a:lstStyle/>
                    <a:p>
                      <a:pPr algn="l"/>
                      <a:r>
                        <a:rPr sz="1575" b="0">
                          <a:solidFill>
                            <a:srgbClr val="183044"/>
                          </a:solidFill>
                          <a:latin typeface="Arial"/>
                          <a:ea typeface="Arial"/>
                          <a:cs typeface="Arial"/>
                        </a:rPr>
                        <a:t>Status and HighBP</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226.28</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V = 0.275</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&lt;0.001</a:t>
                      </a:r>
                    </a:p>
                  </a:txBody>
                  <a:tcPr marL="91440" marR="91440" marT="45720" marB="45720">
                    <a:solidFill>
                      <a:srgbClr val="FFFFFF"/>
                    </a:solidFill>
                  </a:tcPr>
                </a:tc>
              </a:tr>
              <a:tr h="476250">
                <a:tc>
                  <a:txBody>
                    <a:bodyPr>
                      <a:noAutofit/>
                    </a:bodyPr>
                    <a:lstStyle/>
                    <a:p>
                      <a:pPr algn="l"/>
                      <a:r>
                        <a:rPr sz="1575" b="0">
                          <a:solidFill>
                            <a:srgbClr val="183044"/>
                          </a:solidFill>
                          <a:latin typeface="Arial"/>
                          <a:ea typeface="Arial"/>
                          <a:cs typeface="Arial"/>
                        </a:rPr>
                        <a:t>Status and Smoker</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6.07</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V = 0.045</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0.014</a:t>
                      </a:r>
                    </a:p>
                  </a:txBody>
                  <a:tcPr marL="91440" marR="91440" marT="45720" marB="45720">
                    <a:solidFill>
                      <a:srgbClr val="F0F5F7"/>
                    </a:solidFill>
                  </a:tcPr>
                </a:tc>
              </a:tr>
              <a:tr h="476250">
                <a:tc>
                  <a:txBody>
                    <a:bodyPr>
                      <a:noAutofit/>
                    </a:bodyPr>
                    <a:lstStyle/>
                    <a:p>
                      <a:pPr algn="l"/>
                      <a:r>
                        <a:rPr sz="1575" b="0">
                          <a:solidFill>
                            <a:srgbClr val="183044"/>
                          </a:solidFill>
                          <a:latin typeface="Arial"/>
                          <a:ea typeface="Arial"/>
                          <a:cs typeface="Arial"/>
                        </a:rPr>
                        <a:t>Uniform age-band GOF</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678.12</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df = 12</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&lt;0.001</a:t>
                      </a:r>
                    </a:p>
                  </a:txBody>
                  <a:tcPr marL="91440" marR="91440" marT="45720" marB="45720">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43F7B64F-E038-403C-BF62-4A8D8ABD5A61}"/>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HighBP has the stronger sample association. The age test uses a hypothetical equal-probability null.</a:t>
            </a:r>
          </a:p>
        </p:txBody>
      </p:sp>
      <p:sp>
        <p:nvSpPr>
          <p:cNvPr id="6" name="text">
            <a:extLst xmlns:a="http://schemas.openxmlformats.org/drawingml/2006/main">
              <a:ext uri="{FF2B5EF4-FFF2-40B4-BE49-F238E27FC236}">
                <a16:creationId xmlns:a16="http://schemas.microsoft.com/office/drawing/2014/main" id="{DE99C437-717E-493B-A5A0-4932E0CEFDCD}"/>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21</a:t>
            </a:r>
          </a:p>
        </p:txBody>
      </p:sp>
    </p:spTree>
    <p:extLst>
      <p:ext uri="{BB962C8B-B14F-4D97-AF65-F5344CB8AC3E}">
        <p14:creationId xmlns:p14="http://schemas.microsoft.com/office/powerpoint/2010/main" val="76744848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C02E107D-05EB-4C7C-918D-11B00FF1B0D1}"/>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One-way ANOVA and CRD</a:t>
            </a:r>
          </a:p>
        </p:txBody>
      </p:sp>
      <p:sp>
        <p:nvSpPr>
          <p:cNvPr id="2" name="text">
            <a:extLst xmlns:a="http://schemas.openxmlformats.org/drawingml/2006/main">
              <a:ext uri="{FF2B5EF4-FFF2-40B4-BE49-F238E27FC236}">
                <a16:creationId xmlns:a16="http://schemas.microsoft.com/office/drawing/2014/main" id="{95949A36-EC7A-45D2-89E1-EE540B2673C0}"/>
              </a:ext>
            </a:extLst>
          </p:cNvPr>
          <p:cNvSpPr>
            <a:spLocks xmlns:a="http://schemas.openxmlformats.org/drawingml/2006/main" noGrp="1"/>
          </p:cNvSpPr>
          <p:nvPr/>
        </p:nvSpPr>
        <p:spPr>
          <a:xfrm xmlns:a="http://schemas.openxmlformats.org/drawingml/2006/main">
            <a:off x="609600" y="1123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Education-group BMI differs in the sample (F = 14.41). Unequal variances motivate the Welch sensitivity result (p &lt; 0.001).</a:t>
            </a:r>
          </a:p>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The separate sulfur experiment is a genuine CRD: 32 plots and seven treatments (F = 3.61, p = 0.010).</a:t>
            </a:r>
          </a:p>
        </p:txBody>
      </p:sp>
      <p:pic>
        <p:nvPicPr>
          <p:cNvPr id="3" name="">
            <a:extLst xmlns:a="http://schemas.openxmlformats.org/drawingml/2006/main">
              <a:ext uri="{FF2B5EF4-FFF2-40B4-BE49-F238E27FC236}">
                <a16:creationId xmlns:a16="http://schemas.microsoft.com/office/drawing/2014/main" id="{843FCB7C-74D1-4B14-9A49-88B943BF2BCF}"/>
              </a:ext>
            </a:extLst>
          </p:cNvPr>
          <p:cNvPicPr>
            <a:picLocks xmlns:a="http://schemas.openxmlformats.org/drawingml/2006/main" noChangeAspect="1"/>
          </p:cNvPicPr>
          <p:nvPr/>
        </p:nvPicPr>
        <p:blipFill>
          <a:blip xmlns:r="http://schemas.openxmlformats.org/officeDocument/2006/relationships" xmlns:a="http://schemas.openxmlformats.org/drawingml/2006/main" r:embed="R50e417a3ef754369"/>
          <a:stretch xmlns:a="http://schemas.openxmlformats.org/drawingml/2006/main"/>
        </p:blipFill>
        <p:spPr>
          <a:xfrm xmlns:a="http://schemas.openxmlformats.org/drawingml/2006/main">
            <a:off x="547938" y="2190750"/>
            <a:ext cx="5323974" cy="33718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79D91785-EBA8-43AC-8F1F-F1672EC6C29B}"/>
              </a:ext>
            </a:extLst>
          </p:cNvPr>
          <p:cNvPicPr>
            <a:picLocks xmlns:a="http://schemas.openxmlformats.org/drawingml/2006/main" noChangeAspect="1"/>
          </p:cNvPicPr>
          <p:nvPr/>
        </p:nvPicPr>
        <p:blipFill>
          <a:blip xmlns:r="http://schemas.openxmlformats.org/officeDocument/2006/relationships" xmlns:a="http://schemas.openxmlformats.org/drawingml/2006/main" r:embed="Rfd53d82fa6d44677"/>
          <a:stretch xmlns:a="http://schemas.openxmlformats.org/drawingml/2006/main"/>
        </p:blipFill>
        <p:spPr>
          <a:xfrm xmlns:a="http://schemas.openxmlformats.org/drawingml/2006/main">
            <a:off x="6339138" y="2190750"/>
            <a:ext cx="5323974" cy="337185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9DC7A1F3-116C-4C1E-B9EF-6CAFE94113BE}"/>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The education comparison is observational. The sulfur dataset supports the randomized-design exercise.</a:t>
            </a:r>
          </a:p>
        </p:txBody>
      </p:sp>
      <p:sp>
        <p:nvSpPr>
          <p:cNvPr id="6" name="text">
            <a:extLst xmlns:a="http://schemas.openxmlformats.org/drawingml/2006/main">
              <a:ext uri="{FF2B5EF4-FFF2-40B4-BE49-F238E27FC236}">
                <a16:creationId xmlns:a16="http://schemas.microsoft.com/office/drawing/2014/main" id="{99333258-5F5C-4630-B03B-F477D71F6C60}"/>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22</a:t>
            </a:r>
          </a:p>
        </p:txBody>
      </p:sp>
    </p:spTree>
    <p:extLst>
      <p:ext uri="{BB962C8B-B14F-4D97-AF65-F5344CB8AC3E}">
        <p14:creationId xmlns:p14="http://schemas.microsoft.com/office/powerpoint/2010/main" val="68706898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2D4E28E5-A46B-4CA2-B466-8958E5DC06DE}"/>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Randomized block design</a:t>
            </a:r>
          </a:p>
        </p:txBody>
      </p:sp>
      <p:sp>
        <p:nvSpPr>
          <p:cNvPr id="2" name="text">
            <a:extLst xmlns:a="http://schemas.openxmlformats.org/drawingml/2006/main">
              <a:ext uri="{FF2B5EF4-FFF2-40B4-BE49-F238E27FC236}">
                <a16:creationId xmlns:a16="http://schemas.microsoft.com/office/drawing/2014/main" id="{A8FE897C-7051-4738-98C2-591B04076E3F}"/>
              </a:ext>
            </a:extLst>
          </p:cNvPr>
          <p:cNvSpPr>
            <a:spLocks xmlns:a="http://schemas.openxmlformats.org/drawingml/2006/main" noGrp="1"/>
          </p:cNvSpPr>
          <p:nvPr/>
        </p:nvSpPr>
        <p:spPr>
          <a:xfrm xmlns:a="http://schemas.openxmlformats.org/drawingml/2006/main">
            <a:off x="609600" y="11049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The rice experiment includes six seeding rates in each of four complete blocks. The additive model separates block and rate effects.</a:t>
            </a:r>
          </a:p>
        </p:txBody>
      </p:sp>
      <p:pic>
        <p:nvPicPr>
          <p:cNvPr id="3" name="">
            <a:extLst xmlns:a="http://schemas.openxmlformats.org/drawingml/2006/main">
              <a:ext uri="{FF2B5EF4-FFF2-40B4-BE49-F238E27FC236}">
                <a16:creationId xmlns:a16="http://schemas.microsoft.com/office/drawing/2014/main" id="{1132229E-2B4A-4129-86BB-C9F41DB32889}"/>
              </a:ext>
            </a:extLst>
          </p:cNvPr>
          <p:cNvPicPr>
            <a:picLocks xmlns:a="http://schemas.openxmlformats.org/drawingml/2006/main" noChangeAspect="1"/>
          </p:cNvPicPr>
          <p:nvPr/>
        </p:nvPicPr>
        <p:blipFill>
          <a:blip xmlns:r="http://schemas.openxmlformats.org/officeDocument/2006/relationships" xmlns:a="http://schemas.openxmlformats.org/drawingml/2006/main" r:embed="Rc6f847a1c44547da"/>
          <a:stretch xmlns:a="http://schemas.openxmlformats.org/drawingml/2006/main"/>
        </p:blipFill>
        <p:spPr>
          <a:xfrm xmlns:a="http://schemas.openxmlformats.org/drawingml/2006/main">
            <a:off x="770021" y="2286000"/>
            <a:ext cx="5489408" cy="3476625"/>
          </a:xfrm>
          <a:prstGeom xmlns:a="http://schemas.openxmlformats.org/drawingml/2006/main" prst="rect">
            <a:avLst/>
          </a:prstGeom>
        </p:spPr>
      </p:pic>
      <p:graphicFrame>
        <p:nvGraphicFramePr>
          <p:cNvPr id="4" name="">
            <a:extLst xmlns:a="http://schemas.openxmlformats.org/drawingml/2006/main">
              <a:ext uri="{FF2B5EF4-FFF2-40B4-BE49-F238E27FC236}">
                <a16:creationId xmlns:a16="http://schemas.microsoft.com/office/drawing/2014/main" id="{93165F4D-15FC-4604-A62C-3099EF27FCF5}"/>
              </a:ext>
            </a:extLst>
          </p:cNvPr>
          <p:cNvGraphicFramePr/>
          <p:nvPr/>
        </p:nvGraphicFramePr>
        <p:xfrm>
          <a:off xmlns:a="http://schemas.openxmlformats.org/drawingml/2006/main" x="6991350" y="2324100"/>
          <a:ext xmlns:a="http://schemas.openxmlformats.org/drawingml/2006/main" cx="4667250" cy="1905000"/>
        </p:xfrm>
        <a:graphic xmlns:a="http://schemas.openxmlformats.org/drawingml/2006/main">
          <a:graphicData uri="http://schemas.openxmlformats.org/drawingml/2006/table">
            <a:tbl>
              <a:tblPr firstRow="1" bandRow="1"/>
              <a:tblGrid>
                <a:gridCol w="1166813"/>
                <a:gridCol w="1166813"/>
                <a:gridCol w="1166813"/>
                <a:gridCol w="1166813"/>
              </a:tblGrid>
              <a:tr h="476250">
                <a:tc>
                  <a:txBody>
                    <a:bodyPr>
                      <a:noAutofit/>
                    </a:bodyPr>
                    <a:lstStyle/>
                    <a:p>
                      <a:pPr algn="l"/>
                      <a:r>
                        <a:rPr sz="1575" b="1">
                          <a:solidFill>
                            <a:srgbClr val="FFFFFF"/>
                          </a:solidFill>
                          <a:latin typeface="Arial"/>
                          <a:ea typeface="Arial"/>
                          <a:cs typeface="Arial"/>
                        </a:rPr>
                        <a:t>Term</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df</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F</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p</a:t>
                      </a:r>
                    </a:p>
                  </a:txBody>
                  <a:tcPr marL="91440" marR="91440" marT="45720" marB="45720">
                    <a:solidFill>
                      <a:srgbClr val="176D8C"/>
                    </a:solidFill>
                  </a:tcPr>
                </a:tc>
              </a:tr>
              <a:tr h="476250">
                <a:tc>
                  <a:txBody>
                    <a:bodyPr>
                      <a:noAutofit/>
                    </a:bodyPr>
                    <a:lstStyle/>
                    <a:p>
                      <a:pPr algn="l"/>
                      <a:r>
                        <a:rPr sz="1575" b="0">
                          <a:solidFill>
                            <a:srgbClr val="183044"/>
                          </a:solidFill>
                          <a:latin typeface="Arial"/>
                          <a:ea typeface="Arial"/>
                          <a:cs typeface="Arial"/>
                        </a:rPr>
                        <a:t>Block</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3</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5.86</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0.007</a:t>
                      </a:r>
                    </a:p>
                  </a:txBody>
                  <a:tcPr marL="91440" marR="91440" marT="45720" marB="45720">
                    <a:solidFill>
                      <a:srgbClr val="FFFFFF"/>
                    </a:solidFill>
                  </a:tcPr>
                </a:tc>
              </a:tr>
              <a:tr h="476250">
                <a:tc>
                  <a:txBody>
                    <a:bodyPr>
                      <a:noAutofit/>
                    </a:bodyPr>
                    <a:lstStyle/>
                    <a:p>
                      <a:pPr algn="l"/>
                      <a:r>
                        <a:rPr sz="1575" b="0">
                          <a:solidFill>
                            <a:srgbClr val="183044"/>
                          </a:solidFill>
                          <a:latin typeface="Arial"/>
                          <a:ea typeface="Arial"/>
                          <a:cs typeface="Arial"/>
                        </a:rPr>
                        <a:t>Seeding rate</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5</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2.17</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0.113</a:t>
                      </a:r>
                    </a:p>
                  </a:txBody>
                  <a:tcPr marL="91440" marR="91440" marT="45720" marB="45720">
                    <a:solidFill>
                      <a:srgbClr val="F0F5F7"/>
                    </a:solidFill>
                  </a:tcPr>
                </a:tc>
              </a:tr>
              <a:tr h="476250">
                <a:tc>
                  <a:txBody>
                    <a:bodyPr>
                      <a:noAutofit/>
                    </a:bodyPr>
                    <a:lstStyle/>
                    <a:p>
                      <a:pPr algn="l"/>
                      <a:r>
                        <a:rPr sz="1575" b="0">
                          <a:solidFill>
                            <a:srgbClr val="183044"/>
                          </a:solidFill>
                          <a:latin typeface="Arial"/>
                          <a:ea typeface="Arial"/>
                          <a:cs typeface="Arial"/>
                        </a:rPr>
                        <a:t>Residual</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15</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MSE = 110,558</a:t>
                      </a:r>
                    </a:p>
                  </a:txBody>
                  <a:tcPr marL="91440" marR="91440" marT="45720" marB="45720">
                    <a:solidFill>
                      <a:srgbClr val="FFFFFF"/>
                    </a:solidFill>
                  </a:tcPr>
                </a:tc>
                <a:tc>
                  <a:txBody>
                    <a:bodyPr>
                      <a:noAutofit/>
                    </a:bodyPr>
                    <a:lstStyle/>
                    <a:p>
                      <a:r>
                        <a:rPr sz="1575" b="0">
                          <a:solidFill>
                            <a:srgbClr val="183044"/>
                          </a:solidFill>
                          <a:latin typeface="Arial"/>
                          <a:ea typeface="Arial"/>
                          <a:cs typeface="Arial"/>
                        </a:rPr>
                        <a:t/>
                      </a:r>
                    </a:p>
                  </a:txBody>
                  <a:tcPr marL="91440" marR="91440" marT="45720" marB="45720">
                    <a:solidFill>
                      <a:srgbClr val="FFFFFF"/>
                    </a:solidFill>
                  </a:tcPr>
                </a:tc>
              </a:tr>
            </a:tbl>
          </a:graphicData>
        </a:graphic>
      </p:graphicFrame>
      <p:sp>
        <p:nvSpPr>
          <p:cNvPr id="5" name="text">
            <a:extLst xmlns:a="http://schemas.openxmlformats.org/drawingml/2006/main">
              <a:ext uri="{FF2B5EF4-FFF2-40B4-BE49-F238E27FC236}">
                <a16:creationId xmlns:a16="http://schemas.microsoft.com/office/drawing/2014/main" id="{8FD3001F-086E-43B8-993C-E423142D49DC}"/>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Blocking lowers residual MSE by 44.8%. The rate effect is not significant at α = 0.05.</a:t>
            </a:r>
          </a:p>
        </p:txBody>
      </p:sp>
      <p:sp>
        <p:nvSpPr>
          <p:cNvPr id="6" name="text">
            <a:extLst xmlns:a="http://schemas.openxmlformats.org/drawingml/2006/main">
              <a:ext uri="{FF2B5EF4-FFF2-40B4-BE49-F238E27FC236}">
                <a16:creationId xmlns:a16="http://schemas.microsoft.com/office/drawing/2014/main" id="{3DE58C43-466A-4071-B732-12C5EBF1260B}"/>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23</a:t>
            </a:r>
          </a:p>
        </p:txBody>
      </p:sp>
    </p:spTree>
    <p:extLst>
      <p:ext uri="{BB962C8B-B14F-4D97-AF65-F5344CB8AC3E}">
        <p14:creationId xmlns:p14="http://schemas.microsoft.com/office/powerpoint/2010/main" val="98422847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AE8346AF-36B4-434E-AB60-5712858876E5}"/>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Latin Square design</a:t>
            </a:r>
          </a:p>
        </p:txBody>
      </p:sp>
      <p:sp>
        <p:nvSpPr>
          <p:cNvPr id="2" name="text">
            <a:extLst xmlns:a="http://schemas.openxmlformats.org/drawingml/2006/main">
              <a:ext uri="{FF2B5EF4-FFF2-40B4-BE49-F238E27FC236}">
                <a16:creationId xmlns:a16="http://schemas.microsoft.com/office/drawing/2014/main" id="{1BE09400-71F4-48D9-9D61-EB8604A0139A}"/>
              </a:ext>
            </a:extLst>
          </p:cNvPr>
          <p:cNvSpPr>
            <a:spLocks xmlns:a="http://schemas.openxmlformats.org/drawingml/2006/main" noGrp="1"/>
          </p:cNvSpPr>
          <p:nvPr/>
        </p:nvSpPr>
        <p:spPr>
          <a:xfrm xmlns:a="http://schemas.openxmlformats.org/drawingml/2006/main">
            <a:off x="609600" y="11049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83044"/>
                </a:solidFill>
                <a:latin typeface="Arial"/>
                <a:ea typeface="Arial"/>
                <a:cs typeface="Arial"/>
              </a:defRPr>
            </a:defPPr>
          </a:lstStyle>
          <a:p xmlns:a="http://schemas.openxmlformats.org/drawingml/2006/main">
            <a:pPr>
              <a:defRPr sz="1800" b="0">
                <a:solidFill>
                  <a:srgbClr val="183044"/>
                </a:solidFill>
                <a:latin typeface="Arial"/>
                <a:ea typeface="Arial"/>
                <a:cs typeface="Arial"/>
              </a:defRPr>
            </a:pPr>
            <a:r>
              <a:rPr sz="1800" b="0">
                <a:solidFill>
                  <a:srgbClr val="183044"/>
                </a:solidFill>
                <a:latin typeface="Arial"/>
                <a:ea typeface="Arial"/>
                <a:cs typeface="Arial"/>
              </a:rPr>
              <a:t>Five wheat treatments occur once in every row and every column. The model controls two nuisance factors.</a:t>
            </a:r>
          </a:p>
        </p:txBody>
      </p:sp>
      <p:pic>
        <p:nvPicPr>
          <p:cNvPr id="3" name="">
            <a:extLst xmlns:a="http://schemas.openxmlformats.org/drawingml/2006/main">
              <a:ext uri="{FF2B5EF4-FFF2-40B4-BE49-F238E27FC236}">
                <a16:creationId xmlns:a16="http://schemas.microsoft.com/office/drawing/2014/main" id="{BC555A20-4872-4A5C-AE3C-8C140C85E9FB}"/>
              </a:ext>
            </a:extLst>
          </p:cNvPr>
          <p:cNvPicPr>
            <a:picLocks xmlns:a="http://schemas.openxmlformats.org/drawingml/2006/main" noChangeAspect="1"/>
          </p:cNvPicPr>
          <p:nvPr/>
        </p:nvPicPr>
        <p:blipFill>
          <a:blip xmlns:r="http://schemas.openxmlformats.org/officeDocument/2006/relationships" xmlns:a="http://schemas.openxmlformats.org/drawingml/2006/main" r:embed="R582c5068d6db4482"/>
          <a:stretch xmlns:a="http://schemas.openxmlformats.org/drawingml/2006/main"/>
        </p:blipFill>
        <p:spPr>
          <a:xfrm xmlns:a="http://schemas.openxmlformats.org/drawingml/2006/main">
            <a:off x="770021" y="2286000"/>
            <a:ext cx="5489408" cy="3476625"/>
          </a:xfrm>
          <a:prstGeom xmlns:a="http://schemas.openxmlformats.org/drawingml/2006/main" prst="rect">
            <a:avLst/>
          </a:prstGeom>
        </p:spPr>
      </p:pic>
      <p:graphicFrame>
        <p:nvGraphicFramePr>
          <p:cNvPr id="4" name="">
            <a:extLst xmlns:a="http://schemas.openxmlformats.org/drawingml/2006/main">
              <a:ext uri="{FF2B5EF4-FFF2-40B4-BE49-F238E27FC236}">
                <a16:creationId xmlns:a16="http://schemas.microsoft.com/office/drawing/2014/main" id="{1576CBF5-230A-4815-81F9-738E0C668296}"/>
              </a:ext>
            </a:extLst>
          </p:cNvPr>
          <p:cNvGraphicFramePr/>
          <p:nvPr/>
        </p:nvGraphicFramePr>
        <p:xfrm>
          <a:off xmlns:a="http://schemas.openxmlformats.org/drawingml/2006/main" x="6991350" y="2324100"/>
          <a:ext xmlns:a="http://schemas.openxmlformats.org/drawingml/2006/main" cx="4667250" cy="2381250"/>
        </p:xfrm>
        <a:graphic xmlns:a="http://schemas.openxmlformats.org/drawingml/2006/main">
          <a:graphicData uri="http://schemas.openxmlformats.org/drawingml/2006/table">
            <a:tbl>
              <a:tblPr firstRow="1" bandRow="1"/>
              <a:tblGrid>
                <a:gridCol w="1555750"/>
                <a:gridCol w="1555750"/>
                <a:gridCol w="1555750"/>
              </a:tblGrid>
              <a:tr h="476250">
                <a:tc>
                  <a:txBody>
                    <a:bodyPr>
                      <a:noAutofit/>
                    </a:bodyPr>
                    <a:lstStyle/>
                    <a:p>
                      <a:pPr algn="l"/>
                      <a:r>
                        <a:rPr sz="1575" b="1">
                          <a:solidFill>
                            <a:srgbClr val="FFFFFF"/>
                          </a:solidFill>
                          <a:latin typeface="Arial"/>
                          <a:ea typeface="Arial"/>
                          <a:cs typeface="Arial"/>
                        </a:rPr>
                        <a:t>Term</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df</a:t>
                      </a:r>
                    </a:p>
                  </a:txBody>
                  <a:tcPr marL="91440" marR="91440" marT="45720" marB="45720">
                    <a:solidFill>
                      <a:srgbClr val="176D8C"/>
                    </a:solidFill>
                  </a:tcPr>
                </a:tc>
                <a:tc>
                  <a:txBody>
                    <a:bodyPr>
                      <a:noAutofit/>
                    </a:bodyPr>
                    <a:lstStyle/>
                    <a:p>
                      <a:pPr algn="ctr"/>
                      <a:r>
                        <a:rPr sz="1575" b="1">
                          <a:solidFill>
                            <a:srgbClr val="FFFFFF"/>
                          </a:solidFill>
                          <a:latin typeface="Arial"/>
                          <a:ea typeface="Arial"/>
                          <a:cs typeface="Arial"/>
                        </a:rPr>
                        <a:t>p</a:t>
                      </a:r>
                    </a:p>
                  </a:txBody>
                  <a:tcPr marL="91440" marR="91440" marT="45720" marB="45720">
                    <a:solidFill>
                      <a:srgbClr val="176D8C"/>
                    </a:solidFill>
                  </a:tcPr>
                </a:tc>
              </a:tr>
              <a:tr h="476250">
                <a:tc>
                  <a:txBody>
                    <a:bodyPr>
                      <a:noAutofit/>
                    </a:bodyPr>
                    <a:lstStyle/>
                    <a:p>
                      <a:pPr algn="l"/>
                      <a:r>
                        <a:rPr sz="1575" b="0">
                          <a:solidFill>
                            <a:srgbClr val="183044"/>
                          </a:solidFill>
                          <a:latin typeface="Arial"/>
                          <a:ea typeface="Arial"/>
                          <a:cs typeface="Arial"/>
                        </a:rPr>
                        <a:t>Row</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4</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0.013</a:t>
                      </a:r>
                    </a:p>
                  </a:txBody>
                  <a:tcPr marL="91440" marR="91440" marT="45720" marB="45720">
                    <a:solidFill>
                      <a:srgbClr val="FFFFFF"/>
                    </a:solidFill>
                  </a:tcPr>
                </a:tc>
              </a:tr>
              <a:tr h="476250">
                <a:tc>
                  <a:txBody>
                    <a:bodyPr>
                      <a:noAutofit/>
                    </a:bodyPr>
                    <a:lstStyle/>
                    <a:p>
                      <a:pPr algn="l"/>
                      <a:r>
                        <a:rPr sz="1575" b="0">
                          <a:solidFill>
                            <a:srgbClr val="183044"/>
                          </a:solidFill>
                          <a:latin typeface="Arial"/>
                          <a:ea typeface="Arial"/>
                          <a:cs typeface="Arial"/>
                        </a:rPr>
                        <a:t>Column</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4</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0.263</a:t>
                      </a:r>
                    </a:p>
                  </a:txBody>
                  <a:tcPr marL="91440" marR="91440" marT="45720" marB="45720">
                    <a:solidFill>
                      <a:srgbClr val="F0F5F7"/>
                    </a:solidFill>
                  </a:tcPr>
                </a:tc>
              </a:tr>
              <a:tr h="476250">
                <a:tc>
                  <a:txBody>
                    <a:bodyPr>
                      <a:noAutofit/>
                    </a:bodyPr>
                    <a:lstStyle/>
                    <a:p>
                      <a:pPr algn="l"/>
                      <a:r>
                        <a:rPr sz="1575" b="0">
                          <a:solidFill>
                            <a:srgbClr val="183044"/>
                          </a:solidFill>
                          <a:latin typeface="Arial"/>
                          <a:ea typeface="Arial"/>
                          <a:cs typeface="Arial"/>
                        </a:rPr>
                        <a:t>Treatment</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4</a:t>
                      </a:r>
                    </a:p>
                  </a:txBody>
                  <a:tcPr marL="91440" marR="91440" marT="45720" marB="45720">
                    <a:solidFill>
                      <a:srgbClr val="FFFFFF"/>
                    </a:solidFill>
                  </a:tcPr>
                </a:tc>
                <a:tc>
                  <a:txBody>
                    <a:bodyPr>
                      <a:noAutofit/>
                    </a:bodyPr>
                    <a:lstStyle/>
                    <a:p>
                      <a:pPr algn="ctr"/>
                      <a:r>
                        <a:rPr sz="1575" b="0">
                          <a:solidFill>
                            <a:srgbClr val="183044"/>
                          </a:solidFill>
                          <a:latin typeface="Arial"/>
                          <a:ea typeface="Arial"/>
                          <a:cs typeface="Arial"/>
                        </a:rPr>
                        <a:t>&lt;0.001</a:t>
                      </a:r>
                    </a:p>
                  </a:txBody>
                  <a:tcPr marL="91440" marR="91440" marT="45720" marB="45720">
                    <a:solidFill>
                      <a:srgbClr val="FFFFFF"/>
                    </a:solidFill>
                  </a:tcPr>
                </a:tc>
              </a:tr>
              <a:tr h="476250">
                <a:tc>
                  <a:txBody>
                    <a:bodyPr>
                      <a:noAutofit/>
                    </a:bodyPr>
                    <a:lstStyle/>
                    <a:p>
                      <a:pPr algn="l"/>
                      <a:r>
                        <a:rPr sz="1575" b="0">
                          <a:solidFill>
                            <a:srgbClr val="183044"/>
                          </a:solidFill>
                          <a:latin typeface="Arial"/>
                          <a:ea typeface="Arial"/>
                          <a:cs typeface="Arial"/>
                        </a:rPr>
                        <a:t>Residual</a:t>
                      </a:r>
                    </a:p>
                  </a:txBody>
                  <a:tcPr marL="91440" marR="91440" marT="45720" marB="45720">
                    <a:solidFill>
                      <a:srgbClr val="F0F5F7"/>
                    </a:solidFill>
                  </a:tcPr>
                </a:tc>
                <a:tc>
                  <a:txBody>
                    <a:bodyPr>
                      <a:noAutofit/>
                    </a:bodyPr>
                    <a:lstStyle/>
                    <a:p>
                      <a:pPr algn="ctr"/>
                      <a:r>
                        <a:rPr sz="1575" b="0">
                          <a:solidFill>
                            <a:srgbClr val="183044"/>
                          </a:solidFill>
                          <a:latin typeface="Arial"/>
                          <a:ea typeface="Arial"/>
                          <a:cs typeface="Arial"/>
                        </a:rPr>
                        <a:t>12</a:t>
                      </a:r>
                    </a:p>
                  </a:txBody>
                  <a:tcPr marL="91440" marR="91440" marT="45720" marB="45720">
                    <a:solidFill>
                      <a:srgbClr val="F0F5F7"/>
                    </a:solidFill>
                  </a:tcPr>
                </a:tc>
                <a:tc>
                  <a:txBody>
                    <a:bodyPr>
                      <a:noAutofit/>
                    </a:bodyPr>
                    <a:lstStyle/>
                    <a:p>
                      <a:r>
                        <a:rPr sz="1575" b="0">
                          <a:solidFill>
                            <a:srgbClr val="183044"/>
                          </a:solidFill>
                          <a:latin typeface="Arial"/>
                          <a:ea typeface="Arial"/>
                          <a:cs typeface="Arial"/>
                        </a:rPr>
                        <a:t/>
                      </a:r>
                    </a:p>
                  </a:txBody>
                  <a:tcPr marL="91440" marR="91440" marT="45720" marB="45720">
                    <a:solidFill>
                      <a:srgbClr val="F0F5F7"/>
                    </a:solidFill>
                  </a:tcPr>
                </a:tc>
              </a:tr>
            </a:tbl>
          </a:graphicData>
        </a:graphic>
      </p:graphicFrame>
      <p:sp>
        <p:nvSpPr>
          <p:cNvPr id="5" name="text">
            <a:extLst xmlns:a="http://schemas.openxmlformats.org/drawingml/2006/main">
              <a:ext uri="{FF2B5EF4-FFF2-40B4-BE49-F238E27FC236}">
                <a16:creationId xmlns:a16="http://schemas.microsoft.com/office/drawing/2014/main" id="{5A9BDDD1-64DF-499D-8D57-9896E4A4C50F}"/>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Weekly dusting (C) has the highest mean yield, 13.12, and exceeds each other treatment in Tukey comparisons.</a:t>
            </a:r>
          </a:p>
        </p:txBody>
      </p:sp>
      <p:sp>
        <p:nvSpPr>
          <p:cNvPr id="6" name="text">
            <a:extLst xmlns:a="http://schemas.openxmlformats.org/drawingml/2006/main">
              <a:ext uri="{FF2B5EF4-FFF2-40B4-BE49-F238E27FC236}">
                <a16:creationId xmlns:a16="http://schemas.microsoft.com/office/drawing/2014/main" id="{F74CD4C4-0F4A-40A8-A73F-10EAE817DCB1}"/>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24</a:t>
            </a:r>
          </a:p>
        </p:txBody>
      </p:sp>
    </p:spTree>
    <p:extLst>
      <p:ext uri="{BB962C8B-B14F-4D97-AF65-F5344CB8AC3E}">
        <p14:creationId xmlns:p14="http://schemas.microsoft.com/office/powerpoint/2010/main" val="33747073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
            <a:extLst xmlns:a="http://schemas.openxmlformats.org/drawingml/2006/main">
              <a:ext uri="{FF2B5EF4-FFF2-40B4-BE49-F238E27FC236}">
                <a16:creationId xmlns:a16="http://schemas.microsoft.com/office/drawing/2014/main" id="{EB287EB1-CC71-4B57-9BA2-5070EBBACDAC}"/>
              </a:ext>
            </a:extLst>
          </p:cNvPr>
          <p:cNvSpPr>
            <a:spLocks xmlns:a="http://schemas.openxmlformats.org/drawingml/2006/main" noGrp="1"/>
          </p:cNvSpPr>
          <p:nvPr/>
        </p:nvSpPr>
        <p:spPr>
          <a:xfrm xmlns:a="http://schemas.openxmlformats.org/drawingml/2006/main">
            <a:off x="533400" y="304800"/>
            <a:ext cx="11125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83044"/>
                </a:solidFill>
                <a:latin typeface="Arial"/>
                <a:ea typeface="Arial"/>
                <a:cs typeface="Arial"/>
              </a:defRPr>
            </a:defPPr>
          </a:lstStyle>
          <a:p xmlns:a="http://schemas.openxmlformats.org/drawingml/2006/main">
            <a:pPr>
              <a:defRPr sz="3225" b="1">
                <a:solidFill>
                  <a:srgbClr val="183044"/>
                </a:solidFill>
                <a:latin typeface="Arial"/>
                <a:ea typeface="Arial"/>
                <a:cs typeface="Arial"/>
              </a:defRPr>
            </a:pPr>
            <a:r>
              <a:rPr sz="3225" b="1">
                <a:solidFill>
                  <a:srgbClr val="183044"/>
                </a:solidFill>
                <a:latin typeface="Arial"/>
                <a:ea typeface="Arial"/>
                <a:cs typeface="Arial"/>
              </a:rPr>
              <a:t>Findings and conclusion</a:t>
            </a:r>
          </a:p>
        </p:txBody>
      </p:sp>
      <p:sp>
        <p:nvSpPr>
          <p:cNvPr id="2" name="text">
            <a:extLst xmlns:a="http://schemas.openxmlformats.org/drawingml/2006/main">
              <a:ext uri="{FF2B5EF4-FFF2-40B4-BE49-F238E27FC236}">
                <a16:creationId xmlns:a16="http://schemas.microsoft.com/office/drawing/2014/main" id="{8BE786CC-9C04-4781-9C32-4EBA3AFB2990}"/>
              </a:ext>
            </a:extLst>
          </p:cNvPr>
          <p:cNvSpPr>
            <a:spLocks xmlns:a="http://schemas.openxmlformats.org/drawingml/2006/main" noGrp="1"/>
          </p:cNvSpPr>
          <p:nvPr/>
        </p:nvSpPr>
        <p:spPr>
          <a:xfrm xmlns:a="http://schemas.openxmlformats.org/drawingml/2006/main">
            <a:off x="609600" y="1333500"/>
            <a:ext cx="1095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3044"/>
                </a:solidFill>
                <a:latin typeface="Arial"/>
                <a:ea typeface="Arial"/>
                <a:cs typeface="Arial"/>
              </a:defRPr>
            </a:defPPr>
          </a:lstStyle>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BMI is higher on average in the prediabetes and diabetes groups, with substantial overlap between respondents.</a:t>
            </a:r>
          </a:p>
        </p:txBody>
      </p:sp>
      <p:sp>
        <p:nvSpPr>
          <p:cNvPr id="3" name="text">
            <a:extLst xmlns:a="http://schemas.openxmlformats.org/drawingml/2006/main">
              <a:ext uri="{FF2B5EF4-FFF2-40B4-BE49-F238E27FC236}">
                <a16:creationId xmlns:a16="http://schemas.microsoft.com/office/drawing/2014/main" id="{68291EE2-76DC-4D3A-BE81-DF955DB100D1}"/>
              </a:ext>
            </a:extLst>
          </p:cNvPr>
          <p:cNvSpPr>
            <a:spLocks xmlns:a="http://schemas.openxmlformats.org/drawingml/2006/main" noGrp="1"/>
          </p:cNvSpPr>
          <p:nvPr/>
        </p:nvSpPr>
        <p:spPr>
          <a:xfrm xmlns:a="http://schemas.openxmlformats.org/drawingml/2006/main">
            <a:off x="609600" y="2228850"/>
            <a:ext cx="1095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3044"/>
                </a:solidFill>
                <a:latin typeface="Arial"/>
                <a:ea typeface="Arial"/>
                <a:cs typeface="Arial"/>
              </a:defRPr>
            </a:defPPr>
          </a:lstStyle>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Poor-health days have a weak positive BMI association. The multiple model explains 6.8% of BMI variation.</a:t>
            </a:r>
          </a:p>
        </p:txBody>
      </p:sp>
      <p:sp>
        <p:nvSpPr>
          <p:cNvPr id="4" name="text">
            <a:extLst xmlns:a="http://schemas.openxmlformats.org/drawingml/2006/main">
              <a:ext uri="{FF2B5EF4-FFF2-40B4-BE49-F238E27FC236}">
                <a16:creationId xmlns:a16="http://schemas.microsoft.com/office/drawing/2014/main" id="{8DAF1EC4-85AB-494E-A6C4-16BBEF3C7DB0}"/>
              </a:ext>
            </a:extLst>
          </p:cNvPr>
          <p:cNvSpPr>
            <a:spLocks xmlns:a="http://schemas.openxmlformats.org/drawingml/2006/main" noGrp="1"/>
          </p:cNvSpPr>
          <p:nvPr/>
        </p:nvSpPr>
        <p:spPr>
          <a:xfrm xmlns:a="http://schemas.openxmlformats.org/drawingml/2006/main">
            <a:off x="609600" y="3124200"/>
            <a:ext cx="1095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3044"/>
                </a:solidFill>
                <a:latin typeface="Arial"/>
                <a:ea typeface="Arial"/>
                <a:cs typeface="Arial"/>
              </a:defRPr>
            </a:defPPr>
          </a:lstStyle>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Outlier filtering changes estimates and health-status composition. Normal and Poisson fits are inadequate for these observations.</a:t>
            </a:r>
          </a:p>
        </p:txBody>
      </p:sp>
      <p:sp>
        <p:nvSpPr>
          <p:cNvPr id="5" name="text">
            <a:extLst xmlns:a="http://schemas.openxmlformats.org/drawingml/2006/main">
              <a:ext uri="{FF2B5EF4-FFF2-40B4-BE49-F238E27FC236}">
                <a16:creationId xmlns:a16="http://schemas.microsoft.com/office/drawing/2014/main" id="{480358FB-35A2-4C8F-941B-54FF7E6159ED}"/>
              </a:ext>
            </a:extLst>
          </p:cNvPr>
          <p:cNvSpPr>
            <a:spLocks xmlns:a="http://schemas.openxmlformats.org/drawingml/2006/main" noGrp="1"/>
          </p:cNvSpPr>
          <p:nvPr/>
        </p:nvSpPr>
        <p:spPr>
          <a:xfrm xmlns:a="http://schemas.openxmlformats.org/drawingml/2006/main">
            <a:off x="609600" y="4019550"/>
            <a:ext cx="1095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3044"/>
                </a:solidFill>
                <a:latin typeface="Arial"/>
                <a:ea typeface="Arial"/>
                <a:cs typeface="Arial"/>
              </a:defRPr>
            </a:defPPr>
          </a:lstStyle>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The experimental supplements demonstrate pairing and nuisance-factor control.</a:t>
            </a:r>
          </a:p>
        </p:txBody>
      </p:sp>
      <p:sp>
        <p:nvSpPr>
          <p:cNvPr id="6" name="text">
            <a:extLst xmlns:a="http://schemas.openxmlformats.org/drawingml/2006/main">
              <a:ext uri="{FF2B5EF4-FFF2-40B4-BE49-F238E27FC236}">
                <a16:creationId xmlns:a16="http://schemas.microsoft.com/office/drawing/2014/main" id="{58C2F298-E2E5-4C70-89F7-E73E1641033E}"/>
              </a:ext>
            </a:extLst>
          </p:cNvPr>
          <p:cNvSpPr>
            <a:spLocks xmlns:a="http://schemas.openxmlformats.org/drawingml/2006/main" noGrp="1"/>
          </p:cNvSpPr>
          <p:nvPr/>
        </p:nvSpPr>
        <p:spPr>
          <a:xfrm xmlns:a="http://schemas.openxmlformats.org/drawingml/2006/main">
            <a:off x="609600" y="4914900"/>
            <a:ext cx="1095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83044"/>
                </a:solidFill>
                <a:latin typeface="Arial"/>
                <a:ea typeface="Arial"/>
                <a:cs typeface="Arial"/>
              </a:defRPr>
            </a:defPPr>
          </a:lstStyle>
          <a:p xmlns:a="http://schemas.openxmlformats.org/drawingml/2006/main">
            <a:pPr>
              <a:defRPr sz="1950" b="0">
                <a:solidFill>
                  <a:srgbClr val="183044"/>
                </a:solidFill>
                <a:latin typeface="Arial"/>
                <a:ea typeface="Arial"/>
                <a:cs typeface="Arial"/>
              </a:defRPr>
            </a:pPr>
            <a:r>
              <a:rPr sz="1950" b="0">
                <a:solidFill>
                  <a:srgbClr val="183044"/>
                </a:solidFill>
                <a:latin typeface="Arial"/>
                <a:ea typeface="Arial"/>
                <a:cs typeface="Arial"/>
              </a:rPr>
              <a:t>Limitations include self-report, historical data, missing survey weights, confounding, sparse subgroups and multiple exploratory tests.</a:t>
            </a:r>
          </a:p>
        </p:txBody>
      </p:sp>
      <p:sp>
        <p:nvSpPr>
          <p:cNvPr id="7" name="text">
            <a:extLst xmlns:a="http://schemas.openxmlformats.org/drawingml/2006/main">
              <a:ext uri="{FF2B5EF4-FFF2-40B4-BE49-F238E27FC236}">
                <a16:creationId xmlns:a16="http://schemas.microsoft.com/office/drawing/2014/main" id="{123A0BC8-FA7E-4EF7-A397-DFF09C2A65EA}"/>
              </a:ext>
            </a:extLst>
          </p:cNvPr>
          <p:cNvSpPr>
            <a:spLocks xmlns:a="http://schemas.openxmlformats.org/drawingml/2006/main" noGrp="1"/>
          </p:cNvSpPr>
          <p:nvPr/>
        </p:nvSpPr>
        <p:spPr>
          <a:xfrm xmlns:a="http://schemas.openxmlformats.org/drawingml/2006/main">
            <a:off x="609600" y="5924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The project answers descriptive and statistical questions. It supports cautious associations and course-method demonstrations.</a:t>
            </a:r>
          </a:p>
        </p:txBody>
      </p:sp>
      <p:sp>
        <p:nvSpPr>
          <p:cNvPr id="8" name="text">
            <a:extLst xmlns:a="http://schemas.openxmlformats.org/drawingml/2006/main">
              <a:ext uri="{FF2B5EF4-FFF2-40B4-BE49-F238E27FC236}">
                <a16:creationId xmlns:a16="http://schemas.microsoft.com/office/drawing/2014/main" id="{D75E2367-2EBD-494C-A84B-789EC6A01D00}"/>
              </a:ext>
            </a:extLst>
          </p:cNvPr>
          <p:cNvSpPr>
            <a:spLocks xmlns:a="http://schemas.openxmlformats.org/drawingml/2006/main" noGrp="1"/>
          </p:cNvSpPr>
          <p:nvPr/>
        </p:nvSpPr>
        <p:spPr>
          <a:xfrm xmlns:a="http://schemas.openxmlformats.org/drawingml/2006/main">
            <a:off x="609600" y="6438900"/>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0">
                <a:solidFill>
                  <a:srgbClr val="415566"/>
                </a:solidFill>
                <a:latin typeface="Arial"/>
                <a:ea typeface="Arial"/>
                <a:cs typeface="Arial"/>
              </a:defRPr>
            </a:defPPr>
          </a:lstStyle>
          <a:p xmlns:a="http://schemas.openxmlformats.org/drawingml/2006/main">
            <a:pPr>
              <a:defRPr sz="975" b="0">
                <a:solidFill>
                  <a:srgbClr val="415566"/>
                </a:solidFill>
                <a:latin typeface="Arial"/>
                <a:ea typeface="Arial"/>
                <a:cs typeface="Arial"/>
              </a:defRPr>
            </a:pPr>
            <a:r>
              <a:rPr sz="975" b="0">
                <a:solidFill>
                  <a:srgbClr val="415566"/>
                </a:solidFill>
                <a:latin typeface="Arial"/>
                <a:ea typeface="Arial"/>
                <a:cs typeface="Arial"/>
              </a:rPr>
              <a:t>References: CDC BRFSS 2015 | Alex Teboul (Kaggle) | MASS | agridat | NIST. Full links in notes and report.</a:t>
            </a:r>
          </a:p>
        </p:txBody>
      </p:sp>
      <p:sp>
        <p:nvSpPr>
          <p:cNvPr id="9" name="text">
            <a:extLst xmlns:a="http://schemas.openxmlformats.org/drawingml/2006/main">
              <a:ext uri="{FF2B5EF4-FFF2-40B4-BE49-F238E27FC236}">
                <a16:creationId xmlns:a16="http://schemas.microsoft.com/office/drawing/2014/main" id="{393BC30F-CC75-43C8-93D5-ADF7F53D23CF}"/>
              </a:ext>
            </a:extLst>
          </p:cNvPr>
          <p:cNvSpPr>
            <a:spLocks xmlns:a="http://schemas.openxmlformats.org/drawingml/2006/main" noGrp="1"/>
          </p:cNvSpPr>
          <p:nvPr/>
        </p:nvSpPr>
        <p:spPr>
          <a:xfrm xmlns:a="http://schemas.openxmlformats.org/drawingml/2006/main">
            <a:off x="11372850" y="65151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415566"/>
                </a:solidFill>
                <a:latin typeface="Arial"/>
                <a:ea typeface="Arial"/>
                <a:cs typeface="Arial"/>
              </a:defRPr>
            </a:defPPr>
          </a:lstStyle>
          <a:p xmlns:a="http://schemas.openxmlformats.org/drawingml/2006/main">
            <a:pPr>
              <a:defRPr sz="1275" b="0">
                <a:solidFill>
                  <a:srgbClr val="415566"/>
                </a:solidFill>
                <a:latin typeface="Arial"/>
                <a:ea typeface="Arial"/>
                <a:cs typeface="Arial"/>
              </a:defRPr>
            </a:pPr>
            <a:r>
              <a:rPr sz="1275" b="0">
                <a:solidFill>
                  <a:srgbClr val="415566"/>
                </a:solidFill>
                <a:latin typeface="Arial"/>
                <a:ea typeface="Arial"/>
                <a:cs typeface="Arial"/>
              </a:rPr>
              <a:t>25</a:t>
            </a:r>
          </a:p>
        </p:txBody>
      </p:sp>
    </p:spTree>
    <p:extLst>
      <p:ext uri="{BB962C8B-B14F-4D97-AF65-F5344CB8AC3E}">
        <p14:creationId xmlns:p14="http://schemas.microsoft.com/office/powerpoint/2010/main" val="11783241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2026-10-04T16:13:49.5620000Z</dcterms:created>
  <dcterms:modified xsi:type="dcterms:W3CDTF">2026-10-04T16:13:49.5620000Z</dcterms:modified>
</coreProperties>
</file>