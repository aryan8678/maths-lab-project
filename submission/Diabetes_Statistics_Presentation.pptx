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8.xml" ContentType="application/vnd.openxmlformats-officedocument.drawingml.chart+xml"/>
  <Override PartName="/ppt/slides/charts/chart9.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0.xml" ContentType="application/vnd.openxmlformats-officedocument.drawingml.chart+xml"/>
  <Override PartName="/ppt/slides/charts/chart1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2.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5062d9fac0d4018" /><Relationship Type="http://schemas.openxmlformats.org/officeDocument/2006/relationships/extended-properties" Target="/docProps/app.xml" Id="Re78b8c7d287c4063" /><Relationship Type="http://schemas.openxmlformats.org/officeDocument/2006/relationships/officeDocument" Target="/ppt/presentation.xml" Id="Rd244d03f91a44911" /></Relationships>
</file>

<file path=ppt/presentation.xml><?xml version="1.0" encoding="utf-8"?>
<p:presentation xmlns:p="http://schemas.openxmlformats.org/presentationml/2006/main">
  <p:sldMasterIdLst>
    <p:sldMasterId xmlns:r="http://schemas.openxmlformats.org/officeDocument/2006/relationships" id="2147483648" r:id="Rd46a8a1e917745f2"/>
  </p:sldMasterIdLst>
  <p:notesMasterIdLst>
    <p:notesMasterId xmlns:r="http://schemas.openxmlformats.org/officeDocument/2006/relationships" r:id="R4454d24151aa4079"/>
  </p:notesMasterIdLst>
  <p:sldIdLst>
    <p:sldId xmlns:r="http://schemas.openxmlformats.org/officeDocument/2006/relationships" id="256" r:id="Rf516ea4fde85476c"/>
    <p:sldId xmlns:r="http://schemas.openxmlformats.org/officeDocument/2006/relationships" id="257" r:id="R20dd35349a324db1"/>
    <p:sldId xmlns:r="http://schemas.openxmlformats.org/officeDocument/2006/relationships" id="258" r:id="R83cd2c4d9020450d"/>
    <p:sldId xmlns:r="http://schemas.openxmlformats.org/officeDocument/2006/relationships" id="259" r:id="Ree590c06e93e4134"/>
    <p:sldId xmlns:r="http://schemas.openxmlformats.org/officeDocument/2006/relationships" id="260" r:id="R23259eee1a914b98"/>
    <p:sldId xmlns:r="http://schemas.openxmlformats.org/officeDocument/2006/relationships" id="261" r:id="R18c4286989ba4c8c"/>
    <p:sldId xmlns:r="http://schemas.openxmlformats.org/officeDocument/2006/relationships" id="262" r:id="R7325a8d7d6bf4111"/>
    <p:sldId xmlns:r="http://schemas.openxmlformats.org/officeDocument/2006/relationships" id="263" r:id="R94968a0b0b484374"/>
    <p:sldId xmlns:r="http://schemas.openxmlformats.org/officeDocument/2006/relationships" id="264" r:id="R9936bd10539243df"/>
    <p:sldId xmlns:r="http://schemas.openxmlformats.org/officeDocument/2006/relationships" id="265" r:id="R10a154c06622453d"/>
    <p:sldId xmlns:r="http://schemas.openxmlformats.org/officeDocument/2006/relationships" id="266" r:id="R46ba7fef87a04e1a"/>
    <p:sldId xmlns:r="http://schemas.openxmlformats.org/officeDocument/2006/relationships" id="267" r:id="R0a1a580112bf4565"/>
    <p:sldId xmlns:r="http://schemas.openxmlformats.org/officeDocument/2006/relationships" id="268" r:id="R2f9030ab96094b3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59cc48f39b44ec7" /><Relationship Type="http://schemas.openxmlformats.org/officeDocument/2006/relationships/slideMaster" Target="/ppt/slideMasters/slideMaster1.xml" Id="Rd46a8a1e917745f2" /><Relationship Type="http://schemas.openxmlformats.org/officeDocument/2006/relationships/notesMaster" Target="/ppt/notesMasters/notesMaster1.xml" Id="R4454d24151aa4079" /><Relationship Type="http://schemas.openxmlformats.org/officeDocument/2006/relationships/presProps" Target="/ppt/presProps.xml" Id="R0bfed2dfdbce4c95" /><Relationship Type="http://schemas.openxmlformats.org/officeDocument/2006/relationships/tableStyles" Target="/ppt/tableStyles.xml" Id="R8a3379cb8bee4b10" /><Relationship Type="http://schemas.openxmlformats.org/officeDocument/2006/relationships/slide" Target="/ppt/slides/slide1.xml" Id="Rf516ea4fde85476c" /><Relationship Type="http://schemas.openxmlformats.org/officeDocument/2006/relationships/slide" Target="/ppt/slides/slide2.xml" Id="R20dd35349a324db1" /><Relationship Type="http://schemas.openxmlformats.org/officeDocument/2006/relationships/slide" Target="/ppt/slides/slide3.xml" Id="R83cd2c4d9020450d" /><Relationship Type="http://schemas.openxmlformats.org/officeDocument/2006/relationships/slide" Target="/ppt/slides/slide4.xml" Id="Ree590c06e93e4134" /><Relationship Type="http://schemas.openxmlformats.org/officeDocument/2006/relationships/slide" Target="/ppt/slides/slide5.xml" Id="R23259eee1a914b98" /><Relationship Type="http://schemas.openxmlformats.org/officeDocument/2006/relationships/slide" Target="/ppt/slides/slide6.xml" Id="R18c4286989ba4c8c" /><Relationship Type="http://schemas.openxmlformats.org/officeDocument/2006/relationships/slide" Target="/ppt/slides/slide7.xml" Id="R7325a8d7d6bf4111" /><Relationship Type="http://schemas.openxmlformats.org/officeDocument/2006/relationships/slide" Target="/ppt/slides/slide8.xml" Id="R94968a0b0b484374" /><Relationship Type="http://schemas.openxmlformats.org/officeDocument/2006/relationships/slide" Target="/ppt/slides/slide9.xml" Id="R9936bd10539243df" /><Relationship Type="http://schemas.openxmlformats.org/officeDocument/2006/relationships/slide" Target="/ppt/slides/slide10.xml" Id="R10a154c06622453d" /><Relationship Type="http://schemas.openxmlformats.org/officeDocument/2006/relationships/slide" Target="/ppt/slides/slide11.xml" Id="R46ba7fef87a04e1a" /><Relationship Type="http://schemas.openxmlformats.org/officeDocument/2006/relationships/slide" Target="/ppt/slides/slide12.xml" Id="R0a1a580112bf4565" /><Relationship Type="http://schemas.openxmlformats.org/officeDocument/2006/relationships/slide" Target="/ppt/slides/slide13.xml" Id="R2f9030ab96094b3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d7120aa2fc649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4eb23193e144ea" /><Relationship Type="http://schemas.openxmlformats.org/officeDocument/2006/relationships/notesMaster" Target="/ppt/notesMasters/notesMaster1.xml" Id="Rc6ed2dc0a330416f" /></Relationships>
</file>

<file path=ppt/notesSlides/_rels/notesSlide2.xml.rels>&#65279;<?xml version="1.0" encoding="utf-8"?><Relationships xmlns="http://schemas.openxmlformats.org/package/2006/relationships"><Relationship Type="http://schemas.openxmlformats.org/officeDocument/2006/relationships/slide" Target="/ppt/slides/slide2.xml" Id="R1120c3d751814ccc" /><Relationship Type="http://schemas.openxmlformats.org/officeDocument/2006/relationships/notesMaster" Target="/ppt/notesMasters/notesMaster1.xml" Id="R3ff740239aa5425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920186e83547a9" /><Relationship Type="http://schemas.openxmlformats.org/officeDocument/2006/relationships/notesMaster" Target="/ppt/notesMasters/notesMaster1.xml" Id="R6a2858bdd48a4d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16398f349745e4" /><Relationship Type="http://schemas.openxmlformats.org/officeDocument/2006/relationships/notesMaster" Target="/ppt/notesMasters/notesMaster1.xml" Id="R5a2f5095599a4c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92a4cf1e944d70" /><Relationship Type="http://schemas.openxmlformats.org/officeDocument/2006/relationships/notesMaster" Target="/ppt/notesMasters/notesMaster1.xml" Id="R603a0c7ba3574a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1384292337b140e0" /><Relationship Type="http://schemas.openxmlformats.org/officeDocument/2006/relationships/notesMaster" Target="/ppt/notesMasters/notesMaster1.xml" Id="R1b0f6cd2fb3d4e8c" /></Relationships>
</file>

<file path=ppt/notesSlides/_rels/notesSlide7.xml.rels>&#65279;<?xml version="1.0" encoding="utf-8"?><Relationships xmlns="http://schemas.openxmlformats.org/package/2006/relationships"><Relationship Type="http://schemas.openxmlformats.org/officeDocument/2006/relationships/slide" Target="/ppt/slides/slide7.xml" Id="Rb7fa487664a94afc" /><Relationship Type="http://schemas.openxmlformats.org/officeDocument/2006/relationships/notesMaster" Target="/ppt/notesMasters/notesMaster1.xml" Id="R9c983d9e752e4b83" /></Relationships>
</file>

<file path=ppt/notesSlides/_rels/notesSlide8.xml.rels>&#65279;<?xml version="1.0" encoding="utf-8"?><Relationships xmlns="http://schemas.openxmlformats.org/package/2006/relationships"><Relationship Type="http://schemas.openxmlformats.org/officeDocument/2006/relationships/slide" Target="/ppt/slides/slide8.xml" Id="R3d2cbbeaccf74aee" /><Relationship Type="http://schemas.openxmlformats.org/officeDocument/2006/relationships/notesMaster" Target="/ppt/notesMasters/notesMaster1.xml" Id="R2924a347851e499a" /></Relationships>
</file>

<file path=ppt/notesSlides/_rels/notesSlide9.xml.rels>&#65279;<?xml version="1.0" encoding="utf-8"?><Relationships xmlns="http://schemas.openxmlformats.org/package/2006/relationships"><Relationship Type="http://schemas.openxmlformats.org/officeDocument/2006/relationships/slide" Target="/ppt/slides/slide9.xml" Id="R3aca40c3924842d0" /><Relationship Type="http://schemas.openxmlformats.org/officeDocument/2006/relationships/notesMaster" Target="/ppt/notesMasters/notesMaster1.xml" Id="R703937cf965148e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46ecf5a4ea24153" /><Relationship Type="http://schemas.openxmlformats.org/officeDocument/2006/relationships/notesMaster" Target="/ppt/notesMasters/notesMaster1.xml" Id="R9e1cd70d92c147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e3cb231c44f46c3" /><Relationship Type="http://schemas.openxmlformats.org/officeDocument/2006/relationships/notesMaster" Target="/ppt/notesMasters/notesMaster1.xml" Id="R6418a94c444040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db6c8a3d3c04773" /><Relationship Type="http://schemas.openxmlformats.org/officeDocument/2006/relationships/notesMaster" Target="/ppt/notesMasters/notesMaster1.xml" Id="R25b0a5bea0d7427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a7a84bc29064b04" /><Relationship Type="http://schemas.openxmlformats.org/officeDocument/2006/relationships/notesMaster" Target="/ppt/notesMasters/notesMaster1.xml" Id="R9e45dd0bdbfe425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project and four team members. The main dataset is the processed CDC BRFSS 2015 derivative. Experimental datasets supplement the methods that require genuine pairing or randomized designs. Suggested time: 20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Secondary data collection: CDC BRFSS 2015, processed by Alex Teboul on Kaggle. Exact derivative: 253680 rows, 22 raw columns (21 predictors plus target). Random sample without replacement, seed101. Combined positive status includes prediabetes OR diabetes:469/3000=15.633%. Original CDC survey441456 records. The derivative omits survey-design weights, so the study supports sample associations rather than national prevalence. Explain source, relevance, size and variables. Suggested time: 60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Experiment1: types, import/export. Labs00/01. We read CSV, select3000 with seed101, inspect schema, missingness and allowed codes/ranges, and convert categories to readable factors. Missing cells0, invalid records0. The sample has13 repeated feature profiles, which do not establish duplicated people. RDS preserves factor levels and CSV provides portable output. Scripts retain source-row lineage. BMI/health days remain numeric, age/income/education are ordered bands but regression uses category contrasts. Suggested time: 45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Lab01B, additional presentation requirement. Fences are Q1−1.5IQR and Q3+1.5IQR.114 observations (3.8%) are high-side flags. The source-row ledger records their BMI/status. Demonstrate actual removal with the2886-row sensitivity dataset and compare mean, variance and status composition. Valid extreme BMI values stay in the primary analysis because being unusual does not establish error. The removal comparison is explicitly a different analysis sample. Suggested time: 75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Experiment2, Lab02. The numeric summary uses sample SD/variance (n−1). BMI units kg/m²; variance squared units. Mental/physical days have median0, while means3.256 and4.152 indicate right-skewness. Graphs demonstrate histogram, boxplot, density, education bar and sex pie; physical-day bar and all29 original drawings are in the atlas. The no-school group has2 respondents. Explain bar comparison, pie proportions and the density right tail. Suggested time: 75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Experiment3, Lab03. Pearsonr .101606,95%CI .06606–.13689,p&lt;.001; Spearman .107897. Slope .074898,95%CI .048637–.101159. Covariance5.56044 BMI×days measures shared variation; correlation scales it. R² .0103238. A one-day increase is associated with0.075BMI units in the fitted line. Boxplots and means show higher average BMI in prediabetes/diabetes, with overlapping distributions. Prediabetesn48 limits precision. The model estimates BMI associations rather than causal effects. Suggested time: 85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Experiment4, Lab04. BMI response with factor Age/Income/Education, activity and ever100-cigarettes indicator. References age50–54, income35–50k, high school, inactive, never100. R² .068067,adjusted .059917. Joint partialF tests account for other predictors. Smoking BMI coefficient−.0633,CI−.5206 to .3940,p.786. The right-skewed residuals and uneven spread limit the approximation. Cook4/n flags140 for review. Filtering yields adjustedR²4.89%. Full coefficients, confidence intervals and VIFs remain in the report/CSV. No diabetes classification accuracy is claimed. Suggested time: 85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Experiments5/6, Labs05/06. Binomial:300 artificial groups of10,rawpositivep .156333; pooled MLE .154999,chi .287105,df3,p .962435,expectedmin16.65. Plot aggregates5–10 into5+ for readability. NormalBMI mean28.398,SD6.351,ShapiroW.896929,p&lt;.001. Poisson rawmeanlambda4.151667,var74.240077,dispersion17.88199,zeros62.9%,30days7.4%. Native chart aggregates full support, including&gt;30. Formal pooled test uses grouped MLElambda1.797448,chi41781.676,df6,p&lt;.001,expectedmin7.65. Ordinary overlay uses rawmean; the two estimation procedures are distinguished in the report. Describe why normal/Poisson fail rather than forcing a good fit. Suggested time: 85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Experiments7/8 only. All alternatives are two-sided. One-sample BMI benchmark27 and combined-positive benchmark11% are hypothetical classroom assumptions. MeanBMI28.3983,95%CI28.1710–28.6257,t12.0587,df2999,p&lt;.001. Positive469/3000=.156333,95%CI .143617–.169940,continuity-corrected score-test chi-square65.3124,p&lt;.001. Welch independent BMI comparison: female mean28.1098,male28.7592,differencefemale−male−.649412,CI−1.095818to−.203006,p .004368. Never/ever100-cigarette combined-positive shares223/1583=.140872 versus246/1417=.173606,differencenever−ever−.032734,CI−.059530to−.005939,p .015765 with continuity correction. Counts use the explicit positive event: prediabetes OR diabetes. Charts show observed group means/proportions; captions give confidence intervals for differences, not for individual measurements. All rows use the primary3000 sample. Suggested time: 100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Experiment9 only, with independent and dependent (paired) tests. Independent example: BRFSS female n1667,male n1333; poor physical-health days means4.705459 and3.459115; Welch t3.992741,df2956.428,p .0000669; female−male1.246344days,95%CI .634286to1.858402. Different respondents; the bounded skewed count warrants a cautious mean comparison. Paired example: genuine29CBT patients from MASS anorexia, postminuspre mean3.006897lb,CI .226890to5.786903,t2.215588,df28,p .035023. Blue lines join the same patient, orange line joins means82.6897and85.6966lb. Paired t tests the average within-patient difference against zero. Differences Shapiro p .007945 and signed-rank sensitivity p .064466 qualify the result. Within-group change does not prove therapy caused it. Data sets stay separate; the paired data do not come from BRFSS. Suggested time: 100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 10. Equal-frequency age GOF is a hypothetical teaching null across 13 unequal-width bands: chi-square 678.1247, df12, p&lt;.001. Status means prediabetes or diabetes. Independence tests use Pearson chi-square without continuity correction: status×HighBP 226.2818, df1, p&lt;.001, Cramer V .27464; status×Smoker 6.0746, df1, p .013714, V .0449985. Expected cells exceed five. No-high-BP positive share 118/1703=6.929%; high-BP 351/1297=27.062%. Never/ever100-cigarette shares 14.087% and17.361%. Compare association magnitudes, not p-values alone. These are observational relationships. Suggested time: 85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 11. BMI by education is observational ANOVA, F14.4064,p&lt;.001,eta-square .02349. Unequal variances motivate Welch p .000351 and Holm separate-variance pair comparisons. Genuine Cochran potato CRD:32 plots,7 sulfur treatments,F3.6081,p .010262; control8 replicates,others4 each; Tukey control-minus-F12 difference16.875 percentage points,p .005965. Gomez rice complete-block design:24 plots,6 rates,4 blocks. Block F5.8622,p .007416; rate F2.1678,p .112809. Residual MSE decreases from200152 to110558,44.76%. Goulden wheat Latin Square:5 treatments in5 rows and5 columns. Row p .01328,column p .26343,treatment F21.0321,p .00002366; Cweeklydusting mean13.12 exceeds each other treatment with Tukey adjustment. Yield units unspecified for wheat, kg/ha for rice. Models are additive with negligible interaction assumed; genuine published designs are separate from survey data. Suggested time: 145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review of all course experiments. Mean BMI is higher in prediabetes/diabetes groups with overlapping individual distributions. Pearson r .102 and simple R-square1.03% show a weak association; the different multiple specification explains6.81%, not validated prediction accuracy. Removing114BMI flags changes mean28.40to27.65 and variance40.34to24.59. Binomial grouped fit is adequate to this test; normal and ordinary Poisson descriptions fail. BP status association V .275 exceeds smoking .045. Published paired/design supplements demonstrate the appropriate data structure. Rice blocks reduce residual MSE44.8%; weekly-dusting C has greatest wheat yield mean13.12 with significant adjusted pair comparisons. Limitations:historical,self-report,omitted complex survey design,sparse categories,confounding,model diagnostics and method-sensitive paired result. Next steps:more recent/better data, useful predictors, evaluation on unseen observations, repeat model checks. Explain findings as associations and course demonstrations. Suggested time: 100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7a555a26a84ea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76a172a6862463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5e3604e04d4409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12ad09fcbf458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8da11622a6a456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25eb6bf40e4bb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5F2FDB9-DDB1-4860-9A30-3F5F1E1EC4C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B27ECE4-9F91-4C2B-891C-6636437E047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9430536-90DE-42C4-9F63-063DC68C785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7F2F77-BDE7-4492-BFB8-2D14061188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D3F2B60-AB2E-4241-973F-DADB80A05F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B54C296-BD40-48B5-8E68-66F1D74C453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60B2F3C-F111-4FC0-B146-CD346EAE8C6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C1FF995-7097-40E9-A7FE-FF95460743A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C0BB59-84AE-4938-B527-D108C3353A8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EAD80B-177D-486C-9826-9FC24460231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dde298dd2d4f51" /><Relationship Type="http://schemas.openxmlformats.org/officeDocument/2006/relationships/slideLayout" Target="/ppt/slideLayouts/slideLayout1.xml" Id="R20b7da9f41c74563" /><Relationship Type="http://schemas.openxmlformats.org/officeDocument/2006/relationships/slideLayout" Target="/ppt/slideLayouts/slideLayout2.xml" Id="R650def1fd99442f3" /><Relationship Type="http://schemas.openxmlformats.org/officeDocument/2006/relationships/slideLayout" Target="/ppt/slideLayouts/slideLayout3.xml" Id="Rd965106ed74147be" /><Relationship Type="http://schemas.openxmlformats.org/officeDocument/2006/relationships/slideLayout" Target="/ppt/slideLayouts/slideLayout4.xml" Id="R9c56f456e6324f29" /><Relationship Type="http://schemas.openxmlformats.org/officeDocument/2006/relationships/slideLayout" Target="/ppt/slideLayouts/slideLayout5.xml" Id="Re4ee6324d8fb4c23" /><Relationship Type="http://schemas.openxmlformats.org/officeDocument/2006/relationships/slideLayout" Target="/ppt/slideLayouts/slideLayout6.xml" Id="R78357283b62c4a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b7da9f41c74563"/>
    <p:sldLayoutId xmlns:r="http://schemas.openxmlformats.org/officeDocument/2006/relationships" id="2147483650" r:id="R650def1fd99442f3"/>
    <p:sldLayoutId xmlns:r="http://schemas.openxmlformats.org/officeDocument/2006/relationships" id="2147483651" r:id="Rd965106ed74147be"/>
    <p:sldLayoutId xmlns:r="http://schemas.openxmlformats.org/officeDocument/2006/relationships" id="2147483652" r:id="R9c56f456e6324f29"/>
    <p:sldLayoutId xmlns:r="http://schemas.openxmlformats.org/officeDocument/2006/relationships" id="2147483653" r:id="Re4ee6324d8fb4c23"/>
    <p:sldLayoutId xmlns:r="http://schemas.openxmlformats.org/officeDocument/2006/relationships" id="2147483654" r:id="R78357283b62c4a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65812059c4d440e" /><Relationship Type="http://schemas.openxmlformats.org/officeDocument/2006/relationships/notesSlide" Target="/ppt/notesSlides/notesSlide1.xml" Id="Rcf1ae4b86d6246f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95641ea79144390" /><Relationship Type="http://schemas.openxmlformats.org/officeDocument/2006/relationships/chart" Target="/ppt/slides/charts/chart1.xml" Id="Rc282e3fab9db43d1" /><Relationship Type="http://schemas.openxmlformats.org/officeDocument/2006/relationships/notesSlide" Target="/ppt/notesSlides/notesSlide2.xml" Id="R5ec7d0a17f2b438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aae2ca6ea1d4d2a" /><Relationship Type="http://schemas.openxmlformats.org/officeDocument/2006/relationships/notesSlide" Target="/ppt/notesSlides/notesSlide3.xml" Id="R6ce8938bfaeb44b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fb3d129d58546bf" /><Relationship Type="http://schemas.openxmlformats.org/officeDocument/2006/relationships/image" Target="/ppt/media/image.png" Id="R3f4db761466745aa" /><Relationship Type="http://schemas.openxmlformats.org/officeDocument/2006/relationships/image" Target="/ppt/media/image2.png" Id="R43f19b2b0d3e4bf3" /><Relationship Type="http://schemas.openxmlformats.org/officeDocument/2006/relationships/notesSlide" Target="/ppt/notesSlides/notesSlide4.xml" Id="R33bd1831cb264e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8d333ab9c9b49fb" /><Relationship Type="http://schemas.openxmlformats.org/officeDocument/2006/relationships/chart" Target="/ppt/slides/charts/chart2.xml" Id="R69c30da51e244dd2" /><Relationship Type="http://schemas.openxmlformats.org/officeDocument/2006/relationships/chart" Target="/ppt/slides/charts/chart3.xml" Id="R4055ce8fdd8640ae" /><Relationship Type="http://schemas.openxmlformats.org/officeDocument/2006/relationships/image" Target="/ppt/media/image3.png" Id="R32f04393c25d479b" /><Relationship Type="http://schemas.openxmlformats.org/officeDocument/2006/relationships/notesSlide" Target="/ppt/notesSlides/notesSlide5.xml" Id="R6a5c289532674d7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b4f10794cb44bb0" /><Relationship Type="http://schemas.openxmlformats.org/officeDocument/2006/relationships/image" Target="/ppt/media/image4.png" Id="Raa203d5c4db341f1" /><Relationship Type="http://schemas.openxmlformats.org/officeDocument/2006/relationships/image" Target="/ppt/media/image5.png" Id="Red83c470d01344a9" /><Relationship Type="http://schemas.openxmlformats.org/officeDocument/2006/relationships/notesSlide" Target="/ppt/notesSlides/notesSlide6.xml" Id="R3004e8d9d8a2424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d22d474e7be4611" /><Relationship Type="http://schemas.openxmlformats.org/officeDocument/2006/relationships/image" Target="/ppt/media/image6.png" Id="R225f8cec11b74a47" /><Relationship Type="http://schemas.openxmlformats.org/officeDocument/2006/relationships/notesSlide" Target="/ppt/notesSlides/notesSlide7.xml" Id="Re89323ee572c4f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78eec5d30624467" /><Relationship Type="http://schemas.openxmlformats.org/officeDocument/2006/relationships/chart" Target="/ppt/slides/charts/chart4.xml" Id="R0ab05b52c5df4144" /><Relationship Type="http://schemas.openxmlformats.org/officeDocument/2006/relationships/image" Target="/ppt/media/image7.png" Id="Rff05c8fa60434d15" /><Relationship Type="http://schemas.openxmlformats.org/officeDocument/2006/relationships/chart" Target="/ppt/slides/charts/chart5.xml" Id="Rd95f25cffa184133" /><Relationship Type="http://schemas.openxmlformats.org/officeDocument/2006/relationships/notesSlide" Target="/ppt/notesSlides/notesSlide8.xml" Id="Rf5f29935ee5b45a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522ca8f2d9442a2" /><Relationship Type="http://schemas.openxmlformats.org/officeDocument/2006/relationships/chart" Target="/ppt/slides/charts/chart6.xml" Id="Rb018e4c5a85448e4" /><Relationship Type="http://schemas.openxmlformats.org/officeDocument/2006/relationships/chart" Target="/ppt/slides/charts/chart7.xml" Id="R9c3a92a8c6cc4bf6" /><Relationship Type="http://schemas.openxmlformats.org/officeDocument/2006/relationships/notesSlide" Target="/ppt/notesSlides/notesSlide9.xml" Id="Rf704a0b9f47b408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9cec76f5bc24e39" /><Relationship Type="http://schemas.openxmlformats.org/officeDocument/2006/relationships/chart" Target="/ppt/slides/charts/chart8.xml" Id="R8ef1cbb87e40451b" /><Relationship Type="http://schemas.openxmlformats.org/officeDocument/2006/relationships/chart" Target="/ppt/slides/charts/chart9.xml" Id="Rf75c1bba59374144" /><Relationship Type="http://schemas.openxmlformats.org/officeDocument/2006/relationships/notesSlide" Target="/ppt/notesSlides/notesSlide10.xml" Id="Raf9087716bea463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f81c9fae6214fc4" /><Relationship Type="http://schemas.openxmlformats.org/officeDocument/2006/relationships/chart" Target="/ppt/slides/charts/chart10.xml" Id="R8e28997408a7408c" /><Relationship Type="http://schemas.openxmlformats.org/officeDocument/2006/relationships/chart" Target="/ppt/slides/charts/chart11.xml" Id="R350332d95c46484a" /><Relationship Type="http://schemas.openxmlformats.org/officeDocument/2006/relationships/notesSlide" Target="/ppt/notesSlides/notesSlide11.xml" Id="Rbd99520f396d420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8aa0d33f8d8428c" /><Relationship Type="http://schemas.openxmlformats.org/officeDocument/2006/relationships/chart" Target="/ppt/slides/charts/chart12.xml" Id="Rd763d900ecf24c3d" /><Relationship Type="http://schemas.openxmlformats.org/officeDocument/2006/relationships/notesSlide" Target="/ppt/notesSlides/notesSlide12.xml" Id="R6f443161b60f4c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9d2f8bcfeab4ac7" /><Relationship Type="http://schemas.openxmlformats.org/officeDocument/2006/relationships/notesSlide" Target="/ppt/notesSlides/notesSlide13.xml" Id="Rdba246c579474a4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_rels/chart12.xml.rels><Relationships xmlns="http://schemas.openxmlformats.org/package/2006/relationships"><Relationship Id="rIdChartSnapshot1" Type="http://schemas.openxmlformats.org/officeDocument/2006/relationships/package" Target="../../embeddings/chart-data-snapshot-01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People</c:v>
          </c:tx>
          <c:spPr>
            <a:solidFill xmlns:a="http://schemas.openxmlformats.org/drawingml/2006/main">
              <a:srgbClr val="176D8C"/>
            </a:solidFill>
          </c:spPr>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269E91"/>
              </a:solidFill>
            </c:spPr>
          </c:dPt>
          <c:dPt>
            <c:idx val="2"/>
            <c:invertIfNegative val="0"/>
            <c:spPr>
              <a:solidFill xmlns:a="http://schemas.openxmlformats.org/drawingml/2006/main">
                <a:srgbClr val="D87945"/>
              </a:solidFill>
            </c:spPr>
          </c:dPt>
          <c:cat>
            <c:strRef>
              <c:f>'Chart Data'!$A$2:$A$4</c:f>
              <c:strCache>
                <c:ptCount val="3"/>
                <c:pt idx="0">
                  <c:v>No diabetes</c:v>
                </c:pt>
                <c:pt idx="1">
                  <c:v>Prediabetes</c:v>
                </c:pt>
                <c:pt idx="2">
                  <c:v>Diabetes</c:v>
                </c:pt>
              </c:strCache>
            </c:strRef>
          </c:cat>
          <c:val>
            <c:numRef>
              <c:f>'Chart Data'!$B$2:$B$4</c:f>
              <c:numCache>
                <c:formatCode>General</c:formatCode>
                <c:ptCount val="3"/>
                <c:pt idx="0">
                  <c:v>2531</c:v>
                </c:pt>
                <c:pt idx="1">
                  <c:v>48</c:v>
                </c:pt>
                <c:pt idx="2">
                  <c:v>421</c:v>
                </c:pt>
              </c:numCache>
            </c:numRef>
          </c:val>
        </c:ser>
        <c:dLbls>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3000"/>
          <c:min val="0"/>
        </c:scaling>
        <c:delete val="0"/>
        <c:axPos val="l"/>
        <c:majorGridlines>
          <c:spPr>
            <a:ln xmlns:a="http://schemas.openxmlformats.org/drawingml/2006/main" w="9525">
              <a:solidFill>
                <a:srgbClr val="DF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varyColors val="0"/>
        <c:ser>
          <c:idx val="0"/>
          <c:order val="0"/>
          <c:tx>
            <c:v>People</c:v>
          </c:tx>
          <c:spPr>
            <a:solidFill xmlns:a="http://schemas.openxmlformats.org/drawingml/2006/main">
              <a:srgbClr val="176D8C"/>
            </a:solidFill>
            <a:ln xmlns:a="http://schemas.openxmlformats.org/drawingml/2006/main" w="19050">
              <a:solidFill>
                <a:srgbClr val="176D8C"/>
              </a:solidFill>
            </a:ln>
          </c:spPr>
          <c:invertIfNegative val="0"/>
          <c:cat>
            <c:strRef>
              <c:f>'Chart Data'!$A$2:$A$7</c:f>
              <c:strCache>
                <c:ptCount val="6"/>
                <c:pt idx="0">
                  <c:v>No school</c:v>
                </c:pt>
                <c:pt idx="1">
                  <c:v>Primary</c:v>
                </c:pt>
                <c:pt idx="2">
                  <c:v>Some high school</c:v>
                </c:pt>
                <c:pt idx="3">
                  <c:v>High school</c:v>
                </c:pt>
                <c:pt idx="4">
                  <c:v>Some college</c:v>
                </c:pt>
                <c:pt idx="5">
                  <c:v>Graduate</c:v>
                </c:pt>
              </c:strCache>
            </c:strRef>
          </c:cat>
          <c:val>
            <c:numRef>
              <c:f>'Chart Data'!$B$2:$B$7</c:f>
              <c:numCache>
                <c:formatCode>General</c:formatCode>
                <c:ptCount val="6"/>
                <c:pt idx="0">
                  <c:v>2</c:v>
                </c:pt>
                <c:pt idx="1">
                  <c:v>49</c:v>
                </c:pt>
                <c:pt idx="2">
                  <c:v>105</c:v>
                </c:pt>
                <c:pt idx="3">
                  <c:v>778</c:v>
                </c:pt>
                <c:pt idx="4">
                  <c:v>834</c:v>
                </c:pt>
                <c:pt idx="5">
                  <c:v>1232</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5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500"/>
          <c:min val="0"/>
        </c:scaling>
        <c:delete val="0"/>
        <c:axPos val="b"/>
        <c:majorGridlines>
          <c:spPr>
            <a:ln xmlns:a="http://schemas.openxmlformats.org/drawingml/2006/main" w="9525">
              <a:solidFill>
                <a:srgbClr val="DF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666666"/>
                </a:solidFill>
                <a:latin typeface="Arial"/>
                <a:ea typeface="Arial"/>
                <a:cs typeface="Arial"/>
              </a:defRPr>
            </a:pPr>
          </a:p>
        </c:txPr>
        <c:crossAx val="48650112"/>
        <c:crossBetween val="between"/>
        <c:majorUnit val="5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pieChart>
        <c:ser>
          <c:idx val="0"/>
          <c:order val="0"/>
          <c:tx>
            <c:v>Share</c:v>
          </c:tx>
          <c:dPt>
            <c:idx val="0"/>
            <c:spPr>
              <a:solidFill xmlns:a="http://schemas.openxmlformats.org/drawingml/2006/main">
                <a:srgbClr val="176D8C"/>
              </a:solidFill>
            </c:spPr>
          </c:dPt>
          <c:dPt>
            <c:idx val="1"/>
            <c:spPr>
              <a:solidFill xmlns:a="http://schemas.openxmlformats.org/drawingml/2006/main">
                <a:srgbClr val="D87945"/>
              </a:solidFill>
            </c:spPr>
          </c:dPt>
          <c:cat>
            <c:strRef>
              <c:f>'Chart Data'!$A$2:$A$3</c:f>
              <c:strCache>
                <c:ptCount val="2"/>
                <c:pt idx="0">
                  <c:v>Female</c:v>
                </c:pt>
                <c:pt idx="1">
                  <c:v>Male</c:v>
                </c:pt>
              </c:strCache>
            </c:strRef>
          </c:cat>
          <c:val>
            <c:numRef>
              <c:f>'Chart Data'!$B$2:$B$3</c:f>
              <c:numCache>
                <c:formatCode>0</c:formatCode>
                <c:ptCount val="2"/>
                <c:pt idx="0">
                  <c:v>55.5667</c:v>
                </c:pt>
                <c:pt idx="1">
                  <c:v>44.4333</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latin typeface="Arial"/>
                  <a:ea typeface="Arial"/>
                  <a:cs typeface="Arial"/>
                </a:defRPr>
              </a:pPr>
            </a:p>
          </c:txPr>
          <c:dLblPos val="bestFit"/>
          <c:showLegendKey val="0"/>
          <c:showVal val="0"/>
          <c:showCatName val="0"/>
          <c:showSerName val="0"/>
          <c:showPercent val="1"/>
          <c:showBubbleSize val="0"/>
          <c:showLeaderLines val="0"/>
        </c:dLbls>
      </c:pieChart>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c:v>
          </c:tx>
          <c:spPr>
            <a:solidFill xmlns:a="http://schemas.openxmlformats.org/drawingml/2006/main">
              <a:srgbClr val="176D8C"/>
            </a:solidFill>
            <a:ln xmlns:a="http://schemas.openxmlformats.org/drawingml/2006/main" w="19050">
              <a:solidFill>
                <a:srgbClr val="176D8C"/>
              </a:solidFill>
            </a:ln>
          </c:spPr>
          <c:invertIfNegative val="0"/>
          <c:cat>
            <c:strRef>
              <c:f>'Chart Data'!$A$2:$A$7</c:f>
              <c:strCache>
                <c:ptCount val="6"/>
                <c:pt idx="0">
                  <c:v>0</c:v>
                </c:pt>
                <c:pt idx="1">
                  <c:v>1</c:v>
                </c:pt>
                <c:pt idx="2">
                  <c:v>2</c:v>
                </c:pt>
                <c:pt idx="3">
                  <c:v>3</c:v>
                </c:pt>
                <c:pt idx="4">
                  <c:v>4</c:v>
                </c:pt>
                <c:pt idx="5">
                  <c:v>5+</c:v>
                </c:pt>
              </c:strCache>
            </c:strRef>
          </c:cat>
          <c:val>
            <c:numRef>
              <c:f>'Chart Data'!$B$2:$B$7</c:f>
              <c:numCache>
                <c:formatCode>0</c:formatCode>
                <c:ptCount val="6"/>
                <c:pt idx="0">
                  <c:v>58</c:v>
                </c:pt>
                <c:pt idx="1">
                  <c:v>100</c:v>
                </c:pt>
                <c:pt idx="2">
                  <c:v>82</c:v>
                </c:pt>
                <c:pt idx="3">
                  <c:v>43</c:v>
                </c:pt>
                <c:pt idx="4">
                  <c:v>10</c:v>
                </c:pt>
                <c:pt idx="5">
                  <c:v>7</c:v>
                </c:pt>
              </c:numCache>
            </c:numRef>
          </c:val>
        </c:ser>
        <c:ser>
          <c:idx val="1"/>
          <c:order val="1"/>
          <c:tx>
            <c:v>Expected</c:v>
          </c:tx>
          <c:spPr>
            <a:solidFill xmlns:a="http://schemas.openxmlformats.org/drawingml/2006/main">
              <a:srgbClr val="D87945"/>
            </a:solidFill>
            <a:ln xmlns:a="http://schemas.openxmlformats.org/drawingml/2006/main" w="19050">
              <a:solidFill>
                <a:srgbClr val="D87945"/>
              </a:solidFill>
            </a:ln>
          </c:spPr>
          <c:invertIfNegative val="0"/>
          <c:cat>
            <c:strRef>
              <c:f>'Chart Data'!$C$2:$C$7</c:f>
              <c:strCache>
                <c:ptCount val="6"/>
                <c:pt idx="0">
                  <c:v>0</c:v>
                </c:pt>
                <c:pt idx="1">
                  <c:v>1</c:v>
                </c:pt>
                <c:pt idx="2">
                  <c:v>2</c:v>
                </c:pt>
                <c:pt idx="3">
                  <c:v>3</c:v>
                </c:pt>
                <c:pt idx="4">
                  <c:v>4</c:v>
                </c:pt>
                <c:pt idx="5">
                  <c:v>5+</c:v>
                </c:pt>
              </c:strCache>
            </c:strRef>
          </c:cat>
          <c:val>
            <c:numRef>
              <c:f>'Chart Data'!$D$2:$D$7</c:f>
              <c:numCache>
                <c:formatCode>0</c:formatCode>
                <c:ptCount val="6"/>
                <c:pt idx="0">
                  <c:v>54.8063</c:v>
                </c:pt>
                <c:pt idx="1">
                  <c:v>101.5572</c:v>
                </c:pt>
                <c:pt idx="2">
                  <c:v>84.6845</c:v>
                </c:pt>
                <c:pt idx="3">
                  <c:v>41.846</c:v>
                </c:pt>
                <c:pt idx="4">
                  <c:v>13.5698</c:v>
                </c:pt>
                <c:pt idx="5">
                  <c:v>3.5363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FE7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c:v>
          </c:tx>
          <c:spPr>
            <a:solidFill xmlns:a="http://schemas.openxmlformats.org/drawingml/2006/main">
              <a:srgbClr val="176D8C"/>
            </a:solidFill>
            <a:ln xmlns:a="http://schemas.openxmlformats.org/drawingml/2006/main" w="19050">
              <a:solidFill>
                <a:srgbClr val="176D8C"/>
              </a:solidFill>
            </a:ln>
          </c:spPr>
          <c:invertIfNegative val="0"/>
          <c:cat>
            <c:strRef>
              <c:f>'Chart Data'!$A$2:$A$8</c:f>
              <c:strCache>
                <c:ptCount val="7"/>
                <c:pt idx="0">
                  <c:v>0</c:v>
                </c:pt>
                <c:pt idx="1">
                  <c:v>1–2</c:v>
                </c:pt>
                <c:pt idx="2">
                  <c:v>3–5</c:v>
                </c:pt>
                <c:pt idx="3">
                  <c:v>6–10</c:v>
                </c:pt>
                <c:pt idx="4">
                  <c:v>11–20</c:v>
                </c:pt>
                <c:pt idx="5">
                  <c:v>21–30</c:v>
                </c:pt>
                <c:pt idx="6">
                  <c:v>&gt;30</c:v>
                </c:pt>
              </c:strCache>
            </c:strRef>
          </c:cat>
          <c:val>
            <c:numRef>
              <c:f>'Chart Data'!$B$2:$B$8</c:f>
              <c:numCache>
                <c:formatCode>0</c:formatCode>
                <c:ptCount val="7"/>
                <c:pt idx="0">
                  <c:v>1887</c:v>
                </c:pt>
                <c:pt idx="1">
                  <c:v>340</c:v>
                </c:pt>
                <c:pt idx="2">
                  <c:v>226</c:v>
                </c:pt>
                <c:pt idx="3">
                  <c:v>151</c:v>
                </c:pt>
                <c:pt idx="4">
                  <c:v>138</c:v>
                </c:pt>
                <c:pt idx="5">
                  <c:v>258</c:v>
                </c:pt>
                <c:pt idx="6">
                  <c:v>0</c:v>
                </c:pt>
              </c:numCache>
            </c:numRef>
          </c:val>
        </c:ser>
        <c:ser>
          <c:idx val="1"/>
          <c:order val="1"/>
          <c:tx>
            <c:v>Expected</c:v>
          </c:tx>
          <c:spPr>
            <a:solidFill xmlns:a="http://schemas.openxmlformats.org/drawingml/2006/main">
              <a:srgbClr val="D87945"/>
            </a:solidFill>
            <a:ln xmlns:a="http://schemas.openxmlformats.org/drawingml/2006/main" w="19050">
              <a:solidFill>
                <a:srgbClr val="D87945"/>
              </a:solidFill>
            </a:ln>
          </c:spPr>
          <c:invertIfNegative val="0"/>
          <c:cat>
            <c:strRef>
              <c:f>'Chart Data'!$C$2:$C$8</c:f>
              <c:strCache>
                <c:ptCount val="7"/>
                <c:pt idx="0">
                  <c:v>0</c:v>
                </c:pt>
                <c:pt idx="1">
                  <c:v>1–2</c:v>
                </c:pt>
                <c:pt idx="2">
                  <c:v>3–5</c:v>
                </c:pt>
                <c:pt idx="3">
                  <c:v>6–10</c:v>
                </c:pt>
                <c:pt idx="4">
                  <c:v>11–20</c:v>
                </c:pt>
                <c:pt idx="5">
                  <c:v>21–30</c:v>
                </c:pt>
                <c:pt idx="6">
                  <c:v>&gt;30</c:v>
                </c:pt>
              </c:strCache>
            </c:strRef>
          </c:cat>
          <c:val>
            <c:numRef>
              <c:f>'Chart Data'!$D$2:$D$8</c:f>
              <c:numCache>
                <c:formatCode>0</c:formatCode>
                <c:ptCount val="7"/>
                <c:pt idx="0">
                  <c:v>47.2145</c:v>
                </c:pt>
                <c:pt idx="1">
                  <c:v>602.9213</c:v>
                </c:pt>
                <c:pt idx="2">
                  <c:v>1632.8624</c:v>
                </c:pt>
                <c:pt idx="3">
                  <c:v>705.7852</c:v>
                </c:pt>
                <c:pt idx="4">
                  <c:v>11.2166</c:v>
                </c:pt>
                <c:pt idx="5">
                  <c:v>0</c:v>
                </c:pt>
                <c:pt idx="6">
                  <c:v>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FE7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Mean BMI</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Female</c:v>
                </c:pt>
                <c:pt idx="1">
                  <c:v>Male</c:v>
                </c:pt>
              </c:strCache>
            </c:strRef>
          </c:cat>
          <c:val>
            <c:numRef>
              <c:f>'Chart Data'!$B$2:$B$3</c:f>
              <c:numCache>
                <c:formatCode>General</c:formatCode>
                <c:ptCount val="2"/>
                <c:pt idx="0">
                  <c:v>28.1098</c:v>
                </c:pt>
                <c:pt idx="1">
                  <c:v>28.7592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35"/>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Mean BMI</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Positive status (%)</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Never 100 cigarettes</c:v>
                </c:pt>
                <c:pt idx="1">
                  <c:v>Ever 100 cigarettes</c:v>
                </c:pt>
              </c:strCache>
            </c:strRef>
          </c:cat>
          <c:val>
            <c:numRef>
              <c:f>'Chart Data'!$B$2:$B$3</c:f>
              <c:numCache>
                <c:formatCode>General</c:formatCode>
                <c:ptCount val="2"/>
                <c:pt idx="0">
                  <c:v>14.0872</c:v>
                </c:pt>
                <c:pt idx="1">
                  <c:v>17.3606</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25"/>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Positive status (%)</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Mean physical poor-health days</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Female</c:v>
                </c:pt>
                <c:pt idx="1">
                  <c:v>Male</c:v>
                </c:pt>
              </c:strCache>
            </c:strRef>
          </c:cat>
          <c:val>
            <c:numRef>
              <c:f>'Chart Data'!$B$2:$B$3</c:f>
              <c:numCache>
                <c:formatCode>General</c:formatCode>
                <c:ptCount val="2"/>
                <c:pt idx="0">
                  <c:v>4.7055</c:v>
                </c:pt>
                <c:pt idx="1">
                  <c:v>3.4591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6"/>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00">
                    <a:latin typeface="Arial"/>
                    <a:ea typeface="Arial"/>
                    <a:cs typeface="Arial"/>
                  </a:rPr>
                  <a:t>Mean physical poor-health days</a:t>
                </a:r>
              </a:p>
            </c:rich>
          </c:tx>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2"/>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ineChart>
        <c:grouping val="standard"/>
        <c:varyColors val="0"/>
        <c:ser>
          <c:idx val="0"/>
          <c:order val="0"/>
          <c:tx>
            <c:v>Patient 1</c:v>
          </c:tx>
          <c:spPr>
            <a:ln xmlns:a="http://schemas.openxmlformats.org/drawingml/2006/main" w="9525">
              <a:solidFill>
                <a:srgbClr val="A0C7D6"/>
              </a:solidFill>
            </a:ln>
          </c:spPr>
          <c:marker>
            <c:symbol val="none"/>
          </c:marker>
          <c:cat>
            <c:strRef>
              <c:f>'Chart Data'!$A$2:$A$3</c:f>
              <c:strCache>
                <c:ptCount val="2"/>
                <c:pt idx="0">
                  <c:v>Before</c:v>
                </c:pt>
                <c:pt idx="1">
                  <c:v>After</c:v>
                </c:pt>
              </c:strCache>
            </c:strRef>
          </c:cat>
          <c:val>
            <c:numRef>
              <c:f>'Chart Data'!$B$2:$B$3</c:f>
              <c:numCache>
                <c:formatCode>General</c:formatCode>
                <c:ptCount val="2"/>
                <c:pt idx="0">
                  <c:v>80.5</c:v>
                </c:pt>
                <c:pt idx="1">
                  <c:v>82.2</c:v>
                </c:pt>
              </c:numCache>
            </c:numRef>
          </c:val>
        </c:ser>
        <c:ser>
          <c:idx val="1"/>
          <c:order val="1"/>
          <c:tx>
            <c:v>Patient 2</c:v>
          </c:tx>
          <c:spPr>
            <a:ln xmlns:a="http://schemas.openxmlformats.org/drawingml/2006/main" w="9525">
              <a:solidFill>
                <a:srgbClr val="A0C7D6"/>
              </a:solidFill>
            </a:ln>
          </c:spPr>
          <c:marker>
            <c:symbol val="none"/>
          </c:marker>
          <c:cat>
            <c:strRef>
              <c:f>'Chart Data'!$C$2:$C$3</c:f>
              <c:strCache>
                <c:ptCount val="2"/>
                <c:pt idx="0">
                  <c:v>Before</c:v>
                </c:pt>
                <c:pt idx="1">
                  <c:v>After</c:v>
                </c:pt>
              </c:strCache>
            </c:strRef>
          </c:cat>
          <c:val>
            <c:numRef>
              <c:f>'Chart Data'!$D$2:$D$3</c:f>
              <c:numCache>
                <c:formatCode>General</c:formatCode>
                <c:ptCount val="2"/>
                <c:pt idx="0">
                  <c:v>84.9</c:v>
                </c:pt>
                <c:pt idx="1">
                  <c:v>85.6</c:v>
                </c:pt>
              </c:numCache>
            </c:numRef>
          </c:val>
        </c:ser>
        <c:ser>
          <c:idx val="2"/>
          <c:order val="2"/>
          <c:tx>
            <c:v>Patient 3</c:v>
          </c:tx>
          <c:spPr>
            <a:ln xmlns:a="http://schemas.openxmlformats.org/drawingml/2006/main" w="9525">
              <a:solidFill>
                <a:srgbClr val="A0C7D6"/>
              </a:solidFill>
            </a:ln>
          </c:spPr>
          <c:marker>
            <c:symbol val="none"/>
          </c:marker>
          <c:cat>
            <c:strRef>
              <c:f>'Chart Data'!$E$2:$E$3</c:f>
              <c:strCache>
                <c:ptCount val="2"/>
                <c:pt idx="0">
                  <c:v>Before</c:v>
                </c:pt>
                <c:pt idx="1">
                  <c:v>After</c:v>
                </c:pt>
              </c:strCache>
            </c:strRef>
          </c:cat>
          <c:val>
            <c:numRef>
              <c:f>'Chart Data'!$F$2:$F$3</c:f>
              <c:numCache>
                <c:formatCode>General</c:formatCode>
                <c:ptCount val="2"/>
                <c:pt idx="0">
                  <c:v>81.5</c:v>
                </c:pt>
                <c:pt idx="1">
                  <c:v>81.4</c:v>
                </c:pt>
              </c:numCache>
            </c:numRef>
          </c:val>
        </c:ser>
        <c:ser>
          <c:idx val="3"/>
          <c:order val="3"/>
          <c:tx>
            <c:v>Patient 4</c:v>
          </c:tx>
          <c:spPr>
            <a:ln xmlns:a="http://schemas.openxmlformats.org/drawingml/2006/main" w="9525">
              <a:solidFill>
                <a:srgbClr val="A0C7D6"/>
              </a:solidFill>
            </a:ln>
          </c:spPr>
          <c:marker>
            <c:symbol val="none"/>
          </c:marker>
          <c:cat>
            <c:strRef>
              <c:f>'Chart Data'!$G$2:$G$3</c:f>
              <c:strCache>
                <c:ptCount val="2"/>
                <c:pt idx="0">
                  <c:v>Before</c:v>
                </c:pt>
                <c:pt idx="1">
                  <c:v>After</c:v>
                </c:pt>
              </c:strCache>
            </c:strRef>
          </c:cat>
          <c:val>
            <c:numRef>
              <c:f>'Chart Data'!$H$2:$H$3</c:f>
              <c:numCache>
                <c:formatCode>General</c:formatCode>
                <c:ptCount val="2"/>
                <c:pt idx="0">
                  <c:v>82.6</c:v>
                </c:pt>
                <c:pt idx="1">
                  <c:v>81.9</c:v>
                </c:pt>
              </c:numCache>
            </c:numRef>
          </c:val>
        </c:ser>
        <c:ser>
          <c:idx val="4"/>
          <c:order val="4"/>
          <c:tx>
            <c:v>Patient 5</c:v>
          </c:tx>
          <c:spPr>
            <a:ln xmlns:a="http://schemas.openxmlformats.org/drawingml/2006/main" w="9525">
              <a:solidFill>
                <a:srgbClr val="A0C7D6"/>
              </a:solidFill>
            </a:ln>
          </c:spPr>
          <c:marker>
            <c:symbol val="none"/>
          </c:marker>
          <c:cat>
            <c:strRef>
              <c:f>'Chart Data'!$I$2:$I$3</c:f>
              <c:strCache>
                <c:ptCount val="2"/>
                <c:pt idx="0">
                  <c:v>Before</c:v>
                </c:pt>
                <c:pt idx="1">
                  <c:v>After</c:v>
                </c:pt>
              </c:strCache>
            </c:strRef>
          </c:cat>
          <c:val>
            <c:numRef>
              <c:f>'Chart Data'!$J$2:$J$3</c:f>
              <c:numCache>
                <c:formatCode>General</c:formatCode>
                <c:ptCount val="2"/>
                <c:pt idx="0">
                  <c:v>79.9</c:v>
                </c:pt>
                <c:pt idx="1">
                  <c:v>76.4</c:v>
                </c:pt>
              </c:numCache>
            </c:numRef>
          </c:val>
        </c:ser>
        <c:ser>
          <c:idx val="5"/>
          <c:order val="5"/>
          <c:tx>
            <c:v>Patient 6</c:v>
          </c:tx>
          <c:spPr>
            <a:ln xmlns:a="http://schemas.openxmlformats.org/drawingml/2006/main" w="9525">
              <a:solidFill>
                <a:srgbClr val="A0C7D6"/>
              </a:solidFill>
            </a:ln>
          </c:spPr>
          <c:marker>
            <c:symbol val="none"/>
          </c:marker>
          <c:cat>
            <c:strRef>
              <c:f>'Chart Data'!$K$2:$K$3</c:f>
              <c:strCache>
                <c:ptCount val="2"/>
                <c:pt idx="0">
                  <c:v>Before</c:v>
                </c:pt>
                <c:pt idx="1">
                  <c:v>After</c:v>
                </c:pt>
              </c:strCache>
            </c:strRef>
          </c:cat>
          <c:val>
            <c:numRef>
              <c:f>'Chart Data'!$L$2:$L$3</c:f>
              <c:numCache>
                <c:formatCode>General</c:formatCode>
                <c:ptCount val="2"/>
                <c:pt idx="0">
                  <c:v>88.7</c:v>
                </c:pt>
                <c:pt idx="1">
                  <c:v>103.6</c:v>
                </c:pt>
              </c:numCache>
            </c:numRef>
          </c:val>
        </c:ser>
        <c:ser>
          <c:idx val="6"/>
          <c:order val="6"/>
          <c:tx>
            <c:v>Patient 7</c:v>
          </c:tx>
          <c:spPr>
            <a:ln xmlns:a="http://schemas.openxmlformats.org/drawingml/2006/main" w="9525">
              <a:solidFill>
                <a:srgbClr val="A0C7D6"/>
              </a:solidFill>
            </a:ln>
          </c:spPr>
          <c:marker>
            <c:symbol val="none"/>
          </c:marker>
          <c:cat>
            <c:strRef>
              <c:f>'Chart Data'!$M$2:$M$3</c:f>
              <c:strCache>
                <c:ptCount val="2"/>
                <c:pt idx="0">
                  <c:v>Before</c:v>
                </c:pt>
                <c:pt idx="1">
                  <c:v>After</c:v>
                </c:pt>
              </c:strCache>
            </c:strRef>
          </c:cat>
          <c:val>
            <c:numRef>
              <c:f>'Chart Data'!$N$2:$N$3</c:f>
              <c:numCache>
                <c:formatCode>General</c:formatCode>
                <c:ptCount val="2"/>
                <c:pt idx="0">
                  <c:v>94.9</c:v>
                </c:pt>
                <c:pt idx="1">
                  <c:v>98.4</c:v>
                </c:pt>
              </c:numCache>
            </c:numRef>
          </c:val>
        </c:ser>
        <c:ser>
          <c:idx val="7"/>
          <c:order val="7"/>
          <c:tx>
            <c:v>Patient 8</c:v>
          </c:tx>
          <c:spPr>
            <a:ln xmlns:a="http://schemas.openxmlformats.org/drawingml/2006/main" w="9525">
              <a:solidFill>
                <a:srgbClr val="A0C7D6"/>
              </a:solidFill>
            </a:ln>
          </c:spPr>
          <c:marker>
            <c:symbol val="none"/>
          </c:marker>
          <c:cat>
            <c:strRef>
              <c:f>'Chart Data'!$O$2:$O$3</c:f>
              <c:strCache>
                <c:ptCount val="2"/>
                <c:pt idx="0">
                  <c:v>Before</c:v>
                </c:pt>
                <c:pt idx="1">
                  <c:v>After</c:v>
                </c:pt>
              </c:strCache>
            </c:strRef>
          </c:cat>
          <c:val>
            <c:numRef>
              <c:f>'Chart Data'!$P$2:$P$3</c:f>
              <c:numCache>
                <c:formatCode>General</c:formatCode>
                <c:ptCount val="2"/>
                <c:pt idx="0">
                  <c:v>76.3</c:v>
                </c:pt>
                <c:pt idx="1">
                  <c:v>93.4</c:v>
                </c:pt>
              </c:numCache>
            </c:numRef>
          </c:val>
        </c:ser>
        <c:ser>
          <c:idx val="8"/>
          <c:order val="8"/>
          <c:tx>
            <c:v>Patient 9</c:v>
          </c:tx>
          <c:spPr>
            <a:ln xmlns:a="http://schemas.openxmlformats.org/drawingml/2006/main" w="9525">
              <a:solidFill>
                <a:srgbClr val="A0C7D6"/>
              </a:solidFill>
            </a:ln>
          </c:spPr>
          <c:marker>
            <c:symbol val="none"/>
          </c:marker>
          <c:cat>
            <c:strRef>
              <c:f>'Chart Data'!$Q$2:$Q$3</c:f>
              <c:strCache>
                <c:ptCount val="2"/>
                <c:pt idx="0">
                  <c:v>Before</c:v>
                </c:pt>
                <c:pt idx="1">
                  <c:v>After</c:v>
                </c:pt>
              </c:strCache>
            </c:strRef>
          </c:cat>
          <c:val>
            <c:numRef>
              <c:f>'Chart Data'!$R$2:$R$3</c:f>
              <c:numCache>
                <c:formatCode>General</c:formatCode>
                <c:ptCount val="2"/>
                <c:pt idx="0">
                  <c:v>81</c:v>
                </c:pt>
                <c:pt idx="1">
                  <c:v>73.4</c:v>
                </c:pt>
              </c:numCache>
            </c:numRef>
          </c:val>
        </c:ser>
        <c:ser>
          <c:idx val="9"/>
          <c:order val="9"/>
          <c:tx>
            <c:v>Patient 10</c:v>
          </c:tx>
          <c:spPr>
            <a:ln xmlns:a="http://schemas.openxmlformats.org/drawingml/2006/main" w="9525">
              <a:solidFill>
                <a:srgbClr val="A0C7D6"/>
              </a:solidFill>
            </a:ln>
          </c:spPr>
          <c:marker>
            <c:symbol val="none"/>
          </c:marker>
          <c:cat>
            <c:strRef>
              <c:f>'Chart Data'!$S$2:$S$3</c:f>
              <c:strCache>
                <c:ptCount val="2"/>
                <c:pt idx="0">
                  <c:v>Before</c:v>
                </c:pt>
                <c:pt idx="1">
                  <c:v>After</c:v>
                </c:pt>
              </c:strCache>
            </c:strRef>
          </c:cat>
          <c:val>
            <c:numRef>
              <c:f>'Chart Data'!$T$2:$T$3</c:f>
              <c:numCache>
                <c:formatCode>General</c:formatCode>
                <c:ptCount val="2"/>
                <c:pt idx="0">
                  <c:v>80.5</c:v>
                </c:pt>
                <c:pt idx="1">
                  <c:v>82.1</c:v>
                </c:pt>
              </c:numCache>
            </c:numRef>
          </c:val>
        </c:ser>
        <c:ser>
          <c:idx val="10"/>
          <c:order val="10"/>
          <c:tx>
            <c:v>Patient 11</c:v>
          </c:tx>
          <c:spPr>
            <a:ln xmlns:a="http://schemas.openxmlformats.org/drawingml/2006/main" w="9525">
              <a:solidFill>
                <a:srgbClr val="A0C7D6"/>
              </a:solidFill>
            </a:ln>
          </c:spPr>
          <c:marker>
            <c:symbol val="none"/>
          </c:marker>
          <c:cat>
            <c:strRef>
              <c:f>'Chart Data'!$U$2:$U$3</c:f>
              <c:strCache>
                <c:ptCount val="2"/>
                <c:pt idx="0">
                  <c:v>Before</c:v>
                </c:pt>
                <c:pt idx="1">
                  <c:v>After</c:v>
                </c:pt>
              </c:strCache>
            </c:strRef>
          </c:cat>
          <c:val>
            <c:numRef>
              <c:f>'Chart Data'!$V$2:$V$3</c:f>
              <c:numCache>
                <c:formatCode>General</c:formatCode>
                <c:ptCount val="2"/>
                <c:pt idx="0">
                  <c:v>85</c:v>
                </c:pt>
                <c:pt idx="1">
                  <c:v>96.7</c:v>
                </c:pt>
              </c:numCache>
            </c:numRef>
          </c:val>
        </c:ser>
        <c:ser>
          <c:idx val="11"/>
          <c:order val="11"/>
          <c:tx>
            <c:v>Patient 12</c:v>
          </c:tx>
          <c:spPr>
            <a:ln xmlns:a="http://schemas.openxmlformats.org/drawingml/2006/main" w="9525">
              <a:solidFill>
                <a:srgbClr val="A0C7D6"/>
              </a:solidFill>
            </a:ln>
          </c:spPr>
          <c:marker>
            <c:symbol val="none"/>
          </c:marker>
          <c:cat>
            <c:strRef>
              <c:f>'Chart Data'!$W$2:$W$3</c:f>
              <c:strCache>
                <c:ptCount val="2"/>
                <c:pt idx="0">
                  <c:v>Before</c:v>
                </c:pt>
                <c:pt idx="1">
                  <c:v>After</c:v>
                </c:pt>
              </c:strCache>
            </c:strRef>
          </c:cat>
          <c:val>
            <c:numRef>
              <c:f>'Chart Data'!$X$2:$X$3</c:f>
              <c:numCache>
                <c:formatCode>General</c:formatCode>
                <c:ptCount val="2"/>
                <c:pt idx="0">
                  <c:v>89.2</c:v>
                </c:pt>
                <c:pt idx="1">
                  <c:v>95.3</c:v>
                </c:pt>
              </c:numCache>
            </c:numRef>
          </c:val>
        </c:ser>
        <c:ser>
          <c:idx val="12"/>
          <c:order val="12"/>
          <c:tx>
            <c:v>Patient 13</c:v>
          </c:tx>
          <c:spPr>
            <a:ln xmlns:a="http://schemas.openxmlformats.org/drawingml/2006/main" w="9525">
              <a:solidFill>
                <a:srgbClr val="A0C7D6"/>
              </a:solidFill>
            </a:ln>
          </c:spPr>
          <c:marker>
            <c:symbol val="none"/>
          </c:marker>
          <c:cat>
            <c:strRef>
              <c:f>'Chart Data'!$Y$2:$Y$3</c:f>
              <c:strCache>
                <c:ptCount val="2"/>
                <c:pt idx="0">
                  <c:v>Before</c:v>
                </c:pt>
                <c:pt idx="1">
                  <c:v>After</c:v>
                </c:pt>
              </c:strCache>
            </c:strRef>
          </c:cat>
          <c:val>
            <c:numRef>
              <c:f>'Chart Data'!$Z$2:$Z$3</c:f>
              <c:numCache>
                <c:formatCode>General</c:formatCode>
                <c:ptCount val="2"/>
                <c:pt idx="0">
                  <c:v>81.3</c:v>
                </c:pt>
                <c:pt idx="1">
                  <c:v>82.4</c:v>
                </c:pt>
              </c:numCache>
            </c:numRef>
          </c:val>
        </c:ser>
        <c:ser>
          <c:idx val="13"/>
          <c:order val="13"/>
          <c:tx>
            <c:v>Patient 14</c:v>
          </c:tx>
          <c:spPr>
            <a:ln xmlns:a="http://schemas.openxmlformats.org/drawingml/2006/main" w="9525">
              <a:solidFill>
                <a:srgbClr val="A0C7D6"/>
              </a:solidFill>
            </a:ln>
          </c:spPr>
          <c:marker>
            <c:symbol val="none"/>
          </c:marker>
          <c:cat>
            <c:strRef>
              <c:f>'Chart Data'!$AA$2:$AA$3</c:f>
              <c:strCache>
                <c:ptCount val="2"/>
                <c:pt idx="0">
                  <c:v>Before</c:v>
                </c:pt>
                <c:pt idx="1">
                  <c:v>After</c:v>
                </c:pt>
              </c:strCache>
            </c:strRef>
          </c:cat>
          <c:val>
            <c:numRef>
              <c:f>'Chart Data'!$AB$2:$AB$3</c:f>
              <c:numCache>
                <c:formatCode>General</c:formatCode>
                <c:ptCount val="2"/>
                <c:pt idx="0">
                  <c:v>76.5</c:v>
                </c:pt>
                <c:pt idx="1">
                  <c:v>72.5</c:v>
                </c:pt>
              </c:numCache>
            </c:numRef>
          </c:val>
        </c:ser>
        <c:ser>
          <c:idx val="14"/>
          <c:order val="14"/>
          <c:tx>
            <c:v>Patient 15</c:v>
          </c:tx>
          <c:spPr>
            <a:ln xmlns:a="http://schemas.openxmlformats.org/drawingml/2006/main" w="9525">
              <a:solidFill>
                <a:srgbClr val="A0C7D6"/>
              </a:solidFill>
            </a:ln>
          </c:spPr>
          <c:marker>
            <c:symbol val="none"/>
          </c:marker>
          <c:cat>
            <c:strRef>
              <c:f>'Chart Data'!$AC$2:$AC$3</c:f>
              <c:strCache>
                <c:ptCount val="2"/>
                <c:pt idx="0">
                  <c:v>Before</c:v>
                </c:pt>
                <c:pt idx="1">
                  <c:v>After</c:v>
                </c:pt>
              </c:strCache>
            </c:strRef>
          </c:cat>
          <c:val>
            <c:numRef>
              <c:f>'Chart Data'!$AD$2:$AD$3</c:f>
              <c:numCache>
                <c:formatCode>General</c:formatCode>
                <c:ptCount val="2"/>
                <c:pt idx="0">
                  <c:v>70</c:v>
                </c:pt>
                <c:pt idx="1">
                  <c:v>90.9</c:v>
                </c:pt>
              </c:numCache>
            </c:numRef>
          </c:val>
        </c:ser>
        <c:ser>
          <c:idx val="15"/>
          <c:order val="15"/>
          <c:tx>
            <c:v>Patient 16</c:v>
          </c:tx>
          <c:spPr>
            <a:ln xmlns:a="http://schemas.openxmlformats.org/drawingml/2006/main" w="9525">
              <a:solidFill>
                <a:srgbClr val="A0C7D6"/>
              </a:solidFill>
            </a:ln>
          </c:spPr>
          <c:marker>
            <c:symbol val="none"/>
          </c:marker>
          <c:cat>
            <c:strRef>
              <c:f>'Chart Data'!$AE$2:$AE$3</c:f>
              <c:strCache>
                <c:ptCount val="2"/>
                <c:pt idx="0">
                  <c:v>Before</c:v>
                </c:pt>
                <c:pt idx="1">
                  <c:v>After</c:v>
                </c:pt>
              </c:strCache>
            </c:strRef>
          </c:cat>
          <c:val>
            <c:numRef>
              <c:f>'Chart Data'!$AF$2:$AF$3</c:f>
              <c:numCache>
                <c:formatCode>General</c:formatCode>
                <c:ptCount val="2"/>
                <c:pt idx="0">
                  <c:v>80.4</c:v>
                </c:pt>
                <c:pt idx="1">
                  <c:v>71.3</c:v>
                </c:pt>
              </c:numCache>
            </c:numRef>
          </c:val>
        </c:ser>
        <c:ser>
          <c:idx val="16"/>
          <c:order val="16"/>
          <c:tx>
            <c:v>Patient 17</c:v>
          </c:tx>
          <c:spPr>
            <a:ln xmlns:a="http://schemas.openxmlformats.org/drawingml/2006/main" w="9525">
              <a:solidFill>
                <a:srgbClr val="A0C7D6"/>
              </a:solidFill>
            </a:ln>
          </c:spPr>
          <c:marker>
            <c:symbol val="none"/>
          </c:marker>
          <c:cat>
            <c:strRef>
              <c:f>'Chart Data'!$AG$2:$AG$3</c:f>
              <c:strCache>
                <c:ptCount val="2"/>
                <c:pt idx="0">
                  <c:v>Before</c:v>
                </c:pt>
                <c:pt idx="1">
                  <c:v>After</c:v>
                </c:pt>
              </c:strCache>
            </c:strRef>
          </c:cat>
          <c:val>
            <c:numRef>
              <c:f>'Chart Data'!$AH$2:$AH$3</c:f>
              <c:numCache>
                <c:formatCode>General</c:formatCode>
                <c:ptCount val="2"/>
                <c:pt idx="0">
                  <c:v>83.3</c:v>
                </c:pt>
                <c:pt idx="1">
                  <c:v>85.4</c:v>
                </c:pt>
              </c:numCache>
            </c:numRef>
          </c:val>
        </c:ser>
        <c:ser>
          <c:idx val="17"/>
          <c:order val="17"/>
          <c:tx>
            <c:v>Patient 18</c:v>
          </c:tx>
          <c:spPr>
            <a:ln xmlns:a="http://schemas.openxmlformats.org/drawingml/2006/main" w="9525">
              <a:solidFill>
                <a:srgbClr val="A0C7D6"/>
              </a:solidFill>
            </a:ln>
          </c:spPr>
          <c:marker>
            <c:symbol val="none"/>
          </c:marker>
          <c:cat>
            <c:strRef>
              <c:f>'Chart Data'!$AI$2:$AI$3</c:f>
              <c:strCache>
                <c:ptCount val="2"/>
                <c:pt idx="0">
                  <c:v>Before</c:v>
                </c:pt>
                <c:pt idx="1">
                  <c:v>After</c:v>
                </c:pt>
              </c:strCache>
            </c:strRef>
          </c:cat>
          <c:val>
            <c:numRef>
              <c:f>'Chart Data'!$AJ$2:$AJ$3</c:f>
              <c:numCache>
                <c:formatCode>General</c:formatCode>
                <c:ptCount val="2"/>
                <c:pt idx="0">
                  <c:v>83</c:v>
                </c:pt>
                <c:pt idx="1">
                  <c:v>81.6</c:v>
                </c:pt>
              </c:numCache>
            </c:numRef>
          </c:val>
        </c:ser>
        <c:ser>
          <c:idx val="18"/>
          <c:order val="18"/>
          <c:tx>
            <c:v>Patient 19</c:v>
          </c:tx>
          <c:spPr>
            <a:ln xmlns:a="http://schemas.openxmlformats.org/drawingml/2006/main" w="9525">
              <a:solidFill>
                <a:srgbClr val="A0C7D6"/>
              </a:solidFill>
            </a:ln>
          </c:spPr>
          <c:marker>
            <c:symbol val="none"/>
          </c:marker>
          <c:cat>
            <c:strRef>
              <c:f>'Chart Data'!$AK$2:$AK$3</c:f>
              <c:strCache>
                <c:ptCount val="2"/>
                <c:pt idx="0">
                  <c:v>Before</c:v>
                </c:pt>
                <c:pt idx="1">
                  <c:v>After</c:v>
                </c:pt>
              </c:strCache>
            </c:strRef>
          </c:cat>
          <c:val>
            <c:numRef>
              <c:f>'Chart Data'!$AL$2:$AL$3</c:f>
              <c:numCache>
                <c:formatCode>General</c:formatCode>
                <c:ptCount val="2"/>
                <c:pt idx="0">
                  <c:v>87.7</c:v>
                </c:pt>
                <c:pt idx="1">
                  <c:v>89.1</c:v>
                </c:pt>
              </c:numCache>
            </c:numRef>
          </c:val>
        </c:ser>
        <c:ser>
          <c:idx val="19"/>
          <c:order val="19"/>
          <c:tx>
            <c:v>Patient 20</c:v>
          </c:tx>
          <c:spPr>
            <a:ln xmlns:a="http://schemas.openxmlformats.org/drawingml/2006/main" w="9525">
              <a:solidFill>
                <a:srgbClr val="A0C7D6"/>
              </a:solidFill>
            </a:ln>
          </c:spPr>
          <c:marker>
            <c:symbol val="none"/>
          </c:marker>
          <c:cat>
            <c:strRef>
              <c:f>'Chart Data'!$AM$2:$AM$3</c:f>
              <c:strCache>
                <c:ptCount val="2"/>
                <c:pt idx="0">
                  <c:v>Before</c:v>
                </c:pt>
                <c:pt idx="1">
                  <c:v>After</c:v>
                </c:pt>
              </c:strCache>
            </c:strRef>
          </c:cat>
          <c:val>
            <c:numRef>
              <c:f>'Chart Data'!$AN$2:$AN$3</c:f>
              <c:numCache>
                <c:formatCode>General</c:formatCode>
                <c:ptCount val="2"/>
                <c:pt idx="0">
                  <c:v>84.2</c:v>
                </c:pt>
                <c:pt idx="1">
                  <c:v>83.9</c:v>
                </c:pt>
              </c:numCache>
            </c:numRef>
          </c:val>
        </c:ser>
        <c:ser>
          <c:idx val="20"/>
          <c:order val="20"/>
          <c:tx>
            <c:v>Patient 21</c:v>
          </c:tx>
          <c:spPr>
            <a:ln xmlns:a="http://schemas.openxmlformats.org/drawingml/2006/main" w="9525">
              <a:solidFill>
                <a:srgbClr val="A0C7D6"/>
              </a:solidFill>
            </a:ln>
          </c:spPr>
          <c:marker>
            <c:symbol val="none"/>
          </c:marker>
          <c:cat>
            <c:strRef>
              <c:f>'Chart Data'!$AO$2:$AO$3</c:f>
              <c:strCache>
                <c:ptCount val="2"/>
                <c:pt idx="0">
                  <c:v>Before</c:v>
                </c:pt>
                <c:pt idx="1">
                  <c:v>After</c:v>
                </c:pt>
              </c:strCache>
            </c:strRef>
          </c:cat>
          <c:val>
            <c:numRef>
              <c:f>'Chart Data'!$AP$2:$AP$3</c:f>
              <c:numCache>
                <c:formatCode>General</c:formatCode>
                <c:ptCount val="2"/>
                <c:pt idx="0">
                  <c:v>86.4</c:v>
                </c:pt>
                <c:pt idx="1">
                  <c:v>82.7</c:v>
                </c:pt>
              </c:numCache>
            </c:numRef>
          </c:val>
        </c:ser>
        <c:ser>
          <c:idx val="21"/>
          <c:order val="21"/>
          <c:tx>
            <c:v>Patient 22</c:v>
          </c:tx>
          <c:spPr>
            <a:ln xmlns:a="http://schemas.openxmlformats.org/drawingml/2006/main" w="9525">
              <a:solidFill>
                <a:srgbClr val="A0C7D6"/>
              </a:solidFill>
            </a:ln>
          </c:spPr>
          <c:marker>
            <c:symbol val="none"/>
          </c:marker>
          <c:cat>
            <c:strRef>
              <c:f>'Chart Data'!$AQ$2:$AQ$3</c:f>
              <c:strCache>
                <c:ptCount val="2"/>
                <c:pt idx="0">
                  <c:v>Before</c:v>
                </c:pt>
                <c:pt idx="1">
                  <c:v>After</c:v>
                </c:pt>
              </c:strCache>
            </c:strRef>
          </c:cat>
          <c:val>
            <c:numRef>
              <c:f>'Chart Data'!$AR$2:$AR$3</c:f>
              <c:numCache>
                <c:formatCode>General</c:formatCode>
                <c:ptCount val="2"/>
                <c:pt idx="0">
                  <c:v>76.5</c:v>
                </c:pt>
                <c:pt idx="1">
                  <c:v>75.7</c:v>
                </c:pt>
              </c:numCache>
            </c:numRef>
          </c:val>
        </c:ser>
        <c:ser>
          <c:idx val="22"/>
          <c:order val="22"/>
          <c:tx>
            <c:v>Patient 23</c:v>
          </c:tx>
          <c:spPr>
            <a:ln xmlns:a="http://schemas.openxmlformats.org/drawingml/2006/main" w="9525">
              <a:solidFill>
                <a:srgbClr val="A0C7D6"/>
              </a:solidFill>
            </a:ln>
          </c:spPr>
          <c:marker>
            <c:symbol val="none"/>
          </c:marker>
          <c:cat>
            <c:strRef>
              <c:f>'Chart Data'!$AS$2:$AS$3</c:f>
              <c:strCache>
                <c:ptCount val="2"/>
                <c:pt idx="0">
                  <c:v>Before</c:v>
                </c:pt>
                <c:pt idx="1">
                  <c:v>After</c:v>
                </c:pt>
              </c:strCache>
            </c:strRef>
          </c:cat>
          <c:val>
            <c:numRef>
              <c:f>'Chart Data'!$AT$2:$AT$3</c:f>
              <c:numCache>
                <c:formatCode>General</c:formatCode>
                <c:ptCount val="2"/>
                <c:pt idx="0">
                  <c:v>80.2</c:v>
                </c:pt>
                <c:pt idx="1">
                  <c:v>82.6</c:v>
                </c:pt>
              </c:numCache>
            </c:numRef>
          </c:val>
        </c:ser>
        <c:ser>
          <c:idx val="23"/>
          <c:order val="23"/>
          <c:tx>
            <c:v>Patient 24</c:v>
          </c:tx>
          <c:spPr>
            <a:ln xmlns:a="http://schemas.openxmlformats.org/drawingml/2006/main" w="9525">
              <a:solidFill>
                <a:srgbClr val="A0C7D6"/>
              </a:solidFill>
            </a:ln>
          </c:spPr>
          <c:marker>
            <c:symbol val="none"/>
          </c:marker>
          <c:cat>
            <c:strRef>
              <c:f>'Chart Data'!$AU$2:$AU$3</c:f>
              <c:strCache>
                <c:ptCount val="2"/>
                <c:pt idx="0">
                  <c:v>Before</c:v>
                </c:pt>
                <c:pt idx="1">
                  <c:v>After</c:v>
                </c:pt>
              </c:strCache>
            </c:strRef>
          </c:cat>
          <c:val>
            <c:numRef>
              <c:f>'Chart Data'!$AV$2:$AV$3</c:f>
              <c:numCache>
                <c:formatCode>General</c:formatCode>
                <c:ptCount val="2"/>
                <c:pt idx="0">
                  <c:v>87.8</c:v>
                </c:pt>
                <c:pt idx="1">
                  <c:v>100.4</c:v>
                </c:pt>
              </c:numCache>
            </c:numRef>
          </c:val>
        </c:ser>
        <c:ser>
          <c:idx val="24"/>
          <c:order val="24"/>
          <c:tx>
            <c:v>Patient 25</c:v>
          </c:tx>
          <c:spPr>
            <a:ln xmlns:a="http://schemas.openxmlformats.org/drawingml/2006/main" w="9525">
              <a:solidFill>
                <a:srgbClr val="A0C7D6"/>
              </a:solidFill>
            </a:ln>
          </c:spPr>
          <c:marker>
            <c:symbol val="none"/>
          </c:marker>
          <c:cat>
            <c:strRef>
              <c:f>'Chart Data'!$AW$2:$AW$3</c:f>
              <c:strCache>
                <c:ptCount val="2"/>
                <c:pt idx="0">
                  <c:v>Before</c:v>
                </c:pt>
                <c:pt idx="1">
                  <c:v>After</c:v>
                </c:pt>
              </c:strCache>
            </c:strRef>
          </c:cat>
          <c:val>
            <c:numRef>
              <c:f>'Chart Data'!$AX$2:$AX$3</c:f>
              <c:numCache>
                <c:formatCode>General</c:formatCode>
                <c:ptCount val="2"/>
                <c:pt idx="0">
                  <c:v>83.3</c:v>
                </c:pt>
                <c:pt idx="1">
                  <c:v>85.2</c:v>
                </c:pt>
              </c:numCache>
            </c:numRef>
          </c:val>
        </c:ser>
        <c:ser>
          <c:idx val="25"/>
          <c:order val="25"/>
          <c:tx>
            <c:v>Patient 26</c:v>
          </c:tx>
          <c:spPr>
            <a:ln xmlns:a="http://schemas.openxmlformats.org/drawingml/2006/main" w="9525">
              <a:solidFill>
                <a:srgbClr val="A0C7D6"/>
              </a:solidFill>
            </a:ln>
          </c:spPr>
          <c:marker>
            <c:symbol val="none"/>
          </c:marker>
          <c:cat>
            <c:strRef>
              <c:f>'Chart Data'!$AY$2:$AY$3</c:f>
              <c:strCache>
                <c:ptCount val="2"/>
                <c:pt idx="0">
                  <c:v>Before</c:v>
                </c:pt>
                <c:pt idx="1">
                  <c:v>After</c:v>
                </c:pt>
              </c:strCache>
            </c:strRef>
          </c:cat>
          <c:val>
            <c:numRef>
              <c:f>'Chart Data'!$AZ$2:$AZ$3</c:f>
              <c:numCache>
                <c:formatCode>General</c:formatCode>
                <c:ptCount val="2"/>
                <c:pt idx="0">
                  <c:v>79.7</c:v>
                </c:pt>
                <c:pt idx="1">
                  <c:v>83.6</c:v>
                </c:pt>
              </c:numCache>
            </c:numRef>
          </c:val>
        </c:ser>
        <c:ser>
          <c:idx val="26"/>
          <c:order val="26"/>
          <c:tx>
            <c:v>Patient 27</c:v>
          </c:tx>
          <c:spPr>
            <a:ln xmlns:a="http://schemas.openxmlformats.org/drawingml/2006/main" w="9525">
              <a:solidFill>
                <a:srgbClr val="A0C7D6"/>
              </a:solidFill>
            </a:ln>
          </c:spPr>
          <c:marker>
            <c:symbol val="none"/>
          </c:marker>
          <c:cat>
            <c:strRef>
              <c:f>'Chart Data'!$BA$2:$BA$3</c:f>
              <c:strCache>
                <c:ptCount val="2"/>
                <c:pt idx="0">
                  <c:v>Before</c:v>
                </c:pt>
                <c:pt idx="1">
                  <c:v>After</c:v>
                </c:pt>
              </c:strCache>
            </c:strRef>
          </c:cat>
          <c:val>
            <c:numRef>
              <c:f>'Chart Data'!$BB$2:$BB$3</c:f>
              <c:numCache>
                <c:formatCode>General</c:formatCode>
                <c:ptCount val="2"/>
                <c:pt idx="0">
                  <c:v>84.5</c:v>
                </c:pt>
                <c:pt idx="1">
                  <c:v>84.6</c:v>
                </c:pt>
              </c:numCache>
            </c:numRef>
          </c:val>
        </c:ser>
        <c:ser>
          <c:idx val="27"/>
          <c:order val="27"/>
          <c:tx>
            <c:v>Patient 28</c:v>
          </c:tx>
          <c:spPr>
            <a:ln xmlns:a="http://schemas.openxmlformats.org/drawingml/2006/main" w="9525">
              <a:solidFill>
                <a:srgbClr val="A0C7D6"/>
              </a:solidFill>
            </a:ln>
          </c:spPr>
          <c:marker>
            <c:symbol val="none"/>
          </c:marker>
          <c:cat>
            <c:strRef>
              <c:f>'Chart Data'!$BC$2:$BC$3</c:f>
              <c:strCache>
                <c:ptCount val="2"/>
                <c:pt idx="0">
                  <c:v>Before</c:v>
                </c:pt>
                <c:pt idx="1">
                  <c:v>After</c:v>
                </c:pt>
              </c:strCache>
            </c:strRef>
          </c:cat>
          <c:val>
            <c:numRef>
              <c:f>'Chart Data'!$BD$2:$BD$3</c:f>
              <c:numCache>
                <c:formatCode>General</c:formatCode>
                <c:ptCount val="2"/>
                <c:pt idx="0">
                  <c:v>80.8</c:v>
                </c:pt>
                <c:pt idx="1">
                  <c:v>96.2</c:v>
                </c:pt>
              </c:numCache>
            </c:numRef>
          </c:val>
        </c:ser>
        <c:ser>
          <c:idx val="28"/>
          <c:order val="28"/>
          <c:tx>
            <c:v>Patient 29</c:v>
          </c:tx>
          <c:spPr>
            <a:ln xmlns:a="http://schemas.openxmlformats.org/drawingml/2006/main" w="9525">
              <a:solidFill>
                <a:srgbClr val="A0C7D6"/>
              </a:solidFill>
            </a:ln>
          </c:spPr>
          <c:marker>
            <c:symbol val="none"/>
          </c:marker>
          <c:cat>
            <c:strRef>
              <c:f>'Chart Data'!$BE$2:$BE$3</c:f>
              <c:strCache>
                <c:ptCount val="2"/>
                <c:pt idx="0">
                  <c:v>Before</c:v>
                </c:pt>
                <c:pt idx="1">
                  <c:v>After</c:v>
                </c:pt>
              </c:strCache>
            </c:strRef>
          </c:cat>
          <c:val>
            <c:numRef>
              <c:f>'Chart Data'!$BF$2:$BF$3</c:f>
              <c:numCache>
                <c:formatCode>General</c:formatCode>
                <c:ptCount val="2"/>
                <c:pt idx="0">
                  <c:v>87.4</c:v>
                </c:pt>
                <c:pt idx="1">
                  <c:v>86.7</c:v>
                </c:pt>
              </c:numCache>
            </c:numRef>
          </c:val>
        </c:ser>
        <c:ser>
          <c:idx val="29"/>
          <c:order val="29"/>
          <c:tx>
            <c:v>Mean</c:v>
          </c:tx>
          <c:spPr>
            <a:ln xmlns:a="http://schemas.openxmlformats.org/drawingml/2006/main" w="28575">
              <a:solidFill>
                <a:srgbClr val="D87945"/>
              </a:solidFill>
            </a:ln>
          </c:spPr>
          <c:marker>
            <c:symbol val="none"/>
          </c:marker>
          <c:cat>
            <c:strRef>
              <c:f>'Chart Data'!$BG$2:$BG$3</c:f>
              <c:strCache>
                <c:ptCount val="2"/>
                <c:pt idx="0">
                  <c:v>Before</c:v>
                </c:pt>
                <c:pt idx="1">
                  <c:v>After</c:v>
                </c:pt>
              </c:strCache>
            </c:strRef>
          </c:cat>
          <c:val>
            <c:numRef>
              <c:f>'Chart Data'!$BH$2:$BH$3</c:f>
              <c:numCache>
                <c:formatCode>General</c:formatCode>
                <c:ptCount val="2"/>
                <c:pt idx="0">
                  <c:v>82.6897</c:v>
                </c:pt>
                <c:pt idx="1">
                  <c:v>85.6966</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110"/>
          <c:min val="65"/>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Weight (lb)</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5"/>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Positive status (%)</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No high BP</c:v>
                </c:pt>
                <c:pt idx="1">
                  <c:v>High BP</c:v>
                </c:pt>
              </c:strCache>
            </c:strRef>
          </c:cat>
          <c:val>
            <c:numRef>
              <c:f>'Chart Data'!$B$2:$B$3</c:f>
              <c:numCache>
                <c:formatCode>General</c:formatCode>
                <c:ptCount val="2"/>
                <c:pt idx="0">
                  <c:v>6.9289</c:v>
                </c:pt>
                <c:pt idx="1">
                  <c:v>27.0625</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35"/>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Positive status (%)</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Positive status (%)</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Never 100 cigarettes</c:v>
                </c:pt>
                <c:pt idx="1">
                  <c:v>Ever 100 cigarettes</c:v>
                </c:pt>
              </c:strCache>
            </c:strRef>
          </c:cat>
          <c:val>
            <c:numRef>
              <c:f>'Chart Data'!$B$2:$B$3</c:f>
              <c:numCache>
                <c:formatCode>General</c:formatCode>
                <c:ptCount val="2"/>
                <c:pt idx="0">
                  <c:v>14.0872</c:v>
                </c:pt>
                <c:pt idx="1">
                  <c:v>17.3606</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35"/>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Positive status (%)</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2.xml><?xml version="1.0" encoding="utf-8"?>
<c:chartSpace xmlns:c="http://schemas.openxmlformats.org/drawingml/2006/chart" xmlns:r="http://schemas.openxmlformats.org/officeDocument/2006/relationships">
  <c:lang val="en-US"/>
  <c:chart>
    <c:plotArea>
      <c:lineChart>
        <c:grouping val="standard"/>
        <c:varyColors val="0"/>
        <c:ser>
          <c:idx val="0"/>
          <c:order val="0"/>
          <c:tx>
            <c:v>R1</c:v>
          </c:tx>
          <c:spPr>
            <a:solidFill xmlns:a="http://schemas.openxmlformats.org/drawingml/2006/main">
              <a:srgbClr val="176D8C"/>
            </a:solidFill>
            <a:ln xmlns:a="http://schemas.openxmlformats.org/drawingml/2006/main" w="19050">
              <a:solidFill>
                <a:srgbClr val="176D8C"/>
              </a:solidFill>
            </a:ln>
          </c:spPr>
          <c:marker>
            <c:symbol val="circle"/>
            <c:size val="4"/>
          </c:marker>
          <c:cat>
            <c:numRef>
              <c:f>'Chart Data'!$A$2:$A$7</c:f>
              <c:numCache>
                <c:formatCode>General</c:formatCode>
                <c:ptCount val="6"/>
                <c:pt idx="0">
                  <c:v>25</c:v>
                </c:pt>
                <c:pt idx="1">
                  <c:v>50</c:v>
                </c:pt>
                <c:pt idx="2">
                  <c:v>75</c:v>
                </c:pt>
                <c:pt idx="3">
                  <c:v>100</c:v>
                </c:pt>
                <c:pt idx="4">
                  <c:v>125</c:v>
                </c:pt>
                <c:pt idx="5">
                  <c:v>150</c:v>
                </c:pt>
              </c:numCache>
            </c:numRef>
          </c:cat>
          <c:val>
            <c:numRef>
              <c:f>'Chart Data'!$B$2:$B$7</c:f>
              <c:numCache>
                <c:formatCode>General</c:formatCode>
                <c:ptCount val="6"/>
                <c:pt idx="0">
                  <c:v>5113</c:v>
                </c:pt>
                <c:pt idx="1">
                  <c:v>5346</c:v>
                </c:pt>
                <c:pt idx="2">
                  <c:v>5272</c:v>
                </c:pt>
                <c:pt idx="3">
                  <c:v>5164</c:v>
                </c:pt>
                <c:pt idx="4">
                  <c:v>4804</c:v>
                </c:pt>
                <c:pt idx="5">
                  <c:v>5254</c:v>
                </c:pt>
              </c:numCache>
            </c:numRef>
          </c:val>
        </c:ser>
        <c:ser>
          <c:idx val="1"/>
          <c:order val="1"/>
          <c:tx>
            <c:v>R2</c:v>
          </c:tx>
          <c:spPr>
            <a:solidFill xmlns:a="http://schemas.openxmlformats.org/drawingml/2006/main">
              <a:srgbClr val="D87945"/>
            </a:solidFill>
            <a:ln xmlns:a="http://schemas.openxmlformats.org/drawingml/2006/main" w="19050">
              <a:solidFill>
                <a:srgbClr val="D87945"/>
              </a:solidFill>
            </a:ln>
          </c:spPr>
          <c:marker>
            <c:symbol val="circle"/>
            <c:size val="4"/>
          </c:marker>
          <c:cat>
            <c:numRef>
              <c:f>'Chart Data'!$C$2:$C$7</c:f>
              <c:numCache>
                <c:formatCode>General</c:formatCode>
                <c:ptCount val="6"/>
                <c:pt idx="0">
                  <c:v>25</c:v>
                </c:pt>
                <c:pt idx="1">
                  <c:v>50</c:v>
                </c:pt>
                <c:pt idx="2">
                  <c:v>75</c:v>
                </c:pt>
                <c:pt idx="3">
                  <c:v>100</c:v>
                </c:pt>
                <c:pt idx="4">
                  <c:v>125</c:v>
                </c:pt>
                <c:pt idx="5">
                  <c:v>150</c:v>
                </c:pt>
              </c:numCache>
            </c:numRef>
          </c:cat>
          <c:val>
            <c:numRef>
              <c:f>'Chart Data'!$D$2:$D$7</c:f>
              <c:numCache>
                <c:formatCode>General</c:formatCode>
                <c:ptCount val="6"/>
                <c:pt idx="0">
                  <c:v>5398</c:v>
                </c:pt>
                <c:pt idx="1">
                  <c:v>5952</c:v>
                </c:pt>
                <c:pt idx="2">
                  <c:v>5713</c:v>
                </c:pt>
                <c:pt idx="3">
                  <c:v>4831</c:v>
                </c:pt>
                <c:pt idx="4">
                  <c:v>4848</c:v>
                </c:pt>
                <c:pt idx="5">
                  <c:v>4542</c:v>
                </c:pt>
              </c:numCache>
            </c:numRef>
          </c:val>
        </c:ser>
        <c:ser>
          <c:idx val="2"/>
          <c:order val="2"/>
          <c:tx>
            <c:v>R3</c:v>
          </c:tx>
          <c:spPr>
            <a:solidFill xmlns:a="http://schemas.openxmlformats.org/drawingml/2006/main">
              <a:srgbClr val="269E91"/>
            </a:solidFill>
            <a:ln xmlns:a="http://schemas.openxmlformats.org/drawingml/2006/main" w="19050">
              <a:solidFill>
                <a:srgbClr val="269E91"/>
              </a:solidFill>
            </a:ln>
          </c:spPr>
          <c:marker>
            <c:symbol val="circle"/>
            <c:size val="4"/>
          </c:marker>
          <c:cat>
            <c:numRef>
              <c:f>'Chart Data'!$E$2:$E$7</c:f>
              <c:numCache>
                <c:formatCode>General</c:formatCode>
                <c:ptCount val="6"/>
                <c:pt idx="0">
                  <c:v>25</c:v>
                </c:pt>
                <c:pt idx="1">
                  <c:v>50</c:v>
                </c:pt>
                <c:pt idx="2">
                  <c:v>75</c:v>
                </c:pt>
                <c:pt idx="3">
                  <c:v>100</c:v>
                </c:pt>
                <c:pt idx="4">
                  <c:v>125</c:v>
                </c:pt>
                <c:pt idx="5">
                  <c:v>150</c:v>
                </c:pt>
              </c:numCache>
            </c:numRef>
          </c:cat>
          <c:val>
            <c:numRef>
              <c:f>'Chart Data'!$F$2:$F$7</c:f>
              <c:numCache>
                <c:formatCode>General</c:formatCode>
                <c:ptCount val="6"/>
                <c:pt idx="0">
                  <c:v>5307</c:v>
                </c:pt>
                <c:pt idx="1">
                  <c:v>4719</c:v>
                </c:pt>
                <c:pt idx="2">
                  <c:v>5483</c:v>
                </c:pt>
                <c:pt idx="3">
                  <c:v>4986</c:v>
                </c:pt>
                <c:pt idx="4">
                  <c:v>4432</c:v>
                </c:pt>
                <c:pt idx="5">
                  <c:v>4919</c:v>
                </c:pt>
              </c:numCache>
            </c:numRef>
          </c:val>
        </c:ser>
        <c:ser>
          <c:idx val="3"/>
          <c:order val="3"/>
          <c:tx>
            <c:v>R4</c:v>
          </c:tx>
          <c:spPr>
            <a:solidFill xmlns:a="http://schemas.openxmlformats.org/drawingml/2006/main">
              <a:srgbClr val="7660A7"/>
            </a:solidFill>
            <a:ln xmlns:a="http://schemas.openxmlformats.org/drawingml/2006/main" w="19050">
              <a:solidFill>
                <a:srgbClr val="7660A7"/>
              </a:solidFill>
            </a:ln>
          </c:spPr>
          <c:marker>
            <c:symbol val="circle"/>
            <c:size val="4"/>
          </c:marker>
          <c:cat>
            <c:numRef>
              <c:f>'Chart Data'!$G$2:$G$7</c:f>
              <c:numCache>
                <c:formatCode>General</c:formatCode>
                <c:ptCount val="6"/>
                <c:pt idx="0">
                  <c:v>25</c:v>
                </c:pt>
                <c:pt idx="1">
                  <c:v>50</c:v>
                </c:pt>
                <c:pt idx="2">
                  <c:v>75</c:v>
                </c:pt>
                <c:pt idx="3">
                  <c:v>100</c:v>
                </c:pt>
                <c:pt idx="4">
                  <c:v>125</c:v>
                </c:pt>
                <c:pt idx="5">
                  <c:v>150</c:v>
                </c:pt>
              </c:numCache>
            </c:numRef>
          </c:cat>
          <c:val>
            <c:numRef>
              <c:f>'Chart Data'!$H$2:$H$7</c:f>
              <c:numCache>
                <c:formatCode>General</c:formatCode>
                <c:ptCount val="6"/>
                <c:pt idx="0">
                  <c:v>4678</c:v>
                </c:pt>
                <c:pt idx="1">
                  <c:v>4264</c:v>
                </c:pt>
                <c:pt idx="2">
                  <c:v>4749</c:v>
                </c:pt>
                <c:pt idx="3">
                  <c:v>4410</c:v>
                </c:pt>
                <c:pt idx="4">
                  <c:v>4748</c:v>
                </c:pt>
                <c:pt idx="5">
                  <c:v>4098</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666666"/>
                </a:solidFill>
                <a:latin typeface="Arial"/>
                <a:ea typeface="Arial"/>
                <a:cs typeface="Arial"/>
              </a:defRPr>
            </a:pPr>
          </a:p>
        </c:txPr>
        <c:crossAx val="48672768"/>
      </c:catAx>
      <c:valAx>
        <c:axId val="48672768"/>
        <c:scaling>
          <c:orientation val="minMax"/>
          <c:max val="6000"/>
          <c:min val="4000"/>
        </c:scaling>
        <c:delete val="0"/>
        <c:axPos val="l"/>
        <c:majorGridlines>
          <c:spPr>
            <a:ln xmlns:a="http://schemas.openxmlformats.org/drawingml/2006/main" w="9525">
              <a:solidFill>
                <a:srgbClr val="DF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666666"/>
                </a:solidFill>
                <a:latin typeface="Arial"/>
                <a:ea typeface="Arial"/>
                <a:cs typeface="Arial"/>
              </a:defRPr>
            </a:pPr>
          </a:p>
        </c:txPr>
        <c:crossAx val="48650112"/>
        <c:crossBetween val="between"/>
        <c:majorUnit val="1000"/>
      </c:valAx>
      <c:spPr>
        <a:solidFill xmlns:a="http://schemas.openxmlformats.org/drawingml/2006/main">
          <a:srgbClr val="FFFFFF"/>
        </a:solidFill>
      </c:spPr>
    </c:plotArea>
    <c:legend>
      <c:legendPos val="r"/>
      <c:overlay val="0"/>
      <c:txPr>
        <a:bodyPr xmlns:a="http://schemas.openxmlformats.org/drawingml/2006/main" anchorCtr="1"/>
        <a:lstStyle xmlns:a="http://schemas.openxmlformats.org/drawingml/2006/main"/>
        <a:p xmlns:a="http://schemas.openxmlformats.org/drawingml/2006/main">
          <a:pPr>
            <a:defRPr sz="1125">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DBBF88-0200-4A64-A4D5-BED71C9F5D70}"/>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0A9902CA-24E0-4442-AF0A-415BC3E5B66C}"/>
              </a:ext>
            </a:extLst>
          </p:cNvPr>
          <p:cNvSpPr>
            <a:spLocks xmlns:a="http://schemas.openxmlformats.org/drawingml/2006/main" noGrp="1"/>
          </p:cNvSpPr>
          <p:nvPr/>
        </p:nvSpPr>
        <p:spPr>
          <a:xfrm xmlns:a="http://schemas.openxmlformats.org/drawingml/2006/main">
            <a:off x="552450" y="790575"/>
            <a:ext cx="10953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4800" b="1">
                <a:solidFill>
                  <a:srgbClr val="183044"/>
                </a:solidFill>
                <a:latin typeface="Arial"/>
                <a:ea typeface="Arial"/>
                <a:cs typeface="Arial"/>
              </a:defRPr>
            </a:defPPr>
          </a:lstStyle>
          <a:p xmlns:a="http://schemas.openxmlformats.org/drawingml/2006/main">
            <a:pPr>
              <a:defRPr sz="4800" b="1">
                <a:solidFill>
                  <a:srgbClr val="183044"/>
                </a:solidFill>
                <a:latin typeface="Arial"/>
                <a:ea typeface="Arial"/>
                <a:cs typeface="Arial"/>
              </a:defRPr>
            </a:pPr>
            <a:r>
              <a:rPr sz="4800" b="1">
                <a:solidFill>
                  <a:srgbClr val="183044"/>
                </a:solidFill>
                <a:latin typeface="Arial"/>
                <a:ea typeface="Arial"/>
                <a:cs typeface="Arial"/>
              </a:rPr>
              <a:t>Diabetes and</a:t>
            </a:r>
          </a:p>
          <a:p xmlns:a="http://schemas.openxmlformats.org/drawingml/2006/main">
            <a:pPr>
              <a:defRPr sz="4800" b="1">
                <a:solidFill>
                  <a:srgbClr val="183044"/>
                </a:solidFill>
                <a:latin typeface="Arial"/>
                <a:ea typeface="Arial"/>
                <a:cs typeface="Arial"/>
              </a:defRPr>
            </a:pPr>
            <a:r>
              <a:rPr sz="4800" b="1">
                <a:solidFill>
                  <a:srgbClr val="183044"/>
                </a:solidFill>
                <a:latin typeface="Arial"/>
                <a:ea typeface="Arial"/>
                <a:cs typeface="Arial"/>
              </a:rPr>
              <a:t>lifestyle indicators</a:t>
            </a:r>
          </a:p>
        </p:txBody>
      </p:sp>
      <p:sp>
        <p:nvSpPr>
          <p:cNvPr id="3" name="text">
            <a:extLst xmlns:a="http://schemas.openxmlformats.org/drawingml/2006/main">
              <a:ext uri="{FF2B5EF4-FFF2-40B4-BE49-F238E27FC236}">
                <a16:creationId xmlns:a16="http://schemas.microsoft.com/office/drawing/2014/main" id="{841D9D4E-98EC-47E8-ADAE-41B07EB41AB4}"/>
              </a:ext>
            </a:extLst>
          </p:cNvPr>
          <p:cNvSpPr>
            <a:spLocks xmlns:a="http://schemas.openxmlformats.org/drawingml/2006/main" noGrp="1"/>
          </p:cNvSpPr>
          <p:nvPr/>
        </p:nvSpPr>
        <p:spPr>
          <a:xfrm xmlns:a="http://schemas.openxmlformats.org/drawingml/2006/main">
            <a:off x="590550" y="3238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76D8C"/>
                </a:solidFill>
                <a:latin typeface="Arial"/>
                <a:ea typeface="Arial"/>
                <a:cs typeface="Arial"/>
              </a:defRPr>
            </a:defPPr>
          </a:lstStyle>
          <a:p xmlns:a="http://schemas.openxmlformats.org/drawingml/2006/main">
            <a:pPr>
              <a:defRPr sz="1575" b="1">
                <a:solidFill>
                  <a:srgbClr val="176D8C"/>
                </a:solidFill>
                <a:latin typeface="Arial"/>
                <a:ea typeface="Arial"/>
                <a:cs typeface="Arial"/>
              </a:defRPr>
            </a:pPr>
            <a:r>
              <a:rPr sz="1575" b="1">
                <a:solidFill>
                  <a:srgbClr val="176D8C"/>
                </a:solidFill>
                <a:latin typeface="Arial"/>
                <a:ea typeface="Arial"/>
                <a:cs typeface="Arial"/>
              </a:rPr>
              <a:t>LABS 1–11: Probability and Statistics Lab</a:t>
            </a:r>
          </a:p>
        </p:txBody>
      </p:sp>
      <p:sp>
        <p:nvSpPr>
          <p:cNvPr id="4" name="text">
            <a:extLst xmlns:a="http://schemas.openxmlformats.org/drawingml/2006/main">
              <a:ext uri="{FF2B5EF4-FFF2-40B4-BE49-F238E27FC236}">
                <a16:creationId xmlns:a16="http://schemas.microsoft.com/office/drawing/2014/main" id="{660011D3-4F6B-4213-9293-DE2BBA04AC2C}"/>
              </a:ext>
            </a:extLst>
          </p:cNvPr>
          <p:cNvSpPr>
            <a:spLocks xmlns:a="http://schemas.openxmlformats.org/drawingml/2006/main" noGrp="1"/>
          </p:cNvSpPr>
          <p:nvPr/>
        </p:nvSpPr>
        <p:spPr>
          <a:xfrm xmlns:a="http://schemas.openxmlformats.org/drawingml/2006/main">
            <a:off x="590550" y="2571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76D8C"/>
                </a:solidFill>
                <a:latin typeface="Arial"/>
                <a:ea typeface="Arial"/>
                <a:cs typeface="Arial"/>
              </a:defRPr>
            </a:defPPr>
          </a:lstStyle>
          <a:p xmlns:a="http://schemas.openxmlformats.org/drawingml/2006/main">
            <a:pPr>
              <a:defRPr sz="2325" b="0">
                <a:solidFill>
                  <a:srgbClr val="176D8C"/>
                </a:solidFill>
                <a:latin typeface="Arial"/>
                <a:ea typeface="Arial"/>
                <a:cs typeface="Arial"/>
              </a:defRPr>
            </a:pPr>
            <a:r>
              <a:rPr sz="2325" b="0">
                <a:solidFill>
                  <a:srgbClr val="176D8C"/>
                </a:solidFill>
                <a:latin typeface="Arial"/>
                <a:ea typeface="Arial"/>
                <a:cs typeface="Arial"/>
              </a:rPr>
              <a:t>Statistical analysis with R</a:t>
            </a:r>
          </a:p>
          <a:p xmlns:a="http://schemas.openxmlformats.org/drawingml/2006/main">
            <a:pPr>
              <a:defRPr sz="2325" b="0">
                <a:solidFill>
                  <a:srgbClr val="176D8C"/>
                </a:solidFill>
                <a:latin typeface="Arial"/>
                <a:ea typeface="Arial"/>
                <a:cs typeface="Arial"/>
              </a:defRPr>
            </a:pPr>
            <a:r>
              <a:rPr sz="2325" b="0">
                <a:solidFill>
                  <a:srgbClr val="176D8C"/>
                </a:solidFill>
                <a:latin typeface="Arial"/>
                <a:ea typeface="Arial"/>
                <a:cs typeface="Arial"/>
              </a:rPr>
              <a:t>BMAT202P Probability and Statistics Lab</a:t>
            </a:r>
          </a:p>
        </p:txBody>
      </p:sp>
      <p:sp>
        <p:nvSpPr>
          <p:cNvPr id="5" name="">
            <a:extLst xmlns:a="http://schemas.openxmlformats.org/drawingml/2006/main">
              <a:ext uri="{FF2B5EF4-FFF2-40B4-BE49-F238E27FC236}">
                <a16:creationId xmlns:a16="http://schemas.microsoft.com/office/drawing/2014/main" id="{FEFA117D-2EF0-483F-B796-4B8B6B81DF41}"/>
              </a:ext>
            </a:extLst>
          </p:cNvPr>
          <p:cNvSpPr>
            <a:spLocks xmlns:a="http://schemas.openxmlformats.org/drawingml/2006/main" noGrp="1"/>
          </p:cNvSpPr>
          <p:nvPr/>
        </p:nvSpPr>
        <p:spPr>
          <a:xfrm xmlns:a="http://schemas.openxmlformats.org/drawingml/2006/main">
            <a:off x="590550" y="3686175"/>
            <a:ext cx="1095375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6" name="text">
            <a:extLst xmlns:a="http://schemas.openxmlformats.org/drawingml/2006/main">
              <a:ext uri="{FF2B5EF4-FFF2-40B4-BE49-F238E27FC236}">
                <a16:creationId xmlns:a16="http://schemas.microsoft.com/office/drawing/2014/main" id="{1FD01380-19B3-41F1-8343-29A45654D2E5}"/>
              </a:ext>
            </a:extLst>
          </p:cNvPr>
          <p:cNvSpPr>
            <a:spLocks xmlns:a="http://schemas.openxmlformats.org/drawingml/2006/main" noGrp="1"/>
          </p:cNvSpPr>
          <p:nvPr/>
        </p:nvSpPr>
        <p:spPr>
          <a:xfrm xmlns:a="http://schemas.openxmlformats.org/drawingml/2006/main">
            <a:off x="590550" y="3990975"/>
            <a:ext cx="109537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83044"/>
                </a:solidFill>
                <a:latin typeface="Arial"/>
                <a:ea typeface="Arial"/>
                <a:cs typeface="Arial"/>
              </a:defRPr>
            </a:defPPr>
          </a:lstStyle>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YASH RAJ - 24BDS1209</a:t>
            </a:r>
          </a:p>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HRISHIKESH DAMODAR NAYAK - 24BDS1007</a:t>
            </a:r>
          </a:p>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HARDIK LALLA - 24BDS1010</a:t>
            </a:r>
          </a:p>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ARYAN RAJ - 24BDS1094</a:t>
            </a:r>
          </a:p>
        </p:txBody>
      </p:sp>
      <p:sp>
        <p:nvSpPr>
          <p:cNvPr id="7" name="text">
            <a:extLst xmlns:a="http://schemas.openxmlformats.org/drawingml/2006/main">
              <a:ext uri="{FF2B5EF4-FFF2-40B4-BE49-F238E27FC236}">
                <a16:creationId xmlns:a16="http://schemas.microsoft.com/office/drawing/2014/main" id="{01BFBE1D-5ECF-41EF-AFC1-A4298B4FBB6D}"/>
              </a:ext>
            </a:extLst>
          </p:cNvPr>
          <p:cNvSpPr>
            <a:spLocks xmlns:a="http://schemas.openxmlformats.org/drawingml/2006/main" noGrp="1"/>
          </p:cNvSpPr>
          <p:nvPr/>
        </p:nvSpPr>
        <p:spPr>
          <a:xfrm xmlns:a="http://schemas.openxmlformats.org/drawingml/2006/main">
            <a:off x="590550" y="600075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Data  →  graphs  →  models  →  statistical tests</a:t>
            </a:r>
          </a:p>
        </p:txBody>
      </p:sp>
    </p:spTree>
    <p:extLst>
      <p:ext uri="{BB962C8B-B14F-4D97-AF65-F5344CB8AC3E}">
        <p14:creationId xmlns:p14="http://schemas.microsoft.com/office/powerpoint/2010/main" val="11827455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
            <a:extLst xmlns:a="http://schemas.openxmlformats.org/drawingml/2006/main">
              <a:ext uri="{FF2B5EF4-FFF2-40B4-BE49-F238E27FC236}">
                <a16:creationId xmlns:a16="http://schemas.microsoft.com/office/drawing/2014/main" id="{B88AA237-9300-413A-8410-473B3C7C184A}"/>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 Data types, import and export (dataset overview)</a:t>
            </a:r>
          </a:p>
        </p:txBody>
      </p:sp>
      <p:sp>
        <p:nvSpPr>
          <p:cNvPr id="2" name="">
            <a:extLst xmlns:a="http://schemas.openxmlformats.org/drawingml/2006/main">
              <a:ext uri="{FF2B5EF4-FFF2-40B4-BE49-F238E27FC236}">
                <a16:creationId xmlns:a16="http://schemas.microsoft.com/office/drawing/2014/main" id="{33A55331-A90B-498E-AF32-119C93AF68E4}"/>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F01A3CFA-BAFB-473C-BD13-7D24222056B8}"/>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Dataset and aim</a:t>
            </a:r>
          </a:p>
        </p:txBody>
      </p:sp>
      <p:sp>
        <p:nvSpPr>
          <p:cNvPr id="4" name="text">
            <a:extLst xmlns:a="http://schemas.openxmlformats.org/drawingml/2006/main">
              <a:ext uri="{FF2B5EF4-FFF2-40B4-BE49-F238E27FC236}">
                <a16:creationId xmlns:a16="http://schemas.microsoft.com/office/drawing/2014/main" id="{5656E8A2-34FA-4416-BDBB-9C4D06757EAD}"/>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Aim: describe health patterns, study BMI relationships and apply the course statistical methods.</a:t>
            </a:r>
          </a:p>
        </p:txBody>
      </p:sp>
      <p:sp>
        <p:nvSpPr>
          <p:cNvPr id="5" name="text">
            <a:extLst xmlns:a="http://schemas.openxmlformats.org/drawingml/2006/main">
              <a:ext uri="{FF2B5EF4-FFF2-40B4-BE49-F238E27FC236}">
                <a16:creationId xmlns:a16="http://schemas.microsoft.com/office/drawing/2014/main" id="{12D266DF-1141-4979-8417-A913EF5A4114}"/>
              </a:ext>
            </a:extLst>
          </p:cNvPr>
          <p:cNvSpPr>
            <a:spLocks xmlns:a="http://schemas.openxmlformats.org/drawingml/2006/main" noGrp="1"/>
          </p:cNvSpPr>
          <p:nvPr/>
        </p:nvSpPr>
        <p:spPr>
          <a:xfrm xmlns:a="http://schemas.openxmlformats.org/drawingml/2006/main">
            <a:off x="400050" y="1533525"/>
            <a:ext cx="3571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253,680</a:t>
            </a:r>
          </a:p>
        </p:txBody>
      </p:sp>
      <p:sp>
        <p:nvSpPr>
          <p:cNvPr id="6" name="text">
            <a:extLst xmlns:a="http://schemas.openxmlformats.org/drawingml/2006/main">
              <a:ext uri="{FF2B5EF4-FFF2-40B4-BE49-F238E27FC236}">
                <a16:creationId xmlns:a16="http://schemas.microsoft.com/office/drawing/2014/main" id="{3E5EFC91-A56A-4F8B-8579-96E7CCBC1BEC}"/>
              </a:ext>
            </a:extLst>
          </p:cNvPr>
          <p:cNvSpPr>
            <a:spLocks xmlns:a="http://schemas.openxmlformats.org/drawingml/2006/main" noGrp="1"/>
          </p:cNvSpPr>
          <p:nvPr/>
        </p:nvSpPr>
        <p:spPr>
          <a:xfrm xmlns:a="http://schemas.openxmlformats.org/drawingml/2006/main">
            <a:off x="400050" y="2047875"/>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source records</a:t>
            </a:r>
          </a:p>
        </p:txBody>
      </p:sp>
      <p:sp>
        <p:nvSpPr>
          <p:cNvPr id="7" name="text">
            <a:extLst xmlns:a="http://schemas.openxmlformats.org/drawingml/2006/main">
              <a:ext uri="{FF2B5EF4-FFF2-40B4-BE49-F238E27FC236}">
                <a16:creationId xmlns:a16="http://schemas.microsoft.com/office/drawing/2014/main" id="{1F9FC16C-9892-4A44-99B4-9C677A45887E}"/>
              </a:ext>
            </a:extLst>
          </p:cNvPr>
          <p:cNvSpPr>
            <a:spLocks xmlns:a="http://schemas.openxmlformats.org/drawingml/2006/main" noGrp="1"/>
          </p:cNvSpPr>
          <p:nvPr/>
        </p:nvSpPr>
        <p:spPr>
          <a:xfrm xmlns:a="http://schemas.openxmlformats.org/drawingml/2006/main">
            <a:off x="4229100" y="1533525"/>
            <a:ext cx="3571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3,000</a:t>
            </a:r>
          </a:p>
        </p:txBody>
      </p:sp>
      <p:sp>
        <p:nvSpPr>
          <p:cNvPr id="8" name="text">
            <a:extLst xmlns:a="http://schemas.openxmlformats.org/drawingml/2006/main">
              <a:ext uri="{FF2B5EF4-FFF2-40B4-BE49-F238E27FC236}">
                <a16:creationId xmlns:a16="http://schemas.microsoft.com/office/drawing/2014/main" id="{ACAE7129-8961-4CB6-B4A6-7F3A0A1EA835}"/>
              </a:ext>
            </a:extLst>
          </p:cNvPr>
          <p:cNvSpPr>
            <a:spLocks xmlns:a="http://schemas.openxmlformats.org/drawingml/2006/main" noGrp="1"/>
          </p:cNvSpPr>
          <p:nvPr/>
        </p:nvSpPr>
        <p:spPr>
          <a:xfrm xmlns:a="http://schemas.openxmlformats.org/drawingml/2006/main">
            <a:off x="4229100" y="2047875"/>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sampled people</a:t>
            </a:r>
          </a:p>
        </p:txBody>
      </p:sp>
      <p:sp>
        <p:nvSpPr>
          <p:cNvPr id="9" name="text">
            <a:extLst xmlns:a="http://schemas.openxmlformats.org/drawingml/2006/main">
              <a:ext uri="{FF2B5EF4-FFF2-40B4-BE49-F238E27FC236}">
                <a16:creationId xmlns:a16="http://schemas.microsoft.com/office/drawing/2014/main" id="{801BB551-F5A7-4BDE-9D16-12112E6461B1}"/>
              </a:ext>
            </a:extLst>
          </p:cNvPr>
          <p:cNvSpPr>
            <a:spLocks xmlns:a="http://schemas.openxmlformats.org/drawingml/2006/main" noGrp="1"/>
          </p:cNvSpPr>
          <p:nvPr/>
        </p:nvSpPr>
        <p:spPr>
          <a:xfrm xmlns:a="http://schemas.openxmlformats.org/drawingml/2006/main">
            <a:off x="8058150" y="1533525"/>
            <a:ext cx="3571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21</a:t>
            </a:r>
          </a:p>
        </p:txBody>
      </p:sp>
      <p:sp>
        <p:nvSpPr>
          <p:cNvPr id="10" name="text">
            <a:extLst xmlns:a="http://schemas.openxmlformats.org/drawingml/2006/main">
              <a:ext uri="{FF2B5EF4-FFF2-40B4-BE49-F238E27FC236}">
                <a16:creationId xmlns:a16="http://schemas.microsoft.com/office/drawing/2014/main" id="{CB56F897-B6B0-476C-A83C-1E0B7E550569}"/>
              </a:ext>
            </a:extLst>
          </p:cNvPr>
          <p:cNvSpPr>
            <a:spLocks xmlns:a="http://schemas.openxmlformats.org/drawingml/2006/main" noGrp="1"/>
          </p:cNvSpPr>
          <p:nvPr/>
        </p:nvSpPr>
        <p:spPr>
          <a:xfrm xmlns:a="http://schemas.openxmlformats.org/drawingml/2006/main">
            <a:off x="8058150" y="2047875"/>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health predictors</a:t>
            </a:r>
          </a:p>
        </p:txBody>
      </p:sp>
      <p:sp>
        <p:nvSpPr>
          <p:cNvPr id="11" name="">
            <a:extLst xmlns:a="http://schemas.openxmlformats.org/drawingml/2006/main">
              <a:ext uri="{FF2B5EF4-FFF2-40B4-BE49-F238E27FC236}">
                <a16:creationId xmlns:a16="http://schemas.microsoft.com/office/drawing/2014/main" id="{E1970EB0-1E52-4EF0-8821-1772F8D91160}"/>
              </a:ext>
            </a:extLst>
          </p:cNvPr>
          <p:cNvSpPr>
            <a:spLocks xmlns:a="http://schemas.openxmlformats.org/drawingml/2006/main" noGrp="1"/>
          </p:cNvSpPr>
          <p:nvPr/>
        </p:nvSpPr>
        <p:spPr>
          <a:xfrm xmlns:a="http://schemas.openxmlformats.org/drawingml/2006/main">
            <a:off x="400050" y="2381250"/>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2" name="text">
            <a:extLst xmlns:a="http://schemas.openxmlformats.org/drawingml/2006/main">
              <a:ext uri="{FF2B5EF4-FFF2-40B4-BE49-F238E27FC236}">
                <a16:creationId xmlns:a16="http://schemas.microsoft.com/office/drawing/2014/main" id="{83F93A84-0928-4977-BD82-82BD5DD11238}"/>
              </a:ext>
            </a:extLst>
          </p:cNvPr>
          <p:cNvSpPr>
            <a:spLocks xmlns:a="http://schemas.openxmlformats.org/drawingml/2006/main" noGrp="1"/>
          </p:cNvSpPr>
          <p:nvPr/>
        </p:nvSpPr>
        <p:spPr>
          <a:xfrm xmlns:a="http://schemas.openxmlformats.org/drawingml/2006/main">
            <a:off x="400050" y="256222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Health status in the sample</a:t>
            </a:r>
          </a:p>
        </p:txBody>
      </p:sp>
      <p:graphicFrame>
        <p:nvGraphicFramePr>
          <p:cNvPr id="13" name="Chart">
            <a:extLst xmlns:a="http://schemas.openxmlformats.org/drawingml/2006/main">
              <a:ext uri="{FF2B5EF4-FFF2-40B4-BE49-F238E27FC236}">
                <a16:creationId xmlns:a16="http://schemas.microsoft.com/office/drawing/2014/main" id="{FBE2E38D-6FDB-4EA1-B5E3-6BB30A0568B6}"/>
              </a:ext>
            </a:extLst>
          </p:cNvPr>
          <p:cNvGraphicFramePr/>
          <p:nvPr/>
        </p:nvGraphicFramePr>
        <p:xfrm>
          <a:off xmlns:a="http://schemas.openxmlformats.org/drawingml/2006/main" x="333375" y="2914650"/>
          <a:ext xmlns:a="http://schemas.openxmlformats.org/drawingml/2006/main" cx="5724525" cy="2905125"/>
        </p:xfrm>
        <a:graphic xmlns:a="http://schemas.openxmlformats.org/drawingml/2006/main">
          <a:graphicData uri="http://schemas.openxmlformats.org/drawingml/2006/chart">
            <c:chart xmlns:r="http://schemas.openxmlformats.org/officeDocument/2006/relationships" xmlns:c="http://schemas.openxmlformats.org/drawingml/2006/chart" r:id="Rc282e3fab9db43d1"/>
          </a:graphicData>
        </a:graphic>
      </p:graphicFrame>
      <p:sp>
        <p:nvSpPr>
          <p:cNvPr id="14" name="text">
            <a:extLst xmlns:a="http://schemas.openxmlformats.org/drawingml/2006/main">
              <a:ext uri="{FF2B5EF4-FFF2-40B4-BE49-F238E27FC236}">
                <a16:creationId xmlns:a16="http://schemas.microsoft.com/office/drawing/2014/main" id="{F0FA5E43-857E-477A-92F7-A11C31112330}"/>
              </a:ext>
            </a:extLst>
          </p:cNvPr>
          <p:cNvSpPr>
            <a:spLocks xmlns:a="http://schemas.openxmlformats.org/drawingml/2006/main" noGrp="1"/>
          </p:cNvSpPr>
          <p:nvPr/>
        </p:nvSpPr>
        <p:spPr>
          <a:xfrm xmlns:a="http://schemas.openxmlformats.org/drawingml/2006/main">
            <a:off x="6305550" y="2562225"/>
            <a:ext cx="5476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Key variables</a:t>
            </a:r>
          </a:p>
        </p:txBody>
      </p:sp>
      <p:graphicFrame>
        <p:nvGraphicFramePr>
          <p:cNvPr id="15" name="">
            <a:extLst xmlns:a="http://schemas.openxmlformats.org/drawingml/2006/main">
              <a:ext uri="{FF2B5EF4-FFF2-40B4-BE49-F238E27FC236}">
                <a16:creationId xmlns:a16="http://schemas.microsoft.com/office/drawing/2014/main" id="{6C9390DC-901C-4CFD-A33A-58A8377E1818}"/>
              </a:ext>
            </a:extLst>
          </p:cNvPr>
          <p:cNvGraphicFramePr/>
          <p:nvPr/>
        </p:nvGraphicFramePr>
        <p:xfrm>
          <a:off xmlns:a="http://schemas.openxmlformats.org/drawingml/2006/main" x="6305550" y="2933700"/>
          <a:ext xmlns:a="http://schemas.openxmlformats.org/drawingml/2006/main" cx="5505450" cy="2667000"/>
        </p:xfrm>
        <a:graphic xmlns:a="http://schemas.openxmlformats.org/drawingml/2006/main">
          <a:graphicData uri="http://schemas.openxmlformats.org/drawingml/2006/table">
            <a:tbl>
              <a:tblPr/>
              <a:tblGrid>
                <a:gridCol w="2333625"/>
                <a:gridCol w="3171825"/>
              </a:tblGrid>
              <a:tr h="533400">
                <a:tc>
                  <a:txBody>
                    <a:bodyPr>
                      <a:noAutofit/>
                    </a:bodyPr>
                    <a:lstStyle/>
                    <a:p>
                      <a:pPr algn="l"/>
                      <a:r>
                        <a:rPr sz="1575" b="1">
                          <a:solidFill>
                            <a:srgbClr val="FFFFFF"/>
                          </a:solidFill>
                          <a:latin typeface="Arial"/>
                          <a:ea typeface="Arial"/>
                          <a:cs typeface="Arial"/>
                        </a:rPr>
                        <a:t>Variable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75" b="1">
                          <a:solidFill>
                            <a:srgbClr val="FFFFFF"/>
                          </a:solidFill>
                          <a:latin typeface="Arial"/>
                          <a:ea typeface="Arial"/>
                          <a:cs typeface="Arial"/>
                        </a:rPr>
                        <a:t>What it measures</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533400">
                <a:tc>
                  <a:txBody>
                    <a:bodyPr>
                      <a:noAutofit/>
                    </a:bodyPr>
                    <a:lstStyle/>
                    <a:p>
                      <a:pPr algn="l"/>
                      <a:r>
                        <a:rPr sz="1575" b="0">
                          <a:solidFill>
                            <a:srgbClr val="183044"/>
                          </a:solidFill>
                          <a:latin typeface="Arial"/>
                          <a:ea typeface="Arial"/>
                          <a:cs typeface="Arial"/>
                        </a:rPr>
                        <a:t>BMI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75" b="0">
                          <a:solidFill>
                            <a:srgbClr val="183044"/>
                          </a:solidFill>
                          <a:latin typeface="Arial"/>
                          <a:ea typeface="Arial"/>
                          <a:cs typeface="Arial"/>
                        </a:rPr>
                        <a:t>Body mass index (kg/m²)</a:t>
                      </a:r>
                    </a:p>
                  </a:txBody>
                  <a:tcPr marL="91440" marR="91440" marT="45720" marB="45720">
                    <a:lnR w="9525">
                      <a:solidFill>
                        <a:srgbClr val="D6E0E5"/>
                      </a:solidFill>
                      <a:prstDash val="solid"/>
                    </a:lnR>
                    <a:lnB w="9525">
                      <a:solidFill>
                        <a:srgbClr val="D6E0E5"/>
                      </a:solidFill>
                      <a:prstDash val="solid"/>
                    </a:lnB>
                    <a:solidFill>
                      <a:srgbClr val="FFFFFF"/>
                    </a:solidFill>
                  </a:tcPr>
                </a:tc>
              </a:tr>
              <a:tr h="533400">
                <a:tc>
                  <a:txBody>
                    <a:bodyPr>
                      <a:noAutofit/>
                    </a:bodyPr>
                    <a:lstStyle/>
                    <a:p>
                      <a:pPr algn="l"/>
                      <a:r>
                        <a:rPr sz="1575" b="0">
                          <a:solidFill>
                            <a:srgbClr val="183044"/>
                          </a:solidFill>
                          <a:latin typeface="Arial"/>
                          <a:ea typeface="Arial"/>
                          <a:cs typeface="Arial"/>
                        </a:rPr>
                        <a:t>Mental / physical health</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75" b="0">
                          <a:solidFill>
                            <a:srgbClr val="183044"/>
                          </a:solidFill>
                          <a:latin typeface="Arial"/>
                          <a:ea typeface="Arial"/>
                          <a:cs typeface="Arial"/>
                        </a:rPr>
                        <a:t>Poor-health days, 0–30</a:t>
                      </a:r>
                    </a:p>
                  </a:txBody>
                  <a:tcPr marL="91440" marR="91440" marT="45720" marB="45720">
                    <a:lnR w="9525">
                      <a:solidFill>
                        <a:srgbClr val="D6E0E5"/>
                      </a:solidFill>
                      <a:prstDash val="solid"/>
                    </a:lnR>
                    <a:lnB w="9525">
                      <a:solidFill>
                        <a:srgbClr val="D6E0E5"/>
                      </a:solidFill>
                      <a:prstDash val="solid"/>
                    </a:lnB>
                    <a:solidFill>
                      <a:srgbClr val="EAF2F5"/>
                    </a:solidFill>
                  </a:tcPr>
                </a:tc>
              </a:tr>
              <a:tr h="533400">
                <a:tc>
                  <a:txBody>
                    <a:bodyPr>
                      <a:noAutofit/>
                    </a:bodyPr>
                    <a:lstStyle/>
                    <a:p>
                      <a:pPr algn="l"/>
                      <a:r>
                        <a:rPr sz="1575" b="0">
                          <a:solidFill>
                            <a:srgbClr val="183044"/>
                          </a:solidFill>
                          <a:latin typeface="Arial"/>
                          <a:ea typeface="Arial"/>
                          <a:cs typeface="Arial"/>
                        </a:rPr>
                        <a:t>Age / income / education</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75" b="0">
                          <a:solidFill>
                            <a:srgbClr val="183044"/>
                          </a:solidFill>
                          <a:latin typeface="Arial"/>
                          <a:ea typeface="Arial"/>
                          <a:cs typeface="Arial"/>
                        </a:rPr>
                        <a:t>Grouped categories</a:t>
                      </a:r>
                    </a:p>
                  </a:txBody>
                  <a:tcPr marL="91440" marR="91440" marT="45720" marB="45720">
                    <a:lnR w="9525">
                      <a:solidFill>
                        <a:srgbClr val="D6E0E5"/>
                      </a:solidFill>
                      <a:prstDash val="solid"/>
                    </a:lnR>
                    <a:lnB w="9525">
                      <a:solidFill>
                        <a:srgbClr val="D6E0E5"/>
                      </a:solidFill>
                      <a:prstDash val="solid"/>
                    </a:lnB>
                    <a:solidFill>
                      <a:srgbClr val="FFFFFF"/>
                    </a:solidFill>
                  </a:tcPr>
                </a:tc>
              </a:tr>
              <a:tr h="533400">
                <a:tc>
                  <a:txBody>
                    <a:bodyPr>
                      <a:noAutofit/>
                    </a:bodyPr>
                    <a:lstStyle/>
                    <a:p>
                      <a:pPr algn="l"/>
                      <a:r>
                        <a:rPr sz="1575" b="0">
                          <a:solidFill>
                            <a:srgbClr val="183044"/>
                          </a:solidFill>
                          <a:latin typeface="Arial"/>
                          <a:ea typeface="Arial"/>
                          <a:cs typeface="Arial"/>
                        </a:rPr>
                        <a:t>Activity / smoking</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75" b="0">
                          <a:solidFill>
                            <a:srgbClr val="183044"/>
                          </a:solidFill>
                          <a:latin typeface="Arial"/>
                          <a:ea typeface="Arial"/>
                          <a:cs typeface="Arial"/>
                        </a:rPr>
                        <a:t>Yes / No indicators</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16" name="text">
            <a:extLst xmlns:a="http://schemas.openxmlformats.org/drawingml/2006/main">
              <a:ext uri="{FF2B5EF4-FFF2-40B4-BE49-F238E27FC236}">
                <a16:creationId xmlns:a16="http://schemas.microsoft.com/office/drawing/2014/main" id="{F0F98DDB-289B-4E9A-9230-A318B9670054}"/>
              </a:ext>
            </a:extLst>
          </p:cNvPr>
          <p:cNvSpPr>
            <a:spLocks xmlns:a="http://schemas.openxmlformats.org/drawingml/2006/main" noGrp="1"/>
          </p:cNvSpPr>
          <p:nvPr/>
        </p:nvSpPr>
        <p:spPr>
          <a:xfrm xmlns:a="http://schemas.openxmlformats.org/drawingml/2006/main">
            <a:off x="6305550" y="5724525"/>
            <a:ext cx="54673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415566"/>
                </a:solidFill>
                <a:latin typeface="Arial"/>
                <a:ea typeface="Arial"/>
                <a:cs typeface="Arial"/>
              </a:defRPr>
            </a:defPPr>
          </a:lstStyle>
          <a:p xmlns:a="http://schemas.openxmlformats.org/drawingml/2006/main">
            <a:pPr>
              <a:defRPr sz="1200" b="0">
                <a:solidFill>
                  <a:srgbClr val="415566"/>
                </a:solidFill>
                <a:latin typeface="Arial"/>
                <a:ea typeface="Arial"/>
                <a:cs typeface="Arial"/>
              </a:defRPr>
            </a:pPr>
            <a:r>
              <a:rPr sz="1200" b="0">
                <a:solidFill>
                  <a:srgbClr val="415566"/>
                </a:solidFill>
                <a:latin typeface="Arial"/>
                <a:ea typeface="Arial"/>
                <a:cs typeface="Arial"/>
              </a:rPr>
              <a:t>Source: CDC BRFSS 2015, processed by Alex Teboul on Kaggle.</a:t>
            </a:r>
          </a:p>
        </p:txBody>
      </p:sp>
      <p:sp>
        <p:nvSpPr>
          <p:cNvPr id="17" name="">
            <a:extLst xmlns:a="http://schemas.openxmlformats.org/drawingml/2006/main">
              <a:ext uri="{FF2B5EF4-FFF2-40B4-BE49-F238E27FC236}">
                <a16:creationId xmlns:a16="http://schemas.microsoft.com/office/drawing/2014/main" id="{36EB406E-0AFA-4AB2-83D2-9A71001599EA}"/>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8" name="text">
            <a:extLst xmlns:a="http://schemas.openxmlformats.org/drawingml/2006/main">
              <a:ext uri="{FF2B5EF4-FFF2-40B4-BE49-F238E27FC236}">
                <a16:creationId xmlns:a16="http://schemas.microsoft.com/office/drawing/2014/main" id="{BA732739-5099-45FB-8D91-56DC5D8EF5E7}"/>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469 people (15.63%) report prediabetes or diabetes.</a:t>
            </a:r>
          </a:p>
        </p:txBody>
      </p:sp>
      <p:sp>
        <p:nvSpPr>
          <p:cNvPr id="19" name="text">
            <a:extLst xmlns:a="http://schemas.openxmlformats.org/drawingml/2006/main">
              <a:ext uri="{FF2B5EF4-FFF2-40B4-BE49-F238E27FC236}">
                <a16:creationId xmlns:a16="http://schemas.microsoft.com/office/drawing/2014/main" id="{DE51494A-3055-4356-97B9-47B2756B87E2}"/>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 / 12</a:t>
            </a:r>
          </a:p>
        </p:txBody>
      </p:sp>
    </p:spTree>
    <p:extLst>
      <p:ext uri="{BB962C8B-B14F-4D97-AF65-F5344CB8AC3E}">
        <p14:creationId xmlns:p14="http://schemas.microsoft.com/office/powerpoint/2010/main" val="187003206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
            <a:extLst xmlns:a="http://schemas.openxmlformats.org/drawingml/2006/main">
              <a:ext uri="{FF2B5EF4-FFF2-40B4-BE49-F238E27FC236}">
                <a16:creationId xmlns:a16="http://schemas.microsoft.com/office/drawing/2014/main" id="{69D93CC7-E457-4A1D-9BA4-79811710D80E}"/>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 Data types, import and export</a:t>
            </a:r>
          </a:p>
        </p:txBody>
      </p:sp>
      <p:sp>
        <p:nvSpPr>
          <p:cNvPr id="2" name="">
            <a:extLst xmlns:a="http://schemas.openxmlformats.org/drawingml/2006/main">
              <a:ext uri="{FF2B5EF4-FFF2-40B4-BE49-F238E27FC236}">
                <a16:creationId xmlns:a16="http://schemas.microsoft.com/office/drawing/2014/main" id="{3E27F08C-E1DC-411C-B7B5-EF15DCA35A03}"/>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B91F5532-76F6-40C3-AAAE-08172716A529}"/>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Data preparation</a:t>
            </a:r>
          </a:p>
        </p:txBody>
      </p:sp>
      <p:sp>
        <p:nvSpPr>
          <p:cNvPr id="4" name="text">
            <a:extLst xmlns:a="http://schemas.openxmlformats.org/drawingml/2006/main">
              <a:ext uri="{FF2B5EF4-FFF2-40B4-BE49-F238E27FC236}">
                <a16:creationId xmlns:a16="http://schemas.microsoft.com/office/drawing/2014/main" id="{FD69EAD5-5F0A-431E-8034-A810C5232063}"/>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Import → sample → validate → prepare for analysis</a:t>
            </a:r>
          </a:p>
        </p:txBody>
      </p:sp>
      <p:sp>
        <p:nvSpPr>
          <p:cNvPr id="5" name="">
            <a:extLst xmlns:a="http://schemas.openxmlformats.org/drawingml/2006/main">
              <a:ext uri="{FF2B5EF4-FFF2-40B4-BE49-F238E27FC236}">
                <a16:creationId xmlns:a16="http://schemas.microsoft.com/office/drawing/2014/main" id="{CAFF7992-ABC5-4F45-AE75-4BCE8075D5C6}"/>
              </a:ext>
            </a:extLst>
          </p:cNvPr>
          <p:cNvSpPr>
            <a:spLocks xmlns:a="http://schemas.openxmlformats.org/drawingml/2006/main" noGrp="1"/>
          </p:cNvSpPr>
          <p:nvPr/>
        </p:nvSpPr>
        <p:spPr>
          <a:xfrm xmlns:a="http://schemas.openxmlformats.org/drawingml/2006/main">
            <a:off x="4000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6" name="text">
            <a:extLst xmlns:a="http://schemas.openxmlformats.org/drawingml/2006/main">
              <a:ext uri="{FF2B5EF4-FFF2-40B4-BE49-F238E27FC236}">
                <a16:creationId xmlns:a16="http://schemas.microsoft.com/office/drawing/2014/main" id="{C2CDD8CB-5D73-4D65-8C5E-081F8073540E}"/>
              </a:ext>
            </a:extLst>
          </p:cNvPr>
          <p:cNvSpPr>
            <a:spLocks xmlns:a="http://schemas.openxmlformats.org/drawingml/2006/main" noGrp="1"/>
          </p:cNvSpPr>
          <p:nvPr/>
        </p:nvSpPr>
        <p:spPr>
          <a:xfrm xmlns:a="http://schemas.openxmlformats.org/drawingml/2006/main">
            <a:off x="5334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Import</a:t>
            </a:r>
          </a:p>
        </p:txBody>
      </p:sp>
      <p:sp>
        <p:nvSpPr>
          <p:cNvPr id="7" name="text">
            <a:extLst xmlns:a="http://schemas.openxmlformats.org/drawingml/2006/main">
              <a:ext uri="{FF2B5EF4-FFF2-40B4-BE49-F238E27FC236}">
                <a16:creationId xmlns:a16="http://schemas.microsoft.com/office/drawing/2014/main" id="{06B265FD-AE74-4A96-9B53-5994CAC602EA}"/>
              </a:ext>
            </a:extLst>
          </p:cNvPr>
          <p:cNvSpPr>
            <a:spLocks xmlns:a="http://schemas.openxmlformats.org/drawingml/2006/main" noGrp="1"/>
          </p:cNvSpPr>
          <p:nvPr/>
        </p:nvSpPr>
        <p:spPr>
          <a:xfrm xmlns:a="http://schemas.openxmlformats.org/drawingml/2006/main">
            <a:off x="5334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CSV source</a:t>
            </a:r>
          </a:p>
        </p:txBody>
      </p:sp>
      <p:sp>
        <p:nvSpPr>
          <p:cNvPr id="8" name="">
            <a:extLst xmlns:a="http://schemas.openxmlformats.org/drawingml/2006/main">
              <a:ext uri="{FF2B5EF4-FFF2-40B4-BE49-F238E27FC236}">
                <a16:creationId xmlns:a16="http://schemas.microsoft.com/office/drawing/2014/main" id="{11B8D6C3-3E70-4E99-A6A8-52D4784D565F}"/>
              </a:ext>
            </a:extLst>
          </p:cNvPr>
          <p:cNvSpPr>
            <a:spLocks xmlns:a="http://schemas.openxmlformats.org/drawingml/2006/main" noGrp="1"/>
          </p:cNvSpPr>
          <p:nvPr/>
        </p:nvSpPr>
        <p:spPr>
          <a:xfrm xmlns:a="http://schemas.openxmlformats.org/drawingml/2006/main">
            <a:off x="3048000" y="2000250"/>
            <a:ext cx="180975" cy="1905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036549-EDEC-4EB6-A0D4-80058A5FAFB1}"/>
              </a:ext>
            </a:extLst>
          </p:cNvPr>
          <p:cNvSpPr>
            <a:spLocks xmlns:a="http://schemas.openxmlformats.org/drawingml/2006/main" noGrp="1"/>
          </p:cNvSpPr>
          <p:nvPr/>
        </p:nvSpPr>
        <p:spPr>
          <a:xfrm xmlns:a="http://schemas.openxmlformats.org/drawingml/2006/main">
            <a:off x="32956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10" name="text">
            <a:extLst xmlns:a="http://schemas.openxmlformats.org/drawingml/2006/main">
              <a:ext uri="{FF2B5EF4-FFF2-40B4-BE49-F238E27FC236}">
                <a16:creationId xmlns:a16="http://schemas.microsoft.com/office/drawing/2014/main" id="{F32A4E98-D0E3-4747-A856-6F20B9D9D0B8}"/>
              </a:ext>
            </a:extLst>
          </p:cNvPr>
          <p:cNvSpPr>
            <a:spLocks xmlns:a="http://schemas.openxmlformats.org/drawingml/2006/main" noGrp="1"/>
          </p:cNvSpPr>
          <p:nvPr/>
        </p:nvSpPr>
        <p:spPr>
          <a:xfrm xmlns:a="http://schemas.openxmlformats.org/drawingml/2006/main">
            <a:off x="34290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Sample</a:t>
            </a:r>
          </a:p>
        </p:txBody>
      </p:sp>
      <p:sp>
        <p:nvSpPr>
          <p:cNvPr id="11" name="text">
            <a:extLst xmlns:a="http://schemas.openxmlformats.org/drawingml/2006/main">
              <a:ext uri="{FF2B5EF4-FFF2-40B4-BE49-F238E27FC236}">
                <a16:creationId xmlns:a16="http://schemas.microsoft.com/office/drawing/2014/main" id="{FF93EF6F-F8A9-4330-89C4-77C1298A739E}"/>
              </a:ext>
            </a:extLst>
          </p:cNvPr>
          <p:cNvSpPr>
            <a:spLocks xmlns:a="http://schemas.openxmlformats.org/drawingml/2006/main" noGrp="1"/>
          </p:cNvSpPr>
          <p:nvPr/>
        </p:nvSpPr>
        <p:spPr>
          <a:xfrm xmlns:a="http://schemas.openxmlformats.org/drawingml/2006/main">
            <a:off x="34290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3,000 random rows</a:t>
            </a:r>
          </a:p>
        </p:txBody>
      </p:sp>
      <p:sp>
        <p:nvSpPr>
          <p:cNvPr id="12" name="">
            <a:extLst xmlns:a="http://schemas.openxmlformats.org/drawingml/2006/main">
              <a:ext uri="{FF2B5EF4-FFF2-40B4-BE49-F238E27FC236}">
                <a16:creationId xmlns:a16="http://schemas.microsoft.com/office/drawing/2014/main" id="{072CE9D1-027F-443F-B5F4-E42FC757CAEE}"/>
              </a:ext>
            </a:extLst>
          </p:cNvPr>
          <p:cNvSpPr>
            <a:spLocks xmlns:a="http://schemas.openxmlformats.org/drawingml/2006/main" noGrp="1"/>
          </p:cNvSpPr>
          <p:nvPr/>
        </p:nvSpPr>
        <p:spPr>
          <a:xfrm xmlns:a="http://schemas.openxmlformats.org/drawingml/2006/main">
            <a:off x="5943600" y="2000250"/>
            <a:ext cx="180975" cy="1905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037429B-5672-417D-96B6-B8223C78F769}"/>
              </a:ext>
            </a:extLst>
          </p:cNvPr>
          <p:cNvSpPr>
            <a:spLocks xmlns:a="http://schemas.openxmlformats.org/drawingml/2006/main" noGrp="1"/>
          </p:cNvSpPr>
          <p:nvPr/>
        </p:nvSpPr>
        <p:spPr>
          <a:xfrm xmlns:a="http://schemas.openxmlformats.org/drawingml/2006/main">
            <a:off x="61912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14" name="text">
            <a:extLst xmlns:a="http://schemas.openxmlformats.org/drawingml/2006/main">
              <a:ext uri="{FF2B5EF4-FFF2-40B4-BE49-F238E27FC236}">
                <a16:creationId xmlns:a16="http://schemas.microsoft.com/office/drawing/2014/main" id="{B099407E-6FAA-4B9C-9164-7C911D31A2D4}"/>
              </a:ext>
            </a:extLst>
          </p:cNvPr>
          <p:cNvSpPr>
            <a:spLocks xmlns:a="http://schemas.openxmlformats.org/drawingml/2006/main" noGrp="1"/>
          </p:cNvSpPr>
          <p:nvPr/>
        </p:nvSpPr>
        <p:spPr>
          <a:xfrm xmlns:a="http://schemas.openxmlformats.org/drawingml/2006/main">
            <a:off x="63246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Validate</a:t>
            </a:r>
          </a:p>
        </p:txBody>
      </p:sp>
      <p:sp>
        <p:nvSpPr>
          <p:cNvPr id="15" name="text">
            <a:extLst xmlns:a="http://schemas.openxmlformats.org/drawingml/2006/main">
              <a:ext uri="{FF2B5EF4-FFF2-40B4-BE49-F238E27FC236}">
                <a16:creationId xmlns:a16="http://schemas.microsoft.com/office/drawing/2014/main" id="{C4173FA1-40FC-4DD2-A139-7693DD31C5E9}"/>
              </a:ext>
            </a:extLst>
          </p:cNvPr>
          <p:cNvSpPr>
            <a:spLocks xmlns:a="http://schemas.openxmlformats.org/drawingml/2006/main" noGrp="1"/>
          </p:cNvSpPr>
          <p:nvPr/>
        </p:nvSpPr>
        <p:spPr>
          <a:xfrm xmlns:a="http://schemas.openxmlformats.org/drawingml/2006/main">
            <a:off x="63246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Codes and ranges</a:t>
            </a:r>
          </a:p>
        </p:txBody>
      </p:sp>
      <p:sp>
        <p:nvSpPr>
          <p:cNvPr id="16" name="">
            <a:extLst xmlns:a="http://schemas.openxmlformats.org/drawingml/2006/main">
              <a:ext uri="{FF2B5EF4-FFF2-40B4-BE49-F238E27FC236}">
                <a16:creationId xmlns:a16="http://schemas.microsoft.com/office/drawing/2014/main" id="{5874DA55-318A-41DE-8036-51B77256AD55}"/>
              </a:ext>
            </a:extLst>
          </p:cNvPr>
          <p:cNvSpPr>
            <a:spLocks xmlns:a="http://schemas.openxmlformats.org/drawingml/2006/main" noGrp="1"/>
          </p:cNvSpPr>
          <p:nvPr/>
        </p:nvSpPr>
        <p:spPr>
          <a:xfrm xmlns:a="http://schemas.openxmlformats.org/drawingml/2006/main">
            <a:off x="8839200" y="2000250"/>
            <a:ext cx="180975" cy="1905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AE0BAA7-6E2D-4D29-92C8-ACF6FCACDE42}"/>
              </a:ext>
            </a:extLst>
          </p:cNvPr>
          <p:cNvSpPr>
            <a:spLocks xmlns:a="http://schemas.openxmlformats.org/drawingml/2006/main" noGrp="1"/>
          </p:cNvSpPr>
          <p:nvPr/>
        </p:nvSpPr>
        <p:spPr>
          <a:xfrm xmlns:a="http://schemas.openxmlformats.org/drawingml/2006/main">
            <a:off x="90868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18" name="text">
            <a:extLst xmlns:a="http://schemas.openxmlformats.org/drawingml/2006/main">
              <a:ext uri="{FF2B5EF4-FFF2-40B4-BE49-F238E27FC236}">
                <a16:creationId xmlns:a16="http://schemas.microsoft.com/office/drawing/2014/main" id="{70D3E509-77D2-478E-A839-A7EEB2F073B7}"/>
              </a:ext>
            </a:extLst>
          </p:cNvPr>
          <p:cNvSpPr>
            <a:spLocks xmlns:a="http://schemas.openxmlformats.org/drawingml/2006/main" noGrp="1"/>
          </p:cNvSpPr>
          <p:nvPr/>
        </p:nvSpPr>
        <p:spPr>
          <a:xfrm xmlns:a="http://schemas.openxmlformats.org/drawingml/2006/main">
            <a:off x="92202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Prepare</a:t>
            </a:r>
          </a:p>
        </p:txBody>
      </p:sp>
      <p:sp>
        <p:nvSpPr>
          <p:cNvPr id="19" name="text">
            <a:extLst xmlns:a="http://schemas.openxmlformats.org/drawingml/2006/main">
              <a:ext uri="{FF2B5EF4-FFF2-40B4-BE49-F238E27FC236}">
                <a16:creationId xmlns:a16="http://schemas.microsoft.com/office/drawing/2014/main" id="{7B47B917-6D82-4525-AFCE-E4F4208570E6}"/>
              </a:ext>
            </a:extLst>
          </p:cNvPr>
          <p:cNvSpPr>
            <a:spLocks xmlns:a="http://schemas.openxmlformats.org/drawingml/2006/main" noGrp="1"/>
          </p:cNvSpPr>
          <p:nvPr/>
        </p:nvSpPr>
        <p:spPr>
          <a:xfrm xmlns:a="http://schemas.openxmlformats.org/drawingml/2006/main">
            <a:off x="92202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Labels and types</a:t>
            </a:r>
          </a:p>
        </p:txBody>
      </p:sp>
      <p:sp>
        <p:nvSpPr>
          <p:cNvPr id="20" name="text">
            <a:extLst xmlns:a="http://schemas.openxmlformats.org/drawingml/2006/main">
              <a:ext uri="{FF2B5EF4-FFF2-40B4-BE49-F238E27FC236}">
                <a16:creationId xmlns:a16="http://schemas.microsoft.com/office/drawing/2014/main" id="{D1E0C7D4-0E86-431F-8120-D1F517FA3283}"/>
              </a:ext>
            </a:extLst>
          </p:cNvPr>
          <p:cNvSpPr>
            <a:spLocks xmlns:a="http://schemas.openxmlformats.org/drawingml/2006/main" noGrp="1"/>
          </p:cNvSpPr>
          <p:nvPr/>
        </p:nvSpPr>
        <p:spPr>
          <a:xfrm xmlns:a="http://schemas.openxmlformats.org/drawingml/2006/main">
            <a:off x="400050" y="2981325"/>
            <a:ext cx="581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Types used in R</a:t>
            </a:r>
          </a:p>
        </p:txBody>
      </p:sp>
      <p:sp>
        <p:nvSpPr>
          <p:cNvPr id="21" name="text">
            <a:extLst xmlns:a="http://schemas.openxmlformats.org/drawingml/2006/main">
              <a:ext uri="{FF2B5EF4-FFF2-40B4-BE49-F238E27FC236}">
                <a16:creationId xmlns:a16="http://schemas.microsoft.com/office/drawing/2014/main" id="{82BB44CB-DA5F-4B61-80B6-604CDBB76EE5}"/>
              </a:ext>
            </a:extLst>
          </p:cNvPr>
          <p:cNvSpPr>
            <a:spLocks xmlns:a="http://schemas.openxmlformats.org/drawingml/2006/main" noGrp="1"/>
          </p:cNvSpPr>
          <p:nvPr/>
        </p:nvSpPr>
        <p:spPr>
          <a:xfrm xmlns:a="http://schemas.openxmlformats.org/drawingml/2006/main">
            <a:off x="6572250" y="2981325"/>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Quality checks</a:t>
            </a:r>
          </a:p>
        </p:txBody>
      </p:sp>
      <p:graphicFrame>
        <p:nvGraphicFramePr>
          <p:cNvPr id="22" name="">
            <a:extLst xmlns:a="http://schemas.openxmlformats.org/drawingml/2006/main">
              <a:ext uri="{FF2B5EF4-FFF2-40B4-BE49-F238E27FC236}">
                <a16:creationId xmlns:a16="http://schemas.microsoft.com/office/drawing/2014/main" id="{F5DC3C15-44E4-478C-9B2E-54890BBE5799}"/>
              </a:ext>
            </a:extLst>
          </p:cNvPr>
          <p:cNvGraphicFramePr/>
          <p:nvPr/>
        </p:nvGraphicFramePr>
        <p:xfrm>
          <a:off xmlns:a="http://schemas.openxmlformats.org/drawingml/2006/main" x="400050" y="3448050"/>
          <a:ext xmlns:a="http://schemas.openxmlformats.org/drawingml/2006/main" cx="5791200" cy="1790700"/>
        </p:xfrm>
        <a:graphic xmlns:a="http://schemas.openxmlformats.org/drawingml/2006/main">
          <a:graphicData uri="http://schemas.openxmlformats.org/drawingml/2006/table">
            <a:tbl>
              <a:tblPr/>
              <a:tblGrid>
                <a:gridCol w="2181225"/>
                <a:gridCol w="3609975"/>
              </a:tblGrid>
              <a:tr h="447675">
                <a:tc>
                  <a:txBody>
                    <a:bodyPr>
                      <a:noAutofit/>
                    </a:bodyPr>
                    <a:lstStyle/>
                    <a:p>
                      <a:pPr algn="l"/>
                      <a:r>
                        <a:rPr sz="1650" b="1">
                          <a:solidFill>
                            <a:srgbClr val="FFFFFF"/>
                          </a:solidFill>
                          <a:latin typeface="Arial"/>
                          <a:ea typeface="Arial"/>
                          <a:cs typeface="Arial"/>
                        </a:rPr>
                        <a:t>Type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Examples</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47675">
                <a:tc>
                  <a:txBody>
                    <a:bodyPr>
                      <a:noAutofit/>
                    </a:bodyPr>
                    <a:lstStyle/>
                    <a:p>
                      <a:pPr algn="l"/>
                      <a:r>
                        <a:rPr sz="1650" b="0">
                          <a:solidFill>
                            <a:srgbClr val="183044"/>
                          </a:solidFill>
                          <a:latin typeface="Arial"/>
                          <a:ea typeface="Arial"/>
                          <a:cs typeface="Arial"/>
                        </a:rPr>
                        <a:t>Numeric</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BMI and poor-health days</a:t>
                      </a:r>
                    </a:p>
                  </a:txBody>
                  <a:tcPr marL="91440" marR="91440" marT="45720" marB="45720">
                    <a:lnR w="9525">
                      <a:solidFill>
                        <a:srgbClr val="D6E0E5"/>
                      </a:solidFill>
                      <a:prstDash val="solid"/>
                    </a:lnR>
                    <a:lnB w="9525">
                      <a:solidFill>
                        <a:srgbClr val="D6E0E5"/>
                      </a:solidFill>
                      <a:prstDash val="solid"/>
                    </a:lnB>
                    <a:solidFill>
                      <a:srgbClr val="FFFFFF"/>
                    </a:solidFill>
                  </a:tcPr>
                </a:tc>
              </a:tr>
              <a:tr h="447675">
                <a:tc>
                  <a:txBody>
                    <a:bodyPr>
                      <a:noAutofit/>
                    </a:bodyPr>
                    <a:lstStyle/>
                    <a:p>
                      <a:pPr algn="l"/>
                      <a:r>
                        <a:rPr sz="1650" b="0">
                          <a:solidFill>
                            <a:srgbClr val="183044"/>
                          </a:solidFill>
                          <a:latin typeface="Arial"/>
                          <a:ea typeface="Arial"/>
                          <a:cs typeface="Arial"/>
                        </a:rPr>
                        <a:t>Categorical</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Health status, sex and smoking</a:t>
                      </a:r>
                    </a:p>
                  </a:txBody>
                  <a:tcPr marL="91440" marR="91440" marT="45720" marB="45720">
                    <a:lnR w="9525">
                      <a:solidFill>
                        <a:srgbClr val="D6E0E5"/>
                      </a:solidFill>
                      <a:prstDash val="solid"/>
                    </a:lnR>
                    <a:lnB w="9525">
                      <a:solidFill>
                        <a:srgbClr val="D6E0E5"/>
                      </a:solidFill>
                      <a:prstDash val="solid"/>
                    </a:lnB>
                    <a:solidFill>
                      <a:srgbClr val="EAF2F5"/>
                    </a:solidFill>
                  </a:tcPr>
                </a:tc>
              </a:tr>
              <a:tr h="447675">
                <a:tc>
                  <a:txBody>
                    <a:bodyPr>
                      <a:noAutofit/>
                    </a:bodyPr>
                    <a:lstStyle/>
                    <a:p>
                      <a:pPr algn="l"/>
                      <a:r>
                        <a:rPr sz="1650" b="0">
                          <a:solidFill>
                            <a:srgbClr val="183044"/>
                          </a:solidFill>
                          <a:latin typeface="Arial"/>
                          <a:ea typeface="Arial"/>
                          <a:cs typeface="Arial"/>
                        </a:rPr>
                        <a:t>Grouped categories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Age, income and education</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graphicFrame>
        <p:nvGraphicFramePr>
          <p:cNvPr id="23" name="">
            <a:extLst xmlns:a="http://schemas.openxmlformats.org/drawingml/2006/main">
              <a:ext uri="{FF2B5EF4-FFF2-40B4-BE49-F238E27FC236}">
                <a16:creationId xmlns:a16="http://schemas.microsoft.com/office/drawing/2014/main" id="{4368C5CC-8B3E-48DD-8E1B-6827EEF10442}"/>
              </a:ext>
            </a:extLst>
          </p:cNvPr>
          <p:cNvGraphicFramePr/>
          <p:nvPr/>
        </p:nvGraphicFramePr>
        <p:xfrm>
          <a:off xmlns:a="http://schemas.openxmlformats.org/drawingml/2006/main" x="6572250" y="3448050"/>
          <a:ext xmlns:a="http://schemas.openxmlformats.org/drawingml/2006/main" cx="5238750" cy="1790700"/>
        </p:xfrm>
        <a:graphic xmlns:a="http://schemas.openxmlformats.org/drawingml/2006/main">
          <a:graphicData uri="http://schemas.openxmlformats.org/drawingml/2006/table">
            <a:tbl>
              <a:tblPr/>
              <a:tblGrid>
                <a:gridCol w="3495675"/>
                <a:gridCol w="1743075"/>
              </a:tblGrid>
              <a:tr h="358140">
                <a:tc>
                  <a:txBody>
                    <a:bodyPr>
                      <a:noAutofit/>
                    </a:bodyPr>
                    <a:lstStyle/>
                    <a:p>
                      <a:pPr algn="l"/>
                      <a:r>
                        <a:rPr sz="1575" b="1">
                          <a:solidFill>
                            <a:srgbClr val="FFFFFF"/>
                          </a:solidFill>
                          <a:latin typeface="Arial"/>
                          <a:ea typeface="Arial"/>
                          <a:cs typeface="Arial"/>
                        </a:rPr>
                        <a:t>Check</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75" b="1">
                          <a:solidFill>
                            <a:srgbClr val="FFFFFF"/>
                          </a:solidFill>
                          <a:latin typeface="Arial"/>
                          <a:ea typeface="Arial"/>
                          <a:cs typeface="Arial"/>
                        </a:rPr>
                        <a:t>Result</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58140">
                <a:tc>
                  <a:txBody>
                    <a:bodyPr>
                      <a:noAutofit/>
                    </a:bodyPr>
                    <a:lstStyle/>
                    <a:p>
                      <a:pPr algn="l"/>
                      <a:r>
                        <a:rPr sz="1575" b="0">
                          <a:solidFill>
                            <a:srgbClr val="183044"/>
                          </a:solidFill>
                          <a:latin typeface="Arial"/>
                          <a:ea typeface="Arial"/>
                          <a:cs typeface="Arial"/>
                        </a:rPr>
                        <a:t>Missing entries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75" b="0">
                          <a:solidFill>
                            <a:srgbClr val="183044"/>
                          </a:solidFill>
                          <a:latin typeface="Arial"/>
                          <a:ea typeface="Arial"/>
                          <a:cs typeface="Arial"/>
                        </a:rPr>
                        <a:t>0</a:t>
                      </a:r>
                    </a:p>
                  </a:txBody>
                  <a:tcPr marL="91440" marR="91440" marT="45720" marB="45720">
                    <a:lnR w="9525">
                      <a:solidFill>
                        <a:srgbClr val="D6E0E5"/>
                      </a:solidFill>
                      <a:prstDash val="solid"/>
                    </a:lnR>
                    <a:lnB w="9525">
                      <a:solidFill>
                        <a:srgbClr val="D6E0E5"/>
                      </a:solidFill>
                      <a:prstDash val="solid"/>
                    </a:lnB>
                    <a:solidFill>
                      <a:srgbClr val="FFFFFF"/>
                    </a:solidFill>
                  </a:tcPr>
                </a:tc>
              </a:tr>
              <a:tr h="358140">
                <a:tc>
                  <a:txBody>
                    <a:bodyPr>
                      <a:noAutofit/>
                    </a:bodyPr>
                    <a:lstStyle/>
                    <a:p>
                      <a:pPr algn="l"/>
                      <a:r>
                        <a:rPr sz="1575" b="0">
                          <a:solidFill>
                            <a:srgbClr val="183044"/>
                          </a:solidFill>
                          <a:latin typeface="Arial"/>
                          <a:ea typeface="Arial"/>
                          <a:cs typeface="Arial"/>
                        </a:rPr>
                        <a:t>Invalid codes / ranges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75" b="0">
                          <a:solidFill>
                            <a:srgbClr val="183044"/>
                          </a:solidFill>
                          <a:latin typeface="Arial"/>
                          <a:ea typeface="Arial"/>
                          <a:cs typeface="Arial"/>
                        </a:rPr>
                        <a:t>0</a:t>
                      </a:r>
                    </a:p>
                  </a:txBody>
                  <a:tcPr marL="91440" marR="91440" marT="45720" marB="45720">
                    <a:lnR w="9525">
                      <a:solidFill>
                        <a:srgbClr val="D6E0E5"/>
                      </a:solidFill>
                      <a:prstDash val="solid"/>
                    </a:lnR>
                    <a:lnB w="9525">
                      <a:solidFill>
                        <a:srgbClr val="D6E0E5"/>
                      </a:solidFill>
                      <a:prstDash val="solid"/>
                    </a:lnB>
                    <a:solidFill>
                      <a:srgbClr val="EAF2F5"/>
                    </a:solidFill>
                  </a:tcPr>
                </a:tc>
              </a:tr>
              <a:tr h="358140">
                <a:tc>
                  <a:txBody>
                    <a:bodyPr>
                      <a:noAutofit/>
                    </a:bodyPr>
                    <a:lstStyle/>
                    <a:p>
                      <a:pPr algn="l"/>
                      <a:r>
                        <a:rPr sz="1575" b="0">
                          <a:solidFill>
                            <a:srgbClr val="183044"/>
                          </a:solidFill>
                          <a:latin typeface="Arial"/>
                          <a:ea typeface="Arial"/>
                          <a:cs typeface="Arial"/>
                        </a:rPr>
                        <a:t>Health-day range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75" b="0">
                          <a:solidFill>
                            <a:srgbClr val="183044"/>
                          </a:solidFill>
                          <a:latin typeface="Arial"/>
                          <a:ea typeface="Arial"/>
                          <a:cs typeface="Arial"/>
                        </a:rPr>
                        <a:t>0–30 days</a:t>
                      </a:r>
                    </a:p>
                  </a:txBody>
                  <a:tcPr marL="91440" marR="91440" marT="45720" marB="45720">
                    <a:lnR w="9525">
                      <a:solidFill>
                        <a:srgbClr val="D6E0E5"/>
                      </a:solidFill>
                      <a:prstDash val="solid"/>
                    </a:lnR>
                    <a:lnB w="9525">
                      <a:solidFill>
                        <a:srgbClr val="D6E0E5"/>
                      </a:solidFill>
                      <a:prstDash val="solid"/>
                    </a:lnB>
                    <a:solidFill>
                      <a:srgbClr val="FFFFFF"/>
                    </a:solidFill>
                  </a:tcPr>
                </a:tc>
              </a:tr>
              <a:tr h="358140">
                <a:tc>
                  <a:txBody>
                    <a:bodyPr>
                      <a:noAutofit/>
                    </a:bodyPr>
                    <a:lstStyle/>
                    <a:p>
                      <a:pPr algn="l"/>
                      <a:r>
                        <a:rPr sz="1575" b="0">
                          <a:solidFill>
                            <a:srgbClr val="183044"/>
                          </a:solidFill>
                          <a:latin typeface="Arial"/>
                          <a:ea typeface="Arial"/>
                          <a:cs typeface="Arial"/>
                        </a:rPr>
                        <a:t>Sample selection</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75" b="0">
                          <a:solidFill>
                            <a:srgbClr val="183044"/>
                          </a:solidFill>
                          <a:latin typeface="Arial"/>
                          <a:ea typeface="Arial"/>
                          <a:cs typeface="Arial"/>
                        </a:rPr>
                        <a:t>Seed 101</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24" name="">
            <a:extLst xmlns:a="http://schemas.openxmlformats.org/drawingml/2006/main">
              <a:ext uri="{FF2B5EF4-FFF2-40B4-BE49-F238E27FC236}">
                <a16:creationId xmlns:a16="http://schemas.microsoft.com/office/drawing/2014/main" id="{288C675D-5A41-4EF5-80EA-827C99A10201}"/>
              </a:ext>
            </a:extLst>
          </p:cNvPr>
          <p:cNvSpPr>
            <a:spLocks xmlns:a="http://schemas.openxmlformats.org/drawingml/2006/main" noGrp="1"/>
          </p:cNvSpPr>
          <p:nvPr/>
        </p:nvSpPr>
        <p:spPr>
          <a:xfrm xmlns:a="http://schemas.openxmlformats.org/drawingml/2006/main">
            <a:off x="400050" y="5505450"/>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25" name="text">
            <a:extLst xmlns:a="http://schemas.openxmlformats.org/drawingml/2006/main">
              <a:ext uri="{FF2B5EF4-FFF2-40B4-BE49-F238E27FC236}">
                <a16:creationId xmlns:a16="http://schemas.microsoft.com/office/drawing/2014/main" id="{91E3D806-1562-4B0D-B596-BE639B78DF69}"/>
              </a:ext>
            </a:extLst>
          </p:cNvPr>
          <p:cNvSpPr>
            <a:spLocks xmlns:a="http://schemas.openxmlformats.org/drawingml/2006/main" noGrp="1"/>
          </p:cNvSpPr>
          <p:nvPr/>
        </p:nvSpPr>
        <p:spPr>
          <a:xfrm xmlns:a="http://schemas.openxmlformats.org/drawingml/2006/main">
            <a:off x="400050" y="5676900"/>
            <a:ext cx="1133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Import CSV  →  label categories  →  export clean data for the exercises</a:t>
            </a:r>
          </a:p>
        </p:txBody>
      </p:sp>
      <p:sp>
        <p:nvSpPr>
          <p:cNvPr id="26" name="">
            <a:extLst xmlns:a="http://schemas.openxmlformats.org/drawingml/2006/main">
              <a:ext uri="{FF2B5EF4-FFF2-40B4-BE49-F238E27FC236}">
                <a16:creationId xmlns:a16="http://schemas.microsoft.com/office/drawing/2014/main" id="{731F2CCD-AADE-4069-BB56-D23006D419D4}"/>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7" name="text">
            <a:extLst xmlns:a="http://schemas.openxmlformats.org/drawingml/2006/main">
              <a:ext uri="{FF2B5EF4-FFF2-40B4-BE49-F238E27FC236}">
                <a16:creationId xmlns:a16="http://schemas.microsoft.com/office/drawing/2014/main" id="{D177E518-C4F8-4F4E-9814-E066A1D2A726}"/>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Readable labels and correct data types make every later analysis easier.</a:t>
            </a:r>
          </a:p>
        </p:txBody>
      </p:sp>
      <p:sp>
        <p:nvSpPr>
          <p:cNvPr id="28" name="text">
            <a:extLst xmlns:a="http://schemas.openxmlformats.org/drawingml/2006/main">
              <a:ext uri="{FF2B5EF4-FFF2-40B4-BE49-F238E27FC236}">
                <a16:creationId xmlns:a16="http://schemas.microsoft.com/office/drawing/2014/main" id="{74440455-E825-448D-98A6-292914489C22}"/>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2 / 12</a:t>
            </a:r>
          </a:p>
        </p:txBody>
      </p:sp>
    </p:spTree>
    <p:extLst>
      <p:ext uri="{BB962C8B-B14F-4D97-AF65-F5344CB8AC3E}">
        <p14:creationId xmlns:p14="http://schemas.microsoft.com/office/powerpoint/2010/main" val="13435440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
            <a:extLst xmlns:a="http://schemas.openxmlformats.org/drawingml/2006/main">
              <a:ext uri="{FF2B5EF4-FFF2-40B4-BE49-F238E27FC236}">
                <a16:creationId xmlns:a16="http://schemas.microsoft.com/office/drawing/2014/main" id="{FA7235B8-9CD9-46E1-B0D6-71CFF0476044}"/>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 EXTENSION: Data preparation and outlier analysis</a:t>
            </a:r>
          </a:p>
        </p:txBody>
      </p:sp>
      <p:sp>
        <p:nvSpPr>
          <p:cNvPr id="2" name="">
            <a:extLst xmlns:a="http://schemas.openxmlformats.org/drawingml/2006/main">
              <a:ext uri="{FF2B5EF4-FFF2-40B4-BE49-F238E27FC236}">
                <a16:creationId xmlns:a16="http://schemas.microsoft.com/office/drawing/2014/main" id="{1FD95958-0F28-42B1-B164-888F03348314}"/>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2DAE9344-ED8B-49CB-B1D6-BFCB1D609D5A}"/>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Outlier analysis and removal</a:t>
            </a:r>
          </a:p>
        </p:txBody>
      </p:sp>
      <p:sp>
        <p:nvSpPr>
          <p:cNvPr id="4" name="text">
            <a:extLst xmlns:a="http://schemas.openxmlformats.org/drawingml/2006/main">
              <a:ext uri="{FF2B5EF4-FFF2-40B4-BE49-F238E27FC236}">
                <a16:creationId xmlns:a16="http://schemas.microsoft.com/office/drawing/2014/main" id="{BAF99A6F-8CD8-4A3F-B724-C763CD1A1114}"/>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Q1 = 24  •  Q3 = 31  •  IQR = 7  •  Q1 − 1.5×IQR to Q3 + 1.5×IQR → 13.5 to 41.5</a:t>
            </a:r>
          </a:p>
        </p:txBody>
      </p:sp>
      <p:sp>
        <p:nvSpPr>
          <p:cNvPr id="5" name="text">
            <a:extLst xmlns:a="http://schemas.openxmlformats.org/drawingml/2006/main">
              <a:ext uri="{FF2B5EF4-FFF2-40B4-BE49-F238E27FC236}">
                <a16:creationId xmlns:a16="http://schemas.microsoft.com/office/drawing/2014/main" id="{9DAE8CAB-4B84-4B23-9C31-AC7FCE9558A3}"/>
              </a:ext>
            </a:extLst>
          </p:cNvPr>
          <p:cNvSpPr>
            <a:spLocks xmlns:a="http://schemas.openxmlformats.org/drawingml/2006/main" noGrp="1"/>
          </p:cNvSpPr>
          <p:nvPr/>
        </p:nvSpPr>
        <p:spPr>
          <a:xfrm xmlns:a="http://schemas.openxmlformats.org/drawingml/2006/main">
            <a:off x="400050" y="1476375"/>
            <a:ext cx="6524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Detect unusual BMI values</a:t>
            </a:r>
          </a:p>
        </p:txBody>
      </p:sp>
      <p:sp>
        <p:nvSpPr>
          <p:cNvPr id="6" name="text">
            <a:extLst xmlns:a="http://schemas.openxmlformats.org/drawingml/2006/main">
              <a:ext uri="{FF2B5EF4-FFF2-40B4-BE49-F238E27FC236}">
                <a16:creationId xmlns:a16="http://schemas.microsoft.com/office/drawing/2014/main" id="{F78E1E99-4635-4497-87F5-DD1FE9990362}"/>
              </a:ext>
            </a:extLst>
          </p:cNvPr>
          <p:cNvSpPr>
            <a:spLocks xmlns:a="http://schemas.openxmlformats.org/drawingml/2006/main" noGrp="1"/>
          </p:cNvSpPr>
          <p:nvPr/>
        </p:nvSpPr>
        <p:spPr>
          <a:xfrm xmlns:a="http://schemas.openxmlformats.org/drawingml/2006/main">
            <a:off x="7086600" y="1476375"/>
            <a:ext cx="4714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Compare before and after</a:t>
            </a:r>
          </a:p>
        </p:txBody>
      </p:sp>
      <p:pic>
        <p:nvPicPr>
          <p:cNvPr id="7" name="">
            <a:extLst xmlns:a="http://schemas.openxmlformats.org/drawingml/2006/main">
              <a:ext uri="{FF2B5EF4-FFF2-40B4-BE49-F238E27FC236}">
                <a16:creationId xmlns:a16="http://schemas.microsoft.com/office/drawing/2014/main" id="{0438A0E3-2B85-4A18-8242-42B8D97CBAD6}"/>
              </a:ext>
            </a:extLst>
          </p:cNvPr>
          <p:cNvPicPr>
            <a:picLocks xmlns:a="http://schemas.openxmlformats.org/drawingml/2006/main" noChangeAspect="1"/>
          </p:cNvPicPr>
          <p:nvPr/>
        </p:nvPicPr>
        <p:blipFill>
          <a:blip xmlns:r="http://schemas.openxmlformats.org/officeDocument/2006/relationships" xmlns:a="http://schemas.openxmlformats.org/drawingml/2006/main" r:embed="R3f4db761466745aa"/>
          <a:stretch xmlns:a="http://schemas.openxmlformats.org/drawingml/2006/main"/>
        </p:blipFill>
        <p:spPr>
          <a:xfrm xmlns:a="http://schemas.openxmlformats.org/drawingml/2006/main">
            <a:off x="266700" y="1781175"/>
            <a:ext cx="6534150" cy="39814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4FD8C091-B762-4319-A37B-ACD2F8F17121}"/>
              </a:ext>
            </a:extLst>
          </p:cNvPr>
          <p:cNvPicPr>
            <a:picLocks xmlns:a="http://schemas.openxmlformats.org/drawingml/2006/main" noChangeAspect="1"/>
          </p:cNvPicPr>
          <p:nvPr/>
        </p:nvPicPr>
        <p:blipFill>
          <a:blip xmlns:r="http://schemas.openxmlformats.org/officeDocument/2006/relationships" xmlns:a="http://schemas.openxmlformats.org/drawingml/2006/main" r:embed="R43f19b2b0d3e4bf3"/>
          <a:stretch xmlns:a="http://schemas.openxmlformats.org/drawingml/2006/main"/>
        </p:blipFill>
        <p:spPr>
          <a:xfrm xmlns:a="http://schemas.openxmlformats.org/drawingml/2006/main">
            <a:off x="7000875" y="1771650"/>
            <a:ext cx="4762500" cy="2476500"/>
          </a:xfrm>
          <a:prstGeom xmlns:a="http://schemas.openxmlformats.org/drawingml/2006/main" prst="rect">
            <a:avLst/>
          </a:prstGeom>
        </p:spPr>
      </p:pic>
      <p:graphicFrame>
        <p:nvGraphicFramePr>
          <p:cNvPr id="9" name="">
            <a:extLst xmlns:a="http://schemas.openxmlformats.org/drawingml/2006/main">
              <a:ext uri="{FF2B5EF4-FFF2-40B4-BE49-F238E27FC236}">
                <a16:creationId xmlns:a16="http://schemas.microsoft.com/office/drawing/2014/main" id="{6A3D4B11-C779-40A8-81CA-A52BDBA900CB}"/>
              </a:ext>
            </a:extLst>
          </p:cNvPr>
          <p:cNvGraphicFramePr/>
          <p:nvPr/>
        </p:nvGraphicFramePr>
        <p:xfrm>
          <a:off xmlns:a="http://schemas.openxmlformats.org/drawingml/2006/main" x="7086600" y="4324350"/>
          <a:ext xmlns:a="http://schemas.openxmlformats.org/drawingml/2006/main" cx="4724400" cy="1657350"/>
        </p:xfrm>
        <a:graphic xmlns:a="http://schemas.openxmlformats.org/drawingml/2006/main">
          <a:graphicData uri="http://schemas.openxmlformats.org/drawingml/2006/table">
            <a:tbl>
              <a:tblPr/>
              <a:tblGrid>
                <a:gridCol w="1809750"/>
                <a:gridCol w="1457325"/>
                <a:gridCol w="1457325"/>
              </a:tblGrid>
              <a:tr h="331470">
                <a:tc>
                  <a:txBody>
                    <a:bodyPr>
                      <a:noAutofit/>
                    </a:bodyPr>
                    <a:lstStyle/>
                    <a:p>
                      <a:pPr algn="l"/>
                      <a:r>
                        <a:rPr sz="1425" b="1">
                          <a:solidFill>
                            <a:srgbClr val="FFFFFF"/>
                          </a:solidFill>
                          <a:latin typeface="Arial"/>
                          <a:ea typeface="Arial"/>
                          <a:cs typeface="Arial"/>
                        </a:rPr>
                        <a:t>Measure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Before</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After</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31470">
                <a:tc>
                  <a:txBody>
                    <a:bodyPr>
                      <a:noAutofit/>
                    </a:bodyPr>
                    <a:lstStyle/>
                    <a:p>
                      <a:pPr algn="l"/>
                      <a:r>
                        <a:rPr sz="1425" b="0">
                          <a:solidFill>
                            <a:srgbClr val="183044"/>
                          </a:solidFill>
                          <a:latin typeface="Arial"/>
                          <a:ea typeface="Arial"/>
                          <a:cs typeface="Arial"/>
                        </a:rPr>
                        <a:t>People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3,000</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2,886</a:t>
                      </a:r>
                    </a:p>
                  </a:txBody>
                  <a:tcPr marL="91440" marR="91440" marT="45720" marB="45720">
                    <a:lnR w="9525">
                      <a:solidFill>
                        <a:srgbClr val="D6E0E5"/>
                      </a:solidFill>
                      <a:prstDash val="solid"/>
                    </a:lnR>
                    <a:lnB w="9525">
                      <a:solidFill>
                        <a:srgbClr val="D6E0E5"/>
                      </a:solidFill>
                      <a:prstDash val="solid"/>
                    </a:lnB>
                    <a:solidFill>
                      <a:srgbClr val="FFFFFF"/>
                    </a:solidFill>
                  </a:tcPr>
                </a:tc>
              </a:tr>
              <a:tr h="331470">
                <a:tc>
                  <a:txBody>
                    <a:bodyPr>
                      <a:noAutofit/>
                    </a:bodyPr>
                    <a:lstStyle/>
                    <a:p>
                      <a:pPr algn="l"/>
                      <a:r>
                        <a:rPr sz="1425" b="0">
                          <a:solidFill>
                            <a:srgbClr val="183044"/>
                          </a:solidFill>
                          <a:latin typeface="Arial"/>
                          <a:ea typeface="Arial"/>
                          <a:cs typeface="Arial"/>
                        </a:rPr>
                        <a:t>Mean BMI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28.40</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27.65</a:t>
                      </a:r>
                    </a:p>
                  </a:txBody>
                  <a:tcPr marL="91440" marR="91440" marT="45720" marB="45720">
                    <a:lnR w="9525">
                      <a:solidFill>
                        <a:srgbClr val="D6E0E5"/>
                      </a:solidFill>
                      <a:prstDash val="solid"/>
                    </a:lnR>
                    <a:lnB w="9525">
                      <a:solidFill>
                        <a:srgbClr val="D6E0E5"/>
                      </a:solidFill>
                      <a:prstDash val="solid"/>
                    </a:lnB>
                    <a:solidFill>
                      <a:srgbClr val="EAF2F5"/>
                    </a:solidFill>
                  </a:tcPr>
                </a:tc>
              </a:tr>
              <a:tr h="331470">
                <a:tc>
                  <a:txBody>
                    <a:bodyPr>
                      <a:noAutofit/>
                    </a:bodyPr>
                    <a:lstStyle/>
                    <a:p>
                      <a:pPr algn="l"/>
                      <a:r>
                        <a:rPr sz="1425" b="0">
                          <a:solidFill>
                            <a:srgbClr val="183044"/>
                          </a:solidFill>
                          <a:latin typeface="Arial"/>
                          <a:ea typeface="Arial"/>
                          <a:cs typeface="Arial"/>
                        </a:rPr>
                        <a:t>BMI variance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40.34</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24.59</a:t>
                      </a:r>
                    </a:p>
                  </a:txBody>
                  <a:tcPr marL="91440" marR="91440" marT="45720" marB="45720">
                    <a:lnR w="9525">
                      <a:solidFill>
                        <a:srgbClr val="D6E0E5"/>
                      </a:solidFill>
                      <a:prstDash val="solid"/>
                    </a:lnR>
                    <a:lnB w="9525">
                      <a:solidFill>
                        <a:srgbClr val="D6E0E5"/>
                      </a:solidFill>
                      <a:prstDash val="solid"/>
                    </a:lnB>
                    <a:solidFill>
                      <a:srgbClr val="FFFFFF"/>
                    </a:solidFill>
                  </a:tcPr>
                </a:tc>
              </a:tr>
              <a:tr h="331470">
                <a:tc>
                  <a:txBody>
                    <a:bodyPr>
                      <a:noAutofit/>
                    </a:bodyPr>
                    <a:lstStyle/>
                    <a:p>
                      <a:pPr algn="l"/>
                      <a:r>
                        <a:rPr sz="1425" b="0">
                          <a:solidFill>
                            <a:srgbClr val="183044"/>
                          </a:solidFill>
                          <a:latin typeface="Arial"/>
                          <a:ea typeface="Arial"/>
                          <a:cs typeface="Arial"/>
                        </a:rPr>
                        <a:t>Positive status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15.63%</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14.62%</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10" name="">
            <a:extLst xmlns:a="http://schemas.openxmlformats.org/drawingml/2006/main">
              <a:ext uri="{FF2B5EF4-FFF2-40B4-BE49-F238E27FC236}">
                <a16:creationId xmlns:a16="http://schemas.microsoft.com/office/drawing/2014/main" id="{3D50D125-A0FA-4325-98D9-E5A7B930E17F}"/>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1" name="text">
            <a:extLst xmlns:a="http://schemas.openxmlformats.org/drawingml/2006/main">
              <a:ext uri="{FF2B5EF4-FFF2-40B4-BE49-F238E27FC236}">
                <a16:creationId xmlns:a16="http://schemas.microsoft.com/office/drawing/2014/main" id="{95F69925-0513-4448-9F9C-52DAC1BBBDE7}"/>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114 high BMI values (3.8%) were flagged. Removing them lowers the average and spread.</a:t>
            </a:r>
          </a:p>
        </p:txBody>
      </p:sp>
      <p:sp>
        <p:nvSpPr>
          <p:cNvPr id="12" name="text">
            <a:extLst xmlns:a="http://schemas.openxmlformats.org/drawingml/2006/main">
              <a:ext uri="{FF2B5EF4-FFF2-40B4-BE49-F238E27FC236}">
                <a16:creationId xmlns:a16="http://schemas.microsoft.com/office/drawing/2014/main" id="{F23BE498-CC07-4A52-B57E-BB2139C02AAB}"/>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3 / 12</a:t>
            </a:r>
          </a:p>
        </p:txBody>
      </p:sp>
    </p:spTree>
    <p:extLst>
      <p:ext uri="{BB962C8B-B14F-4D97-AF65-F5344CB8AC3E}">
        <p14:creationId xmlns:p14="http://schemas.microsoft.com/office/powerpoint/2010/main" val="17280268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
            <a:extLst xmlns:a="http://schemas.openxmlformats.org/drawingml/2006/main">
              <a:ext uri="{FF2B5EF4-FFF2-40B4-BE49-F238E27FC236}">
                <a16:creationId xmlns:a16="http://schemas.microsoft.com/office/drawing/2014/main" id="{6015DC63-A509-401D-8C95-B0B937BDF898}"/>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2: Summary statistics and graphical representations</a:t>
            </a:r>
          </a:p>
        </p:txBody>
      </p:sp>
      <p:sp>
        <p:nvSpPr>
          <p:cNvPr id="2" name="">
            <a:extLst xmlns:a="http://schemas.openxmlformats.org/drawingml/2006/main">
              <a:ext uri="{FF2B5EF4-FFF2-40B4-BE49-F238E27FC236}">
                <a16:creationId xmlns:a16="http://schemas.microsoft.com/office/drawing/2014/main" id="{BB7951EC-6FAD-45AE-AFCD-8EECF97890D9}"/>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B0357CBB-3FBE-445C-9D91-6C1269402433}"/>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Summary statistics and graphs</a:t>
            </a:r>
          </a:p>
        </p:txBody>
      </p:sp>
      <p:sp>
        <p:nvSpPr>
          <p:cNvPr id="4" name="text">
            <a:extLst xmlns:a="http://schemas.openxmlformats.org/drawingml/2006/main">
              <a:ext uri="{FF2B5EF4-FFF2-40B4-BE49-F238E27FC236}">
                <a16:creationId xmlns:a16="http://schemas.microsoft.com/office/drawing/2014/main" id="{F9BCAE12-1379-4A61-937D-CA3653116BB3}"/>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Mean = average  •  SD = standard deviation  •  Variance = squared spread</a:t>
            </a:r>
          </a:p>
        </p:txBody>
      </p:sp>
      <p:graphicFrame>
        <p:nvGraphicFramePr>
          <p:cNvPr id="5" name="">
            <a:extLst xmlns:a="http://schemas.openxmlformats.org/drawingml/2006/main">
              <a:ext uri="{FF2B5EF4-FFF2-40B4-BE49-F238E27FC236}">
                <a16:creationId xmlns:a16="http://schemas.microsoft.com/office/drawing/2014/main" id="{0D0C3559-03AA-44C2-B2EA-40C75A8E29E0}"/>
              </a:ext>
            </a:extLst>
          </p:cNvPr>
          <p:cNvGraphicFramePr/>
          <p:nvPr/>
        </p:nvGraphicFramePr>
        <p:xfrm>
          <a:off xmlns:a="http://schemas.openxmlformats.org/drawingml/2006/main" x="400050" y="1524000"/>
          <a:ext xmlns:a="http://schemas.openxmlformats.org/drawingml/2006/main" cx="11391900" cy="1609725"/>
        </p:xfrm>
        <a:graphic xmlns:a="http://schemas.openxmlformats.org/drawingml/2006/main">
          <a:graphicData uri="http://schemas.openxmlformats.org/drawingml/2006/table">
            <a:tbl>
              <a:tblPr/>
              <a:tblGrid>
                <a:gridCol w="3486150"/>
                <a:gridCol w="1981200"/>
                <a:gridCol w="1971675"/>
                <a:gridCol w="1971675"/>
                <a:gridCol w="1981200"/>
              </a:tblGrid>
              <a:tr h="402431">
                <a:tc>
                  <a:txBody>
                    <a:bodyPr>
                      <a:noAutofit/>
                    </a:bodyPr>
                    <a:lstStyle/>
                    <a:p>
                      <a:pPr algn="l"/>
                      <a:r>
                        <a:rPr sz="1650" b="1">
                          <a:solidFill>
                            <a:srgbClr val="FFFFFF"/>
                          </a:solidFill>
                          <a:latin typeface="Arial"/>
                          <a:ea typeface="Arial"/>
                          <a:cs typeface="Arial"/>
                        </a:rPr>
                        <a:t>Variable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Mean</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Median</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SD</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Variance</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02431">
                <a:tc>
                  <a:txBody>
                    <a:bodyPr>
                      <a:noAutofit/>
                    </a:bodyPr>
                    <a:lstStyle/>
                    <a:p>
                      <a:pPr algn="l"/>
                      <a:r>
                        <a:rPr sz="1650" b="0">
                          <a:solidFill>
                            <a:srgbClr val="183044"/>
                          </a:solidFill>
                          <a:latin typeface="Arial"/>
                          <a:ea typeface="Arial"/>
                          <a:cs typeface="Arial"/>
                        </a:rPr>
                        <a:t>BMI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28.40</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27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6.35</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40.34</a:t>
                      </a:r>
                    </a:p>
                  </a:txBody>
                  <a:tcPr marL="91440" marR="91440" marT="45720" marB="45720">
                    <a:lnR w="9525">
                      <a:solidFill>
                        <a:srgbClr val="D6E0E5"/>
                      </a:solidFill>
                      <a:prstDash val="solid"/>
                    </a:lnR>
                    <a:lnB w="9525">
                      <a:solidFill>
                        <a:srgbClr val="D6E0E5"/>
                      </a:solidFill>
                      <a:prstDash val="solid"/>
                    </a:lnB>
                    <a:solidFill>
                      <a:srgbClr val="FFFFFF"/>
                    </a:solidFill>
                  </a:tcPr>
                </a:tc>
              </a:tr>
              <a:tr h="402431">
                <a:tc>
                  <a:txBody>
                    <a:bodyPr>
                      <a:noAutofit/>
                    </a:bodyPr>
                    <a:lstStyle/>
                    <a:p>
                      <a:pPr algn="l"/>
                      <a:r>
                        <a:rPr sz="1650" b="0">
                          <a:solidFill>
                            <a:srgbClr val="183044"/>
                          </a:solidFill>
                          <a:latin typeface="Arial"/>
                          <a:ea typeface="Arial"/>
                          <a:cs typeface="Arial"/>
                        </a:rPr>
                        <a:t>Mental-health days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3.26</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0</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7.39</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54.67</a:t>
                      </a:r>
                    </a:p>
                  </a:txBody>
                  <a:tcPr marL="91440" marR="91440" marT="45720" marB="45720">
                    <a:lnR w="9525">
                      <a:solidFill>
                        <a:srgbClr val="D6E0E5"/>
                      </a:solidFill>
                      <a:prstDash val="solid"/>
                    </a:lnR>
                    <a:lnB w="9525">
                      <a:solidFill>
                        <a:srgbClr val="D6E0E5"/>
                      </a:solidFill>
                      <a:prstDash val="solid"/>
                    </a:lnB>
                    <a:solidFill>
                      <a:srgbClr val="EAF2F5"/>
                    </a:solidFill>
                  </a:tcPr>
                </a:tc>
              </a:tr>
              <a:tr h="402431">
                <a:tc>
                  <a:txBody>
                    <a:bodyPr>
                      <a:noAutofit/>
                    </a:bodyPr>
                    <a:lstStyle/>
                    <a:p>
                      <a:pPr algn="l"/>
                      <a:r>
                        <a:rPr sz="1650" b="0">
                          <a:solidFill>
                            <a:srgbClr val="183044"/>
                          </a:solidFill>
                          <a:latin typeface="Arial"/>
                          <a:ea typeface="Arial"/>
                          <a:cs typeface="Arial"/>
                        </a:rPr>
                        <a:t>Physical-health days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4.15</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8.62</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74.24</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F6E1D1AE-5AEE-4F79-8B74-B310352E8348}"/>
              </a:ext>
            </a:extLst>
          </p:cNvPr>
          <p:cNvSpPr>
            <a:spLocks xmlns:a="http://schemas.openxmlformats.org/drawingml/2006/main" noGrp="1"/>
          </p:cNvSpPr>
          <p:nvPr/>
        </p:nvSpPr>
        <p:spPr>
          <a:xfrm xmlns:a="http://schemas.openxmlformats.org/drawingml/2006/main">
            <a:off x="400050" y="3400425"/>
            <a:ext cx="366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Education: group sizes</a:t>
            </a:r>
          </a:p>
        </p:txBody>
      </p:sp>
      <p:sp>
        <p:nvSpPr>
          <p:cNvPr id="7" name="text">
            <a:extLst xmlns:a="http://schemas.openxmlformats.org/drawingml/2006/main">
              <a:ext uri="{FF2B5EF4-FFF2-40B4-BE49-F238E27FC236}">
                <a16:creationId xmlns:a16="http://schemas.microsoft.com/office/drawing/2014/main" id="{A73E61DC-18A5-4F2D-9B08-487AC4A68076}"/>
              </a:ext>
            </a:extLst>
          </p:cNvPr>
          <p:cNvSpPr>
            <a:spLocks xmlns:a="http://schemas.openxmlformats.org/drawingml/2006/main" noGrp="1"/>
          </p:cNvSpPr>
          <p:nvPr/>
        </p:nvSpPr>
        <p:spPr>
          <a:xfrm xmlns:a="http://schemas.openxmlformats.org/drawingml/2006/main">
            <a:off x="4371975" y="34004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Sex: sample share</a:t>
            </a:r>
          </a:p>
        </p:txBody>
      </p:sp>
      <p:sp>
        <p:nvSpPr>
          <p:cNvPr id="8" name="text">
            <a:extLst xmlns:a="http://schemas.openxmlformats.org/drawingml/2006/main">
              <a:ext uri="{FF2B5EF4-FFF2-40B4-BE49-F238E27FC236}">
                <a16:creationId xmlns:a16="http://schemas.microsoft.com/office/drawing/2014/main" id="{5F34F2B7-9773-45F8-B2C3-C79C678E44EE}"/>
              </a:ext>
            </a:extLst>
          </p:cNvPr>
          <p:cNvSpPr>
            <a:spLocks xmlns:a="http://schemas.openxmlformats.org/drawingml/2006/main" noGrp="1"/>
          </p:cNvSpPr>
          <p:nvPr/>
        </p:nvSpPr>
        <p:spPr>
          <a:xfrm xmlns:a="http://schemas.openxmlformats.org/drawingml/2006/main">
            <a:off x="8296275" y="3400425"/>
            <a:ext cx="3514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BMI: distribution shape</a:t>
            </a:r>
          </a:p>
        </p:txBody>
      </p:sp>
      <p:graphicFrame>
        <p:nvGraphicFramePr>
          <p:cNvPr id="9" name="Chart">
            <a:extLst xmlns:a="http://schemas.openxmlformats.org/drawingml/2006/main">
              <a:ext uri="{FF2B5EF4-FFF2-40B4-BE49-F238E27FC236}">
                <a16:creationId xmlns:a16="http://schemas.microsoft.com/office/drawing/2014/main" id="{CDB21306-B5A5-4B1D-8E09-8E5F056A2CFB}"/>
              </a:ext>
            </a:extLst>
          </p:cNvPr>
          <p:cNvGraphicFramePr/>
          <p:nvPr/>
        </p:nvGraphicFramePr>
        <p:xfrm>
          <a:off xmlns:a="http://schemas.openxmlformats.org/drawingml/2006/main" x="247650" y="3790950"/>
          <a:ext xmlns:a="http://schemas.openxmlformats.org/drawingml/2006/main" cx="3848100" cy="2133600"/>
        </p:xfrm>
        <a:graphic xmlns:a="http://schemas.openxmlformats.org/drawingml/2006/main">
          <a:graphicData uri="http://schemas.openxmlformats.org/drawingml/2006/chart">
            <c:chart xmlns:r="http://schemas.openxmlformats.org/officeDocument/2006/relationships" xmlns:c="http://schemas.openxmlformats.org/drawingml/2006/chart" r:id="R69c30da51e244dd2"/>
          </a:graphicData>
        </a:graphic>
      </p:graphicFrame>
      <p:graphicFrame>
        <p:nvGraphicFramePr>
          <p:cNvPr id="10" name="Chart">
            <a:extLst xmlns:a="http://schemas.openxmlformats.org/drawingml/2006/main">
              <a:ext uri="{FF2B5EF4-FFF2-40B4-BE49-F238E27FC236}">
                <a16:creationId xmlns:a16="http://schemas.microsoft.com/office/drawing/2014/main" id="{2A39FC19-D07B-464A-BE38-29A1220BD5F5}"/>
              </a:ext>
            </a:extLst>
          </p:cNvPr>
          <p:cNvGraphicFramePr/>
          <p:nvPr/>
        </p:nvGraphicFramePr>
        <p:xfrm>
          <a:off xmlns:a="http://schemas.openxmlformats.org/drawingml/2006/main" x="4467225" y="3790950"/>
          <a:ext xmlns:a="http://schemas.openxmlformats.org/drawingml/2006/main" cx="3286125" cy="2133600"/>
        </p:xfrm>
        <a:graphic xmlns:a="http://schemas.openxmlformats.org/drawingml/2006/main">
          <a:graphicData uri="http://schemas.openxmlformats.org/drawingml/2006/chart">
            <c:chart xmlns:r="http://schemas.openxmlformats.org/officeDocument/2006/relationships" xmlns:c="http://schemas.openxmlformats.org/drawingml/2006/chart" r:id="R4055ce8fdd8640ae"/>
          </a:graphicData>
        </a:graphic>
      </p:graphicFrame>
      <p:pic>
        <p:nvPicPr>
          <p:cNvPr id="11" name="">
            <a:extLst xmlns:a="http://schemas.openxmlformats.org/drawingml/2006/main">
              <a:ext uri="{FF2B5EF4-FFF2-40B4-BE49-F238E27FC236}">
                <a16:creationId xmlns:a16="http://schemas.microsoft.com/office/drawing/2014/main" id="{19147D6E-461D-4F84-8B22-E300A01F2692}"/>
              </a:ext>
            </a:extLst>
          </p:cNvPr>
          <p:cNvPicPr>
            <a:picLocks xmlns:a="http://schemas.openxmlformats.org/drawingml/2006/main" noChangeAspect="1"/>
          </p:cNvPicPr>
          <p:nvPr/>
        </p:nvPicPr>
        <p:blipFill>
          <a:blip xmlns:r="http://schemas.openxmlformats.org/officeDocument/2006/relationships" xmlns:a="http://schemas.openxmlformats.org/drawingml/2006/main" r:embed="R32f04393c25d479b"/>
          <a:stretch xmlns:a="http://schemas.openxmlformats.org/drawingml/2006/main"/>
        </p:blipFill>
        <p:spPr>
          <a:xfrm xmlns:a="http://schemas.openxmlformats.org/drawingml/2006/main">
            <a:off x="8248650" y="3762375"/>
            <a:ext cx="3524250" cy="21907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82390ADB-A970-4ECE-B253-97EA5CE67218}"/>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3" name="text">
            <a:extLst xmlns:a="http://schemas.openxmlformats.org/drawingml/2006/main">
              <a:ext uri="{FF2B5EF4-FFF2-40B4-BE49-F238E27FC236}">
                <a16:creationId xmlns:a16="http://schemas.microsoft.com/office/drawing/2014/main" id="{C9508634-D460-4711-9C0C-9A9391C3B34D}"/>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BMI has a long right tail. Most people report few poor-health days.</a:t>
            </a:r>
          </a:p>
        </p:txBody>
      </p:sp>
      <p:sp>
        <p:nvSpPr>
          <p:cNvPr id="14" name="text">
            <a:extLst xmlns:a="http://schemas.openxmlformats.org/drawingml/2006/main">
              <a:ext uri="{FF2B5EF4-FFF2-40B4-BE49-F238E27FC236}">
                <a16:creationId xmlns:a16="http://schemas.microsoft.com/office/drawing/2014/main" id="{200001F3-3C66-40B7-AF74-1644C0401C78}"/>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4 / 12</a:t>
            </a:r>
          </a:p>
        </p:txBody>
      </p:sp>
    </p:spTree>
    <p:extLst>
      <p:ext uri="{BB962C8B-B14F-4D97-AF65-F5344CB8AC3E}">
        <p14:creationId xmlns:p14="http://schemas.microsoft.com/office/powerpoint/2010/main" val="47771272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
            <a:extLst xmlns:a="http://schemas.openxmlformats.org/drawingml/2006/main">
              <a:ext uri="{FF2B5EF4-FFF2-40B4-BE49-F238E27FC236}">
                <a16:creationId xmlns:a16="http://schemas.microsoft.com/office/drawing/2014/main" id="{2A298C7D-82C3-44A8-9F65-11EA2C675716}"/>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3: Correlation, simple linear regression and R²</a:t>
            </a:r>
          </a:p>
        </p:txBody>
      </p:sp>
      <p:sp>
        <p:nvSpPr>
          <p:cNvPr id="2" name="">
            <a:extLst xmlns:a="http://schemas.openxmlformats.org/drawingml/2006/main">
              <a:ext uri="{FF2B5EF4-FFF2-40B4-BE49-F238E27FC236}">
                <a16:creationId xmlns:a16="http://schemas.microsoft.com/office/drawing/2014/main" id="{F27B610A-6213-44F7-990E-9459E4AFDD02}"/>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EA091E90-32CB-412D-883D-E559B68D0459}"/>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Correlation and simple regression</a:t>
            </a:r>
          </a:p>
        </p:txBody>
      </p:sp>
      <p:sp>
        <p:nvSpPr>
          <p:cNvPr id="4" name="text">
            <a:extLst xmlns:a="http://schemas.openxmlformats.org/drawingml/2006/main">
              <a:ext uri="{FF2B5EF4-FFF2-40B4-BE49-F238E27FC236}">
                <a16:creationId xmlns:a16="http://schemas.microsoft.com/office/drawing/2014/main" id="{9DCFE636-6DA0-4A7E-8FA0-D16991910D43}"/>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Predicted BMI = 28.09 + 0.0749 × poor physical-health days</a:t>
            </a:r>
          </a:p>
        </p:txBody>
      </p:sp>
      <p:sp>
        <p:nvSpPr>
          <p:cNvPr id="5" name="text">
            <a:extLst xmlns:a="http://schemas.openxmlformats.org/drawingml/2006/main">
              <a:ext uri="{FF2B5EF4-FFF2-40B4-BE49-F238E27FC236}">
                <a16:creationId xmlns:a16="http://schemas.microsoft.com/office/drawing/2014/main" id="{F70309A1-107F-463C-85CA-0C66E7844A52}"/>
              </a:ext>
            </a:extLst>
          </p:cNvPr>
          <p:cNvSpPr>
            <a:spLocks xmlns:a="http://schemas.openxmlformats.org/drawingml/2006/main" noGrp="1"/>
          </p:cNvSpPr>
          <p:nvPr/>
        </p:nvSpPr>
        <p:spPr>
          <a:xfrm xmlns:a="http://schemas.openxmlformats.org/drawingml/2006/main">
            <a:off x="400050" y="1495425"/>
            <a:ext cx="666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Poor-health days and BMI</a:t>
            </a:r>
          </a:p>
        </p:txBody>
      </p:sp>
      <p:sp>
        <p:nvSpPr>
          <p:cNvPr id="6" name="text">
            <a:extLst xmlns:a="http://schemas.openxmlformats.org/drawingml/2006/main">
              <a:ext uri="{FF2B5EF4-FFF2-40B4-BE49-F238E27FC236}">
                <a16:creationId xmlns:a16="http://schemas.microsoft.com/office/drawing/2014/main" id="{4E996D81-E12C-4532-923A-1DCFD3987F0F}"/>
              </a:ext>
            </a:extLst>
          </p:cNvPr>
          <p:cNvSpPr>
            <a:spLocks xmlns:a="http://schemas.openxmlformats.org/drawingml/2006/main" noGrp="1"/>
          </p:cNvSpPr>
          <p:nvPr/>
        </p:nvSpPr>
        <p:spPr>
          <a:xfrm xmlns:a="http://schemas.openxmlformats.org/drawingml/2006/main">
            <a:off x="7524750" y="1495425"/>
            <a:ext cx="4286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BMI by health group</a:t>
            </a:r>
          </a:p>
        </p:txBody>
      </p:sp>
      <p:pic>
        <p:nvPicPr>
          <p:cNvPr id="7" name="">
            <a:extLst xmlns:a="http://schemas.openxmlformats.org/drawingml/2006/main">
              <a:ext uri="{FF2B5EF4-FFF2-40B4-BE49-F238E27FC236}">
                <a16:creationId xmlns:a16="http://schemas.microsoft.com/office/drawing/2014/main" id="{F11F004E-6D0E-4393-AB9B-CA7D886F2E92}"/>
              </a:ext>
            </a:extLst>
          </p:cNvPr>
          <p:cNvPicPr>
            <a:picLocks xmlns:a="http://schemas.openxmlformats.org/drawingml/2006/main" noChangeAspect="1"/>
          </p:cNvPicPr>
          <p:nvPr/>
        </p:nvPicPr>
        <p:blipFill>
          <a:blip xmlns:r="http://schemas.openxmlformats.org/officeDocument/2006/relationships" xmlns:a="http://schemas.openxmlformats.org/drawingml/2006/main" r:embed="Raa203d5c4db341f1"/>
          <a:stretch xmlns:a="http://schemas.openxmlformats.org/drawingml/2006/main"/>
        </p:blipFill>
        <p:spPr>
          <a:xfrm xmlns:a="http://schemas.openxmlformats.org/drawingml/2006/main">
            <a:off x="228600" y="1876425"/>
            <a:ext cx="6896100" cy="33718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5FEF68E0-53E8-4B05-B873-32A3E3E654AA}"/>
              </a:ext>
            </a:extLst>
          </p:cNvPr>
          <p:cNvPicPr>
            <a:picLocks xmlns:a="http://schemas.openxmlformats.org/drawingml/2006/main" noChangeAspect="1"/>
          </p:cNvPicPr>
          <p:nvPr/>
        </p:nvPicPr>
        <p:blipFill>
          <a:blip xmlns:r="http://schemas.openxmlformats.org/officeDocument/2006/relationships" xmlns:a="http://schemas.openxmlformats.org/drawingml/2006/main" r:embed="Red83c470d01344a9"/>
          <a:stretch xmlns:a="http://schemas.openxmlformats.org/drawingml/2006/main"/>
        </p:blipFill>
        <p:spPr>
          <a:xfrm xmlns:a="http://schemas.openxmlformats.org/drawingml/2006/main">
            <a:off x="7486650" y="1876425"/>
            <a:ext cx="4286250" cy="2733675"/>
          </a:xfrm>
          <a:prstGeom xmlns:a="http://schemas.openxmlformats.org/drawingml/2006/main" prst="rect">
            <a:avLst/>
          </a:prstGeom>
        </p:spPr>
      </p:pic>
      <p:graphicFrame>
        <p:nvGraphicFramePr>
          <p:cNvPr id="9" name="">
            <a:extLst xmlns:a="http://schemas.openxmlformats.org/drawingml/2006/main">
              <a:ext uri="{FF2B5EF4-FFF2-40B4-BE49-F238E27FC236}">
                <a16:creationId xmlns:a16="http://schemas.microsoft.com/office/drawing/2014/main" id="{DF1721CE-9768-4980-929A-5531753B9605}"/>
              </a:ext>
            </a:extLst>
          </p:cNvPr>
          <p:cNvGraphicFramePr/>
          <p:nvPr/>
        </p:nvGraphicFramePr>
        <p:xfrm>
          <a:off xmlns:a="http://schemas.openxmlformats.org/drawingml/2006/main" x="400050" y="5372100"/>
          <a:ext xmlns:a="http://schemas.openxmlformats.org/drawingml/2006/main" cx="6572250" cy="619125"/>
        </p:xfrm>
        <a:graphic xmlns:a="http://schemas.openxmlformats.org/drawingml/2006/main">
          <a:graphicData uri="http://schemas.openxmlformats.org/drawingml/2006/table">
            <a:tbl>
              <a:tblPr/>
              <a:tblGrid>
                <a:gridCol w="1638300"/>
                <a:gridCol w="1638300"/>
                <a:gridCol w="1657350"/>
                <a:gridCol w="1638300"/>
              </a:tblGrid>
              <a:tr h="309563">
                <a:tc>
                  <a:txBody>
                    <a:bodyPr>
                      <a:noAutofit/>
                    </a:bodyPr>
                    <a:lstStyle/>
                    <a:p>
                      <a:pPr algn="l"/>
                      <a:r>
                        <a:rPr sz="1500" b="1">
                          <a:solidFill>
                            <a:srgbClr val="FFFFFF"/>
                          </a:solidFill>
                          <a:latin typeface="Arial"/>
                          <a:ea typeface="Arial"/>
                          <a:cs typeface="Arial"/>
                        </a:rPr>
                        <a:t>Pearson r</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Spearman r</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Covariance</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R²</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09563">
                <a:tc>
                  <a:txBody>
                    <a:bodyPr>
                      <a:noAutofit/>
                    </a:bodyPr>
                    <a:lstStyle/>
                    <a:p>
                      <a:pPr algn="l"/>
                      <a:r>
                        <a:rPr sz="1500" b="0">
                          <a:solidFill>
                            <a:srgbClr val="183044"/>
                          </a:solidFill>
                          <a:latin typeface="Arial"/>
                          <a:ea typeface="Arial"/>
                          <a:cs typeface="Arial"/>
                        </a:rPr>
                        <a:t>0.102</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0.108</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5.56</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1.03%</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10" name="text">
            <a:extLst xmlns:a="http://schemas.openxmlformats.org/drawingml/2006/main">
              <a:ext uri="{FF2B5EF4-FFF2-40B4-BE49-F238E27FC236}">
                <a16:creationId xmlns:a16="http://schemas.microsoft.com/office/drawing/2014/main" id="{ADEDDF50-206B-4641-8D9D-3DB1F5E7B374}"/>
              </a:ext>
            </a:extLst>
          </p:cNvPr>
          <p:cNvSpPr>
            <a:spLocks xmlns:a="http://schemas.openxmlformats.org/drawingml/2006/main" noGrp="1"/>
          </p:cNvSpPr>
          <p:nvPr/>
        </p:nvSpPr>
        <p:spPr>
          <a:xfrm xmlns:a="http://schemas.openxmlformats.org/drawingml/2006/main">
            <a:off x="7553325" y="4762500"/>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83044"/>
                </a:solidFill>
                <a:latin typeface="Arial"/>
                <a:ea typeface="Arial"/>
                <a:cs typeface="Arial"/>
              </a:defRPr>
            </a:defPPr>
          </a:lstStyle>
          <a:p xmlns:a="http://schemas.openxmlformats.org/drawingml/2006/main">
            <a:pPr>
              <a:defRPr sz="1575" b="1">
                <a:solidFill>
                  <a:srgbClr val="183044"/>
                </a:solidFill>
                <a:latin typeface="Arial"/>
                <a:ea typeface="Arial"/>
                <a:cs typeface="Arial"/>
              </a:defRPr>
            </a:pPr>
            <a:r>
              <a:rPr sz="1575" b="1">
                <a:solidFill>
                  <a:srgbClr val="183044"/>
                </a:solidFill>
                <a:latin typeface="Arial"/>
                <a:ea typeface="Arial"/>
                <a:cs typeface="Arial"/>
              </a:rPr>
              <a:t>Average BMI</a:t>
            </a:r>
          </a:p>
        </p:txBody>
      </p:sp>
      <p:graphicFrame>
        <p:nvGraphicFramePr>
          <p:cNvPr id="11" name="">
            <a:extLst xmlns:a="http://schemas.openxmlformats.org/drawingml/2006/main">
              <a:ext uri="{FF2B5EF4-FFF2-40B4-BE49-F238E27FC236}">
                <a16:creationId xmlns:a16="http://schemas.microsoft.com/office/drawing/2014/main" id="{4AE3C1E7-1E37-48C2-B893-014D07C8DF32}"/>
              </a:ext>
            </a:extLst>
          </p:cNvPr>
          <p:cNvGraphicFramePr/>
          <p:nvPr/>
        </p:nvGraphicFramePr>
        <p:xfrm>
          <a:off xmlns:a="http://schemas.openxmlformats.org/drawingml/2006/main" x="7524750" y="5143500"/>
          <a:ext xmlns:a="http://schemas.openxmlformats.org/drawingml/2006/main" cx="4286250" cy="847725"/>
        </p:xfrm>
        <a:graphic xmlns:a="http://schemas.openxmlformats.org/drawingml/2006/main">
          <a:graphicData uri="http://schemas.openxmlformats.org/drawingml/2006/table">
            <a:tbl>
              <a:tblPr/>
              <a:tblGrid>
                <a:gridCol w="1428750"/>
                <a:gridCol w="1428750"/>
                <a:gridCol w="1428750"/>
              </a:tblGrid>
              <a:tr h="423863">
                <a:tc>
                  <a:txBody>
                    <a:bodyPr>
                      <a:noAutofit/>
                    </a:bodyPr>
                    <a:lstStyle/>
                    <a:p>
                      <a:pPr algn="l"/>
                      <a:r>
                        <a:rPr sz="1425" b="1">
                          <a:solidFill>
                            <a:srgbClr val="FFFFFF"/>
                          </a:solidFill>
                          <a:latin typeface="Arial"/>
                          <a:ea typeface="Arial"/>
                          <a:cs typeface="Arial"/>
                        </a:rPr>
                        <a:t>No diabetes</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Prediabetes</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Diabetes</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23863">
                <a:tc>
                  <a:txBody>
                    <a:bodyPr>
                      <a:noAutofit/>
                    </a:bodyPr>
                    <a:lstStyle/>
                    <a:p>
                      <a:pPr algn="l"/>
                      <a:r>
                        <a:rPr sz="1425" b="0">
                          <a:solidFill>
                            <a:srgbClr val="183044"/>
                          </a:solidFill>
                          <a:latin typeface="Arial"/>
                          <a:ea typeface="Arial"/>
                          <a:cs typeface="Arial"/>
                        </a:rPr>
                        <a:t>27.72</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32.85</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31.98</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CE0D0DF1-D093-44FA-886E-A619AE0CC694}"/>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3" name="text">
            <a:extLst xmlns:a="http://schemas.openxmlformats.org/drawingml/2006/main">
              <a:ext uri="{FF2B5EF4-FFF2-40B4-BE49-F238E27FC236}">
                <a16:creationId xmlns:a16="http://schemas.microsoft.com/office/drawing/2014/main" id="{52D18026-F745-4AD5-BB23-3014C1FD16DE}"/>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r = 0.102: weak positive relation. R² = 1.03%: very little BMI variation is explained.</a:t>
            </a:r>
          </a:p>
        </p:txBody>
      </p:sp>
      <p:sp>
        <p:nvSpPr>
          <p:cNvPr id="14" name="text">
            <a:extLst xmlns:a="http://schemas.openxmlformats.org/drawingml/2006/main">
              <a:ext uri="{FF2B5EF4-FFF2-40B4-BE49-F238E27FC236}">
                <a16:creationId xmlns:a16="http://schemas.microsoft.com/office/drawing/2014/main" id="{AA4E72B4-4525-4A14-948B-721209E92D5C}"/>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5 / 12</a:t>
            </a:r>
          </a:p>
        </p:txBody>
      </p:sp>
    </p:spTree>
    <p:extLst>
      <p:ext uri="{BB962C8B-B14F-4D97-AF65-F5344CB8AC3E}">
        <p14:creationId xmlns:p14="http://schemas.microsoft.com/office/powerpoint/2010/main" val="161590046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
            <a:extLst xmlns:a="http://schemas.openxmlformats.org/drawingml/2006/main">
              <a:ext uri="{FF2B5EF4-FFF2-40B4-BE49-F238E27FC236}">
                <a16:creationId xmlns:a16="http://schemas.microsoft.com/office/drawing/2014/main" id="{1650DEC2-5C12-4889-9179-803A866570F1}"/>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4: Multiple linear regression</a:t>
            </a:r>
          </a:p>
        </p:txBody>
      </p:sp>
      <p:sp>
        <p:nvSpPr>
          <p:cNvPr id="2" name="">
            <a:extLst xmlns:a="http://schemas.openxmlformats.org/drawingml/2006/main">
              <a:ext uri="{FF2B5EF4-FFF2-40B4-BE49-F238E27FC236}">
                <a16:creationId xmlns:a16="http://schemas.microsoft.com/office/drawing/2014/main" id="{93B9F54F-5033-43E6-B7AE-FBE8C32A00FB}"/>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42C59FBE-CC85-4E7F-B92F-E2311A1CFA53}"/>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Multiple regression and model checks</a:t>
            </a:r>
          </a:p>
        </p:txBody>
      </p:sp>
      <p:sp>
        <p:nvSpPr>
          <p:cNvPr id="4" name="text">
            <a:extLst xmlns:a="http://schemas.openxmlformats.org/drawingml/2006/main">
              <a:ext uri="{FF2B5EF4-FFF2-40B4-BE49-F238E27FC236}">
                <a16:creationId xmlns:a16="http://schemas.microsoft.com/office/drawing/2014/main" id="{B61243EF-9749-469F-90BB-9BA5C33126B4}"/>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Predict BMI using age, activity, income, education and smoking. R² = variation explained.</a:t>
            </a:r>
          </a:p>
        </p:txBody>
      </p:sp>
      <p:sp>
        <p:nvSpPr>
          <p:cNvPr id="5" name="text">
            <a:extLst xmlns:a="http://schemas.openxmlformats.org/drawingml/2006/main">
              <a:ext uri="{FF2B5EF4-FFF2-40B4-BE49-F238E27FC236}">
                <a16:creationId xmlns:a16="http://schemas.microsoft.com/office/drawing/2014/main" id="{2DAF2E03-C286-4A8D-89C9-98F2EF7CE8CE}"/>
              </a:ext>
            </a:extLst>
          </p:cNvPr>
          <p:cNvSpPr>
            <a:spLocks xmlns:a="http://schemas.openxmlformats.org/drawingml/2006/main" noGrp="1"/>
          </p:cNvSpPr>
          <p:nvPr/>
        </p:nvSpPr>
        <p:spPr>
          <a:xfrm xmlns:a="http://schemas.openxmlformats.org/drawingml/2006/main">
            <a:off x="400050" y="1543050"/>
            <a:ext cx="2238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6.81%</a:t>
            </a:r>
          </a:p>
        </p:txBody>
      </p:sp>
      <p:sp>
        <p:nvSpPr>
          <p:cNvPr id="6" name="text">
            <a:extLst xmlns:a="http://schemas.openxmlformats.org/drawingml/2006/main">
              <a:ext uri="{FF2B5EF4-FFF2-40B4-BE49-F238E27FC236}">
                <a16:creationId xmlns:a16="http://schemas.microsoft.com/office/drawing/2014/main" id="{80F2E65D-6E2E-45CB-B93D-054359A840EC}"/>
              </a:ext>
            </a:extLst>
          </p:cNvPr>
          <p:cNvSpPr>
            <a:spLocks xmlns:a="http://schemas.openxmlformats.org/drawingml/2006/main" noGrp="1"/>
          </p:cNvSpPr>
          <p:nvPr/>
        </p:nvSpPr>
        <p:spPr>
          <a:xfrm xmlns:a="http://schemas.openxmlformats.org/drawingml/2006/main">
            <a:off x="400050" y="2057400"/>
            <a:ext cx="2238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R²</a:t>
            </a:r>
          </a:p>
        </p:txBody>
      </p:sp>
      <p:sp>
        <p:nvSpPr>
          <p:cNvPr id="7" name="text">
            <a:extLst xmlns:a="http://schemas.openxmlformats.org/drawingml/2006/main">
              <a:ext uri="{FF2B5EF4-FFF2-40B4-BE49-F238E27FC236}">
                <a16:creationId xmlns:a16="http://schemas.microsoft.com/office/drawing/2014/main" id="{CA44863D-D803-4A7E-8028-9CF3D4858899}"/>
              </a:ext>
            </a:extLst>
          </p:cNvPr>
          <p:cNvSpPr>
            <a:spLocks xmlns:a="http://schemas.openxmlformats.org/drawingml/2006/main" noGrp="1"/>
          </p:cNvSpPr>
          <p:nvPr/>
        </p:nvSpPr>
        <p:spPr>
          <a:xfrm xmlns:a="http://schemas.openxmlformats.org/drawingml/2006/main">
            <a:off x="2828925" y="1543050"/>
            <a:ext cx="2238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5.99%</a:t>
            </a:r>
          </a:p>
        </p:txBody>
      </p:sp>
      <p:sp>
        <p:nvSpPr>
          <p:cNvPr id="8" name="text">
            <a:extLst xmlns:a="http://schemas.openxmlformats.org/drawingml/2006/main">
              <a:ext uri="{FF2B5EF4-FFF2-40B4-BE49-F238E27FC236}">
                <a16:creationId xmlns:a16="http://schemas.microsoft.com/office/drawing/2014/main" id="{870E785A-DB08-4C7E-B869-9D65778ADD55}"/>
              </a:ext>
            </a:extLst>
          </p:cNvPr>
          <p:cNvSpPr>
            <a:spLocks xmlns:a="http://schemas.openxmlformats.org/drawingml/2006/main" noGrp="1"/>
          </p:cNvSpPr>
          <p:nvPr/>
        </p:nvSpPr>
        <p:spPr>
          <a:xfrm xmlns:a="http://schemas.openxmlformats.org/drawingml/2006/main">
            <a:off x="2828925" y="2057400"/>
            <a:ext cx="2238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Adjusted R²</a:t>
            </a:r>
          </a:p>
        </p:txBody>
      </p:sp>
      <p:sp>
        <p:nvSpPr>
          <p:cNvPr id="9" name="text">
            <a:extLst xmlns:a="http://schemas.openxmlformats.org/drawingml/2006/main">
              <a:ext uri="{FF2B5EF4-FFF2-40B4-BE49-F238E27FC236}">
                <a16:creationId xmlns:a16="http://schemas.microsoft.com/office/drawing/2014/main" id="{18CC942D-450D-4ED2-AC61-FD646D8C3009}"/>
              </a:ext>
            </a:extLst>
          </p:cNvPr>
          <p:cNvSpPr>
            <a:spLocks xmlns:a="http://schemas.openxmlformats.org/drawingml/2006/main" noGrp="1"/>
          </p:cNvSpPr>
          <p:nvPr/>
        </p:nvSpPr>
        <p:spPr>
          <a:xfrm xmlns:a="http://schemas.openxmlformats.org/drawingml/2006/main">
            <a:off x="400050" y="2609850"/>
            <a:ext cx="4857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Which predictors matter?</a:t>
            </a:r>
          </a:p>
        </p:txBody>
      </p:sp>
      <p:graphicFrame>
        <p:nvGraphicFramePr>
          <p:cNvPr id="10" name="">
            <a:extLst xmlns:a="http://schemas.openxmlformats.org/drawingml/2006/main">
              <a:ext uri="{FF2B5EF4-FFF2-40B4-BE49-F238E27FC236}">
                <a16:creationId xmlns:a16="http://schemas.microsoft.com/office/drawing/2014/main" id="{22C52390-405A-464A-954C-804662F16D3E}"/>
              </a:ext>
            </a:extLst>
          </p:cNvPr>
          <p:cNvGraphicFramePr/>
          <p:nvPr/>
        </p:nvGraphicFramePr>
        <p:xfrm>
          <a:off xmlns:a="http://schemas.openxmlformats.org/drawingml/2006/main" x="400050" y="3057525"/>
          <a:ext xmlns:a="http://schemas.openxmlformats.org/drawingml/2006/main" cx="4857750" cy="2400300"/>
        </p:xfrm>
        <a:graphic xmlns:a="http://schemas.openxmlformats.org/drawingml/2006/main">
          <a:graphicData uri="http://schemas.openxmlformats.org/drawingml/2006/table">
            <a:tbl>
              <a:tblPr/>
              <a:tblGrid>
                <a:gridCol w="2686050"/>
                <a:gridCol w="1085850"/>
                <a:gridCol w="1085850"/>
              </a:tblGrid>
              <a:tr h="400050">
                <a:tc>
                  <a:txBody>
                    <a:bodyPr>
                      <a:noAutofit/>
                    </a:bodyPr>
                    <a:lstStyle/>
                    <a:p>
                      <a:pPr algn="l"/>
                      <a:r>
                        <a:rPr sz="1650" b="1">
                          <a:solidFill>
                            <a:srgbClr val="FFFFFF"/>
                          </a:solidFill>
                          <a:latin typeface="Arial"/>
                          <a:ea typeface="Arial"/>
                          <a:cs typeface="Arial"/>
                        </a:rPr>
                        <a:t>Predictor</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F</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p</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00050">
                <a:tc>
                  <a:txBody>
                    <a:bodyPr>
                      <a:noAutofit/>
                    </a:bodyPr>
                    <a:lstStyle/>
                    <a:p>
                      <a:pPr algn="l"/>
                      <a:r>
                        <a:rPr sz="1650" b="0">
                          <a:solidFill>
                            <a:srgbClr val="183044"/>
                          </a:solidFill>
                          <a:latin typeface="Arial"/>
                          <a:ea typeface="Arial"/>
                          <a:cs typeface="Arial"/>
                        </a:rPr>
                        <a:t>Age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9.17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400050">
                <a:tc>
                  <a:txBody>
                    <a:bodyPr>
                      <a:noAutofit/>
                    </a:bodyPr>
                    <a:lstStyle/>
                    <a:p>
                      <a:pPr algn="l"/>
                      <a:r>
                        <a:rPr sz="1650" b="0">
                          <a:solidFill>
                            <a:srgbClr val="183044"/>
                          </a:solidFill>
                          <a:latin typeface="Arial"/>
                          <a:ea typeface="Arial"/>
                          <a:cs typeface="Arial"/>
                        </a:rPr>
                        <a:t>Physical activity</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13.30</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EAF2F5"/>
                    </a:solidFill>
                  </a:tcPr>
                </a:tc>
              </a:tr>
              <a:tr h="400050">
                <a:tc>
                  <a:txBody>
                    <a:bodyPr>
                      <a:noAutofit/>
                    </a:bodyPr>
                    <a:lstStyle/>
                    <a:p>
                      <a:pPr algn="l"/>
                      <a:r>
                        <a:rPr sz="1650" b="0">
                          <a:solidFill>
                            <a:srgbClr val="183044"/>
                          </a:solidFill>
                          <a:latin typeface="Arial"/>
                          <a:ea typeface="Arial"/>
                          <a:cs typeface="Arial"/>
                        </a:rPr>
                        <a:t>Income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4.43</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400050">
                <a:tc>
                  <a:txBody>
                    <a:bodyPr>
                      <a:noAutofit/>
                    </a:bodyPr>
                    <a:lstStyle/>
                    <a:p>
                      <a:pPr algn="l"/>
                      <a:r>
                        <a:rPr sz="1650" b="0">
                          <a:solidFill>
                            <a:srgbClr val="183044"/>
                          </a:solidFill>
                          <a:latin typeface="Arial"/>
                          <a:ea typeface="Arial"/>
                          <a:cs typeface="Arial"/>
                        </a:rPr>
                        <a:t>Education</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8.03</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EAF2F5"/>
                    </a:solidFill>
                  </a:tcPr>
                </a:tc>
              </a:tr>
              <a:tr h="400050">
                <a:tc>
                  <a:txBody>
                    <a:bodyPr>
                      <a:noAutofit/>
                    </a:bodyPr>
                    <a:lstStyle/>
                    <a:p>
                      <a:pPr algn="l"/>
                      <a:r>
                        <a:rPr sz="1650" b="0">
                          <a:solidFill>
                            <a:srgbClr val="183044"/>
                          </a:solidFill>
                          <a:latin typeface="Arial"/>
                          <a:ea typeface="Arial"/>
                          <a:cs typeface="Arial"/>
                        </a:rPr>
                        <a:t>Smoking</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0.07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0.786</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11" name="text">
            <a:extLst xmlns:a="http://schemas.openxmlformats.org/drawingml/2006/main">
              <a:ext uri="{FF2B5EF4-FFF2-40B4-BE49-F238E27FC236}">
                <a16:creationId xmlns:a16="http://schemas.microsoft.com/office/drawing/2014/main" id="{41EA7CC1-A08F-420B-82FF-0022E7EDB3C0}"/>
              </a:ext>
            </a:extLst>
          </p:cNvPr>
          <p:cNvSpPr>
            <a:spLocks xmlns:a="http://schemas.openxmlformats.org/drawingml/2006/main" noGrp="1"/>
          </p:cNvSpPr>
          <p:nvPr/>
        </p:nvSpPr>
        <p:spPr>
          <a:xfrm xmlns:a="http://schemas.openxmlformats.org/drawingml/2006/main">
            <a:off x="5524500" y="1533525"/>
            <a:ext cx="62674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Check the fitted model</a:t>
            </a:r>
          </a:p>
        </p:txBody>
      </p:sp>
      <p:pic>
        <p:nvPicPr>
          <p:cNvPr id="12" name="">
            <a:extLst xmlns:a="http://schemas.openxmlformats.org/drawingml/2006/main">
              <a:ext uri="{FF2B5EF4-FFF2-40B4-BE49-F238E27FC236}">
                <a16:creationId xmlns:a16="http://schemas.microsoft.com/office/drawing/2014/main" id="{2EED6018-8BEF-414D-8A7E-253529F87E3E}"/>
              </a:ext>
            </a:extLst>
          </p:cNvPr>
          <p:cNvPicPr>
            <a:picLocks xmlns:a="http://schemas.openxmlformats.org/drawingml/2006/main" noChangeAspect="1"/>
          </p:cNvPicPr>
          <p:nvPr/>
        </p:nvPicPr>
        <p:blipFill>
          <a:blip xmlns:r="http://schemas.openxmlformats.org/officeDocument/2006/relationships" xmlns:a="http://schemas.openxmlformats.org/drawingml/2006/main" r:embed="R225f8cec11b74a47"/>
          <a:stretch xmlns:a="http://schemas.openxmlformats.org/drawingml/2006/main"/>
        </p:blipFill>
        <p:spPr>
          <a:xfrm xmlns:a="http://schemas.openxmlformats.org/drawingml/2006/main">
            <a:off x="5495925" y="1924050"/>
            <a:ext cx="6267450" cy="3848100"/>
          </a:xfrm>
          <a:prstGeom xmlns:a="http://schemas.openxmlformats.org/drawingml/2006/main" prst="rect">
            <a:avLst/>
          </a:prstGeom>
        </p:spPr>
      </p:pic>
      <p:sp>
        <p:nvSpPr>
          <p:cNvPr id="13" name="text">
            <a:extLst xmlns:a="http://schemas.openxmlformats.org/drawingml/2006/main">
              <a:ext uri="{FF2B5EF4-FFF2-40B4-BE49-F238E27FC236}">
                <a16:creationId xmlns:a16="http://schemas.microsoft.com/office/drawing/2014/main" id="{429609F3-60EB-4C86-B3D7-10ED1BB12046}"/>
              </a:ext>
            </a:extLst>
          </p:cNvPr>
          <p:cNvSpPr>
            <a:spLocks xmlns:a="http://schemas.openxmlformats.org/drawingml/2006/main" noGrp="1"/>
          </p:cNvSpPr>
          <p:nvPr/>
        </p:nvSpPr>
        <p:spPr>
          <a:xfrm xmlns:a="http://schemas.openxmlformats.org/drawingml/2006/main">
            <a:off x="5524500" y="5791200"/>
            <a:ext cx="62674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415566"/>
                </a:solidFill>
                <a:latin typeface="Arial"/>
                <a:ea typeface="Arial"/>
                <a:cs typeface="Arial"/>
              </a:defRPr>
            </a:defPPr>
          </a:lstStyle>
          <a:p xmlns:a="http://schemas.openxmlformats.org/drawingml/2006/main">
            <a:pPr>
              <a:defRPr sz="1425" b="0">
                <a:solidFill>
                  <a:srgbClr val="415566"/>
                </a:solidFill>
                <a:latin typeface="Arial"/>
                <a:ea typeface="Arial"/>
                <a:cs typeface="Arial"/>
              </a:defRPr>
            </a:pPr>
            <a:r>
              <a:rPr sz="1425" b="0">
                <a:solidFill>
                  <a:srgbClr val="415566"/>
                </a:solidFill>
                <a:latin typeface="Arial"/>
                <a:ea typeface="Arial"/>
                <a:cs typeface="Arial"/>
              </a:rPr>
              <a:t>Residuals show uneven spread and a long upper tail.</a:t>
            </a:r>
          </a:p>
        </p:txBody>
      </p:sp>
      <p:sp>
        <p:nvSpPr>
          <p:cNvPr id="14" name="">
            <a:extLst xmlns:a="http://schemas.openxmlformats.org/drawingml/2006/main">
              <a:ext uri="{FF2B5EF4-FFF2-40B4-BE49-F238E27FC236}">
                <a16:creationId xmlns:a16="http://schemas.microsoft.com/office/drawing/2014/main" id="{381A3443-E337-4718-B742-7B1199CAA198}"/>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5" name="text">
            <a:extLst xmlns:a="http://schemas.openxmlformats.org/drawingml/2006/main">
              <a:ext uri="{FF2B5EF4-FFF2-40B4-BE49-F238E27FC236}">
                <a16:creationId xmlns:a16="http://schemas.microsoft.com/office/drawing/2014/main" id="{CECC568D-1911-4B14-A095-FF20B3AECB61}"/>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Age, activity, income and education relate to BMI. The model explains only a small share of variation.</a:t>
            </a:r>
          </a:p>
        </p:txBody>
      </p:sp>
      <p:sp>
        <p:nvSpPr>
          <p:cNvPr id="16" name="text">
            <a:extLst xmlns:a="http://schemas.openxmlformats.org/drawingml/2006/main">
              <a:ext uri="{FF2B5EF4-FFF2-40B4-BE49-F238E27FC236}">
                <a16:creationId xmlns:a16="http://schemas.microsoft.com/office/drawing/2014/main" id="{53A109DD-7DD4-4DC1-9E0B-E45E677EBC06}"/>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6 / 12</a:t>
            </a:r>
          </a:p>
        </p:txBody>
      </p:sp>
    </p:spTree>
    <p:extLst>
      <p:ext uri="{BB962C8B-B14F-4D97-AF65-F5344CB8AC3E}">
        <p14:creationId xmlns:p14="http://schemas.microsoft.com/office/powerpoint/2010/main" val="109327909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
            <a:extLst xmlns:a="http://schemas.openxmlformats.org/drawingml/2006/main">
              <a:ext uri="{FF2B5EF4-FFF2-40B4-BE49-F238E27FC236}">
                <a16:creationId xmlns:a16="http://schemas.microsoft.com/office/drawing/2014/main" id="{B0821982-F68C-4597-9A50-2D62E4FDB1FC}"/>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5: Binomial fitting     LAB 6: Normal and Poisson fitting</a:t>
            </a:r>
          </a:p>
        </p:txBody>
      </p:sp>
      <p:sp>
        <p:nvSpPr>
          <p:cNvPr id="2" name="">
            <a:extLst xmlns:a="http://schemas.openxmlformats.org/drawingml/2006/main">
              <a:ext uri="{FF2B5EF4-FFF2-40B4-BE49-F238E27FC236}">
                <a16:creationId xmlns:a16="http://schemas.microsoft.com/office/drawing/2014/main" id="{01355D31-8CFC-4416-87D9-AAAF9D3515A0}"/>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51562088-BB71-4245-8A41-31B139C54B58}"/>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Fitting probability distributions</a:t>
            </a:r>
          </a:p>
        </p:txBody>
      </p:sp>
      <p:sp>
        <p:nvSpPr>
          <p:cNvPr id="4" name="text">
            <a:extLst xmlns:a="http://schemas.openxmlformats.org/drawingml/2006/main">
              <a:ext uri="{FF2B5EF4-FFF2-40B4-BE49-F238E27FC236}">
                <a16:creationId xmlns:a16="http://schemas.microsoft.com/office/drawing/2014/main" id="{3164EF7D-6D52-4BF8-A871-1EAB7B64AC38}"/>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Compare the observed pattern with the pattern each model expects.</a:t>
            </a:r>
          </a:p>
        </p:txBody>
      </p:sp>
      <p:sp>
        <p:nvSpPr>
          <p:cNvPr id="5" name="text">
            <a:extLst xmlns:a="http://schemas.openxmlformats.org/drawingml/2006/main">
              <a:ext uri="{FF2B5EF4-FFF2-40B4-BE49-F238E27FC236}">
                <a16:creationId xmlns:a16="http://schemas.microsoft.com/office/drawing/2014/main" id="{D720C90F-6D18-4B34-8240-46290D68E395}"/>
              </a:ext>
            </a:extLst>
          </p:cNvPr>
          <p:cNvSpPr>
            <a:spLocks xmlns:a="http://schemas.openxmlformats.org/drawingml/2006/main" noGrp="1"/>
          </p:cNvSpPr>
          <p:nvPr/>
        </p:nvSpPr>
        <p:spPr>
          <a:xfrm xmlns:a="http://schemas.openxmlformats.org/drawingml/2006/main">
            <a:off x="400050" y="1600200"/>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6D8C"/>
                </a:solidFill>
                <a:latin typeface="Arial"/>
                <a:ea typeface="Arial"/>
                <a:cs typeface="Arial"/>
              </a:defRPr>
            </a:defPPr>
          </a:lstStyle>
          <a:p xmlns:a="http://schemas.openxmlformats.org/drawingml/2006/main">
            <a:pPr>
              <a:defRPr sz="2100" b="1">
                <a:solidFill>
                  <a:srgbClr val="176D8C"/>
                </a:solidFill>
                <a:latin typeface="Arial"/>
                <a:ea typeface="Arial"/>
                <a:cs typeface="Arial"/>
              </a:defRPr>
            </a:pPr>
            <a:r>
              <a:rPr sz="2100" b="1">
                <a:solidFill>
                  <a:srgbClr val="176D8C"/>
                </a:solidFill>
                <a:latin typeface="Arial"/>
                <a:ea typeface="Arial"/>
                <a:cs typeface="Arial"/>
              </a:rPr>
              <a:t>Binomial</a:t>
            </a:r>
          </a:p>
        </p:txBody>
      </p:sp>
      <p:sp>
        <p:nvSpPr>
          <p:cNvPr id="6" name="text">
            <a:extLst xmlns:a="http://schemas.openxmlformats.org/drawingml/2006/main">
              <a:ext uri="{FF2B5EF4-FFF2-40B4-BE49-F238E27FC236}">
                <a16:creationId xmlns:a16="http://schemas.microsoft.com/office/drawing/2014/main" id="{9AE30701-1C8E-4C6C-AACE-067257CAEED9}"/>
              </a:ext>
            </a:extLst>
          </p:cNvPr>
          <p:cNvSpPr>
            <a:spLocks xmlns:a="http://schemas.openxmlformats.org/drawingml/2006/main" noGrp="1"/>
          </p:cNvSpPr>
          <p:nvPr/>
        </p:nvSpPr>
        <p:spPr>
          <a:xfrm xmlns:a="http://schemas.openxmlformats.org/drawingml/2006/main">
            <a:off x="400050" y="2085975"/>
            <a:ext cx="3581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Positive cases in groups of 10.</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p = 0.156, 300 groups.</a:t>
            </a:r>
          </a:p>
        </p:txBody>
      </p:sp>
      <p:sp>
        <p:nvSpPr>
          <p:cNvPr id="7" name="text">
            <a:extLst xmlns:a="http://schemas.openxmlformats.org/drawingml/2006/main">
              <a:ext uri="{FF2B5EF4-FFF2-40B4-BE49-F238E27FC236}">
                <a16:creationId xmlns:a16="http://schemas.microsoft.com/office/drawing/2014/main" id="{AACE7B4F-E4BD-401D-BAE0-B625EDADF117}"/>
              </a:ext>
            </a:extLst>
          </p:cNvPr>
          <p:cNvSpPr>
            <a:spLocks xmlns:a="http://schemas.openxmlformats.org/drawingml/2006/main" noGrp="1"/>
          </p:cNvSpPr>
          <p:nvPr/>
        </p:nvSpPr>
        <p:spPr>
          <a:xfrm xmlns:a="http://schemas.openxmlformats.org/drawingml/2006/main">
            <a:off x="400050" y="53054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Test p = 0.962</a:t>
            </a:r>
          </a:p>
        </p:txBody>
      </p:sp>
      <p:sp>
        <p:nvSpPr>
          <p:cNvPr id="8" name="text">
            <a:extLst xmlns:a="http://schemas.openxmlformats.org/drawingml/2006/main">
              <a:ext uri="{FF2B5EF4-FFF2-40B4-BE49-F238E27FC236}">
                <a16:creationId xmlns:a16="http://schemas.microsoft.com/office/drawing/2014/main" id="{C6F6CC38-3D06-43DA-BFC0-8E53DAFD571D}"/>
              </a:ext>
            </a:extLst>
          </p:cNvPr>
          <p:cNvSpPr>
            <a:spLocks xmlns:a="http://schemas.openxmlformats.org/drawingml/2006/main" noGrp="1"/>
          </p:cNvSpPr>
          <p:nvPr/>
        </p:nvSpPr>
        <p:spPr>
          <a:xfrm xmlns:a="http://schemas.openxmlformats.org/drawingml/2006/main">
            <a:off x="400050" y="5648325"/>
            <a:ext cx="3581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Fits the grouped counts reasonably.</a:t>
            </a:r>
          </a:p>
        </p:txBody>
      </p:sp>
      <p:sp>
        <p:nvSpPr>
          <p:cNvPr id="9" name="text">
            <a:extLst xmlns:a="http://schemas.openxmlformats.org/drawingml/2006/main">
              <a:ext uri="{FF2B5EF4-FFF2-40B4-BE49-F238E27FC236}">
                <a16:creationId xmlns:a16="http://schemas.microsoft.com/office/drawing/2014/main" id="{2E0DD874-19C2-4832-A732-C630EE59E988}"/>
              </a:ext>
            </a:extLst>
          </p:cNvPr>
          <p:cNvSpPr>
            <a:spLocks xmlns:a="http://schemas.openxmlformats.org/drawingml/2006/main" noGrp="1"/>
          </p:cNvSpPr>
          <p:nvPr/>
        </p:nvSpPr>
        <p:spPr>
          <a:xfrm xmlns:a="http://schemas.openxmlformats.org/drawingml/2006/main">
            <a:off x="4276725" y="1600200"/>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6D8C"/>
                </a:solidFill>
                <a:latin typeface="Arial"/>
                <a:ea typeface="Arial"/>
                <a:cs typeface="Arial"/>
              </a:defRPr>
            </a:defPPr>
          </a:lstStyle>
          <a:p xmlns:a="http://schemas.openxmlformats.org/drawingml/2006/main">
            <a:pPr>
              <a:defRPr sz="2100" b="1">
                <a:solidFill>
                  <a:srgbClr val="176D8C"/>
                </a:solidFill>
                <a:latin typeface="Arial"/>
                <a:ea typeface="Arial"/>
                <a:cs typeface="Arial"/>
              </a:defRPr>
            </a:pPr>
            <a:r>
              <a:rPr sz="2100" b="1">
                <a:solidFill>
                  <a:srgbClr val="176D8C"/>
                </a:solidFill>
                <a:latin typeface="Arial"/>
                <a:ea typeface="Arial"/>
                <a:cs typeface="Arial"/>
              </a:rPr>
              <a:t>Normal</a:t>
            </a:r>
          </a:p>
        </p:txBody>
      </p:sp>
      <p:sp>
        <p:nvSpPr>
          <p:cNvPr id="10" name="text">
            <a:extLst xmlns:a="http://schemas.openxmlformats.org/drawingml/2006/main">
              <a:ext uri="{FF2B5EF4-FFF2-40B4-BE49-F238E27FC236}">
                <a16:creationId xmlns:a16="http://schemas.microsoft.com/office/drawing/2014/main" id="{12C26ED9-0632-432B-BBD8-2002DBBB9139}"/>
              </a:ext>
            </a:extLst>
          </p:cNvPr>
          <p:cNvSpPr>
            <a:spLocks xmlns:a="http://schemas.openxmlformats.org/drawingml/2006/main" noGrp="1"/>
          </p:cNvSpPr>
          <p:nvPr/>
        </p:nvSpPr>
        <p:spPr>
          <a:xfrm xmlns:a="http://schemas.openxmlformats.org/drawingml/2006/main">
            <a:off x="4276725" y="2085975"/>
            <a:ext cx="3581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BMI: mean 28.40, SD 6.35.</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The curve misses the long tail.</a:t>
            </a:r>
          </a:p>
        </p:txBody>
      </p:sp>
      <p:sp>
        <p:nvSpPr>
          <p:cNvPr id="11" name="text">
            <a:extLst xmlns:a="http://schemas.openxmlformats.org/drawingml/2006/main">
              <a:ext uri="{FF2B5EF4-FFF2-40B4-BE49-F238E27FC236}">
                <a16:creationId xmlns:a16="http://schemas.microsoft.com/office/drawing/2014/main" id="{AB7CD8DC-5193-437F-A6F9-EB5BDD965EC7}"/>
              </a:ext>
            </a:extLst>
          </p:cNvPr>
          <p:cNvSpPr>
            <a:spLocks xmlns:a="http://schemas.openxmlformats.org/drawingml/2006/main" noGrp="1"/>
          </p:cNvSpPr>
          <p:nvPr/>
        </p:nvSpPr>
        <p:spPr>
          <a:xfrm xmlns:a="http://schemas.openxmlformats.org/drawingml/2006/main">
            <a:off x="4276725" y="53054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Test p &lt; 0.001</a:t>
            </a:r>
          </a:p>
        </p:txBody>
      </p:sp>
      <p:sp>
        <p:nvSpPr>
          <p:cNvPr id="12" name="text">
            <a:extLst xmlns:a="http://schemas.openxmlformats.org/drawingml/2006/main">
              <a:ext uri="{FF2B5EF4-FFF2-40B4-BE49-F238E27FC236}">
                <a16:creationId xmlns:a16="http://schemas.microsoft.com/office/drawing/2014/main" id="{0A0EC5B6-46EA-4E0E-8973-81E728FB27D5}"/>
              </a:ext>
            </a:extLst>
          </p:cNvPr>
          <p:cNvSpPr>
            <a:spLocks xmlns:a="http://schemas.openxmlformats.org/drawingml/2006/main" noGrp="1"/>
          </p:cNvSpPr>
          <p:nvPr/>
        </p:nvSpPr>
        <p:spPr>
          <a:xfrm xmlns:a="http://schemas.openxmlformats.org/drawingml/2006/main">
            <a:off x="4276725" y="5648325"/>
            <a:ext cx="3581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BMI is not normally distributed.</a:t>
            </a:r>
          </a:p>
        </p:txBody>
      </p:sp>
      <p:sp>
        <p:nvSpPr>
          <p:cNvPr id="13" name="text">
            <a:extLst xmlns:a="http://schemas.openxmlformats.org/drawingml/2006/main">
              <a:ext uri="{FF2B5EF4-FFF2-40B4-BE49-F238E27FC236}">
                <a16:creationId xmlns:a16="http://schemas.microsoft.com/office/drawing/2014/main" id="{03815971-EBC0-447F-841D-74E1532524CC}"/>
              </a:ext>
            </a:extLst>
          </p:cNvPr>
          <p:cNvSpPr>
            <a:spLocks xmlns:a="http://schemas.openxmlformats.org/drawingml/2006/main" noGrp="1"/>
          </p:cNvSpPr>
          <p:nvPr/>
        </p:nvSpPr>
        <p:spPr>
          <a:xfrm xmlns:a="http://schemas.openxmlformats.org/drawingml/2006/main">
            <a:off x="8153400" y="1600200"/>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6D8C"/>
                </a:solidFill>
                <a:latin typeface="Arial"/>
                <a:ea typeface="Arial"/>
                <a:cs typeface="Arial"/>
              </a:defRPr>
            </a:defPPr>
          </a:lstStyle>
          <a:p xmlns:a="http://schemas.openxmlformats.org/drawingml/2006/main">
            <a:pPr>
              <a:defRPr sz="2100" b="1">
                <a:solidFill>
                  <a:srgbClr val="176D8C"/>
                </a:solidFill>
                <a:latin typeface="Arial"/>
                <a:ea typeface="Arial"/>
                <a:cs typeface="Arial"/>
              </a:defRPr>
            </a:pPr>
            <a:r>
              <a:rPr sz="2100" b="1">
                <a:solidFill>
                  <a:srgbClr val="176D8C"/>
                </a:solidFill>
                <a:latin typeface="Arial"/>
                <a:ea typeface="Arial"/>
                <a:cs typeface="Arial"/>
              </a:rPr>
              <a:t>Poisson</a:t>
            </a:r>
          </a:p>
        </p:txBody>
      </p:sp>
      <p:sp>
        <p:nvSpPr>
          <p:cNvPr id="14" name="text">
            <a:extLst xmlns:a="http://schemas.openxmlformats.org/drawingml/2006/main">
              <a:ext uri="{FF2B5EF4-FFF2-40B4-BE49-F238E27FC236}">
                <a16:creationId xmlns:a16="http://schemas.microsoft.com/office/drawing/2014/main" id="{0AD79AE1-FF52-402A-A343-61F6A66DBA7B}"/>
              </a:ext>
            </a:extLst>
          </p:cNvPr>
          <p:cNvSpPr>
            <a:spLocks xmlns:a="http://schemas.openxmlformats.org/drawingml/2006/main" noGrp="1"/>
          </p:cNvSpPr>
          <p:nvPr/>
        </p:nvSpPr>
        <p:spPr>
          <a:xfrm xmlns:a="http://schemas.openxmlformats.org/drawingml/2006/main">
            <a:off x="8153400" y="2085975"/>
            <a:ext cx="3581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Physical-health days: mean 4.15,</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variance 74.24. Many zeros.</a:t>
            </a:r>
          </a:p>
        </p:txBody>
      </p:sp>
      <p:sp>
        <p:nvSpPr>
          <p:cNvPr id="15" name="text">
            <a:extLst xmlns:a="http://schemas.openxmlformats.org/drawingml/2006/main">
              <a:ext uri="{FF2B5EF4-FFF2-40B4-BE49-F238E27FC236}">
                <a16:creationId xmlns:a16="http://schemas.microsoft.com/office/drawing/2014/main" id="{144946CD-F7CE-4012-B3BF-0F6906513665}"/>
              </a:ext>
            </a:extLst>
          </p:cNvPr>
          <p:cNvSpPr>
            <a:spLocks xmlns:a="http://schemas.openxmlformats.org/drawingml/2006/main" noGrp="1"/>
          </p:cNvSpPr>
          <p:nvPr/>
        </p:nvSpPr>
        <p:spPr>
          <a:xfrm xmlns:a="http://schemas.openxmlformats.org/drawingml/2006/main">
            <a:off x="8153400" y="53054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Test p &lt; 0.001</a:t>
            </a:r>
          </a:p>
        </p:txBody>
      </p:sp>
      <p:sp>
        <p:nvSpPr>
          <p:cNvPr id="16" name="text">
            <a:extLst xmlns:a="http://schemas.openxmlformats.org/drawingml/2006/main">
              <a:ext uri="{FF2B5EF4-FFF2-40B4-BE49-F238E27FC236}">
                <a16:creationId xmlns:a16="http://schemas.microsoft.com/office/drawing/2014/main" id="{A82B58FE-8DEB-449D-A0D2-073EBDC89C9B}"/>
              </a:ext>
            </a:extLst>
          </p:cNvPr>
          <p:cNvSpPr>
            <a:spLocks xmlns:a="http://schemas.openxmlformats.org/drawingml/2006/main" noGrp="1"/>
          </p:cNvSpPr>
          <p:nvPr/>
        </p:nvSpPr>
        <p:spPr>
          <a:xfrm xmlns:a="http://schemas.openxmlformats.org/drawingml/2006/main">
            <a:off x="8153400" y="5648325"/>
            <a:ext cx="3581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Variance is far above the mean.</a:t>
            </a:r>
          </a:p>
        </p:txBody>
      </p:sp>
      <p:graphicFrame>
        <p:nvGraphicFramePr>
          <p:cNvPr id="17" name="Chart">
            <a:extLst xmlns:a="http://schemas.openxmlformats.org/drawingml/2006/main">
              <a:ext uri="{FF2B5EF4-FFF2-40B4-BE49-F238E27FC236}">
                <a16:creationId xmlns:a16="http://schemas.microsoft.com/office/drawing/2014/main" id="{3204407A-65C9-4295-9670-230AC87A77ED}"/>
              </a:ext>
            </a:extLst>
          </p:cNvPr>
          <p:cNvGraphicFramePr/>
          <p:nvPr/>
        </p:nvGraphicFramePr>
        <p:xfrm>
          <a:off xmlns:a="http://schemas.openxmlformats.org/drawingml/2006/main" x="257175" y="2867025"/>
          <a:ext xmlns:a="http://schemas.openxmlformats.org/drawingml/2006/main" cx="3657600" cy="2200275"/>
        </p:xfrm>
        <a:graphic xmlns:a="http://schemas.openxmlformats.org/drawingml/2006/main">
          <a:graphicData uri="http://schemas.openxmlformats.org/drawingml/2006/chart">
            <c:chart xmlns:r="http://schemas.openxmlformats.org/officeDocument/2006/relationships" xmlns:c="http://schemas.openxmlformats.org/drawingml/2006/chart" r:id="R0ab05b52c5df4144"/>
          </a:graphicData>
        </a:graphic>
      </p:graphicFrame>
      <p:pic>
        <p:nvPicPr>
          <p:cNvPr id="18" name="">
            <a:extLst xmlns:a="http://schemas.openxmlformats.org/drawingml/2006/main">
              <a:ext uri="{FF2B5EF4-FFF2-40B4-BE49-F238E27FC236}">
                <a16:creationId xmlns:a16="http://schemas.microsoft.com/office/drawing/2014/main" id="{86C5F6E2-4572-4FFC-BB5F-7DD1E17A5720}"/>
              </a:ext>
            </a:extLst>
          </p:cNvPr>
          <p:cNvPicPr>
            <a:picLocks xmlns:a="http://schemas.openxmlformats.org/drawingml/2006/main" noChangeAspect="1"/>
          </p:cNvPicPr>
          <p:nvPr/>
        </p:nvPicPr>
        <p:blipFill>
          <a:blip xmlns:r="http://schemas.openxmlformats.org/officeDocument/2006/relationships" xmlns:a="http://schemas.openxmlformats.org/drawingml/2006/main" r:embed="Rff05c8fa60434d15"/>
          <a:stretch xmlns:a="http://schemas.openxmlformats.org/drawingml/2006/main"/>
        </p:blipFill>
        <p:spPr>
          <a:xfrm xmlns:a="http://schemas.openxmlformats.org/drawingml/2006/main">
            <a:off x="4276725" y="2771775"/>
            <a:ext cx="3524250" cy="2457450"/>
          </a:xfrm>
          <a:prstGeom xmlns:a="http://schemas.openxmlformats.org/drawingml/2006/main" prst="rect">
            <a:avLst/>
          </a:prstGeom>
        </p:spPr>
      </p:pic>
      <p:graphicFrame>
        <p:nvGraphicFramePr>
          <p:cNvPr id="19" name="Chart">
            <a:extLst xmlns:a="http://schemas.openxmlformats.org/drawingml/2006/main">
              <a:ext uri="{FF2B5EF4-FFF2-40B4-BE49-F238E27FC236}">
                <a16:creationId xmlns:a16="http://schemas.microsoft.com/office/drawing/2014/main" id="{4B9EBA86-E5A6-4344-B29C-FE061296877F}"/>
              </a:ext>
            </a:extLst>
          </p:cNvPr>
          <p:cNvGraphicFramePr/>
          <p:nvPr/>
        </p:nvGraphicFramePr>
        <p:xfrm>
          <a:off xmlns:a="http://schemas.openxmlformats.org/drawingml/2006/main" x="8124825" y="2867025"/>
          <a:ext xmlns:a="http://schemas.openxmlformats.org/drawingml/2006/main" cx="3714750" cy="2200275"/>
        </p:xfrm>
        <a:graphic xmlns:a="http://schemas.openxmlformats.org/drawingml/2006/main">
          <a:graphicData uri="http://schemas.openxmlformats.org/drawingml/2006/chart">
            <c:chart xmlns:r="http://schemas.openxmlformats.org/officeDocument/2006/relationships" xmlns:c="http://schemas.openxmlformats.org/drawingml/2006/chart" r:id="Rd95f25cffa184133"/>
          </a:graphicData>
        </a:graphic>
      </p:graphicFrame>
      <p:sp>
        <p:nvSpPr>
          <p:cNvPr id="20" name="">
            <a:extLst xmlns:a="http://schemas.openxmlformats.org/drawingml/2006/main">
              <a:ext uri="{FF2B5EF4-FFF2-40B4-BE49-F238E27FC236}">
                <a16:creationId xmlns:a16="http://schemas.microsoft.com/office/drawing/2014/main" id="{79B9E904-6F28-4075-9855-1050F6CD7006}"/>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1" name="text">
            <a:extLst xmlns:a="http://schemas.openxmlformats.org/drawingml/2006/main">
              <a:ext uri="{FF2B5EF4-FFF2-40B4-BE49-F238E27FC236}">
                <a16:creationId xmlns:a16="http://schemas.microsoft.com/office/drawing/2014/main" id="{FD77F09C-CEF4-4A51-9DBC-EE4C4181BCDE}"/>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 useful analysis explains why a model fits or fails.</a:t>
            </a:r>
          </a:p>
        </p:txBody>
      </p:sp>
      <p:sp>
        <p:nvSpPr>
          <p:cNvPr id="22" name="text">
            <a:extLst xmlns:a="http://schemas.openxmlformats.org/drawingml/2006/main">
              <a:ext uri="{FF2B5EF4-FFF2-40B4-BE49-F238E27FC236}">
                <a16:creationId xmlns:a16="http://schemas.microsoft.com/office/drawing/2014/main" id="{78D2C1F9-4211-4CE5-AB28-99814961A794}"/>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7 / 12</a:t>
            </a:r>
          </a:p>
        </p:txBody>
      </p:sp>
    </p:spTree>
    <p:extLst>
      <p:ext uri="{BB962C8B-B14F-4D97-AF65-F5344CB8AC3E}">
        <p14:creationId xmlns:p14="http://schemas.microsoft.com/office/powerpoint/2010/main" val="29014409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
            <a:extLst xmlns:a="http://schemas.openxmlformats.org/drawingml/2006/main">
              <a:ext uri="{FF2B5EF4-FFF2-40B4-BE49-F238E27FC236}">
                <a16:creationId xmlns:a16="http://schemas.microsoft.com/office/drawing/2014/main" id="{16D4F2AE-413B-4191-90E5-8841304F2BD1}"/>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7: One-sample mean/proportion tests     LAB 8: Two-sample mean/proportion tests</a:t>
            </a:r>
          </a:p>
        </p:txBody>
      </p:sp>
      <p:sp>
        <p:nvSpPr>
          <p:cNvPr id="2" name="">
            <a:extLst xmlns:a="http://schemas.openxmlformats.org/drawingml/2006/main">
              <a:ext uri="{FF2B5EF4-FFF2-40B4-BE49-F238E27FC236}">
                <a16:creationId xmlns:a16="http://schemas.microsoft.com/office/drawing/2014/main" id="{7CF3277A-09D2-404A-B1ED-8EA5AE9AE076}"/>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8964B676-3653-4B75-9001-ED29047DECF2}"/>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One- and two-sample hypothesis tests</a:t>
            </a:r>
          </a:p>
        </p:txBody>
      </p:sp>
      <p:sp>
        <p:nvSpPr>
          <p:cNvPr id="4" name="text">
            <a:extLst xmlns:a="http://schemas.openxmlformats.org/drawingml/2006/main">
              <a:ext uri="{FF2B5EF4-FFF2-40B4-BE49-F238E27FC236}">
                <a16:creationId xmlns:a16="http://schemas.microsoft.com/office/drawing/2014/main" id="{361888EE-C68C-4DB8-A3AF-AAFFE387855D}"/>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Lab 7 compares a sample with a reference. Lab 8 compares two groups. We use α = 0.05.</a:t>
            </a:r>
          </a:p>
        </p:txBody>
      </p:sp>
      <p:graphicFrame>
        <p:nvGraphicFramePr>
          <p:cNvPr id="5" name="">
            <a:extLst xmlns:a="http://schemas.openxmlformats.org/drawingml/2006/main">
              <a:ext uri="{FF2B5EF4-FFF2-40B4-BE49-F238E27FC236}">
                <a16:creationId xmlns:a16="http://schemas.microsoft.com/office/drawing/2014/main" id="{CB3189B3-AA2D-4A8C-8B63-27E4C998F75D}"/>
              </a:ext>
            </a:extLst>
          </p:cNvPr>
          <p:cNvGraphicFramePr/>
          <p:nvPr/>
        </p:nvGraphicFramePr>
        <p:xfrm>
          <a:off xmlns:a="http://schemas.openxmlformats.org/drawingml/2006/main" x="400050" y="1581150"/>
          <a:ext xmlns:a="http://schemas.openxmlformats.org/drawingml/2006/main" cx="11391900" cy="2009775"/>
        </p:xfrm>
        <a:graphic xmlns:a="http://schemas.openxmlformats.org/drawingml/2006/main">
          <a:graphicData uri="http://schemas.openxmlformats.org/drawingml/2006/table">
            <a:tbl>
              <a:tblPr/>
              <a:tblGrid>
                <a:gridCol w="3705225"/>
                <a:gridCol w="2314575"/>
                <a:gridCol w="3905250"/>
                <a:gridCol w="1466850"/>
              </a:tblGrid>
              <a:tr h="401955">
                <a:tc>
                  <a:txBody>
                    <a:bodyPr>
                      <a:noAutofit/>
                    </a:bodyPr>
                    <a:lstStyle/>
                    <a:p>
                      <a:pPr algn="l"/>
                      <a:r>
                        <a:rPr sz="1650" b="1">
                          <a:solidFill>
                            <a:srgbClr val="FFFFFF"/>
                          </a:solidFill>
                          <a:latin typeface="Arial"/>
                          <a:ea typeface="Arial"/>
                          <a:cs typeface="Arial"/>
                        </a:rPr>
                        <a:t>Question / comparison</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Method</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Result</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p</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01955">
                <a:tc>
                  <a:txBody>
                    <a:bodyPr>
                      <a:noAutofit/>
                    </a:bodyPr>
                    <a:lstStyle/>
                    <a:p>
                      <a:pPr algn="l"/>
                      <a:r>
                        <a:rPr sz="1650" b="0">
                          <a:solidFill>
                            <a:srgbClr val="183044"/>
                          </a:solidFill>
                          <a:latin typeface="Arial"/>
                          <a:ea typeface="Arial"/>
                          <a:cs typeface="Arial"/>
                        </a:rPr>
                        <a:t>Mean BMI vs 27</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One-sample t</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28.40 (above 27)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401955">
                <a:tc>
                  <a:txBody>
                    <a:bodyPr>
                      <a:noAutofit/>
                    </a:bodyPr>
                    <a:lstStyle/>
                    <a:p>
                      <a:pPr algn="l"/>
                      <a:r>
                        <a:rPr sz="1650" b="0">
                          <a:solidFill>
                            <a:srgbClr val="183044"/>
                          </a:solidFill>
                          <a:latin typeface="Arial"/>
                          <a:ea typeface="Arial"/>
                          <a:cs typeface="Arial"/>
                        </a:rPr>
                        <a:t>Positive share vs 11%</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One proportion</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15.63% (above 11%)</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EAF2F5"/>
                    </a:solidFill>
                  </a:tcPr>
                </a:tc>
              </a:tr>
              <a:tr h="401955">
                <a:tc>
                  <a:txBody>
                    <a:bodyPr>
                      <a:noAutofit/>
                    </a:bodyPr>
                    <a:lstStyle/>
                    <a:p>
                      <a:pPr algn="l"/>
                      <a:r>
                        <a:rPr sz="1650" b="0">
                          <a:solidFill>
                            <a:srgbClr val="183044"/>
                          </a:solidFill>
                          <a:latin typeface="Arial"/>
                          <a:ea typeface="Arial"/>
                          <a:cs typeface="Arial"/>
                        </a:rPr>
                        <a:t>BMI: female − male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Welch t</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-0.65 BMI units</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0.004</a:t>
                      </a:r>
                    </a:p>
                  </a:txBody>
                  <a:tcPr marL="91440" marR="91440" marT="45720" marB="45720">
                    <a:lnR w="9525">
                      <a:solidFill>
                        <a:srgbClr val="D6E0E5"/>
                      </a:solidFill>
                      <a:prstDash val="solid"/>
                    </a:lnR>
                    <a:lnB w="9525">
                      <a:solidFill>
                        <a:srgbClr val="D6E0E5"/>
                      </a:solidFill>
                      <a:prstDash val="solid"/>
                    </a:lnB>
                    <a:solidFill>
                      <a:srgbClr val="FFFFFF"/>
                    </a:solidFill>
                  </a:tcPr>
                </a:tc>
              </a:tr>
              <a:tr h="401955">
                <a:tc>
                  <a:txBody>
                    <a:bodyPr>
                      <a:noAutofit/>
                    </a:bodyPr>
                    <a:lstStyle/>
                    <a:p>
                      <a:pPr algn="l"/>
                      <a:r>
                        <a:rPr sz="1650" b="0">
                          <a:solidFill>
                            <a:srgbClr val="183044"/>
                          </a:solidFill>
                          <a:latin typeface="Arial"/>
                          <a:ea typeface="Arial"/>
                          <a:cs typeface="Arial"/>
                        </a:rPr>
                        <a:t>Positive share: never / ever smoked</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Two proportions</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14.09% / 17.36%</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0.016</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6" name="text">
            <a:extLst xmlns:a="http://schemas.openxmlformats.org/drawingml/2006/main">
              <a:ext uri="{FF2B5EF4-FFF2-40B4-BE49-F238E27FC236}">
                <a16:creationId xmlns:a16="http://schemas.microsoft.com/office/drawing/2014/main" id="{C9730753-980E-4AD9-8626-857C141A9D85}"/>
              </a:ext>
            </a:extLst>
          </p:cNvPr>
          <p:cNvSpPr>
            <a:spLocks xmlns:a="http://schemas.openxmlformats.org/drawingml/2006/main" noGrp="1"/>
          </p:cNvSpPr>
          <p:nvPr/>
        </p:nvSpPr>
        <p:spPr>
          <a:xfrm xmlns:a="http://schemas.openxmlformats.org/drawingml/2006/main">
            <a:off x="400050" y="3752850"/>
            <a:ext cx="5505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BMI: compare female and male means</a:t>
            </a:r>
          </a:p>
        </p:txBody>
      </p:sp>
      <p:sp>
        <p:nvSpPr>
          <p:cNvPr id="7" name="text">
            <a:extLst xmlns:a="http://schemas.openxmlformats.org/drawingml/2006/main">
              <a:ext uri="{FF2B5EF4-FFF2-40B4-BE49-F238E27FC236}">
                <a16:creationId xmlns:a16="http://schemas.microsoft.com/office/drawing/2014/main" id="{10E8E932-1655-480A-8F66-7AB26A27FE3B}"/>
              </a:ext>
            </a:extLst>
          </p:cNvPr>
          <p:cNvSpPr>
            <a:spLocks xmlns:a="http://schemas.openxmlformats.org/drawingml/2006/main" noGrp="1"/>
          </p:cNvSpPr>
          <p:nvPr/>
        </p:nvSpPr>
        <p:spPr>
          <a:xfrm xmlns:a="http://schemas.openxmlformats.org/drawingml/2006/main">
            <a:off x="6362700" y="3752850"/>
            <a:ext cx="5448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Positive status: compare smoking groups</a:t>
            </a:r>
          </a:p>
        </p:txBody>
      </p:sp>
      <p:graphicFrame>
        <p:nvGraphicFramePr>
          <p:cNvPr id="8" name="Chart">
            <a:extLst xmlns:a="http://schemas.openxmlformats.org/drawingml/2006/main">
              <a:ext uri="{FF2B5EF4-FFF2-40B4-BE49-F238E27FC236}">
                <a16:creationId xmlns:a16="http://schemas.microsoft.com/office/drawing/2014/main" id="{21EC13C8-921D-4715-9107-AF708D9EDBA7}"/>
              </a:ext>
            </a:extLst>
          </p:cNvPr>
          <p:cNvGraphicFramePr/>
          <p:nvPr/>
        </p:nvGraphicFramePr>
        <p:xfrm>
          <a:off xmlns:a="http://schemas.openxmlformats.org/drawingml/2006/main" x="257175" y="4086225"/>
          <a:ext xmlns:a="http://schemas.openxmlformats.org/drawingml/2006/main" cx="5572125" cy="1495425"/>
        </p:xfrm>
        <a:graphic xmlns:a="http://schemas.openxmlformats.org/drawingml/2006/main">
          <a:graphicData uri="http://schemas.openxmlformats.org/drawingml/2006/chart">
            <c:chart xmlns:r="http://schemas.openxmlformats.org/officeDocument/2006/relationships" xmlns:c="http://schemas.openxmlformats.org/drawingml/2006/chart" r:id="Rb018e4c5a85448e4"/>
          </a:graphicData>
        </a:graphic>
      </p:graphicFrame>
      <p:graphicFrame>
        <p:nvGraphicFramePr>
          <p:cNvPr id="9" name="Chart">
            <a:extLst xmlns:a="http://schemas.openxmlformats.org/drawingml/2006/main">
              <a:ext uri="{FF2B5EF4-FFF2-40B4-BE49-F238E27FC236}">
                <a16:creationId xmlns:a16="http://schemas.microsoft.com/office/drawing/2014/main" id="{81ED09CE-42C1-41B4-B135-B9106861F560}"/>
              </a:ext>
            </a:extLst>
          </p:cNvPr>
          <p:cNvGraphicFramePr/>
          <p:nvPr/>
        </p:nvGraphicFramePr>
        <p:xfrm>
          <a:off xmlns:a="http://schemas.openxmlformats.org/drawingml/2006/main" x="6229350" y="4086225"/>
          <a:ext xmlns:a="http://schemas.openxmlformats.org/drawingml/2006/main" cx="5572125" cy="1495425"/>
        </p:xfrm>
        <a:graphic xmlns:a="http://schemas.openxmlformats.org/drawingml/2006/main">
          <a:graphicData uri="http://schemas.openxmlformats.org/drawingml/2006/chart">
            <c:chart xmlns:r="http://schemas.openxmlformats.org/officeDocument/2006/relationships" xmlns:c="http://schemas.openxmlformats.org/drawingml/2006/chart" r:id="R9c3a92a8c6cc4bf6"/>
          </a:graphicData>
        </a:graphic>
      </p:graphicFrame>
      <p:sp>
        <p:nvSpPr>
          <p:cNvPr id="10" name="text">
            <a:extLst xmlns:a="http://schemas.openxmlformats.org/drawingml/2006/main">
              <a:ext uri="{FF2B5EF4-FFF2-40B4-BE49-F238E27FC236}">
                <a16:creationId xmlns:a16="http://schemas.microsoft.com/office/drawing/2014/main" id="{8F8BCD11-B3E1-43CA-BE33-A20806014D46}"/>
              </a:ext>
            </a:extLst>
          </p:cNvPr>
          <p:cNvSpPr>
            <a:spLocks xmlns:a="http://schemas.openxmlformats.org/drawingml/2006/main" noGrp="1"/>
          </p:cNvSpPr>
          <p:nvPr/>
        </p:nvSpPr>
        <p:spPr>
          <a:xfrm xmlns:a="http://schemas.openxmlformats.org/drawingml/2006/main">
            <a:off x="400050" y="5600700"/>
            <a:ext cx="5524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Female − male: -0.65 BMI units.</a:t>
            </a:r>
          </a:p>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95% CI: -1.10 to -0.20.</a:t>
            </a:r>
          </a:p>
        </p:txBody>
      </p:sp>
      <p:sp>
        <p:nvSpPr>
          <p:cNvPr id="11" name="text">
            <a:extLst xmlns:a="http://schemas.openxmlformats.org/drawingml/2006/main">
              <a:ext uri="{FF2B5EF4-FFF2-40B4-BE49-F238E27FC236}">
                <a16:creationId xmlns:a16="http://schemas.microsoft.com/office/drawing/2014/main" id="{CEFDBDC1-5578-4F64-A83A-7C8C7CE44102}"/>
              </a:ext>
            </a:extLst>
          </p:cNvPr>
          <p:cNvSpPr>
            <a:spLocks xmlns:a="http://schemas.openxmlformats.org/drawingml/2006/main" noGrp="1"/>
          </p:cNvSpPr>
          <p:nvPr/>
        </p:nvSpPr>
        <p:spPr>
          <a:xfrm xmlns:a="http://schemas.openxmlformats.org/drawingml/2006/main">
            <a:off x="6362700" y="5600700"/>
            <a:ext cx="5448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Never − ever: -3.27 percentage points.</a:t>
            </a:r>
          </a:p>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95% CI: -5.95 to -0.59 points.</a:t>
            </a:r>
          </a:p>
        </p:txBody>
      </p:sp>
      <p:sp>
        <p:nvSpPr>
          <p:cNvPr id="12" name="">
            <a:extLst xmlns:a="http://schemas.openxmlformats.org/drawingml/2006/main">
              <a:ext uri="{FF2B5EF4-FFF2-40B4-BE49-F238E27FC236}">
                <a16:creationId xmlns:a16="http://schemas.microsoft.com/office/drawing/2014/main" id="{1A46B5CD-D818-44AF-B422-70D6D844043D}"/>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3" name="text">
            <a:extLst xmlns:a="http://schemas.openxmlformats.org/drawingml/2006/main">
              <a:ext uri="{FF2B5EF4-FFF2-40B4-BE49-F238E27FC236}">
                <a16:creationId xmlns:a16="http://schemas.microsoft.com/office/drawing/2014/main" id="{1B379733-C18B-4C0B-8156-FE8919FF5E2C}"/>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All four tests find differences at p &lt; 0.05. References 27 and 11% are classroom assumptions.</a:t>
            </a:r>
          </a:p>
        </p:txBody>
      </p:sp>
      <p:sp>
        <p:nvSpPr>
          <p:cNvPr id="14" name="text">
            <a:extLst xmlns:a="http://schemas.openxmlformats.org/drawingml/2006/main">
              <a:ext uri="{FF2B5EF4-FFF2-40B4-BE49-F238E27FC236}">
                <a16:creationId xmlns:a16="http://schemas.microsoft.com/office/drawing/2014/main" id="{4566213D-B919-4D39-8A45-C48F2019D5CF}"/>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8 / 12</a:t>
            </a:r>
          </a:p>
        </p:txBody>
      </p:sp>
    </p:spTree>
    <p:extLst>
      <p:ext uri="{BB962C8B-B14F-4D97-AF65-F5344CB8AC3E}">
        <p14:creationId xmlns:p14="http://schemas.microsoft.com/office/powerpoint/2010/main" val="75509119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
            <a:extLst xmlns:a="http://schemas.openxmlformats.org/drawingml/2006/main">
              <a:ext uri="{FF2B5EF4-FFF2-40B4-BE49-F238E27FC236}">
                <a16:creationId xmlns:a16="http://schemas.microsoft.com/office/drawing/2014/main" id="{FD06936B-4517-4EDB-BB75-B63A4DA78A12}"/>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9: Independent and dependent (paired) t-tests</a:t>
            </a:r>
          </a:p>
        </p:txBody>
      </p:sp>
      <p:sp>
        <p:nvSpPr>
          <p:cNvPr id="2" name="">
            <a:extLst xmlns:a="http://schemas.openxmlformats.org/drawingml/2006/main">
              <a:ext uri="{FF2B5EF4-FFF2-40B4-BE49-F238E27FC236}">
                <a16:creationId xmlns:a16="http://schemas.microsoft.com/office/drawing/2014/main" id="{05519CCA-60E6-4975-9D50-CF4DC6088D8B}"/>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37516679-06FB-47A7-A243-B5A0A378723B}"/>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Independent and paired t-tests</a:t>
            </a:r>
          </a:p>
        </p:txBody>
      </p:sp>
      <p:sp>
        <p:nvSpPr>
          <p:cNvPr id="4" name="text">
            <a:extLst xmlns:a="http://schemas.openxmlformats.org/drawingml/2006/main">
              <a:ext uri="{FF2B5EF4-FFF2-40B4-BE49-F238E27FC236}">
                <a16:creationId xmlns:a16="http://schemas.microsoft.com/office/drawing/2014/main" id="{33B4D39C-FEBC-4B45-8AC4-B9B2DE24C248}"/>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Independent tests compare different people. Paired tests compare the same person before and after.</a:t>
            </a:r>
          </a:p>
        </p:txBody>
      </p:sp>
      <p:sp>
        <p:nvSpPr>
          <p:cNvPr id="5" name="text">
            <a:extLst xmlns:a="http://schemas.openxmlformats.org/drawingml/2006/main">
              <a:ext uri="{FF2B5EF4-FFF2-40B4-BE49-F238E27FC236}">
                <a16:creationId xmlns:a16="http://schemas.microsoft.com/office/drawing/2014/main" id="{220A1BAD-ADEF-4B28-BE0E-5FC4C3AD6CB2}"/>
              </a:ext>
            </a:extLst>
          </p:cNvPr>
          <p:cNvSpPr>
            <a:spLocks xmlns:a="http://schemas.openxmlformats.org/drawingml/2006/main" noGrp="1"/>
          </p:cNvSpPr>
          <p:nvPr/>
        </p:nvSpPr>
        <p:spPr>
          <a:xfrm xmlns:a="http://schemas.openxmlformats.org/drawingml/2006/main">
            <a:off x="400050" y="1581150"/>
            <a:ext cx="55149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Independent: different respondents</a:t>
            </a:r>
          </a:p>
        </p:txBody>
      </p:sp>
      <p:sp>
        <p:nvSpPr>
          <p:cNvPr id="6" name="text">
            <a:extLst xmlns:a="http://schemas.openxmlformats.org/drawingml/2006/main">
              <a:ext uri="{FF2B5EF4-FFF2-40B4-BE49-F238E27FC236}">
                <a16:creationId xmlns:a16="http://schemas.microsoft.com/office/drawing/2014/main" id="{21E8F5BC-4222-438B-924D-796A61258BE8}"/>
              </a:ext>
            </a:extLst>
          </p:cNvPr>
          <p:cNvSpPr>
            <a:spLocks xmlns:a="http://schemas.openxmlformats.org/drawingml/2006/main" noGrp="1"/>
          </p:cNvSpPr>
          <p:nvPr/>
        </p:nvSpPr>
        <p:spPr>
          <a:xfrm xmlns:a="http://schemas.openxmlformats.org/drawingml/2006/main">
            <a:off x="6362700" y="1581150"/>
            <a:ext cx="5448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Paired: the same 29 CBT patients</a:t>
            </a:r>
          </a:p>
        </p:txBody>
      </p:sp>
      <p:sp>
        <p:nvSpPr>
          <p:cNvPr id="7" name="text">
            <a:extLst xmlns:a="http://schemas.openxmlformats.org/drawingml/2006/main">
              <a:ext uri="{FF2B5EF4-FFF2-40B4-BE49-F238E27FC236}">
                <a16:creationId xmlns:a16="http://schemas.microsoft.com/office/drawing/2014/main" id="{A66F50E2-2D1F-415E-8046-70C847C0A568}"/>
              </a:ext>
            </a:extLst>
          </p:cNvPr>
          <p:cNvSpPr>
            <a:spLocks xmlns:a="http://schemas.openxmlformats.org/drawingml/2006/main" noGrp="1"/>
          </p:cNvSpPr>
          <p:nvPr/>
        </p:nvSpPr>
        <p:spPr>
          <a:xfrm xmlns:a="http://schemas.openxmlformats.org/drawingml/2006/main">
            <a:off x="400050" y="2009775"/>
            <a:ext cx="5505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BRFSS: 1,667 females and 1,333 males.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Compare physical poor-health days.</a:t>
            </a:r>
          </a:p>
        </p:txBody>
      </p:sp>
      <p:sp>
        <p:nvSpPr>
          <p:cNvPr id="8" name="text">
            <a:extLst xmlns:a="http://schemas.openxmlformats.org/drawingml/2006/main">
              <a:ext uri="{FF2B5EF4-FFF2-40B4-BE49-F238E27FC236}">
                <a16:creationId xmlns:a16="http://schemas.microsoft.com/office/drawing/2014/main" id="{C0EB7475-83E7-4C43-B112-80B930E3FC27}"/>
              </a:ext>
            </a:extLst>
          </p:cNvPr>
          <p:cNvSpPr>
            <a:spLocks xmlns:a="http://schemas.openxmlformats.org/drawingml/2006/main" noGrp="1"/>
          </p:cNvSpPr>
          <p:nvPr/>
        </p:nvSpPr>
        <p:spPr>
          <a:xfrm xmlns:a="http://schemas.openxmlformats.org/drawingml/2006/main">
            <a:off x="6362700" y="2009775"/>
            <a:ext cx="5448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MASS dataset: before/after weights (lb).</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Blue lines: patients. Orange line: mean.</a:t>
            </a:r>
          </a:p>
        </p:txBody>
      </p:sp>
      <p:graphicFrame>
        <p:nvGraphicFramePr>
          <p:cNvPr id="9" name="Chart">
            <a:extLst xmlns:a="http://schemas.openxmlformats.org/drawingml/2006/main">
              <a:ext uri="{FF2B5EF4-FFF2-40B4-BE49-F238E27FC236}">
                <a16:creationId xmlns:a16="http://schemas.microsoft.com/office/drawing/2014/main" id="{CD98437E-F195-48B5-B6E2-CEAB40202117}"/>
              </a:ext>
            </a:extLst>
          </p:cNvPr>
          <p:cNvGraphicFramePr/>
          <p:nvPr/>
        </p:nvGraphicFramePr>
        <p:xfrm>
          <a:off xmlns:a="http://schemas.openxmlformats.org/drawingml/2006/main" x="257175" y="2647950"/>
          <a:ext xmlns:a="http://schemas.openxmlformats.org/drawingml/2006/main" cx="5572125" cy="1943100"/>
        </p:xfrm>
        <a:graphic xmlns:a="http://schemas.openxmlformats.org/drawingml/2006/main">
          <a:graphicData uri="http://schemas.openxmlformats.org/drawingml/2006/chart">
            <c:chart xmlns:r="http://schemas.openxmlformats.org/officeDocument/2006/relationships" xmlns:c="http://schemas.openxmlformats.org/drawingml/2006/chart" r:id="R8ef1cbb87e40451b"/>
          </a:graphicData>
        </a:graphic>
      </p:graphicFrame>
      <p:graphicFrame>
        <p:nvGraphicFramePr>
          <p:cNvPr id="10" name="Chart">
            <a:extLst xmlns:a="http://schemas.openxmlformats.org/drawingml/2006/main">
              <a:ext uri="{FF2B5EF4-FFF2-40B4-BE49-F238E27FC236}">
                <a16:creationId xmlns:a16="http://schemas.microsoft.com/office/drawing/2014/main" id="{91B71E1E-22E3-48CF-B6AD-775BF161A310}"/>
              </a:ext>
            </a:extLst>
          </p:cNvPr>
          <p:cNvGraphicFramePr/>
          <p:nvPr/>
        </p:nvGraphicFramePr>
        <p:xfrm>
          <a:off xmlns:a="http://schemas.openxmlformats.org/drawingml/2006/main" x="6229350" y="2647950"/>
          <a:ext xmlns:a="http://schemas.openxmlformats.org/drawingml/2006/main" cx="5572125" cy="1943100"/>
        </p:xfrm>
        <a:graphic xmlns:a="http://schemas.openxmlformats.org/drawingml/2006/main">
          <a:graphicData uri="http://schemas.openxmlformats.org/drawingml/2006/chart">
            <c:chart xmlns:r="http://schemas.openxmlformats.org/officeDocument/2006/relationships" xmlns:c="http://schemas.openxmlformats.org/drawingml/2006/chart" r:id="Rf75c1bba59374144"/>
          </a:graphicData>
        </a:graphic>
      </p:graphicFrame>
      <p:graphicFrame>
        <p:nvGraphicFramePr>
          <p:cNvPr id="11" name="">
            <a:extLst xmlns:a="http://schemas.openxmlformats.org/drawingml/2006/main">
              <a:ext uri="{FF2B5EF4-FFF2-40B4-BE49-F238E27FC236}">
                <a16:creationId xmlns:a16="http://schemas.microsoft.com/office/drawing/2014/main" id="{D27C3A4F-DC5B-400A-9D16-9D2DFF613023}"/>
              </a:ext>
            </a:extLst>
          </p:cNvPr>
          <p:cNvGraphicFramePr/>
          <p:nvPr/>
        </p:nvGraphicFramePr>
        <p:xfrm>
          <a:off xmlns:a="http://schemas.openxmlformats.org/drawingml/2006/main" x="400050" y="4743450"/>
          <a:ext xmlns:a="http://schemas.openxmlformats.org/drawingml/2006/main" cx="5486400" cy="1257300"/>
        </p:xfrm>
        <a:graphic xmlns:a="http://schemas.openxmlformats.org/drawingml/2006/main">
          <a:graphicData uri="http://schemas.openxmlformats.org/drawingml/2006/table">
            <a:tbl>
              <a:tblPr/>
              <a:tblGrid>
                <a:gridCol w="2828925"/>
                <a:gridCol w="2657475"/>
              </a:tblGrid>
              <a:tr h="314325">
                <a:tc>
                  <a:txBody>
                    <a:bodyPr>
                      <a:noAutofit/>
                    </a:bodyPr>
                    <a:lstStyle/>
                    <a:p>
                      <a:pPr algn="l"/>
                      <a:r>
                        <a:rPr sz="1500" b="1">
                          <a:solidFill>
                            <a:srgbClr val="FFFFFF"/>
                          </a:solidFill>
                          <a:latin typeface="Arial"/>
                          <a:ea typeface="Arial"/>
                          <a:cs typeface="Arial"/>
                        </a:rPr>
                        <a:t>Independent Welch t-test</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Result</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14325">
                <a:tc>
                  <a:txBody>
                    <a:bodyPr>
                      <a:noAutofit/>
                    </a:bodyPr>
                    <a:lstStyle/>
                    <a:p>
                      <a:pPr algn="l"/>
                      <a:r>
                        <a:rPr sz="1500" b="0">
                          <a:solidFill>
                            <a:srgbClr val="183044"/>
                          </a:solidFill>
                          <a:latin typeface="Arial"/>
                          <a:ea typeface="Arial"/>
                          <a:cs typeface="Arial"/>
                        </a:rPr>
                        <a:t>Female − male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+1.25 days</a:t>
                      </a:r>
                    </a:p>
                  </a:txBody>
                  <a:tcPr marL="91440" marR="91440" marT="45720" marB="45720">
                    <a:lnR w="9525">
                      <a:solidFill>
                        <a:srgbClr val="D6E0E5"/>
                      </a:solidFill>
                      <a:prstDash val="solid"/>
                    </a:lnR>
                    <a:lnB w="9525">
                      <a:solidFill>
                        <a:srgbClr val="D6E0E5"/>
                      </a:solidFill>
                      <a:prstDash val="solid"/>
                    </a:lnB>
                    <a:solidFill>
                      <a:srgbClr val="FFFFFF"/>
                    </a:solidFill>
                  </a:tcPr>
                </a:tc>
              </a:tr>
              <a:tr h="314325">
                <a:tc>
                  <a:txBody>
                    <a:bodyPr>
                      <a:noAutofit/>
                    </a:bodyPr>
                    <a:lstStyle/>
                    <a:p>
                      <a:pPr algn="l"/>
                      <a:r>
                        <a:rPr sz="1500" b="0">
                          <a:solidFill>
                            <a:srgbClr val="183044"/>
                          </a:solidFill>
                          <a:latin typeface="Arial"/>
                          <a:ea typeface="Arial"/>
                          <a:cs typeface="Arial"/>
                        </a:rPr>
                        <a:t>95% CI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00" b="0">
                          <a:solidFill>
                            <a:srgbClr val="183044"/>
                          </a:solidFill>
                          <a:latin typeface="Arial"/>
                          <a:ea typeface="Arial"/>
                          <a:cs typeface="Arial"/>
                        </a:rPr>
                        <a:t>+0.63 to +1.86 days</a:t>
                      </a:r>
                    </a:p>
                  </a:txBody>
                  <a:tcPr marL="91440" marR="91440" marT="45720" marB="45720">
                    <a:lnR w="9525">
                      <a:solidFill>
                        <a:srgbClr val="D6E0E5"/>
                      </a:solidFill>
                      <a:prstDash val="solid"/>
                    </a:lnR>
                    <a:lnB w="9525">
                      <a:solidFill>
                        <a:srgbClr val="D6E0E5"/>
                      </a:solidFill>
                      <a:prstDash val="solid"/>
                    </a:lnB>
                    <a:solidFill>
                      <a:srgbClr val="EAF2F5"/>
                    </a:solidFill>
                  </a:tcPr>
                </a:tc>
              </a:tr>
              <a:tr h="314325">
                <a:tc>
                  <a:txBody>
                    <a:bodyPr>
                      <a:noAutofit/>
                    </a:bodyPr>
                    <a:lstStyle/>
                    <a:p>
                      <a:pPr algn="l"/>
                      <a:r>
                        <a:rPr sz="1500" b="0">
                          <a:solidFill>
                            <a:srgbClr val="183044"/>
                          </a:solidFill>
                          <a:latin typeface="Arial"/>
                          <a:ea typeface="Arial"/>
                          <a:cs typeface="Arial"/>
                        </a:rPr>
                        <a:t>p</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graphicFrame>
        <p:nvGraphicFramePr>
          <p:cNvPr id="12" name="">
            <a:extLst xmlns:a="http://schemas.openxmlformats.org/drawingml/2006/main">
              <a:ext uri="{FF2B5EF4-FFF2-40B4-BE49-F238E27FC236}">
                <a16:creationId xmlns:a16="http://schemas.microsoft.com/office/drawing/2014/main" id="{928AF2E3-1D0E-434D-98A9-3616A222B181}"/>
              </a:ext>
            </a:extLst>
          </p:cNvPr>
          <p:cNvGraphicFramePr/>
          <p:nvPr/>
        </p:nvGraphicFramePr>
        <p:xfrm>
          <a:off xmlns:a="http://schemas.openxmlformats.org/drawingml/2006/main" x="6362700" y="4743450"/>
          <a:ext xmlns:a="http://schemas.openxmlformats.org/drawingml/2006/main" cx="5448300" cy="1257300"/>
        </p:xfrm>
        <a:graphic xmlns:a="http://schemas.openxmlformats.org/drawingml/2006/main">
          <a:graphicData uri="http://schemas.openxmlformats.org/drawingml/2006/table">
            <a:tbl>
              <a:tblPr/>
              <a:tblGrid>
                <a:gridCol w="2800350"/>
                <a:gridCol w="2647950"/>
              </a:tblGrid>
              <a:tr h="314325">
                <a:tc>
                  <a:txBody>
                    <a:bodyPr>
                      <a:noAutofit/>
                    </a:bodyPr>
                    <a:lstStyle/>
                    <a:p>
                      <a:pPr algn="l"/>
                      <a:r>
                        <a:rPr sz="1500" b="1">
                          <a:solidFill>
                            <a:srgbClr val="FFFFFF"/>
                          </a:solidFill>
                          <a:latin typeface="Arial"/>
                          <a:ea typeface="Arial"/>
                          <a:cs typeface="Arial"/>
                        </a:rPr>
                        <a:t>Paired t-test: after − before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Result</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14325">
                <a:tc>
                  <a:txBody>
                    <a:bodyPr>
                      <a:noAutofit/>
                    </a:bodyPr>
                    <a:lstStyle/>
                    <a:p>
                      <a:pPr algn="l"/>
                      <a:r>
                        <a:rPr sz="1500" b="0">
                          <a:solidFill>
                            <a:srgbClr val="183044"/>
                          </a:solidFill>
                          <a:latin typeface="Arial"/>
                          <a:ea typeface="Arial"/>
                          <a:cs typeface="Arial"/>
                        </a:rPr>
                        <a:t>Mean change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+3.01 lb</a:t>
                      </a:r>
                    </a:p>
                  </a:txBody>
                  <a:tcPr marL="91440" marR="91440" marT="45720" marB="45720">
                    <a:lnR w="9525">
                      <a:solidFill>
                        <a:srgbClr val="D6E0E5"/>
                      </a:solidFill>
                      <a:prstDash val="solid"/>
                    </a:lnR>
                    <a:lnB w="9525">
                      <a:solidFill>
                        <a:srgbClr val="D6E0E5"/>
                      </a:solidFill>
                      <a:prstDash val="solid"/>
                    </a:lnB>
                    <a:solidFill>
                      <a:srgbClr val="FFFFFF"/>
                    </a:solidFill>
                  </a:tcPr>
                </a:tc>
              </a:tr>
              <a:tr h="314325">
                <a:tc>
                  <a:txBody>
                    <a:bodyPr>
                      <a:noAutofit/>
                    </a:bodyPr>
                    <a:lstStyle/>
                    <a:p>
                      <a:pPr algn="l"/>
                      <a:r>
                        <a:rPr sz="1500" b="0">
                          <a:solidFill>
                            <a:srgbClr val="183044"/>
                          </a:solidFill>
                          <a:latin typeface="Arial"/>
                          <a:ea typeface="Arial"/>
                          <a:cs typeface="Arial"/>
                        </a:rPr>
                        <a:t>95% CI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00" b="0">
                          <a:solidFill>
                            <a:srgbClr val="183044"/>
                          </a:solidFill>
                          <a:latin typeface="Arial"/>
                          <a:ea typeface="Arial"/>
                          <a:cs typeface="Arial"/>
                        </a:rPr>
                        <a:t>+0.23 to +5.79 lb</a:t>
                      </a:r>
                    </a:p>
                  </a:txBody>
                  <a:tcPr marL="91440" marR="91440" marT="45720" marB="45720">
                    <a:lnR w="9525">
                      <a:solidFill>
                        <a:srgbClr val="D6E0E5"/>
                      </a:solidFill>
                      <a:prstDash val="solid"/>
                    </a:lnR>
                    <a:lnB w="9525">
                      <a:solidFill>
                        <a:srgbClr val="D6E0E5"/>
                      </a:solidFill>
                      <a:prstDash val="solid"/>
                    </a:lnB>
                    <a:solidFill>
                      <a:srgbClr val="EAF2F5"/>
                    </a:solidFill>
                  </a:tcPr>
                </a:tc>
              </a:tr>
              <a:tr h="314325">
                <a:tc>
                  <a:txBody>
                    <a:bodyPr>
                      <a:noAutofit/>
                    </a:bodyPr>
                    <a:lstStyle/>
                    <a:p>
                      <a:pPr algn="l"/>
                      <a:r>
                        <a:rPr sz="1500" b="0">
                          <a:solidFill>
                            <a:srgbClr val="183044"/>
                          </a:solidFill>
                          <a:latin typeface="Arial"/>
                          <a:ea typeface="Arial"/>
                          <a:cs typeface="Arial"/>
                        </a:rPr>
                        <a:t>p</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0.035</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D5FD7C59-E4C0-4BA7-8452-57EBF7F41456}"/>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4" name="text">
            <a:extLst xmlns:a="http://schemas.openxmlformats.org/drawingml/2006/main">
              <a:ext uri="{FF2B5EF4-FFF2-40B4-BE49-F238E27FC236}">
                <a16:creationId xmlns:a16="http://schemas.microsoft.com/office/drawing/2014/main" id="{C923D5EE-6BB2-48E9-AB95-EC4457D7CFFC}"/>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Females report more poor-health days on average. The paired average weight increases by 3.01 lb.</a:t>
            </a:r>
          </a:p>
        </p:txBody>
      </p:sp>
      <p:sp>
        <p:nvSpPr>
          <p:cNvPr id="15" name="text">
            <a:extLst xmlns:a="http://schemas.openxmlformats.org/drawingml/2006/main">
              <a:ext uri="{FF2B5EF4-FFF2-40B4-BE49-F238E27FC236}">
                <a16:creationId xmlns:a16="http://schemas.microsoft.com/office/drawing/2014/main" id="{641B181A-32E4-4296-9C99-A40ED5AB4C2E}"/>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9 / 12</a:t>
            </a:r>
          </a:p>
        </p:txBody>
      </p:sp>
    </p:spTree>
    <p:extLst>
      <p:ext uri="{BB962C8B-B14F-4D97-AF65-F5344CB8AC3E}">
        <p14:creationId xmlns:p14="http://schemas.microsoft.com/office/powerpoint/2010/main" val="81997084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
            <a:extLst xmlns:a="http://schemas.openxmlformats.org/drawingml/2006/main">
              <a:ext uri="{FF2B5EF4-FFF2-40B4-BE49-F238E27FC236}">
                <a16:creationId xmlns:a16="http://schemas.microsoft.com/office/drawing/2014/main" id="{1FA8FD10-67C3-4E20-BF17-B3669E1FEF18}"/>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10: Chi-square goodness of fit and contingency tables</a:t>
            </a:r>
          </a:p>
        </p:txBody>
      </p:sp>
      <p:sp>
        <p:nvSpPr>
          <p:cNvPr id="2" name="">
            <a:extLst xmlns:a="http://schemas.openxmlformats.org/drawingml/2006/main">
              <a:ext uri="{FF2B5EF4-FFF2-40B4-BE49-F238E27FC236}">
                <a16:creationId xmlns:a16="http://schemas.microsoft.com/office/drawing/2014/main" id="{84471DC7-24A4-4F26-901F-899BFAE7490B}"/>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4B166ED9-B904-4B25-81AE-C27093C4789F}"/>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Chi-square: category patterns and relationships</a:t>
            </a:r>
          </a:p>
        </p:txBody>
      </p:sp>
      <p:sp>
        <p:nvSpPr>
          <p:cNvPr id="4" name="text">
            <a:extLst xmlns:a="http://schemas.openxmlformats.org/drawingml/2006/main">
              <a:ext uri="{FF2B5EF4-FFF2-40B4-BE49-F238E27FC236}">
                <a16:creationId xmlns:a16="http://schemas.microsoft.com/office/drawing/2014/main" id="{CEBEBE80-EFE9-4DC4-8DCD-58594DD0555B}"/>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Goodness of fit checks category counts. Independence tests check whether two categories are related.</a:t>
            </a:r>
          </a:p>
        </p:txBody>
      </p:sp>
      <p:graphicFrame>
        <p:nvGraphicFramePr>
          <p:cNvPr id="5" name="">
            <a:extLst xmlns:a="http://schemas.openxmlformats.org/drawingml/2006/main">
              <a:ext uri="{FF2B5EF4-FFF2-40B4-BE49-F238E27FC236}">
                <a16:creationId xmlns:a16="http://schemas.microsoft.com/office/drawing/2014/main" id="{FE4766AA-AF0D-43F1-A709-F32BB0907435}"/>
              </a:ext>
            </a:extLst>
          </p:cNvPr>
          <p:cNvGraphicFramePr/>
          <p:nvPr/>
        </p:nvGraphicFramePr>
        <p:xfrm>
          <a:off xmlns:a="http://schemas.openxmlformats.org/drawingml/2006/main" x="400050" y="1676400"/>
          <a:ext xmlns:a="http://schemas.openxmlformats.org/drawingml/2006/main" cx="11391900" cy="1628775"/>
        </p:xfrm>
        <a:graphic xmlns:a="http://schemas.openxmlformats.org/drawingml/2006/main">
          <a:graphicData uri="http://schemas.openxmlformats.org/drawingml/2006/table">
            <a:tbl>
              <a:tblPr/>
              <a:tblGrid>
                <a:gridCol w="7886700"/>
                <a:gridCol w="1752600"/>
                <a:gridCol w="1752600"/>
              </a:tblGrid>
              <a:tr h="407194">
                <a:tc>
                  <a:txBody>
                    <a:bodyPr>
                      <a:noAutofit/>
                    </a:bodyPr>
                    <a:lstStyle/>
                    <a:p>
                      <a:pPr algn="l"/>
                      <a:r>
                        <a:rPr sz="1725" b="1">
                          <a:solidFill>
                            <a:srgbClr val="FFFFFF"/>
                          </a:solidFill>
                          <a:latin typeface="Arial"/>
                          <a:ea typeface="Arial"/>
                          <a:cs typeface="Arial"/>
                        </a:rPr>
                        <a:t>Test</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725" b="1">
                          <a:solidFill>
                            <a:srgbClr val="FFFFFF"/>
                          </a:solidFill>
                          <a:latin typeface="Arial"/>
                          <a:ea typeface="Arial"/>
                          <a:cs typeface="Arial"/>
                        </a:rPr>
                        <a:t>χ²</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725" b="1">
                          <a:solidFill>
                            <a:srgbClr val="FFFFFF"/>
                          </a:solidFill>
                          <a:latin typeface="Arial"/>
                          <a:ea typeface="Arial"/>
                          <a:cs typeface="Arial"/>
                        </a:rPr>
                        <a:t>p</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07194">
                <a:tc>
                  <a:txBody>
                    <a:bodyPr>
                      <a:noAutofit/>
                    </a:bodyPr>
                    <a:lstStyle/>
                    <a:p>
                      <a:pPr algn="l"/>
                      <a:r>
                        <a:rPr sz="1725" b="0">
                          <a:solidFill>
                            <a:srgbClr val="183044"/>
                          </a:solidFill>
                          <a:latin typeface="Arial"/>
                          <a:ea typeface="Arial"/>
                          <a:cs typeface="Arial"/>
                        </a:rPr>
                        <a:t>Age groups: equal frequency (GOF)</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678.12</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407194">
                <a:tc>
                  <a:txBody>
                    <a:bodyPr>
                      <a:noAutofit/>
                    </a:bodyPr>
                    <a:lstStyle/>
                    <a:p>
                      <a:pPr algn="l"/>
                      <a:r>
                        <a:rPr sz="1725" b="0">
                          <a:solidFill>
                            <a:srgbClr val="183044"/>
                          </a:solidFill>
                          <a:latin typeface="Arial"/>
                          <a:ea typeface="Arial"/>
                          <a:cs typeface="Arial"/>
                        </a:rPr>
                        <a:t>Status × high BP</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725" b="0">
                          <a:solidFill>
                            <a:srgbClr val="183044"/>
                          </a:solidFill>
                          <a:latin typeface="Arial"/>
                          <a:ea typeface="Arial"/>
                          <a:cs typeface="Arial"/>
                        </a:rPr>
                        <a:t>226.28</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725"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EAF2F5"/>
                    </a:solidFill>
                  </a:tcPr>
                </a:tc>
              </a:tr>
              <a:tr h="407194">
                <a:tc>
                  <a:txBody>
                    <a:bodyPr>
                      <a:noAutofit/>
                    </a:bodyPr>
                    <a:lstStyle/>
                    <a:p>
                      <a:pPr algn="l"/>
                      <a:r>
                        <a:rPr sz="1725" b="0">
                          <a:solidFill>
                            <a:srgbClr val="183044"/>
                          </a:solidFill>
                          <a:latin typeface="Arial"/>
                          <a:ea typeface="Arial"/>
                          <a:cs typeface="Arial"/>
                        </a:rPr>
                        <a:t>Status × smoking</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6.07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0.014</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1FC8D7D2-EC62-444A-AB1A-730799EA5908}"/>
              </a:ext>
            </a:extLst>
          </p:cNvPr>
          <p:cNvSpPr>
            <a:spLocks xmlns:a="http://schemas.openxmlformats.org/drawingml/2006/main" noGrp="1"/>
          </p:cNvSpPr>
          <p:nvPr/>
        </p:nvSpPr>
        <p:spPr>
          <a:xfrm xmlns:a="http://schemas.openxmlformats.org/drawingml/2006/main">
            <a:off x="400050" y="3524250"/>
            <a:ext cx="5467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Blood pressure: larger difference</a:t>
            </a:r>
          </a:p>
        </p:txBody>
      </p:sp>
      <p:sp>
        <p:nvSpPr>
          <p:cNvPr id="7" name="text">
            <a:extLst xmlns:a="http://schemas.openxmlformats.org/drawingml/2006/main">
              <a:ext uri="{FF2B5EF4-FFF2-40B4-BE49-F238E27FC236}">
                <a16:creationId xmlns:a16="http://schemas.microsoft.com/office/drawing/2014/main" id="{E524B462-5682-474B-90E9-DD9F08B028A4}"/>
              </a:ext>
            </a:extLst>
          </p:cNvPr>
          <p:cNvSpPr>
            <a:spLocks xmlns:a="http://schemas.openxmlformats.org/drawingml/2006/main" noGrp="1"/>
          </p:cNvSpPr>
          <p:nvPr/>
        </p:nvSpPr>
        <p:spPr>
          <a:xfrm xmlns:a="http://schemas.openxmlformats.org/drawingml/2006/main">
            <a:off x="6362700" y="3524250"/>
            <a:ext cx="544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Smoking: smaller difference</a:t>
            </a:r>
          </a:p>
        </p:txBody>
      </p:sp>
      <p:graphicFrame>
        <p:nvGraphicFramePr>
          <p:cNvPr id="8" name="Chart">
            <a:extLst xmlns:a="http://schemas.openxmlformats.org/drawingml/2006/main">
              <a:ext uri="{FF2B5EF4-FFF2-40B4-BE49-F238E27FC236}">
                <a16:creationId xmlns:a16="http://schemas.microsoft.com/office/drawing/2014/main" id="{D31D9517-DA31-42D9-83B1-BA0B75871664}"/>
              </a:ext>
            </a:extLst>
          </p:cNvPr>
          <p:cNvGraphicFramePr/>
          <p:nvPr/>
        </p:nvGraphicFramePr>
        <p:xfrm>
          <a:off xmlns:a="http://schemas.openxmlformats.org/drawingml/2006/main" x="257175" y="3886200"/>
          <a:ext xmlns:a="http://schemas.openxmlformats.org/drawingml/2006/main" cx="5553075" cy="1933575"/>
        </p:xfrm>
        <a:graphic xmlns:a="http://schemas.openxmlformats.org/drawingml/2006/main">
          <a:graphicData uri="http://schemas.openxmlformats.org/drawingml/2006/chart">
            <c:chart xmlns:r="http://schemas.openxmlformats.org/officeDocument/2006/relationships" xmlns:c="http://schemas.openxmlformats.org/drawingml/2006/chart" r:id="R8e28997408a7408c"/>
          </a:graphicData>
        </a:graphic>
      </p:graphicFrame>
      <p:graphicFrame>
        <p:nvGraphicFramePr>
          <p:cNvPr id="9" name="Chart">
            <a:extLst xmlns:a="http://schemas.openxmlformats.org/drawingml/2006/main">
              <a:ext uri="{FF2B5EF4-FFF2-40B4-BE49-F238E27FC236}">
                <a16:creationId xmlns:a16="http://schemas.microsoft.com/office/drawing/2014/main" id="{17243387-7494-4427-924C-32CE9AA52178}"/>
              </a:ext>
            </a:extLst>
          </p:cNvPr>
          <p:cNvGraphicFramePr/>
          <p:nvPr/>
        </p:nvGraphicFramePr>
        <p:xfrm>
          <a:off xmlns:a="http://schemas.openxmlformats.org/drawingml/2006/main" x="6229350" y="3886200"/>
          <a:ext xmlns:a="http://schemas.openxmlformats.org/drawingml/2006/main" cx="5553075" cy="1933575"/>
        </p:xfrm>
        <a:graphic xmlns:a="http://schemas.openxmlformats.org/drawingml/2006/main">
          <a:graphicData uri="http://schemas.openxmlformats.org/drawingml/2006/chart">
            <c:chart xmlns:r="http://schemas.openxmlformats.org/officeDocument/2006/relationships" xmlns:c="http://schemas.openxmlformats.org/drawingml/2006/chart" r:id="R350332d95c46484a"/>
          </a:graphicData>
        </a:graphic>
      </p:graphicFrame>
      <p:sp>
        <p:nvSpPr>
          <p:cNvPr id="10" name="text">
            <a:extLst xmlns:a="http://schemas.openxmlformats.org/drawingml/2006/main">
              <a:ext uri="{FF2B5EF4-FFF2-40B4-BE49-F238E27FC236}">
                <a16:creationId xmlns:a16="http://schemas.microsoft.com/office/drawing/2014/main" id="{A1C89BB9-A881-451E-8AAC-D95F99343DD3}"/>
              </a:ext>
            </a:extLst>
          </p:cNvPr>
          <p:cNvSpPr>
            <a:spLocks xmlns:a="http://schemas.openxmlformats.org/drawingml/2006/main" noGrp="1"/>
          </p:cNvSpPr>
          <p:nvPr/>
        </p:nvSpPr>
        <p:spPr>
          <a:xfrm xmlns:a="http://schemas.openxmlformats.org/drawingml/2006/main">
            <a:off x="400050" y="5819775"/>
            <a:ext cx="5457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83044"/>
                </a:solidFill>
                <a:latin typeface="Arial"/>
                <a:ea typeface="Arial"/>
                <a:cs typeface="Arial"/>
              </a:defRPr>
            </a:defPPr>
          </a:lstStyle>
          <a:p xmlns:a="http://schemas.openxmlformats.org/drawingml/2006/main">
            <a:pPr>
              <a:defRPr sz="1575" b="1">
                <a:solidFill>
                  <a:srgbClr val="183044"/>
                </a:solidFill>
                <a:latin typeface="Arial"/>
                <a:ea typeface="Arial"/>
                <a:cs typeface="Arial"/>
              </a:defRPr>
            </a:pPr>
            <a:r>
              <a:rPr sz="1575" b="1">
                <a:solidFill>
                  <a:srgbClr val="183044"/>
                </a:solidFill>
                <a:latin typeface="Arial"/>
                <a:ea typeface="Arial"/>
                <a:cs typeface="Arial"/>
              </a:rPr>
              <a:t>Association size: V = 0.275</a:t>
            </a:r>
          </a:p>
        </p:txBody>
      </p:sp>
      <p:sp>
        <p:nvSpPr>
          <p:cNvPr id="11" name="text">
            <a:extLst xmlns:a="http://schemas.openxmlformats.org/drawingml/2006/main">
              <a:ext uri="{FF2B5EF4-FFF2-40B4-BE49-F238E27FC236}">
                <a16:creationId xmlns:a16="http://schemas.microsoft.com/office/drawing/2014/main" id="{E759D400-BC9C-41AA-8730-9720F9F8C8C9}"/>
              </a:ext>
            </a:extLst>
          </p:cNvPr>
          <p:cNvSpPr>
            <a:spLocks xmlns:a="http://schemas.openxmlformats.org/drawingml/2006/main" noGrp="1"/>
          </p:cNvSpPr>
          <p:nvPr/>
        </p:nvSpPr>
        <p:spPr>
          <a:xfrm xmlns:a="http://schemas.openxmlformats.org/drawingml/2006/main">
            <a:off x="6362700" y="5819775"/>
            <a:ext cx="5448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83044"/>
                </a:solidFill>
                <a:latin typeface="Arial"/>
                <a:ea typeface="Arial"/>
                <a:cs typeface="Arial"/>
              </a:defRPr>
            </a:defPPr>
          </a:lstStyle>
          <a:p xmlns:a="http://schemas.openxmlformats.org/drawingml/2006/main">
            <a:pPr>
              <a:defRPr sz="1575" b="1">
                <a:solidFill>
                  <a:srgbClr val="183044"/>
                </a:solidFill>
                <a:latin typeface="Arial"/>
                <a:ea typeface="Arial"/>
                <a:cs typeface="Arial"/>
              </a:defRPr>
            </a:pPr>
            <a:r>
              <a:rPr sz="1575" b="1">
                <a:solidFill>
                  <a:srgbClr val="183044"/>
                </a:solidFill>
                <a:latin typeface="Arial"/>
                <a:ea typeface="Arial"/>
                <a:cs typeface="Arial"/>
              </a:rPr>
              <a:t>Association size: V = 0.045</a:t>
            </a:r>
          </a:p>
        </p:txBody>
      </p:sp>
      <p:sp>
        <p:nvSpPr>
          <p:cNvPr id="12" name="">
            <a:extLst xmlns:a="http://schemas.openxmlformats.org/drawingml/2006/main">
              <a:ext uri="{FF2B5EF4-FFF2-40B4-BE49-F238E27FC236}">
                <a16:creationId xmlns:a16="http://schemas.microsoft.com/office/drawing/2014/main" id="{CEADBAC1-C1D5-46C9-9239-57344A3494A0}"/>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3" name="text">
            <a:extLst xmlns:a="http://schemas.openxmlformats.org/drawingml/2006/main">
              <a:ext uri="{FF2B5EF4-FFF2-40B4-BE49-F238E27FC236}">
                <a16:creationId xmlns:a16="http://schemas.microsoft.com/office/drawing/2014/main" id="{258C11C1-1B94-40B2-A388-D4B7CFEE0FA2}"/>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Positive status is more closely related to high blood pressure than to ever-smoking in this sample.</a:t>
            </a:r>
          </a:p>
        </p:txBody>
      </p:sp>
      <p:sp>
        <p:nvSpPr>
          <p:cNvPr id="14" name="text">
            <a:extLst xmlns:a="http://schemas.openxmlformats.org/drawingml/2006/main">
              <a:ext uri="{FF2B5EF4-FFF2-40B4-BE49-F238E27FC236}">
                <a16:creationId xmlns:a16="http://schemas.microsoft.com/office/drawing/2014/main" id="{31996CF6-2B83-4D30-A362-403ECCAABDF2}"/>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10 / 12</a:t>
            </a:r>
          </a:p>
        </p:txBody>
      </p:sp>
    </p:spTree>
    <p:extLst>
      <p:ext uri="{BB962C8B-B14F-4D97-AF65-F5344CB8AC3E}">
        <p14:creationId xmlns:p14="http://schemas.microsoft.com/office/powerpoint/2010/main" val="2003259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text">
            <a:extLst xmlns:a="http://schemas.openxmlformats.org/drawingml/2006/main">
              <a:ext uri="{FF2B5EF4-FFF2-40B4-BE49-F238E27FC236}">
                <a16:creationId xmlns:a16="http://schemas.microsoft.com/office/drawing/2014/main" id="{430AA9BE-970D-4043-AD08-0828E3C07B6C}"/>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11: ANOVA in completely randomized designs, randomized blocks and Latin Square</a:t>
            </a:r>
          </a:p>
        </p:txBody>
      </p:sp>
      <p:sp>
        <p:nvSpPr>
          <p:cNvPr id="2" name="">
            <a:extLst xmlns:a="http://schemas.openxmlformats.org/drawingml/2006/main">
              <a:ext uri="{FF2B5EF4-FFF2-40B4-BE49-F238E27FC236}">
                <a16:creationId xmlns:a16="http://schemas.microsoft.com/office/drawing/2014/main" id="{0C691B33-0298-48C3-88B4-44667B807BFF}"/>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4CBA5822-99CC-4F46-BEEF-EFA771AAAEDC}"/>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ANOVA and experimental designs</a:t>
            </a:r>
          </a:p>
        </p:txBody>
      </p:sp>
      <p:sp>
        <p:nvSpPr>
          <p:cNvPr id="4" name="text">
            <a:extLst xmlns:a="http://schemas.openxmlformats.org/drawingml/2006/main">
              <a:ext uri="{FF2B5EF4-FFF2-40B4-BE49-F238E27FC236}">
                <a16:creationId xmlns:a16="http://schemas.microsoft.com/office/drawing/2014/main" id="{CD9F7BAD-9769-4601-BFE8-852FF47DA922}"/>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ANOVA compares means. CRD has no blocks. RBD controls one factor and Latin Square controls two.</a:t>
            </a:r>
          </a:p>
        </p:txBody>
      </p:sp>
      <p:graphicFrame>
        <p:nvGraphicFramePr>
          <p:cNvPr id="5" name="">
            <a:extLst xmlns:a="http://schemas.openxmlformats.org/drawingml/2006/main">
              <a:ext uri="{FF2B5EF4-FFF2-40B4-BE49-F238E27FC236}">
                <a16:creationId xmlns:a16="http://schemas.microsoft.com/office/drawing/2014/main" id="{450D4E6C-7226-4F3D-BFFC-0E5EB7C77FD8}"/>
              </a:ext>
            </a:extLst>
          </p:cNvPr>
          <p:cNvGraphicFramePr/>
          <p:nvPr/>
        </p:nvGraphicFramePr>
        <p:xfrm>
          <a:off xmlns:a="http://schemas.openxmlformats.org/drawingml/2006/main" x="400050" y="1571625"/>
          <a:ext xmlns:a="http://schemas.openxmlformats.org/drawingml/2006/main" cx="11391900" cy="1143000"/>
        </p:xfrm>
        <a:graphic xmlns:a="http://schemas.openxmlformats.org/drawingml/2006/main">
          <a:graphicData uri="http://schemas.openxmlformats.org/drawingml/2006/table">
            <a:tbl>
              <a:tblPr/>
              <a:tblGrid>
                <a:gridCol w="7905750"/>
                <a:gridCol w="1743075"/>
                <a:gridCol w="1743075"/>
              </a:tblGrid>
              <a:tr h="381000">
                <a:tc>
                  <a:txBody>
                    <a:bodyPr>
                      <a:noAutofit/>
                    </a:bodyPr>
                    <a:lstStyle/>
                    <a:p>
                      <a:pPr algn="l"/>
                      <a:r>
                        <a:rPr sz="1725" b="1">
                          <a:solidFill>
                            <a:srgbClr val="FFFFFF"/>
                          </a:solidFill>
                          <a:latin typeface="Arial"/>
                          <a:ea typeface="Arial"/>
                          <a:cs typeface="Arial"/>
                        </a:rPr>
                        <a:t>Comparison</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725" b="1">
                          <a:solidFill>
                            <a:srgbClr val="FFFFFF"/>
                          </a:solidFill>
                          <a:latin typeface="Arial"/>
                          <a:ea typeface="Arial"/>
                          <a:cs typeface="Arial"/>
                        </a:rPr>
                        <a:t>F</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725" b="1">
                          <a:solidFill>
                            <a:srgbClr val="FFFFFF"/>
                          </a:solidFill>
                          <a:latin typeface="Arial"/>
                          <a:ea typeface="Arial"/>
                          <a:cs typeface="Arial"/>
                        </a:rPr>
                        <a:t>p</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81000">
                <a:tc>
                  <a:txBody>
                    <a:bodyPr>
                      <a:noAutofit/>
                    </a:bodyPr>
                    <a:lstStyle/>
                    <a:p>
                      <a:pPr algn="l"/>
                      <a:r>
                        <a:rPr sz="1725" b="0">
                          <a:solidFill>
                            <a:srgbClr val="183044"/>
                          </a:solidFill>
                          <a:latin typeface="Arial"/>
                          <a:ea typeface="Arial"/>
                          <a:cs typeface="Arial"/>
                        </a:rPr>
                        <a:t>BMI by education (survey)</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14.41</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381000">
                <a:tc>
                  <a:txBody>
                    <a:bodyPr>
                      <a:noAutofit/>
                    </a:bodyPr>
                    <a:lstStyle/>
                    <a:p>
                      <a:pPr algn="l"/>
                      <a:r>
                        <a:rPr sz="1725" b="0">
                          <a:solidFill>
                            <a:srgbClr val="183044"/>
                          </a:solidFill>
                          <a:latin typeface="Arial"/>
                          <a:ea typeface="Arial"/>
                          <a:cs typeface="Arial"/>
                        </a:rPr>
                        <a:t>Potato CRD: 32 plots, 7 groups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725" b="0">
                          <a:solidFill>
                            <a:srgbClr val="183044"/>
                          </a:solidFill>
                          <a:latin typeface="Arial"/>
                          <a:ea typeface="Arial"/>
                          <a:cs typeface="Arial"/>
                        </a:rPr>
                        <a:t>3.61</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725" b="0">
                          <a:solidFill>
                            <a:srgbClr val="183044"/>
                          </a:solidFill>
                          <a:latin typeface="Arial"/>
                          <a:ea typeface="Arial"/>
                          <a:cs typeface="Arial"/>
                        </a:rPr>
                        <a:t>0.010</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6" name="text">
            <a:extLst xmlns:a="http://schemas.openxmlformats.org/drawingml/2006/main">
              <a:ext uri="{FF2B5EF4-FFF2-40B4-BE49-F238E27FC236}">
                <a16:creationId xmlns:a16="http://schemas.microsoft.com/office/drawing/2014/main" id="{A75C3CD1-4E1A-4B0D-AE41-BCA4A2C0971E}"/>
              </a:ext>
            </a:extLst>
          </p:cNvPr>
          <p:cNvSpPr>
            <a:spLocks xmlns:a="http://schemas.openxmlformats.org/drawingml/2006/main" noGrp="1"/>
          </p:cNvSpPr>
          <p:nvPr/>
        </p:nvSpPr>
        <p:spPr>
          <a:xfrm xmlns:a="http://schemas.openxmlformats.org/drawingml/2006/main">
            <a:off x="400050" y="2847975"/>
            <a:ext cx="56483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Education: existing survey groups.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CRD: 32 randomized plots, 7 sulfur treatments.</a:t>
            </a:r>
          </a:p>
        </p:txBody>
      </p:sp>
      <p:sp>
        <p:nvSpPr>
          <p:cNvPr id="7" name="text">
            <a:extLst xmlns:a="http://schemas.openxmlformats.org/drawingml/2006/main">
              <a:ext uri="{FF2B5EF4-FFF2-40B4-BE49-F238E27FC236}">
                <a16:creationId xmlns:a16="http://schemas.microsoft.com/office/drawing/2014/main" id="{9D0C8869-466B-49DB-A8DD-6F2ED4D93E72}"/>
              </a:ext>
            </a:extLst>
          </p:cNvPr>
          <p:cNvSpPr>
            <a:spLocks xmlns:a="http://schemas.openxmlformats.org/drawingml/2006/main" noGrp="1"/>
          </p:cNvSpPr>
          <p:nvPr/>
        </p:nvSpPr>
        <p:spPr>
          <a:xfrm xmlns:a="http://schemas.openxmlformats.org/drawingml/2006/main">
            <a:off x="6362700" y="2847975"/>
            <a:ext cx="54197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Both tests detect a difference between means.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F does not identify every differing pair.</a:t>
            </a:r>
          </a:p>
        </p:txBody>
      </p:sp>
      <p:sp>
        <p:nvSpPr>
          <p:cNvPr id="8" name="">
            <a:extLst xmlns:a="http://schemas.openxmlformats.org/drawingml/2006/main">
              <a:ext uri="{FF2B5EF4-FFF2-40B4-BE49-F238E27FC236}">
                <a16:creationId xmlns:a16="http://schemas.microsoft.com/office/drawing/2014/main" id="{9AAE154B-82F1-476E-80BE-790DC8EC1AC1}"/>
              </a:ext>
            </a:extLst>
          </p:cNvPr>
          <p:cNvSpPr>
            <a:spLocks xmlns:a="http://schemas.openxmlformats.org/drawingml/2006/main" noGrp="1"/>
          </p:cNvSpPr>
          <p:nvPr/>
        </p:nvSpPr>
        <p:spPr>
          <a:xfrm xmlns:a="http://schemas.openxmlformats.org/drawingml/2006/main">
            <a:off x="400050" y="3476625"/>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9" name="text">
            <a:extLst xmlns:a="http://schemas.openxmlformats.org/drawingml/2006/main">
              <a:ext uri="{FF2B5EF4-FFF2-40B4-BE49-F238E27FC236}">
                <a16:creationId xmlns:a16="http://schemas.microsoft.com/office/drawing/2014/main" id="{3333130C-3819-4918-868F-5B4DFC9AE67B}"/>
              </a:ext>
            </a:extLst>
          </p:cNvPr>
          <p:cNvSpPr>
            <a:spLocks xmlns:a="http://schemas.openxmlformats.org/drawingml/2006/main" noGrp="1"/>
          </p:cNvSpPr>
          <p:nvPr/>
        </p:nvSpPr>
        <p:spPr>
          <a:xfrm xmlns:a="http://schemas.openxmlformats.org/drawingml/2006/main">
            <a:off x="400050" y="3648075"/>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RBD: one blocking factor (rice)</a:t>
            </a:r>
          </a:p>
        </p:txBody>
      </p:sp>
      <p:sp>
        <p:nvSpPr>
          <p:cNvPr id="10" name="text">
            <a:extLst xmlns:a="http://schemas.openxmlformats.org/drawingml/2006/main">
              <a:ext uri="{FF2B5EF4-FFF2-40B4-BE49-F238E27FC236}">
                <a16:creationId xmlns:a16="http://schemas.microsoft.com/office/drawing/2014/main" id="{86956113-5D67-4CFD-BAD8-90C36D7E23E5}"/>
              </a:ext>
            </a:extLst>
          </p:cNvPr>
          <p:cNvSpPr>
            <a:spLocks xmlns:a="http://schemas.openxmlformats.org/drawingml/2006/main" noGrp="1"/>
          </p:cNvSpPr>
          <p:nvPr/>
        </p:nvSpPr>
        <p:spPr>
          <a:xfrm xmlns:a="http://schemas.openxmlformats.org/drawingml/2006/main">
            <a:off x="6362700" y="3648075"/>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Latin Square: rows and columns</a:t>
            </a:r>
          </a:p>
        </p:txBody>
      </p:sp>
      <p:graphicFrame>
        <p:nvGraphicFramePr>
          <p:cNvPr id="11" name="Chart">
            <a:extLst xmlns:a="http://schemas.openxmlformats.org/drawingml/2006/main">
              <a:ext uri="{FF2B5EF4-FFF2-40B4-BE49-F238E27FC236}">
                <a16:creationId xmlns:a16="http://schemas.microsoft.com/office/drawing/2014/main" id="{8A6211CF-91DD-4C8B-ADF4-A3B13337BBAC}"/>
              </a:ext>
            </a:extLst>
          </p:cNvPr>
          <p:cNvGraphicFramePr/>
          <p:nvPr/>
        </p:nvGraphicFramePr>
        <p:xfrm>
          <a:off xmlns:a="http://schemas.openxmlformats.org/drawingml/2006/main" x="257175" y="4152900"/>
          <a:ext xmlns:a="http://schemas.openxmlformats.org/drawingml/2006/main" cx="3371850" cy="1752600"/>
        </p:xfrm>
        <a:graphic xmlns:a="http://schemas.openxmlformats.org/drawingml/2006/main">
          <a:graphicData uri="http://schemas.openxmlformats.org/drawingml/2006/chart">
            <c:chart xmlns:r="http://schemas.openxmlformats.org/officeDocument/2006/relationships" xmlns:c="http://schemas.openxmlformats.org/drawingml/2006/chart" r:id="Rd763d900ecf24c3d"/>
          </a:graphicData>
        </a:graphic>
      </p:graphicFrame>
      <p:graphicFrame>
        <p:nvGraphicFramePr>
          <p:cNvPr id="12" name="">
            <a:extLst xmlns:a="http://schemas.openxmlformats.org/drawingml/2006/main">
              <a:ext uri="{FF2B5EF4-FFF2-40B4-BE49-F238E27FC236}">
                <a16:creationId xmlns:a16="http://schemas.microsoft.com/office/drawing/2014/main" id="{85C5E623-A319-42EE-8E5F-D1FF6F2ED5D0}"/>
              </a:ext>
            </a:extLst>
          </p:cNvPr>
          <p:cNvGraphicFramePr/>
          <p:nvPr/>
        </p:nvGraphicFramePr>
        <p:xfrm>
          <a:off xmlns:a="http://schemas.openxmlformats.org/drawingml/2006/main" x="3829050" y="4171950"/>
          <a:ext xmlns:a="http://schemas.openxmlformats.org/drawingml/2006/main" cx="2028825" cy="1047750"/>
        </p:xfrm>
        <a:graphic xmlns:a="http://schemas.openxmlformats.org/drawingml/2006/main">
          <a:graphicData uri="http://schemas.openxmlformats.org/drawingml/2006/table">
            <a:tbl>
              <a:tblPr/>
              <a:tblGrid>
                <a:gridCol w="676275"/>
                <a:gridCol w="581025"/>
                <a:gridCol w="771525"/>
              </a:tblGrid>
              <a:tr h="349250">
                <a:tc>
                  <a:txBody>
                    <a:bodyPr>
                      <a:noAutofit/>
                    </a:bodyPr>
                    <a:lstStyle/>
                    <a:p>
                      <a:pPr algn="l"/>
                      <a:r>
                        <a:rPr sz="1425" b="1">
                          <a:solidFill>
                            <a:srgbClr val="FFFFFF"/>
                          </a:solidFill>
                          <a:latin typeface="Arial"/>
                          <a:ea typeface="Arial"/>
                          <a:cs typeface="Arial"/>
                        </a:rPr>
                        <a:t>Term</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F</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p</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49250">
                <a:tc>
                  <a:txBody>
                    <a:bodyPr>
                      <a:noAutofit/>
                    </a:bodyPr>
                    <a:lstStyle/>
                    <a:p>
                      <a:pPr algn="l"/>
                      <a:r>
                        <a:rPr sz="1425" b="0">
                          <a:solidFill>
                            <a:srgbClr val="183044"/>
                          </a:solidFill>
                          <a:latin typeface="Arial"/>
                          <a:ea typeface="Arial"/>
                          <a:cs typeface="Arial"/>
                        </a:rPr>
                        <a:t>Block</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5.86</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0.007</a:t>
                      </a:r>
                    </a:p>
                  </a:txBody>
                  <a:tcPr marL="91440" marR="91440" marT="45720" marB="45720">
                    <a:lnR w="9525">
                      <a:solidFill>
                        <a:srgbClr val="D6E0E5"/>
                      </a:solidFill>
                      <a:prstDash val="solid"/>
                    </a:lnR>
                    <a:lnB w="9525">
                      <a:solidFill>
                        <a:srgbClr val="D6E0E5"/>
                      </a:solidFill>
                      <a:prstDash val="solid"/>
                    </a:lnB>
                    <a:solidFill>
                      <a:srgbClr val="FFFFFF"/>
                    </a:solidFill>
                  </a:tcPr>
                </a:tc>
              </a:tr>
              <a:tr h="349250">
                <a:tc>
                  <a:txBody>
                    <a:bodyPr>
                      <a:noAutofit/>
                    </a:bodyPr>
                    <a:lstStyle/>
                    <a:p>
                      <a:pPr algn="l"/>
                      <a:r>
                        <a:rPr sz="1425" b="0">
                          <a:solidFill>
                            <a:srgbClr val="183044"/>
                          </a:solidFill>
                          <a:latin typeface="Arial"/>
                          <a:ea typeface="Arial"/>
                          <a:cs typeface="Arial"/>
                        </a:rPr>
                        <a:t>Rate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2.17</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0.113</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13" name="text">
            <a:extLst xmlns:a="http://schemas.openxmlformats.org/drawingml/2006/main">
              <a:ext uri="{FF2B5EF4-FFF2-40B4-BE49-F238E27FC236}">
                <a16:creationId xmlns:a16="http://schemas.microsoft.com/office/drawing/2014/main" id="{F8D55BB6-486B-4147-A382-5A3003678F38}"/>
              </a:ext>
            </a:extLst>
          </p:cNvPr>
          <p:cNvSpPr>
            <a:spLocks xmlns:a="http://schemas.openxmlformats.org/drawingml/2006/main" noGrp="1"/>
          </p:cNvSpPr>
          <p:nvPr/>
        </p:nvSpPr>
        <p:spPr>
          <a:xfrm xmlns:a="http://schemas.openxmlformats.org/drawingml/2006/main">
            <a:off x="3829050" y="5467350"/>
            <a:ext cx="20288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1">
                <a:solidFill>
                  <a:srgbClr val="183044"/>
                </a:solidFill>
                <a:latin typeface="Arial"/>
                <a:ea typeface="Arial"/>
                <a:cs typeface="Arial"/>
              </a:defRPr>
            </a:defPPr>
          </a:lstStyle>
          <a:p xmlns:a="http://schemas.openxmlformats.org/drawingml/2006/main">
            <a:pPr>
              <a:defRPr sz="1425" b="1">
                <a:solidFill>
                  <a:srgbClr val="183044"/>
                </a:solidFill>
                <a:latin typeface="Arial"/>
                <a:ea typeface="Arial"/>
                <a:cs typeface="Arial"/>
              </a:defRPr>
            </a:pPr>
            <a:r>
              <a:rPr sz="1425" b="1">
                <a:solidFill>
                  <a:srgbClr val="183044"/>
                </a:solidFill>
                <a:latin typeface="Arial"/>
                <a:ea typeface="Arial"/>
                <a:cs typeface="Arial"/>
              </a:rPr>
              <a:t>6 rates in each block.</a:t>
            </a:r>
          </a:p>
          <a:p xmlns:a="http://schemas.openxmlformats.org/drawingml/2006/main">
            <a:pPr>
              <a:defRPr sz="1425" b="1">
                <a:solidFill>
                  <a:srgbClr val="183044"/>
                </a:solidFill>
                <a:latin typeface="Arial"/>
                <a:ea typeface="Arial"/>
                <a:cs typeface="Arial"/>
              </a:defRPr>
            </a:pPr>
            <a:r>
              <a:rPr sz="1425" b="1">
                <a:solidFill>
                  <a:srgbClr val="183044"/>
                </a:solidFill>
                <a:latin typeface="Arial"/>
                <a:ea typeface="Arial"/>
                <a:cs typeface="Arial"/>
              </a:rPr>
              <a:t>44.8% lower error.</a:t>
            </a:r>
          </a:p>
        </p:txBody>
      </p:sp>
      <p:sp>
        <p:nvSpPr>
          <p:cNvPr id="14" name="text">
            <a:extLst xmlns:a="http://schemas.openxmlformats.org/drawingml/2006/main">
              <a:ext uri="{FF2B5EF4-FFF2-40B4-BE49-F238E27FC236}">
                <a16:creationId xmlns:a16="http://schemas.microsoft.com/office/drawing/2014/main" id="{90ABB4A8-285C-43A2-9095-FE72BC66925A}"/>
              </a:ext>
            </a:extLst>
          </p:cNvPr>
          <p:cNvSpPr>
            <a:spLocks xmlns:a="http://schemas.openxmlformats.org/drawingml/2006/main" noGrp="1"/>
          </p:cNvSpPr>
          <p:nvPr/>
        </p:nvSpPr>
        <p:spPr>
          <a:xfrm xmlns:a="http://schemas.openxmlformats.org/drawingml/2006/main">
            <a:off x="400050" y="5857875"/>
            <a:ext cx="54578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415566"/>
                </a:solidFill>
                <a:latin typeface="Arial"/>
                <a:ea typeface="Arial"/>
                <a:cs typeface="Arial"/>
              </a:defRPr>
            </a:defPPr>
          </a:lstStyle>
          <a:p xmlns:a="http://schemas.openxmlformats.org/drawingml/2006/main">
            <a:pPr>
              <a:defRPr sz="1200" b="0">
                <a:solidFill>
                  <a:srgbClr val="415566"/>
                </a:solidFill>
                <a:latin typeface="Arial"/>
                <a:ea typeface="Arial"/>
                <a:cs typeface="Arial"/>
              </a:defRPr>
            </a:pPr>
            <a:r>
              <a:rPr sz="1200" b="0">
                <a:solidFill>
                  <a:srgbClr val="415566"/>
                </a:solidFill>
                <a:latin typeface="Arial"/>
                <a:ea typeface="Arial"/>
                <a:cs typeface="Arial"/>
              </a:rPr>
              <a:t>X: seeding rate (kg/ha). Y: yield (kg/ha). Rate p = 0.113.</a:t>
            </a:r>
          </a:p>
        </p:txBody>
      </p:sp>
      <p:graphicFrame>
        <p:nvGraphicFramePr>
          <p:cNvPr id="15" name="">
            <a:extLst xmlns:a="http://schemas.openxmlformats.org/drawingml/2006/main">
              <a:ext uri="{FF2B5EF4-FFF2-40B4-BE49-F238E27FC236}">
                <a16:creationId xmlns:a16="http://schemas.microsoft.com/office/drawing/2014/main" id="{DB2B8861-70ED-46AE-85F0-A9E787B40B82}"/>
              </a:ext>
            </a:extLst>
          </p:cNvPr>
          <p:cNvGraphicFramePr/>
          <p:nvPr/>
        </p:nvGraphicFramePr>
        <p:xfrm>
          <a:off xmlns:a="http://schemas.openxmlformats.org/drawingml/2006/main" x="6372225" y="4152900"/>
          <a:ext xmlns:a="http://schemas.openxmlformats.org/drawingml/2006/main" cx="2590800" cy="1695450"/>
        </p:xfrm>
        <a:graphic xmlns:a="http://schemas.openxmlformats.org/drawingml/2006/main">
          <a:graphicData uri="http://schemas.openxmlformats.org/drawingml/2006/table">
            <a:tbl>
              <a:tblPr/>
              <a:tblGrid>
                <a:gridCol w="518160"/>
                <a:gridCol w="518160"/>
                <a:gridCol w="518160"/>
                <a:gridCol w="518160"/>
                <a:gridCol w="518160"/>
              </a:tblGrid>
              <a:tr h="339090">
                <a:tc>
                  <a:txBody>
                    <a:bodyPr>
                      <a:noAutofit/>
                    </a:bodyPr>
                    <a:lstStyle/>
                    <a:p>
                      <a:pPr algn="ctr"/>
                      <a:r>
                        <a:rPr sz="1575" b="1">
                          <a:solidFill>
                            <a:srgbClr val="183044"/>
                          </a:solidFill>
                          <a:latin typeface="Arial"/>
                          <a:ea typeface="Arial"/>
                          <a:cs typeface="Arial"/>
                        </a:rPr>
                        <a:t>B</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D0E4ED"/>
                    </a:solidFill>
                  </a:tcPr>
                </a:tc>
                <a:tc>
                  <a:txBody>
                    <a:bodyPr>
                      <a:noAutofit/>
                    </a:bodyPr>
                    <a:lstStyle/>
                    <a:p>
                      <a:pPr algn="ctr"/>
                      <a:r>
                        <a:rPr sz="1575" b="1">
                          <a:solidFill>
                            <a:srgbClr val="183044"/>
                          </a:solidFill>
                          <a:latin typeface="Arial"/>
                          <a:ea typeface="Arial"/>
                          <a:cs typeface="Arial"/>
                        </a:rPr>
                        <a:t>D</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B9D6E2"/>
                    </a:solidFill>
                  </a:tcPr>
                </a:tc>
                <a:tc>
                  <a:txBody>
                    <a:bodyPr>
                      <a:noAutofit/>
                    </a:bodyPr>
                    <a:lstStyle/>
                    <a:p>
                      <a:pPr algn="ctr"/>
                      <a:r>
                        <a:rPr sz="1575" b="1">
                          <a:solidFill>
                            <a:srgbClr val="183044"/>
                          </a:solidFill>
                          <a:latin typeface="Arial"/>
                          <a:ea typeface="Arial"/>
                          <a:cs typeface="Arial"/>
                        </a:rPr>
                        <a:t>E</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EFF5F8"/>
                    </a:solidFill>
                  </a:tcPr>
                </a:tc>
                <a:tc>
                  <a:txBody>
                    <a:bodyPr>
                      <a:noAutofit/>
                    </a:bodyPr>
                    <a:lstStyle/>
                    <a:p>
                      <a:pPr algn="ctr"/>
                      <a:r>
                        <a:rPr sz="1575" b="1">
                          <a:solidFill>
                            <a:srgbClr val="183044"/>
                          </a:solidFill>
                          <a:latin typeface="Arial"/>
                          <a:ea typeface="Arial"/>
                          <a:cs typeface="Arial"/>
                        </a:rPr>
                        <a:t>A</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E4F0F5"/>
                    </a:solidFill>
                  </a:tcPr>
                </a:tc>
                <a:tc>
                  <a:txBody>
                    <a:bodyPr>
                      <a:noAutofit/>
                    </a:bodyPr>
                    <a:lstStyle/>
                    <a:p>
                      <a:pPr algn="ctr"/>
                      <a:r>
                        <a:rPr sz="1575" b="1">
                          <a:solidFill>
                            <a:srgbClr val="FFFFFF"/>
                          </a:solidFill>
                          <a:latin typeface="Arial"/>
                          <a:ea typeface="Arial"/>
                          <a:cs typeface="Arial"/>
                        </a:rPr>
                        <a:t>C</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39090">
                <a:tc>
                  <a:txBody>
                    <a:bodyPr>
                      <a:noAutofit/>
                    </a:bodyPr>
                    <a:lstStyle/>
                    <a:p>
                      <a:pPr algn="ctr"/>
                      <a:r>
                        <a:rPr sz="1575" b="1">
                          <a:solidFill>
                            <a:srgbClr val="FFFFFF"/>
                          </a:solidFill>
                          <a:latin typeface="Arial"/>
                          <a:ea typeface="Arial"/>
                          <a:cs typeface="Arial"/>
                        </a:rPr>
                        <a:t>C</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176D8C"/>
                    </a:solidFill>
                  </a:tcPr>
                </a:tc>
                <a:tc>
                  <a:txBody>
                    <a:bodyPr>
                      <a:noAutofit/>
                    </a:bodyPr>
                    <a:lstStyle/>
                    <a:p>
                      <a:pPr algn="ctr"/>
                      <a:r>
                        <a:rPr sz="1575" b="1">
                          <a:solidFill>
                            <a:srgbClr val="183044"/>
                          </a:solidFill>
                          <a:latin typeface="Arial"/>
                          <a:ea typeface="Arial"/>
                          <a:cs typeface="Arial"/>
                        </a:rPr>
                        <a:t>A</a:t>
                      </a:r>
                    </a:p>
                  </a:txBody>
                  <a:tcPr marL="91440" marR="91440" marT="45720" marB="45720">
                    <a:lnR w="9525">
                      <a:solidFill>
                        <a:srgbClr val="D6E0E5"/>
                      </a:solidFill>
                      <a:prstDash val="solid"/>
                    </a:lnR>
                    <a:lnB w="9525">
                      <a:solidFill>
                        <a:srgbClr val="D6E0E5"/>
                      </a:solidFill>
                      <a:prstDash val="solid"/>
                    </a:lnB>
                    <a:solidFill>
                      <a:srgbClr val="E4F0F5"/>
                    </a:solidFill>
                  </a:tcPr>
                </a:tc>
                <a:tc>
                  <a:txBody>
                    <a:bodyPr>
                      <a:noAutofit/>
                    </a:bodyPr>
                    <a:lstStyle/>
                    <a:p>
                      <a:pPr algn="ctr"/>
                      <a:r>
                        <a:rPr sz="1575" b="1">
                          <a:solidFill>
                            <a:srgbClr val="183044"/>
                          </a:solidFill>
                          <a:latin typeface="Arial"/>
                          <a:ea typeface="Arial"/>
                          <a:cs typeface="Arial"/>
                        </a:rPr>
                        <a:t>B</a:t>
                      </a:r>
                    </a:p>
                  </a:txBody>
                  <a:tcPr marL="91440" marR="91440" marT="45720" marB="45720">
                    <a:lnR w="9525">
                      <a:solidFill>
                        <a:srgbClr val="D6E0E5"/>
                      </a:solidFill>
                      <a:prstDash val="solid"/>
                    </a:lnR>
                    <a:lnB w="9525">
                      <a:solidFill>
                        <a:srgbClr val="D6E0E5"/>
                      </a:solidFill>
                      <a:prstDash val="solid"/>
                    </a:lnB>
                    <a:solidFill>
                      <a:srgbClr val="D0E4ED"/>
                    </a:solidFill>
                  </a:tcPr>
                </a:tc>
                <a:tc>
                  <a:txBody>
                    <a:bodyPr>
                      <a:noAutofit/>
                    </a:bodyPr>
                    <a:lstStyle/>
                    <a:p>
                      <a:pPr algn="ctr"/>
                      <a:r>
                        <a:rPr sz="1575" b="1">
                          <a:solidFill>
                            <a:srgbClr val="183044"/>
                          </a:solidFill>
                          <a:latin typeface="Arial"/>
                          <a:ea typeface="Arial"/>
                          <a:cs typeface="Arial"/>
                        </a:rPr>
                        <a:t>E</a:t>
                      </a:r>
                    </a:p>
                  </a:txBody>
                  <a:tcPr marL="91440" marR="91440" marT="45720" marB="45720">
                    <a:lnR w="9525">
                      <a:solidFill>
                        <a:srgbClr val="D6E0E5"/>
                      </a:solidFill>
                      <a:prstDash val="solid"/>
                    </a:lnR>
                    <a:lnB w="9525">
                      <a:solidFill>
                        <a:srgbClr val="D6E0E5"/>
                      </a:solidFill>
                      <a:prstDash val="solid"/>
                    </a:lnB>
                    <a:solidFill>
                      <a:srgbClr val="EFF5F8"/>
                    </a:solidFill>
                  </a:tcPr>
                </a:tc>
                <a:tc>
                  <a:txBody>
                    <a:bodyPr>
                      <a:noAutofit/>
                    </a:bodyPr>
                    <a:lstStyle/>
                    <a:p>
                      <a:pPr algn="ctr"/>
                      <a:r>
                        <a:rPr sz="1575" b="1">
                          <a:solidFill>
                            <a:srgbClr val="183044"/>
                          </a:solidFill>
                          <a:latin typeface="Arial"/>
                          <a:ea typeface="Arial"/>
                          <a:cs typeface="Arial"/>
                        </a:rPr>
                        <a:t>D</a:t>
                      </a:r>
                    </a:p>
                  </a:txBody>
                  <a:tcPr marL="91440" marR="91440" marT="45720" marB="45720">
                    <a:lnR w="9525">
                      <a:solidFill>
                        <a:srgbClr val="D6E0E5"/>
                      </a:solidFill>
                      <a:prstDash val="solid"/>
                    </a:lnR>
                    <a:lnB w="9525">
                      <a:solidFill>
                        <a:srgbClr val="D6E0E5"/>
                      </a:solidFill>
                      <a:prstDash val="solid"/>
                    </a:lnB>
                    <a:solidFill>
                      <a:srgbClr val="B9D6E2"/>
                    </a:solidFill>
                  </a:tcPr>
                </a:tc>
              </a:tr>
              <a:tr h="339090">
                <a:tc>
                  <a:txBody>
                    <a:bodyPr>
                      <a:noAutofit/>
                    </a:bodyPr>
                    <a:lstStyle/>
                    <a:p>
                      <a:pPr algn="ctr"/>
                      <a:r>
                        <a:rPr sz="1575" b="1">
                          <a:solidFill>
                            <a:srgbClr val="183044"/>
                          </a:solidFill>
                          <a:latin typeface="Arial"/>
                          <a:ea typeface="Arial"/>
                          <a:cs typeface="Arial"/>
                        </a:rPr>
                        <a:t>D</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B9D6E2"/>
                    </a:solidFill>
                  </a:tcPr>
                </a:tc>
                <a:tc>
                  <a:txBody>
                    <a:bodyPr>
                      <a:noAutofit/>
                    </a:bodyPr>
                    <a:lstStyle/>
                    <a:p>
                      <a:pPr algn="ctr"/>
                      <a:r>
                        <a:rPr sz="1575" b="1">
                          <a:solidFill>
                            <a:srgbClr val="FFFFFF"/>
                          </a:solidFill>
                          <a:latin typeface="Arial"/>
                          <a:ea typeface="Arial"/>
                          <a:cs typeface="Arial"/>
                        </a:rPr>
                        <a:t>C</a:t>
                      </a:r>
                    </a:p>
                  </a:txBody>
                  <a:tcPr marL="91440" marR="91440" marT="45720" marB="45720">
                    <a:lnR w="9525">
                      <a:solidFill>
                        <a:srgbClr val="D6E0E5"/>
                      </a:solidFill>
                      <a:prstDash val="solid"/>
                    </a:lnR>
                    <a:lnB w="9525">
                      <a:solidFill>
                        <a:srgbClr val="D6E0E5"/>
                      </a:solidFill>
                      <a:prstDash val="solid"/>
                    </a:lnB>
                    <a:solidFill>
                      <a:srgbClr val="176D8C"/>
                    </a:solidFill>
                  </a:tcPr>
                </a:tc>
                <a:tc>
                  <a:txBody>
                    <a:bodyPr>
                      <a:noAutofit/>
                    </a:bodyPr>
                    <a:lstStyle/>
                    <a:p>
                      <a:pPr algn="ctr"/>
                      <a:r>
                        <a:rPr sz="1575" b="1">
                          <a:solidFill>
                            <a:srgbClr val="183044"/>
                          </a:solidFill>
                          <a:latin typeface="Arial"/>
                          <a:ea typeface="Arial"/>
                          <a:cs typeface="Arial"/>
                        </a:rPr>
                        <a:t>A</a:t>
                      </a:r>
                    </a:p>
                  </a:txBody>
                  <a:tcPr marL="91440" marR="91440" marT="45720" marB="45720">
                    <a:lnR w="9525">
                      <a:solidFill>
                        <a:srgbClr val="D6E0E5"/>
                      </a:solidFill>
                      <a:prstDash val="solid"/>
                    </a:lnR>
                    <a:lnB w="9525">
                      <a:solidFill>
                        <a:srgbClr val="D6E0E5"/>
                      </a:solidFill>
                      <a:prstDash val="solid"/>
                    </a:lnB>
                    <a:solidFill>
                      <a:srgbClr val="E4F0F5"/>
                    </a:solidFill>
                  </a:tcPr>
                </a:tc>
                <a:tc>
                  <a:txBody>
                    <a:bodyPr>
                      <a:noAutofit/>
                    </a:bodyPr>
                    <a:lstStyle/>
                    <a:p>
                      <a:pPr algn="ctr"/>
                      <a:r>
                        <a:rPr sz="1575" b="1">
                          <a:solidFill>
                            <a:srgbClr val="183044"/>
                          </a:solidFill>
                          <a:latin typeface="Arial"/>
                          <a:ea typeface="Arial"/>
                          <a:cs typeface="Arial"/>
                        </a:rPr>
                        <a:t>B</a:t>
                      </a:r>
                    </a:p>
                  </a:txBody>
                  <a:tcPr marL="91440" marR="91440" marT="45720" marB="45720">
                    <a:lnR w="9525">
                      <a:solidFill>
                        <a:srgbClr val="D6E0E5"/>
                      </a:solidFill>
                      <a:prstDash val="solid"/>
                    </a:lnR>
                    <a:lnB w="9525">
                      <a:solidFill>
                        <a:srgbClr val="D6E0E5"/>
                      </a:solidFill>
                      <a:prstDash val="solid"/>
                    </a:lnB>
                    <a:solidFill>
                      <a:srgbClr val="D0E4ED"/>
                    </a:solidFill>
                  </a:tcPr>
                </a:tc>
                <a:tc>
                  <a:txBody>
                    <a:bodyPr>
                      <a:noAutofit/>
                    </a:bodyPr>
                    <a:lstStyle/>
                    <a:p>
                      <a:pPr algn="ctr"/>
                      <a:r>
                        <a:rPr sz="1575" b="1">
                          <a:solidFill>
                            <a:srgbClr val="183044"/>
                          </a:solidFill>
                          <a:latin typeface="Arial"/>
                          <a:ea typeface="Arial"/>
                          <a:cs typeface="Arial"/>
                        </a:rPr>
                        <a:t>E</a:t>
                      </a:r>
                    </a:p>
                  </a:txBody>
                  <a:tcPr marL="91440" marR="91440" marT="45720" marB="45720">
                    <a:lnR w="9525">
                      <a:solidFill>
                        <a:srgbClr val="D6E0E5"/>
                      </a:solidFill>
                      <a:prstDash val="solid"/>
                    </a:lnR>
                    <a:lnB w="9525">
                      <a:solidFill>
                        <a:srgbClr val="D6E0E5"/>
                      </a:solidFill>
                      <a:prstDash val="solid"/>
                    </a:lnB>
                    <a:solidFill>
                      <a:srgbClr val="EFF5F8"/>
                    </a:solidFill>
                  </a:tcPr>
                </a:tc>
              </a:tr>
              <a:tr h="339090">
                <a:tc>
                  <a:txBody>
                    <a:bodyPr>
                      <a:noAutofit/>
                    </a:bodyPr>
                    <a:lstStyle/>
                    <a:p>
                      <a:pPr algn="ctr"/>
                      <a:r>
                        <a:rPr sz="1575" b="1">
                          <a:solidFill>
                            <a:srgbClr val="183044"/>
                          </a:solidFill>
                          <a:latin typeface="Arial"/>
                          <a:ea typeface="Arial"/>
                          <a:cs typeface="Arial"/>
                        </a:rPr>
                        <a:t>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FF5F8"/>
                    </a:solidFill>
                  </a:tcPr>
                </a:tc>
                <a:tc>
                  <a:txBody>
                    <a:bodyPr>
                      <a:noAutofit/>
                    </a:bodyPr>
                    <a:lstStyle/>
                    <a:p>
                      <a:pPr algn="ctr"/>
                      <a:r>
                        <a:rPr sz="1575" b="1">
                          <a:solidFill>
                            <a:srgbClr val="183044"/>
                          </a:solidFill>
                          <a:latin typeface="Arial"/>
                          <a:ea typeface="Arial"/>
                          <a:cs typeface="Arial"/>
                        </a:rPr>
                        <a:t>B</a:t>
                      </a:r>
                    </a:p>
                  </a:txBody>
                  <a:tcPr marL="91440" marR="91440" marT="45720" marB="45720">
                    <a:lnR w="9525">
                      <a:solidFill>
                        <a:srgbClr val="D6E0E5"/>
                      </a:solidFill>
                      <a:prstDash val="solid"/>
                    </a:lnR>
                    <a:lnB w="9525">
                      <a:solidFill>
                        <a:srgbClr val="D6E0E5"/>
                      </a:solidFill>
                      <a:prstDash val="solid"/>
                    </a:lnB>
                    <a:solidFill>
                      <a:srgbClr val="D0E4ED"/>
                    </a:solidFill>
                  </a:tcPr>
                </a:tc>
                <a:tc>
                  <a:txBody>
                    <a:bodyPr>
                      <a:noAutofit/>
                    </a:bodyPr>
                    <a:lstStyle/>
                    <a:p>
                      <a:pPr algn="ctr"/>
                      <a:r>
                        <a:rPr sz="1575" b="1">
                          <a:solidFill>
                            <a:srgbClr val="FFFFFF"/>
                          </a:solidFill>
                          <a:latin typeface="Arial"/>
                          <a:ea typeface="Arial"/>
                          <a:cs typeface="Arial"/>
                        </a:rPr>
                        <a:t>C</a:t>
                      </a:r>
                    </a:p>
                  </a:txBody>
                  <a:tcPr marL="91440" marR="91440" marT="45720" marB="45720">
                    <a:lnR w="9525">
                      <a:solidFill>
                        <a:srgbClr val="D6E0E5"/>
                      </a:solidFill>
                      <a:prstDash val="solid"/>
                    </a:lnR>
                    <a:lnB w="9525">
                      <a:solidFill>
                        <a:srgbClr val="D6E0E5"/>
                      </a:solidFill>
                      <a:prstDash val="solid"/>
                    </a:lnB>
                    <a:solidFill>
                      <a:srgbClr val="176D8C"/>
                    </a:solidFill>
                  </a:tcPr>
                </a:tc>
                <a:tc>
                  <a:txBody>
                    <a:bodyPr>
                      <a:noAutofit/>
                    </a:bodyPr>
                    <a:lstStyle/>
                    <a:p>
                      <a:pPr algn="ctr"/>
                      <a:r>
                        <a:rPr sz="1575" b="1">
                          <a:solidFill>
                            <a:srgbClr val="183044"/>
                          </a:solidFill>
                          <a:latin typeface="Arial"/>
                          <a:ea typeface="Arial"/>
                          <a:cs typeface="Arial"/>
                        </a:rPr>
                        <a:t>D</a:t>
                      </a:r>
                    </a:p>
                  </a:txBody>
                  <a:tcPr marL="91440" marR="91440" marT="45720" marB="45720">
                    <a:lnR w="9525">
                      <a:solidFill>
                        <a:srgbClr val="D6E0E5"/>
                      </a:solidFill>
                      <a:prstDash val="solid"/>
                    </a:lnR>
                    <a:lnB w="9525">
                      <a:solidFill>
                        <a:srgbClr val="D6E0E5"/>
                      </a:solidFill>
                      <a:prstDash val="solid"/>
                    </a:lnB>
                    <a:solidFill>
                      <a:srgbClr val="B9D6E2"/>
                    </a:solidFill>
                  </a:tcPr>
                </a:tc>
                <a:tc>
                  <a:txBody>
                    <a:bodyPr>
                      <a:noAutofit/>
                    </a:bodyPr>
                    <a:lstStyle/>
                    <a:p>
                      <a:pPr algn="ctr"/>
                      <a:r>
                        <a:rPr sz="1575" b="1">
                          <a:solidFill>
                            <a:srgbClr val="183044"/>
                          </a:solidFill>
                          <a:latin typeface="Arial"/>
                          <a:ea typeface="Arial"/>
                          <a:cs typeface="Arial"/>
                        </a:rPr>
                        <a:t>A</a:t>
                      </a:r>
                    </a:p>
                  </a:txBody>
                  <a:tcPr marL="91440" marR="91440" marT="45720" marB="45720">
                    <a:lnR w="9525">
                      <a:solidFill>
                        <a:srgbClr val="D6E0E5"/>
                      </a:solidFill>
                      <a:prstDash val="solid"/>
                    </a:lnR>
                    <a:lnB w="9525">
                      <a:solidFill>
                        <a:srgbClr val="D6E0E5"/>
                      </a:solidFill>
                      <a:prstDash val="solid"/>
                    </a:lnB>
                    <a:solidFill>
                      <a:srgbClr val="E4F0F5"/>
                    </a:solidFill>
                  </a:tcPr>
                </a:tc>
              </a:tr>
              <a:tr h="339090">
                <a:tc>
                  <a:txBody>
                    <a:bodyPr>
                      <a:noAutofit/>
                    </a:bodyPr>
                    <a:lstStyle/>
                    <a:p>
                      <a:pPr algn="ctr"/>
                      <a:r>
                        <a:rPr sz="1575" b="1">
                          <a:solidFill>
                            <a:srgbClr val="183044"/>
                          </a:solidFill>
                          <a:latin typeface="Arial"/>
                          <a:ea typeface="Arial"/>
                          <a:cs typeface="Arial"/>
                        </a:rPr>
                        <a:t>A</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4F0F5"/>
                    </a:solidFill>
                  </a:tcPr>
                </a:tc>
                <a:tc>
                  <a:txBody>
                    <a:bodyPr>
                      <a:noAutofit/>
                    </a:bodyPr>
                    <a:lstStyle/>
                    <a:p>
                      <a:pPr algn="ctr"/>
                      <a:r>
                        <a:rPr sz="1575" b="1">
                          <a:solidFill>
                            <a:srgbClr val="183044"/>
                          </a:solidFill>
                          <a:latin typeface="Arial"/>
                          <a:ea typeface="Arial"/>
                          <a:cs typeface="Arial"/>
                        </a:rPr>
                        <a:t>E</a:t>
                      </a:r>
                    </a:p>
                  </a:txBody>
                  <a:tcPr marL="91440" marR="91440" marT="45720" marB="45720">
                    <a:lnR w="9525">
                      <a:solidFill>
                        <a:srgbClr val="D6E0E5"/>
                      </a:solidFill>
                      <a:prstDash val="solid"/>
                    </a:lnR>
                    <a:lnB w="9525">
                      <a:solidFill>
                        <a:srgbClr val="D6E0E5"/>
                      </a:solidFill>
                      <a:prstDash val="solid"/>
                    </a:lnB>
                    <a:solidFill>
                      <a:srgbClr val="EFF5F8"/>
                    </a:solidFill>
                  </a:tcPr>
                </a:tc>
                <a:tc>
                  <a:txBody>
                    <a:bodyPr>
                      <a:noAutofit/>
                    </a:bodyPr>
                    <a:lstStyle/>
                    <a:p>
                      <a:pPr algn="ctr"/>
                      <a:r>
                        <a:rPr sz="1575" b="1">
                          <a:solidFill>
                            <a:srgbClr val="183044"/>
                          </a:solidFill>
                          <a:latin typeface="Arial"/>
                          <a:ea typeface="Arial"/>
                          <a:cs typeface="Arial"/>
                        </a:rPr>
                        <a:t>D</a:t>
                      </a:r>
                    </a:p>
                  </a:txBody>
                  <a:tcPr marL="91440" marR="91440" marT="45720" marB="45720">
                    <a:lnR w="9525">
                      <a:solidFill>
                        <a:srgbClr val="D6E0E5"/>
                      </a:solidFill>
                      <a:prstDash val="solid"/>
                    </a:lnR>
                    <a:lnB w="9525">
                      <a:solidFill>
                        <a:srgbClr val="D6E0E5"/>
                      </a:solidFill>
                      <a:prstDash val="solid"/>
                    </a:lnB>
                    <a:solidFill>
                      <a:srgbClr val="B9D6E2"/>
                    </a:solidFill>
                  </a:tcPr>
                </a:tc>
                <a:tc>
                  <a:txBody>
                    <a:bodyPr>
                      <a:noAutofit/>
                    </a:bodyPr>
                    <a:lstStyle/>
                    <a:p>
                      <a:pPr algn="ctr"/>
                      <a:r>
                        <a:rPr sz="1575" b="1">
                          <a:solidFill>
                            <a:srgbClr val="FFFFFF"/>
                          </a:solidFill>
                          <a:latin typeface="Arial"/>
                          <a:ea typeface="Arial"/>
                          <a:cs typeface="Arial"/>
                        </a:rPr>
                        <a:t>C</a:t>
                      </a:r>
                    </a:p>
                  </a:txBody>
                  <a:tcPr marL="91440" marR="91440" marT="45720" marB="45720">
                    <a:lnR w="9525">
                      <a:solidFill>
                        <a:srgbClr val="D6E0E5"/>
                      </a:solidFill>
                      <a:prstDash val="solid"/>
                    </a:lnR>
                    <a:lnB w="9525">
                      <a:solidFill>
                        <a:srgbClr val="D6E0E5"/>
                      </a:solidFill>
                      <a:prstDash val="solid"/>
                    </a:lnB>
                    <a:solidFill>
                      <a:srgbClr val="176D8C"/>
                    </a:solidFill>
                  </a:tcPr>
                </a:tc>
                <a:tc>
                  <a:txBody>
                    <a:bodyPr>
                      <a:noAutofit/>
                    </a:bodyPr>
                    <a:lstStyle/>
                    <a:p>
                      <a:pPr algn="ctr"/>
                      <a:r>
                        <a:rPr sz="1575" b="1">
                          <a:solidFill>
                            <a:srgbClr val="183044"/>
                          </a:solidFill>
                          <a:latin typeface="Arial"/>
                          <a:ea typeface="Arial"/>
                          <a:cs typeface="Arial"/>
                        </a:rPr>
                        <a:t>B</a:t>
                      </a:r>
                    </a:p>
                  </a:txBody>
                  <a:tcPr marL="91440" marR="91440" marT="45720" marB="45720">
                    <a:lnR w="9525">
                      <a:solidFill>
                        <a:srgbClr val="D6E0E5"/>
                      </a:solidFill>
                      <a:prstDash val="solid"/>
                    </a:lnR>
                    <a:lnB w="9525">
                      <a:solidFill>
                        <a:srgbClr val="D6E0E5"/>
                      </a:solidFill>
                      <a:prstDash val="solid"/>
                    </a:lnB>
                    <a:solidFill>
                      <a:srgbClr val="D0E4ED"/>
                    </a:solidFill>
                  </a:tcPr>
                </a:tc>
              </a:tr>
            </a:tbl>
          </a:graphicData>
        </a:graphic>
      </p:graphicFrame>
      <p:sp>
        <p:nvSpPr>
          <p:cNvPr id="16" name="text">
            <a:extLst xmlns:a="http://schemas.openxmlformats.org/drawingml/2006/main">
              <a:ext uri="{FF2B5EF4-FFF2-40B4-BE49-F238E27FC236}">
                <a16:creationId xmlns:a16="http://schemas.microsoft.com/office/drawing/2014/main" id="{C72CFE92-7183-476B-8F3D-3812B5317110}"/>
              </a:ext>
            </a:extLst>
          </p:cNvPr>
          <p:cNvSpPr>
            <a:spLocks xmlns:a="http://schemas.openxmlformats.org/drawingml/2006/main" noGrp="1"/>
          </p:cNvSpPr>
          <p:nvPr/>
        </p:nvSpPr>
        <p:spPr>
          <a:xfrm xmlns:a="http://schemas.openxmlformats.org/drawingml/2006/main">
            <a:off x="9220200" y="4152900"/>
            <a:ext cx="25812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Wheat: 5 treatments in a 5 × 5 grid. Each letter occurs once per row and column.</a:t>
            </a:r>
          </a:p>
        </p:txBody>
      </p:sp>
      <p:sp>
        <p:nvSpPr>
          <p:cNvPr id="17" name="text">
            <a:extLst xmlns:a="http://schemas.openxmlformats.org/drawingml/2006/main">
              <a:ext uri="{FF2B5EF4-FFF2-40B4-BE49-F238E27FC236}">
                <a16:creationId xmlns:a16="http://schemas.microsoft.com/office/drawing/2014/main" id="{63F30156-334B-450C-A433-665531398FEF}"/>
              </a:ext>
            </a:extLst>
          </p:cNvPr>
          <p:cNvSpPr>
            <a:spLocks xmlns:a="http://schemas.openxmlformats.org/drawingml/2006/main" noGrp="1"/>
          </p:cNvSpPr>
          <p:nvPr/>
        </p:nvSpPr>
        <p:spPr>
          <a:xfrm xmlns:a="http://schemas.openxmlformats.org/drawingml/2006/main">
            <a:off x="9220200" y="5105400"/>
            <a:ext cx="2581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F = 21.03, p &lt; 0.001</a:t>
            </a:r>
          </a:p>
        </p:txBody>
      </p:sp>
      <p:sp>
        <p:nvSpPr>
          <p:cNvPr id="18" name="text">
            <a:extLst xmlns:a="http://schemas.openxmlformats.org/drawingml/2006/main">
              <a:ext uri="{FF2B5EF4-FFF2-40B4-BE49-F238E27FC236}">
                <a16:creationId xmlns:a16="http://schemas.microsoft.com/office/drawing/2014/main" id="{5425A212-07C7-4987-83BE-A8DE731D7A9A}"/>
              </a:ext>
            </a:extLst>
          </p:cNvPr>
          <p:cNvSpPr>
            <a:spLocks xmlns:a="http://schemas.openxmlformats.org/drawingml/2006/main" noGrp="1"/>
          </p:cNvSpPr>
          <p:nvPr/>
        </p:nvSpPr>
        <p:spPr>
          <a:xfrm xmlns:a="http://schemas.openxmlformats.org/drawingml/2006/main">
            <a:off x="9220200" y="5505450"/>
            <a:ext cx="25812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83044"/>
                </a:solidFill>
                <a:latin typeface="Arial"/>
                <a:ea typeface="Arial"/>
                <a:cs typeface="Arial"/>
              </a:defRPr>
            </a:defPPr>
          </a:lstStyle>
          <a:p xmlns:a="http://schemas.openxmlformats.org/drawingml/2006/main">
            <a:pPr>
              <a:defRPr sz="1575" b="1">
                <a:solidFill>
                  <a:srgbClr val="183044"/>
                </a:solidFill>
                <a:latin typeface="Arial"/>
                <a:ea typeface="Arial"/>
                <a:cs typeface="Arial"/>
              </a:defRPr>
            </a:pPr>
            <a:r>
              <a:rPr sz="1575" b="1">
                <a:solidFill>
                  <a:srgbClr val="183044"/>
                </a:solidFill>
                <a:latin typeface="Arial"/>
                <a:ea typeface="Arial"/>
                <a:cs typeface="Arial"/>
              </a:rPr>
              <a:t>C: highest mean, 13.12.</a:t>
            </a:r>
          </a:p>
          <a:p xmlns:a="http://schemas.openxmlformats.org/drawingml/2006/main">
            <a:pPr>
              <a:defRPr sz="1575" b="1">
                <a:solidFill>
                  <a:srgbClr val="183044"/>
                </a:solidFill>
                <a:latin typeface="Arial"/>
                <a:ea typeface="Arial"/>
                <a:cs typeface="Arial"/>
              </a:defRPr>
            </a:pPr>
            <a:r>
              <a:rPr sz="1575" b="1">
                <a:solidFill>
                  <a:srgbClr val="183044"/>
                </a:solidFill>
                <a:latin typeface="Arial"/>
                <a:ea typeface="Arial"/>
                <a:cs typeface="Arial"/>
              </a:rPr>
              <a:t>Weekly dusting.</a:t>
            </a:r>
          </a:p>
        </p:txBody>
      </p:sp>
      <p:sp>
        <p:nvSpPr>
          <p:cNvPr id="19" name="">
            <a:extLst xmlns:a="http://schemas.openxmlformats.org/drawingml/2006/main">
              <a:ext uri="{FF2B5EF4-FFF2-40B4-BE49-F238E27FC236}">
                <a16:creationId xmlns:a16="http://schemas.microsoft.com/office/drawing/2014/main" id="{AFD2ED0E-D579-485E-846D-54105EB982D9}"/>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0" name="text">
            <a:extLst xmlns:a="http://schemas.openxmlformats.org/drawingml/2006/main">
              <a:ext uri="{FF2B5EF4-FFF2-40B4-BE49-F238E27FC236}">
                <a16:creationId xmlns:a16="http://schemas.microsoft.com/office/drawing/2014/main" id="{D985220E-B964-44D8-8FAB-37A2236D1A4F}"/>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Blocks reduce unexplained error. Weekly dusting (C) has the highest wheat yield in its experiment.</a:t>
            </a:r>
          </a:p>
        </p:txBody>
      </p:sp>
      <p:sp>
        <p:nvSpPr>
          <p:cNvPr id="21" name="text">
            <a:extLst xmlns:a="http://schemas.openxmlformats.org/drawingml/2006/main">
              <a:ext uri="{FF2B5EF4-FFF2-40B4-BE49-F238E27FC236}">
                <a16:creationId xmlns:a16="http://schemas.microsoft.com/office/drawing/2014/main" id="{3C8F1752-96A4-4E1B-ADCE-1CBFE23975EB}"/>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11 / 12</a:t>
            </a:r>
          </a:p>
        </p:txBody>
      </p:sp>
    </p:spTree>
    <p:extLst>
      <p:ext uri="{BB962C8B-B14F-4D97-AF65-F5344CB8AC3E}">
        <p14:creationId xmlns:p14="http://schemas.microsoft.com/office/powerpoint/2010/main" val="50878420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
            <a:extLst xmlns:a="http://schemas.openxmlformats.org/drawingml/2006/main">
              <a:ext uri="{FF2B5EF4-FFF2-40B4-BE49-F238E27FC236}">
                <a16:creationId xmlns:a16="http://schemas.microsoft.com/office/drawing/2014/main" id="{402CDFB7-0E69-4755-9E98-C85A7A02AEE0}"/>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LABS 1–11: Findings, limitations and next steps</a:t>
            </a:r>
          </a:p>
        </p:txBody>
      </p:sp>
      <p:sp>
        <p:nvSpPr>
          <p:cNvPr id="2" name="">
            <a:extLst xmlns:a="http://schemas.openxmlformats.org/drawingml/2006/main">
              <a:ext uri="{FF2B5EF4-FFF2-40B4-BE49-F238E27FC236}">
                <a16:creationId xmlns:a16="http://schemas.microsoft.com/office/drawing/2014/main" id="{D7206F07-DAEA-40CE-847D-104F0F3C1ADC}"/>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D7DF432E-9258-4C82-8E90-0334593DA74F}"/>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Conclusion: findings and next steps</a:t>
            </a:r>
          </a:p>
        </p:txBody>
      </p:sp>
      <p:sp>
        <p:nvSpPr>
          <p:cNvPr id="4" name="text">
            <a:extLst xmlns:a="http://schemas.openxmlformats.org/drawingml/2006/main">
              <a:ext uri="{FF2B5EF4-FFF2-40B4-BE49-F238E27FC236}">
                <a16:creationId xmlns:a16="http://schemas.microsoft.com/office/drawing/2014/main" id="{9EB40B11-FD5D-4CB0-83A8-F0D946256E5F}"/>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We described health patterns and applied every course method using documented data.</a:t>
            </a:r>
          </a:p>
        </p:txBody>
      </p:sp>
      <p:sp>
        <p:nvSpPr>
          <p:cNvPr id="5" name="text">
            <a:extLst xmlns:a="http://schemas.openxmlformats.org/drawingml/2006/main">
              <a:ext uri="{FF2B5EF4-FFF2-40B4-BE49-F238E27FC236}">
                <a16:creationId xmlns:a16="http://schemas.microsoft.com/office/drawing/2014/main" id="{4DDCC23B-DC35-43B6-817C-99A7F2D34E9B}"/>
              </a:ext>
            </a:extLst>
          </p:cNvPr>
          <p:cNvSpPr>
            <a:spLocks xmlns:a="http://schemas.openxmlformats.org/drawingml/2006/main" noGrp="1"/>
          </p:cNvSpPr>
          <p:nvPr/>
        </p:nvSpPr>
        <p:spPr>
          <a:xfrm xmlns:a="http://schemas.openxmlformats.org/drawingml/2006/main">
            <a:off x="400050" y="1581150"/>
            <a:ext cx="714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What we found</a:t>
            </a:r>
          </a:p>
        </p:txBody>
      </p:sp>
      <p:sp>
        <p:nvSpPr>
          <p:cNvPr id="6" name="text">
            <a:extLst xmlns:a="http://schemas.openxmlformats.org/drawingml/2006/main">
              <a:ext uri="{FF2B5EF4-FFF2-40B4-BE49-F238E27FC236}">
                <a16:creationId xmlns:a16="http://schemas.microsoft.com/office/drawing/2014/main" id="{2FE5CA5F-C385-4D8F-8967-F8A9A4621852}"/>
              </a:ext>
            </a:extLst>
          </p:cNvPr>
          <p:cNvSpPr>
            <a:spLocks xmlns:a="http://schemas.openxmlformats.org/drawingml/2006/main" noGrp="1"/>
          </p:cNvSpPr>
          <p:nvPr/>
        </p:nvSpPr>
        <p:spPr>
          <a:xfrm xmlns:a="http://schemas.openxmlformats.org/drawingml/2006/main">
            <a:off x="400050" y="1990725"/>
            <a:ext cx="7124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Higher average BMI in positive groups</a:t>
            </a:r>
          </a:p>
        </p:txBody>
      </p:sp>
      <p:sp>
        <p:nvSpPr>
          <p:cNvPr id="7" name="text">
            <a:extLst xmlns:a="http://schemas.openxmlformats.org/drawingml/2006/main">
              <a:ext uri="{FF2B5EF4-FFF2-40B4-BE49-F238E27FC236}">
                <a16:creationId xmlns:a16="http://schemas.microsoft.com/office/drawing/2014/main" id="{EF2AA9D6-EABB-46DA-AD23-122B15827940}"/>
              </a:ext>
            </a:extLst>
          </p:cNvPr>
          <p:cNvSpPr>
            <a:spLocks xmlns:a="http://schemas.openxmlformats.org/drawingml/2006/main" noGrp="1"/>
          </p:cNvSpPr>
          <p:nvPr/>
        </p:nvSpPr>
        <p:spPr>
          <a:xfrm xmlns:a="http://schemas.openxmlformats.org/drawingml/2006/main">
            <a:off x="400050" y="2324100"/>
            <a:ext cx="712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27.72 without diabetes, 32.85 prediabetes, 31.98 diabetes.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Individual values still overlap.</a:t>
            </a:r>
          </a:p>
        </p:txBody>
      </p:sp>
      <p:sp>
        <p:nvSpPr>
          <p:cNvPr id="8" name="">
            <a:extLst xmlns:a="http://schemas.openxmlformats.org/drawingml/2006/main">
              <a:ext uri="{FF2B5EF4-FFF2-40B4-BE49-F238E27FC236}">
                <a16:creationId xmlns:a16="http://schemas.microsoft.com/office/drawing/2014/main" id="{90E3E35A-B258-41D9-B03F-21816C04EE96}"/>
              </a:ext>
            </a:extLst>
          </p:cNvPr>
          <p:cNvSpPr>
            <a:spLocks xmlns:a="http://schemas.openxmlformats.org/drawingml/2006/main" noGrp="1"/>
          </p:cNvSpPr>
          <p:nvPr/>
        </p:nvSpPr>
        <p:spPr>
          <a:xfrm xmlns:a="http://schemas.openxmlformats.org/drawingml/2006/main">
            <a:off x="400050" y="2886075"/>
            <a:ext cx="71247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9" name="text">
            <a:extLst xmlns:a="http://schemas.openxmlformats.org/drawingml/2006/main">
              <a:ext uri="{FF2B5EF4-FFF2-40B4-BE49-F238E27FC236}">
                <a16:creationId xmlns:a16="http://schemas.microsoft.com/office/drawing/2014/main" id="{12494740-0211-4B5A-936F-A9C50551FA81}"/>
              </a:ext>
            </a:extLst>
          </p:cNvPr>
          <p:cNvSpPr>
            <a:spLocks xmlns:a="http://schemas.openxmlformats.org/drawingml/2006/main" noGrp="1"/>
          </p:cNvSpPr>
          <p:nvPr/>
        </p:nvSpPr>
        <p:spPr>
          <a:xfrm xmlns:a="http://schemas.openxmlformats.org/drawingml/2006/main">
            <a:off x="400050" y="2952750"/>
            <a:ext cx="7124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Regression explains a small share</a:t>
            </a:r>
          </a:p>
        </p:txBody>
      </p:sp>
      <p:sp>
        <p:nvSpPr>
          <p:cNvPr id="10" name="text">
            <a:extLst xmlns:a="http://schemas.openxmlformats.org/drawingml/2006/main">
              <a:ext uri="{FF2B5EF4-FFF2-40B4-BE49-F238E27FC236}">
                <a16:creationId xmlns:a16="http://schemas.microsoft.com/office/drawing/2014/main" id="{5BAFC932-0268-40BF-AA8C-7A0F7EDBEF2D}"/>
              </a:ext>
            </a:extLst>
          </p:cNvPr>
          <p:cNvSpPr>
            <a:spLocks xmlns:a="http://schemas.openxmlformats.org/drawingml/2006/main" noGrp="1"/>
          </p:cNvSpPr>
          <p:nvPr/>
        </p:nvSpPr>
        <p:spPr>
          <a:xfrm xmlns:a="http://schemas.openxmlformats.org/drawingml/2006/main">
            <a:off x="400050" y="3286125"/>
            <a:ext cx="712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R²: 1.03% (simple), 6.81% (multiple).</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Most BMI variation remains unexplained.</a:t>
            </a:r>
          </a:p>
        </p:txBody>
      </p:sp>
      <p:sp>
        <p:nvSpPr>
          <p:cNvPr id="11" name="">
            <a:extLst xmlns:a="http://schemas.openxmlformats.org/drawingml/2006/main">
              <a:ext uri="{FF2B5EF4-FFF2-40B4-BE49-F238E27FC236}">
                <a16:creationId xmlns:a16="http://schemas.microsoft.com/office/drawing/2014/main" id="{14BC658F-45D6-4E07-8995-6371FD7986B1}"/>
              </a:ext>
            </a:extLst>
          </p:cNvPr>
          <p:cNvSpPr>
            <a:spLocks xmlns:a="http://schemas.openxmlformats.org/drawingml/2006/main" noGrp="1"/>
          </p:cNvSpPr>
          <p:nvPr/>
        </p:nvSpPr>
        <p:spPr>
          <a:xfrm xmlns:a="http://schemas.openxmlformats.org/drawingml/2006/main">
            <a:off x="400050" y="3848100"/>
            <a:ext cx="71247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2" name="text">
            <a:extLst xmlns:a="http://schemas.openxmlformats.org/drawingml/2006/main">
              <a:ext uri="{FF2B5EF4-FFF2-40B4-BE49-F238E27FC236}">
                <a16:creationId xmlns:a16="http://schemas.microsoft.com/office/drawing/2014/main" id="{3D5DE960-A535-4452-8712-A347B5F98212}"/>
              </a:ext>
            </a:extLst>
          </p:cNvPr>
          <p:cNvSpPr>
            <a:spLocks xmlns:a="http://schemas.openxmlformats.org/drawingml/2006/main" noGrp="1"/>
          </p:cNvSpPr>
          <p:nvPr/>
        </p:nvSpPr>
        <p:spPr>
          <a:xfrm xmlns:a="http://schemas.openxmlformats.org/drawingml/2006/main">
            <a:off x="400050" y="3914775"/>
            <a:ext cx="7124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Outliers and model checks matter</a:t>
            </a:r>
          </a:p>
        </p:txBody>
      </p:sp>
      <p:sp>
        <p:nvSpPr>
          <p:cNvPr id="13" name="text">
            <a:extLst xmlns:a="http://schemas.openxmlformats.org/drawingml/2006/main">
              <a:ext uri="{FF2B5EF4-FFF2-40B4-BE49-F238E27FC236}">
                <a16:creationId xmlns:a16="http://schemas.microsoft.com/office/drawing/2014/main" id="{0262DCC1-D798-42A9-B0E6-84BFB8D4B8E7}"/>
              </a:ext>
            </a:extLst>
          </p:cNvPr>
          <p:cNvSpPr>
            <a:spLocks xmlns:a="http://schemas.openxmlformats.org/drawingml/2006/main" noGrp="1"/>
          </p:cNvSpPr>
          <p:nvPr/>
        </p:nvSpPr>
        <p:spPr>
          <a:xfrm xmlns:a="http://schemas.openxmlformats.org/drawingml/2006/main">
            <a:off x="400050" y="4248150"/>
            <a:ext cx="712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Removing 114 flags lowers mean BMI from 28.40 to 27.65.</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Binomial fits reasonably. Normal and Poisson fit poorly.</a:t>
            </a:r>
          </a:p>
        </p:txBody>
      </p:sp>
      <p:sp>
        <p:nvSpPr>
          <p:cNvPr id="14" name="">
            <a:extLst xmlns:a="http://schemas.openxmlformats.org/drawingml/2006/main">
              <a:ext uri="{FF2B5EF4-FFF2-40B4-BE49-F238E27FC236}">
                <a16:creationId xmlns:a16="http://schemas.microsoft.com/office/drawing/2014/main" id="{2D40A5E3-2ECD-4D66-B323-A4C3883E5173}"/>
              </a:ext>
            </a:extLst>
          </p:cNvPr>
          <p:cNvSpPr>
            <a:spLocks xmlns:a="http://schemas.openxmlformats.org/drawingml/2006/main" noGrp="1"/>
          </p:cNvSpPr>
          <p:nvPr/>
        </p:nvSpPr>
        <p:spPr>
          <a:xfrm xmlns:a="http://schemas.openxmlformats.org/drawingml/2006/main">
            <a:off x="400050" y="4810125"/>
            <a:ext cx="71247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5" name="text">
            <a:extLst xmlns:a="http://schemas.openxmlformats.org/drawingml/2006/main">
              <a:ext uri="{FF2B5EF4-FFF2-40B4-BE49-F238E27FC236}">
                <a16:creationId xmlns:a16="http://schemas.microsoft.com/office/drawing/2014/main" id="{B2BF0745-9D7A-4EBB-9A00-95B57A288099}"/>
              </a:ext>
            </a:extLst>
          </p:cNvPr>
          <p:cNvSpPr>
            <a:spLocks xmlns:a="http://schemas.openxmlformats.org/drawingml/2006/main" noGrp="1"/>
          </p:cNvSpPr>
          <p:nvPr/>
        </p:nvSpPr>
        <p:spPr>
          <a:xfrm xmlns:a="http://schemas.openxmlformats.org/drawingml/2006/main">
            <a:off x="400050" y="4876800"/>
            <a:ext cx="7124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The design changes the comparison</a:t>
            </a:r>
          </a:p>
        </p:txBody>
      </p:sp>
      <p:sp>
        <p:nvSpPr>
          <p:cNvPr id="16" name="text">
            <a:extLst xmlns:a="http://schemas.openxmlformats.org/drawingml/2006/main">
              <a:ext uri="{FF2B5EF4-FFF2-40B4-BE49-F238E27FC236}">
                <a16:creationId xmlns:a16="http://schemas.microsoft.com/office/drawing/2014/main" id="{1AAF1245-4631-4FAE-B3E5-03DC013C6E2D}"/>
              </a:ext>
            </a:extLst>
          </p:cNvPr>
          <p:cNvSpPr>
            <a:spLocks xmlns:a="http://schemas.openxmlformats.org/drawingml/2006/main" noGrp="1"/>
          </p:cNvSpPr>
          <p:nvPr/>
        </p:nvSpPr>
        <p:spPr>
          <a:xfrm xmlns:a="http://schemas.openxmlformats.org/drawingml/2006/main">
            <a:off x="400050" y="5210175"/>
            <a:ext cx="712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BP has a larger status association than smoking.</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Blocks cut error by 44.8%. Wheat treatment C yields most.</a:t>
            </a:r>
          </a:p>
        </p:txBody>
      </p:sp>
      <p:sp>
        <p:nvSpPr>
          <p:cNvPr id="17" name="">
            <a:extLst xmlns:a="http://schemas.openxmlformats.org/drawingml/2006/main">
              <a:ext uri="{FF2B5EF4-FFF2-40B4-BE49-F238E27FC236}">
                <a16:creationId xmlns:a16="http://schemas.microsoft.com/office/drawing/2014/main" id="{31BBFB55-6D56-4184-9CC9-D819199E3FBD}"/>
              </a:ext>
            </a:extLst>
          </p:cNvPr>
          <p:cNvSpPr>
            <a:spLocks xmlns:a="http://schemas.openxmlformats.org/drawingml/2006/main" noGrp="1"/>
          </p:cNvSpPr>
          <p:nvPr/>
        </p:nvSpPr>
        <p:spPr>
          <a:xfrm xmlns:a="http://schemas.openxmlformats.org/drawingml/2006/main">
            <a:off x="7839075" y="1619250"/>
            <a:ext cx="19050" cy="4210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8" name="text">
            <a:extLst xmlns:a="http://schemas.openxmlformats.org/drawingml/2006/main">
              <a:ext uri="{FF2B5EF4-FFF2-40B4-BE49-F238E27FC236}">
                <a16:creationId xmlns:a16="http://schemas.microsoft.com/office/drawing/2014/main" id="{EAAD3B16-0C51-45EE-B7B0-DF9FD86474B5}"/>
              </a:ext>
            </a:extLst>
          </p:cNvPr>
          <p:cNvSpPr>
            <a:spLocks xmlns:a="http://schemas.openxmlformats.org/drawingml/2006/main" noGrp="1"/>
          </p:cNvSpPr>
          <p:nvPr/>
        </p:nvSpPr>
        <p:spPr>
          <a:xfrm xmlns:a="http://schemas.openxmlformats.org/drawingml/2006/main">
            <a:off x="8191500" y="1581150"/>
            <a:ext cx="3571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Limits</a:t>
            </a:r>
          </a:p>
        </p:txBody>
      </p:sp>
      <p:sp>
        <p:nvSpPr>
          <p:cNvPr id="19" name="text">
            <a:extLst xmlns:a="http://schemas.openxmlformats.org/drawingml/2006/main">
              <a:ext uri="{FF2B5EF4-FFF2-40B4-BE49-F238E27FC236}">
                <a16:creationId xmlns:a16="http://schemas.microsoft.com/office/drawing/2014/main" id="{17630E17-A546-4635-9DDB-23F374704828}"/>
              </a:ext>
            </a:extLst>
          </p:cNvPr>
          <p:cNvSpPr>
            <a:spLocks xmlns:a="http://schemas.openxmlformats.org/drawingml/2006/main" noGrp="1"/>
          </p:cNvSpPr>
          <p:nvPr/>
        </p:nvSpPr>
        <p:spPr>
          <a:xfrm xmlns:a="http://schemas.openxmlformats.org/drawingml/2006/main">
            <a:off x="8191500" y="2038350"/>
            <a:ext cx="359092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2015, self-reported data.</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Small groups add uncertainty.</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Associations do not prove causes.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Low R² limits prediction.</a:t>
            </a:r>
          </a:p>
        </p:txBody>
      </p:sp>
      <p:sp>
        <p:nvSpPr>
          <p:cNvPr id="20" name="text">
            <a:extLst xmlns:a="http://schemas.openxmlformats.org/drawingml/2006/main">
              <a:ext uri="{FF2B5EF4-FFF2-40B4-BE49-F238E27FC236}">
                <a16:creationId xmlns:a16="http://schemas.microsoft.com/office/drawing/2014/main" id="{60388A41-CC67-41E0-8575-F85780645148}"/>
              </a:ext>
            </a:extLst>
          </p:cNvPr>
          <p:cNvSpPr>
            <a:spLocks xmlns:a="http://schemas.openxmlformats.org/drawingml/2006/main" noGrp="1"/>
          </p:cNvSpPr>
          <p:nvPr/>
        </p:nvSpPr>
        <p:spPr>
          <a:xfrm xmlns:a="http://schemas.openxmlformats.org/drawingml/2006/main">
            <a:off x="8191500" y="3724275"/>
            <a:ext cx="3571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Next steps</a:t>
            </a:r>
          </a:p>
        </p:txBody>
      </p:sp>
      <p:sp>
        <p:nvSpPr>
          <p:cNvPr id="21" name="text">
            <a:extLst xmlns:a="http://schemas.openxmlformats.org/drawingml/2006/main">
              <a:ext uri="{FF2B5EF4-FFF2-40B4-BE49-F238E27FC236}">
                <a16:creationId xmlns:a16="http://schemas.microsoft.com/office/drawing/2014/main" id="{28E5D311-4C8A-4B6E-B55D-00AC35991F36}"/>
              </a:ext>
            </a:extLst>
          </p:cNvPr>
          <p:cNvSpPr>
            <a:spLocks xmlns:a="http://schemas.openxmlformats.org/drawingml/2006/main" noGrp="1"/>
          </p:cNvSpPr>
          <p:nvPr/>
        </p:nvSpPr>
        <p:spPr>
          <a:xfrm xmlns:a="http://schemas.openxmlformats.org/drawingml/2006/main">
            <a:off x="8191500" y="4181475"/>
            <a:ext cx="3590925"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Use newer, better measurements.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Add useful BMI predictors.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Evaluate on unseen data.</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Repeat the model checks.</a:t>
            </a:r>
          </a:p>
        </p:txBody>
      </p:sp>
      <p:sp>
        <p:nvSpPr>
          <p:cNvPr id="22" name="">
            <a:extLst xmlns:a="http://schemas.openxmlformats.org/drawingml/2006/main">
              <a:ext uri="{FF2B5EF4-FFF2-40B4-BE49-F238E27FC236}">
                <a16:creationId xmlns:a16="http://schemas.microsoft.com/office/drawing/2014/main" id="{7CF622FD-464E-4014-9353-3644485338D2}"/>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3" name="text">
            <a:extLst xmlns:a="http://schemas.openxmlformats.org/drawingml/2006/main">
              <a:ext uri="{FF2B5EF4-FFF2-40B4-BE49-F238E27FC236}">
                <a16:creationId xmlns:a16="http://schemas.microsoft.com/office/drawing/2014/main" id="{A47476D2-3839-46B6-8100-027A8EEB828A}"/>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All 11 labs are covered. The findings follow the data and their limitations.</a:t>
            </a:r>
          </a:p>
        </p:txBody>
      </p:sp>
      <p:sp>
        <p:nvSpPr>
          <p:cNvPr id="24" name="text">
            <a:extLst xmlns:a="http://schemas.openxmlformats.org/drawingml/2006/main">
              <a:ext uri="{FF2B5EF4-FFF2-40B4-BE49-F238E27FC236}">
                <a16:creationId xmlns:a16="http://schemas.microsoft.com/office/drawing/2014/main" id="{9842461C-E635-4DA8-A8E1-B7CB490E4087}"/>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12 / 12</a:t>
            </a:r>
          </a:p>
        </p:txBody>
      </p:sp>
    </p:spTree>
    <p:extLst>
      <p:ext uri="{BB962C8B-B14F-4D97-AF65-F5344CB8AC3E}">
        <p14:creationId xmlns:p14="http://schemas.microsoft.com/office/powerpoint/2010/main" val="13683521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2026-10-12T16:33:13.0410000Z</dcterms:created>
  <dcterms:modified xsi:type="dcterms:W3CDTF">2026-10-12T16:33:13.0410000Z</dcterms:modified>
</coreProperties>
</file>