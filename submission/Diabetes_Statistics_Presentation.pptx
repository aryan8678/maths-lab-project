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6.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7.xml" ContentType="application/vnd.openxmlformats-officedocument.drawingml.chart+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570a80d8cc24cb4" /><Relationship Type="http://schemas.openxmlformats.org/officeDocument/2006/relationships/extended-properties" Target="/docProps/app.xml" Id="Rd8223c0506c44f53" /><Relationship Type="http://schemas.openxmlformats.org/officeDocument/2006/relationships/officeDocument" Target="/ppt/presentation.xml" Id="R324b589cae3a434b" /></Relationships>
</file>

<file path=ppt/presentation.xml><?xml version="1.0" encoding="utf-8"?>
<p:presentation xmlns:p="http://schemas.openxmlformats.org/presentationml/2006/main">
  <p:sldMasterIdLst>
    <p:sldMasterId xmlns:r="http://schemas.openxmlformats.org/officeDocument/2006/relationships" id="2147483648" r:id="R6d11aa1b5c464f22"/>
  </p:sldMasterIdLst>
  <p:notesMasterIdLst>
    <p:notesMasterId xmlns:r="http://schemas.openxmlformats.org/officeDocument/2006/relationships" r:id="R5342d7b815f1454d"/>
  </p:notesMasterIdLst>
  <p:sldIdLst>
    <p:sldId xmlns:r="http://schemas.openxmlformats.org/officeDocument/2006/relationships" id="256" r:id="Rc132da9d3b1d4fdb"/>
    <p:sldId xmlns:r="http://schemas.openxmlformats.org/officeDocument/2006/relationships" id="257" r:id="R6023d7bd87d942ed"/>
    <p:sldId xmlns:r="http://schemas.openxmlformats.org/officeDocument/2006/relationships" id="258" r:id="R24ebb2a3a23e41ac"/>
    <p:sldId xmlns:r="http://schemas.openxmlformats.org/officeDocument/2006/relationships" id="259" r:id="R69b5771cdcb14520"/>
    <p:sldId xmlns:r="http://schemas.openxmlformats.org/officeDocument/2006/relationships" id="260" r:id="R1cea607e006a4f25"/>
    <p:sldId xmlns:r="http://schemas.openxmlformats.org/officeDocument/2006/relationships" id="261" r:id="Rf794ec2779ae4d39"/>
    <p:sldId xmlns:r="http://schemas.openxmlformats.org/officeDocument/2006/relationships" id="262" r:id="Rd67a1aecb9cb46cf"/>
    <p:sldId xmlns:r="http://schemas.openxmlformats.org/officeDocument/2006/relationships" id="263" r:id="Raecd98c2593142ed"/>
    <p:sldId xmlns:r="http://schemas.openxmlformats.org/officeDocument/2006/relationships" id="264" r:id="R1c8b2fca1d9f465f"/>
    <p:sldId xmlns:r="http://schemas.openxmlformats.org/officeDocument/2006/relationships" id="265" r:id="R2f465a08f207459f"/>
    <p:sldId xmlns:r="http://schemas.openxmlformats.org/officeDocument/2006/relationships" id="266" r:id="R13e325acc76e415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0f6313b85094def" /><Relationship Type="http://schemas.openxmlformats.org/officeDocument/2006/relationships/slideMaster" Target="/ppt/slideMasters/slideMaster1.xml" Id="R6d11aa1b5c464f22" /><Relationship Type="http://schemas.openxmlformats.org/officeDocument/2006/relationships/notesMaster" Target="/ppt/notesMasters/notesMaster1.xml" Id="R5342d7b815f1454d" /><Relationship Type="http://schemas.openxmlformats.org/officeDocument/2006/relationships/presProps" Target="/ppt/presProps.xml" Id="R53f403dfb0974100" /><Relationship Type="http://schemas.openxmlformats.org/officeDocument/2006/relationships/tableStyles" Target="/ppt/tableStyles.xml" Id="Rabbbb165cc8b4e42" /><Relationship Type="http://schemas.openxmlformats.org/officeDocument/2006/relationships/slide" Target="/ppt/slides/slide1.xml" Id="Rc132da9d3b1d4fdb" /><Relationship Type="http://schemas.openxmlformats.org/officeDocument/2006/relationships/slide" Target="/ppt/slides/slide2.xml" Id="R6023d7bd87d942ed" /><Relationship Type="http://schemas.openxmlformats.org/officeDocument/2006/relationships/slide" Target="/ppt/slides/slide3.xml" Id="R24ebb2a3a23e41ac" /><Relationship Type="http://schemas.openxmlformats.org/officeDocument/2006/relationships/slide" Target="/ppt/slides/slide4.xml" Id="R69b5771cdcb14520" /><Relationship Type="http://schemas.openxmlformats.org/officeDocument/2006/relationships/slide" Target="/ppt/slides/slide5.xml" Id="R1cea607e006a4f25" /><Relationship Type="http://schemas.openxmlformats.org/officeDocument/2006/relationships/slide" Target="/ppt/slides/slide6.xml" Id="Rf794ec2779ae4d39" /><Relationship Type="http://schemas.openxmlformats.org/officeDocument/2006/relationships/slide" Target="/ppt/slides/slide7.xml" Id="Rd67a1aecb9cb46cf" /><Relationship Type="http://schemas.openxmlformats.org/officeDocument/2006/relationships/slide" Target="/ppt/slides/slide8.xml" Id="Raecd98c2593142ed" /><Relationship Type="http://schemas.openxmlformats.org/officeDocument/2006/relationships/slide" Target="/ppt/slides/slide9.xml" Id="R1c8b2fca1d9f465f" /><Relationship Type="http://schemas.openxmlformats.org/officeDocument/2006/relationships/slide" Target="/ppt/slides/slide10.xml" Id="R2f465a08f207459f" /><Relationship Type="http://schemas.openxmlformats.org/officeDocument/2006/relationships/slide" Target="/ppt/slides/slide11.xml" Id="R13e325acc76e415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129ed1b3de0442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baf58a63b848c8" /><Relationship Type="http://schemas.openxmlformats.org/officeDocument/2006/relationships/notesMaster" Target="/ppt/notesMasters/notesMaster1.xml" Id="Rad737594125b4b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e59d241a14044df0" /><Relationship Type="http://schemas.openxmlformats.org/officeDocument/2006/relationships/notesMaster" Target="/ppt/notesMasters/notesMaster1.xml" Id="R5dec3a32554a4b71" /></Relationships>
</file>

<file path=ppt/notesSlides/_rels/notesSlide3.xml.rels>&#65279;<?xml version="1.0" encoding="utf-8"?><Relationships xmlns="http://schemas.openxmlformats.org/package/2006/relationships"><Relationship Type="http://schemas.openxmlformats.org/officeDocument/2006/relationships/slide" Target="/ppt/slides/slide3.xml" Id="Rcd82fbd3c5f44606" /><Relationship Type="http://schemas.openxmlformats.org/officeDocument/2006/relationships/notesMaster" Target="/ppt/notesMasters/notesMaster1.xml" Id="R857aa8dddbff4bce"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c092c1dcfb498d" /><Relationship Type="http://schemas.openxmlformats.org/officeDocument/2006/relationships/notesMaster" Target="/ppt/notesMasters/notesMaster1.xml" Id="Rdd925558794047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971ce27277404726" /><Relationship Type="http://schemas.openxmlformats.org/officeDocument/2006/relationships/notesMaster" Target="/ppt/notesMasters/notesMaster1.xml" Id="Rc170df21d9c8471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5c1c508362f412e" /><Relationship Type="http://schemas.openxmlformats.org/officeDocument/2006/relationships/notesMaster" Target="/ppt/notesMasters/notesMaster1.xml" Id="R1b5a6af70b9e47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349d0a18501e4c9c" /><Relationship Type="http://schemas.openxmlformats.org/officeDocument/2006/relationships/notesMaster" Target="/ppt/notesMasters/notesMaster1.xml" Id="R9b0eac19afb44bea" /></Relationships>
</file>

<file path=ppt/notesSlides/_rels/notesSlide8.xml.rels>&#65279;<?xml version="1.0" encoding="utf-8"?><Relationships xmlns="http://schemas.openxmlformats.org/package/2006/relationships"><Relationship Type="http://schemas.openxmlformats.org/officeDocument/2006/relationships/slide" Target="/ppt/slides/slide8.xml" Id="R87b577fe72fa42d8" /><Relationship Type="http://schemas.openxmlformats.org/officeDocument/2006/relationships/notesMaster" Target="/ppt/notesMasters/notesMaster1.xml" Id="R30fc4ac1e1454d0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5d282e7465a4ecc" /><Relationship Type="http://schemas.openxmlformats.org/officeDocument/2006/relationships/notesMaster" Target="/ppt/notesMasters/notesMaster1.xml" Id="Ra192b3cc2024469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20c511e6a354d7b" /><Relationship Type="http://schemas.openxmlformats.org/officeDocument/2006/relationships/notesMaster" Target="/ppt/notesMasters/notesMaster1.xml" Id="Rb98e7e70da25450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dd1a956f9424fc1" /><Relationship Type="http://schemas.openxmlformats.org/officeDocument/2006/relationships/notesMaster" Target="/ppt/notesMasters/notesMaster1.xml" Id="R1de4735071284a3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project and four team members. The main dataset is the processed CDC BRFSS 2015 derivative. Experimental datasets supplement the methods that require genuine pairing or randomized designs. Suggested time: 20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Secondary data collection: CDC BRFSS 2015, processed by Alex Teboul on Kaggle. Exact derivative: 253680 rows, 22 raw columns (21 predictors plus target). Random sample without replacement, seed101. Combined positive status includes prediabetes OR diabetes:469/3000=15.633%. Original CDC survey441456 records. The derivative omits survey-design weights, so the study supports sample associations rather than national prevalence. Explain source, relevance, size and variables. Suggested time: 75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Experiment1: types, import/export. Labs00/01. We read CSV, select3000 with seed101, inspect schema, missingness and allowed codes/ranges, and convert categories to readable factors. Missing cells0, invalid records0. The sample has13 repeated feature profiles, which do not establish duplicated people. RDS preserves factor levels and CSV provides portable output. Scripts retain source-row lineage. BMI/health days remain numeric, age/income/education are ordered bands but regression uses category contrasts. Suggested time: 60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Lab01B, additional presentation requirement. Fences are Q1−1.5IQR and Q3+1.5IQR.114 observations (3.8%) are high-side flags. The source-row ledger records their BMI/status. Demonstrate actual removal with the2886-row sensitivity dataset and compare mean, variance and status composition. Valid extreme BMI values stay in the primary analysis because being unusual does not establish error. The removal comparison is explicitly a different analysis sample. Suggested time: 90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Experiment2, Lab02. The numeric summary uses sample SD/variance (n−1). BMI units kg/m²; variance squared units. Mental/physical days have median0, while means3.256 and4.152 indicate right-skewness. Graphs demonstrate histogram, boxplot, density, education bar and sex pie; physical-day bar and all29 original drawings are in the atlas. The no-school group has2 respondents. Explain bar comparison, pie proportions and the density right tail. Suggested time: 90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Experiment3, Lab03. Pearsonr .101606,95%CI .06606–.13689,p&lt;.001; Spearman .107897. Slope .074898,95%CI .048637–.101159. Covariance5.56044 BMI×days measures shared variation; correlation scales it. R² .0103238. A one-day increase is associated with0.075BMI units in the fitted line. Boxplots and means show higher average BMI in prediabetes/diabetes, with overlapping distributions. Prediabetesn48 limits precision. The model estimates BMI associations rather than causal effects. Suggested time: 100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Experiment4, Lab04. BMI response with factor Age/Income/Education, activity and ever100-cigarettes indicator. References age50–54, income35–50k, high school, inactive, never100. R² .068067,adjusted .059917. Joint partialF tests account for other predictors. Smoking BMI coefficient−.0633,CI−.5206 to .3940,p.786. The right-skewed residuals and uneven spread limit the approximation. Cook4/n flags140 for review. Filtering yields adjustedR²4.89%. Full coefficients, confidence intervals and VIFs remain in the report/CSV. No diabetes classification accuracy is claimed. Suggested time: 100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Experiments5/6, Labs05/06. Binomial:300 artificial groups of10,rawpositivep .156333; pooled MLE .154999,chi .287105,df3,p .962435,expectedmin16.65. Plot aggregates5–10 into5+ for readability. NormalBMI mean28.398,SD6.351,ShapiroW.896929,p&lt;.001. Poisson rawmeanlambda4.151667,var74.240077,dispersion17.88199,zeros62.9%,30days7.4%. Native chart aggregates full support, including&gt;30. Formal pooled test uses grouped MLElambda1.797448,chi41781.676,df6,p&lt;.001,expectedmin7.65. Ordinary overlay uses rawmean; the two estimation procedures are distinguished in the report. Describe why normal/Poisson fail rather than forcing a good fit. Suggested time: 100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Experiments7/8/9, Labs07/08/09a/09b. All alternatives two-sided. BMI27 and positive proportion11% are hypothetical classroom benchmarks. Welch BMI differencefemale−male−.6494,CI−1.0958 to−.2030,p.004368; smokerpositive14.087% versus17.361%,difference−3.273pp,CI−5.953 to−.594,p.015765 using continuity correction. PhysHlthfemale−male1.2463days,CI.6343 to1.8584,p&lt;.001. Genuine paired example uses29 CBT patients from MASS anorexia, postminuspre mean3.0069lb,CI.2269 to5.7869,t2.2156,df28,p.0350. Non-normal differences Shapiro.00795 and signed-rank sensitivityp.0645 make this result method-sensitive. A within-group change does not prove treatment efficacy. Patient trajectories are blue and average orange. Suggested time: 120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 rubric: connect findings to the aim. Values come from Lab02/03/04/01B/06. Group means differ with overlap, not diagnostic separation. Discuss practical magnitude alongside significance. The survey is self-reported/historical with omitted survey weights, confounding and sparse subgroups; these belong in the technical notes/report. Explain simple visible limitations: self-report, small groups, associations not causation. Further work could add useful predictors and repeat/check the models. Detailed chi-square/ANOVA/design findings are confined to the final slide, as requested. Suggested time: 60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content slide ONLY covers Course Experiments10/11. Lab10: exactuniform13-agebandnullchi678.125,df12,p&lt;.001; status×HighBPchi226.282,df1,p&lt;.001,V.27464; status×smokerchi6.07459,df1,p.013714,V.0449985. All expectedcounts&gt;5, no continuity correction. EducationANOVA is observational,F14.406,p&lt;.001,eta².02349; unequal variances motivate Welchp.000351 and Holm comparisons. Genuine CRD Cochran:32potato plots,7sulfur treatments,F3.608,p.010262; Tukey controlOminusF12difference16.875pp,p.005965. RCBD Gomez rice:24plots,6rates,4completeblocks; blockF5.862,p.007416,rateF2.168,p.112809; residualMSE falls200152 to110558 (44.76%). Latin Goulden:5trts,5rows,5cols,25plots; rowp.01328,colp.26343,treatmentF21.032,p.00002366; Cweeklydustmean13.12 exceeds allotherTukeycomparisons; sourceyieldunitsunspecified. Additive designs assume no interactions. Clearly distinguish survey-group ANOVA from real randomization. Suggested time: 180 seconds. Data sources: 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45786710fad426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9351193735b408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9f3298505494f6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33751e028c64b7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1de6840de5940e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1e78f9f025346b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F212EEE-161C-483D-867C-AF3F2C304E2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A147AE0-9502-44CD-A7A4-AF5A66DBF5F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4102724-7D89-45F6-9745-88863C42AF9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350674-E564-4A55-8604-C6D9900ADD8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F3F22B2-8CAC-41B2-AE32-B1201F8E966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C045CBD-15A8-4BFA-8445-5927C9A0C97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88A4A27-E647-40DC-8C95-F89C4BB7507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481F663-CC90-42B8-A4C4-E664E7E59B9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1559C2-5343-4EEB-8126-A130D0DB87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2A1E1F-970D-4018-8275-136945CAC8B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4ed41dff494143" /><Relationship Type="http://schemas.openxmlformats.org/officeDocument/2006/relationships/slideLayout" Target="/ppt/slideLayouts/slideLayout1.xml" Id="R1bc635377bbc4d3a" /><Relationship Type="http://schemas.openxmlformats.org/officeDocument/2006/relationships/slideLayout" Target="/ppt/slideLayouts/slideLayout2.xml" Id="R965d033de5934baf" /><Relationship Type="http://schemas.openxmlformats.org/officeDocument/2006/relationships/slideLayout" Target="/ppt/slideLayouts/slideLayout3.xml" Id="R035cfd7c403742b9" /><Relationship Type="http://schemas.openxmlformats.org/officeDocument/2006/relationships/slideLayout" Target="/ppt/slideLayouts/slideLayout4.xml" Id="Rbd6db977aa314830" /><Relationship Type="http://schemas.openxmlformats.org/officeDocument/2006/relationships/slideLayout" Target="/ppt/slideLayouts/slideLayout5.xml" Id="R68eebfc2caa34b86" /><Relationship Type="http://schemas.openxmlformats.org/officeDocument/2006/relationships/slideLayout" Target="/ppt/slideLayouts/slideLayout6.xml" Id="R7dcc0095841f429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bc635377bbc4d3a"/>
    <p:sldLayoutId xmlns:r="http://schemas.openxmlformats.org/officeDocument/2006/relationships" id="2147483650" r:id="R965d033de5934baf"/>
    <p:sldLayoutId xmlns:r="http://schemas.openxmlformats.org/officeDocument/2006/relationships" id="2147483651" r:id="R035cfd7c403742b9"/>
    <p:sldLayoutId xmlns:r="http://schemas.openxmlformats.org/officeDocument/2006/relationships" id="2147483652" r:id="Rbd6db977aa314830"/>
    <p:sldLayoutId xmlns:r="http://schemas.openxmlformats.org/officeDocument/2006/relationships" id="2147483653" r:id="R68eebfc2caa34b86"/>
    <p:sldLayoutId xmlns:r="http://schemas.openxmlformats.org/officeDocument/2006/relationships" id="2147483654" r:id="R7dcc0095841f429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95e655d99a546c5" /><Relationship Type="http://schemas.openxmlformats.org/officeDocument/2006/relationships/notesSlide" Target="/ppt/notesSlides/notesSlide1.xml" Id="R299ed4275ad54b0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8ac37eef88e4c6d" /><Relationship Type="http://schemas.openxmlformats.org/officeDocument/2006/relationships/chart" Target="/ppt/slides/charts/chart1.xml" Id="Rb3b6a378ee2c43d8" /><Relationship Type="http://schemas.openxmlformats.org/officeDocument/2006/relationships/notesSlide" Target="/ppt/notesSlides/notesSlide2.xml" Id="R4bc74ec10b3f4d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8543b84887044c7" /><Relationship Type="http://schemas.openxmlformats.org/officeDocument/2006/relationships/notesSlide" Target="/ppt/notesSlides/notesSlide3.xml" Id="R59203a2efa5548e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11f89d628464638" /><Relationship Type="http://schemas.openxmlformats.org/officeDocument/2006/relationships/image" Target="/ppt/media/image.png" Id="R8a76b6c23eed4b8a" /><Relationship Type="http://schemas.openxmlformats.org/officeDocument/2006/relationships/image" Target="/ppt/media/image2.png" Id="R7845295e8d7e485e" /><Relationship Type="http://schemas.openxmlformats.org/officeDocument/2006/relationships/notesSlide" Target="/ppt/notesSlides/notesSlide4.xml" Id="Rcedf0ce6dae54c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b5da01c508d4d92" /><Relationship Type="http://schemas.openxmlformats.org/officeDocument/2006/relationships/chart" Target="/ppt/slides/charts/chart2.xml" Id="R5294c1b443b64383" /><Relationship Type="http://schemas.openxmlformats.org/officeDocument/2006/relationships/chart" Target="/ppt/slides/charts/chart3.xml" Id="Rf9b3e2d386654650" /><Relationship Type="http://schemas.openxmlformats.org/officeDocument/2006/relationships/image" Target="/ppt/media/image3.png" Id="Rf10a0860f4b84440" /><Relationship Type="http://schemas.openxmlformats.org/officeDocument/2006/relationships/notesSlide" Target="/ppt/notesSlides/notesSlide5.xml" Id="Rf7fbaf46199e4a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9538ad0da624841" /><Relationship Type="http://schemas.openxmlformats.org/officeDocument/2006/relationships/image" Target="/ppt/media/image4.png" Id="R9f79cf62240c4ba7" /><Relationship Type="http://schemas.openxmlformats.org/officeDocument/2006/relationships/image" Target="/ppt/media/image5.png" Id="Ree83f7706167432e" /><Relationship Type="http://schemas.openxmlformats.org/officeDocument/2006/relationships/notesSlide" Target="/ppt/notesSlides/notesSlide6.xml" Id="R34022db8146a4a6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fbd7acdfbb1489d" /><Relationship Type="http://schemas.openxmlformats.org/officeDocument/2006/relationships/image" Target="/ppt/media/image6.png" Id="R1de7caca62984fbd" /><Relationship Type="http://schemas.openxmlformats.org/officeDocument/2006/relationships/notesSlide" Target="/ppt/notesSlides/notesSlide7.xml" Id="Rbbb0d311cc634e4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e400dc6306248ac" /><Relationship Type="http://schemas.openxmlformats.org/officeDocument/2006/relationships/chart" Target="/ppt/slides/charts/chart4.xml" Id="Rcdedcb9325e54c2c" /><Relationship Type="http://schemas.openxmlformats.org/officeDocument/2006/relationships/image" Target="/ppt/media/image7.png" Id="R2274a93b40d74d56" /><Relationship Type="http://schemas.openxmlformats.org/officeDocument/2006/relationships/chart" Target="/ppt/slides/charts/chart5.xml" Id="R4629f3ac98d14d7f" /><Relationship Type="http://schemas.openxmlformats.org/officeDocument/2006/relationships/notesSlide" Target="/ppt/notesSlides/notesSlide8.xml" Id="Rb49cb36fbeb5411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2a7cc66aa2b46f2" /><Relationship Type="http://schemas.openxmlformats.org/officeDocument/2006/relationships/chart" Target="/ppt/slides/charts/chart6.xml" Id="Rb4e6cb58671c4b54" /><Relationship Type="http://schemas.openxmlformats.org/officeDocument/2006/relationships/notesSlide" Target="/ppt/notesSlides/notesSlide9.xml" Id="R530db9718d5d416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87e9ab166c84332" /><Relationship Type="http://schemas.openxmlformats.org/officeDocument/2006/relationships/notesSlide" Target="/ppt/notesSlides/notesSlide10.xml" Id="Rd5b4640f372446d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856b7b84c254ebf" /><Relationship Type="http://schemas.openxmlformats.org/officeDocument/2006/relationships/chart" Target="/ppt/slides/charts/chart7.xml" Id="R5a3b5d67c3234545" /><Relationship Type="http://schemas.openxmlformats.org/officeDocument/2006/relationships/notesSlide" Target="/ppt/notesSlides/notesSlide11.xml" Id="Rb5a8ba7bcc894c3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People</c:v>
          </c:tx>
          <c:spPr>
            <a:solidFill xmlns:a="http://schemas.openxmlformats.org/drawingml/2006/main">
              <a:srgbClr val="176D8C"/>
            </a:solidFill>
          </c:spPr>
          <c:dPt>
            <c:idx val="0"/>
            <c:invertIfNegative val="0"/>
            <c:spPr>
              <a:solidFill xmlns:a="http://schemas.openxmlformats.org/drawingml/2006/main">
                <a:srgbClr val="176D8C"/>
              </a:solidFill>
            </c:spPr>
          </c:dPt>
          <c:dPt>
            <c:idx val="1"/>
            <c:invertIfNegative val="0"/>
            <c:spPr>
              <a:solidFill xmlns:a="http://schemas.openxmlformats.org/drawingml/2006/main">
                <a:srgbClr val="269E91"/>
              </a:solidFill>
            </c:spPr>
          </c:dPt>
          <c:dPt>
            <c:idx val="2"/>
            <c:invertIfNegative val="0"/>
            <c:spPr>
              <a:solidFill xmlns:a="http://schemas.openxmlformats.org/drawingml/2006/main">
                <a:srgbClr val="D87945"/>
              </a:solidFill>
            </c:spPr>
          </c:dPt>
          <c:cat>
            <c:strRef>
              <c:f>'Chart Data'!$A$2:$A$4</c:f>
              <c:strCache>
                <c:ptCount val="3"/>
                <c:pt idx="0">
                  <c:v>No diabetes</c:v>
                </c:pt>
                <c:pt idx="1">
                  <c:v>Prediabetes</c:v>
                </c:pt>
                <c:pt idx="2">
                  <c:v>Diabetes</c:v>
                </c:pt>
              </c:strCache>
            </c:strRef>
          </c:cat>
          <c:val>
            <c:numRef>
              <c:f>'Chart Data'!$B$2:$B$4</c:f>
              <c:numCache>
                <c:formatCode>General</c:formatCode>
                <c:ptCount val="3"/>
                <c:pt idx="0">
                  <c:v>2531</c:v>
                </c:pt>
                <c:pt idx="1">
                  <c:v>48</c:v>
                </c:pt>
                <c:pt idx="2">
                  <c:v>421</c:v>
                </c:pt>
              </c:numCache>
            </c:numRef>
          </c:val>
        </c:ser>
        <c:dLbls>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3000"/>
          <c:min val="0"/>
        </c:scaling>
        <c:delete val="0"/>
        <c:axPos val="l"/>
        <c:majorGridlines>
          <c:spPr>
            <a:ln xmlns:a="http://schemas.openxmlformats.org/drawingml/2006/main" w="9525">
              <a:solidFill>
                <a:srgbClr val="DF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10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varyColors val="0"/>
        <c:ser>
          <c:idx val="0"/>
          <c:order val="0"/>
          <c:tx>
            <c:v>People</c:v>
          </c:tx>
          <c:spPr>
            <a:solidFill xmlns:a="http://schemas.openxmlformats.org/drawingml/2006/main">
              <a:srgbClr val="176D8C"/>
            </a:solidFill>
            <a:ln xmlns:a="http://schemas.openxmlformats.org/drawingml/2006/main" w="19050">
              <a:solidFill>
                <a:srgbClr val="176D8C"/>
              </a:solidFill>
            </a:ln>
          </c:spPr>
          <c:cat>
            <c:strRef>
              <c:f>'Chart Data'!$A$2:$A$7</c:f>
              <c:strCache>
                <c:ptCount val="6"/>
                <c:pt idx="0">
                  <c:v>No school</c:v>
                </c:pt>
                <c:pt idx="1">
                  <c:v>Primary</c:v>
                </c:pt>
                <c:pt idx="2">
                  <c:v>Some high school</c:v>
                </c:pt>
                <c:pt idx="3">
                  <c:v>High school</c:v>
                </c:pt>
                <c:pt idx="4">
                  <c:v>Some college</c:v>
                </c:pt>
                <c:pt idx="5">
                  <c:v>Graduate</c:v>
                </c:pt>
              </c:strCache>
            </c:strRef>
          </c:cat>
          <c:val>
            <c:numRef>
              <c:f>'Chart Data'!$B$2:$B$7</c:f>
              <c:numCache>
                <c:formatCode>General</c:formatCode>
                <c:ptCount val="6"/>
                <c:pt idx="0">
                  <c:v>2</c:v>
                </c:pt>
                <c:pt idx="1">
                  <c:v>49</c:v>
                </c:pt>
                <c:pt idx="2">
                  <c:v>105</c:v>
                </c:pt>
                <c:pt idx="3">
                  <c:v>778</c:v>
                </c:pt>
                <c:pt idx="4">
                  <c:v>834</c:v>
                </c:pt>
                <c:pt idx="5">
                  <c:v>1232</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5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1500"/>
          <c:min val="0"/>
        </c:scaling>
        <c:delete val="0"/>
        <c:axPos val="b"/>
        <c:majorGridlines>
          <c:spPr>
            <a:ln xmlns:a="http://schemas.openxmlformats.org/drawingml/2006/main" w="9525">
              <a:solidFill>
                <a:srgbClr val="DF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666666"/>
                </a:solidFill>
                <a:latin typeface="Arial"/>
                <a:ea typeface="Arial"/>
                <a:cs typeface="Arial"/>
              </a:defRPr>
            </a:pPr>
          </a:p>
        </c:txPr>
        <c:crossAx val="48650112"/>
        <c:crossBetween val="between"/>
        <c:majorUnit val="5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pieChart>
        <c:ser>
          <c:idx val="0"/>
          <c:order val="0"/>
          <c:tx>
            <c:v>Share</c:v>
          </c:tx>
          <c:dPt>
            <c:idx val="0"/>
            <c:spPr>
              <a:solidFill xmlns:a="http://schemas.openxmlformats.org/drawingml/2006/main">
                <a:srgbClr val="176D8C"/>
              </a:solidFill>
            </c:spPr>
          </c:dPt>
          <c:dPt>
            <c:idx val="1"/>
            <c:spPr>
              <a:solidFill xmlns:a="http://schemas.openxmlformats.org/drawingml/2006/main">
                <a:srgbClr val="D87945"/>
              </a:solidFill>
            </c:spPr>
          </c:dPt>
          <c:cat>
            <c:strRef>
              <c:f>'Chart Data'!$A$2:$A$3</c:f>
              <c:strCache>
                <c:ptCount val="2"/>
                <c:pt idx="0">
                  <c:v>Female</c:v>
                </c:pt>
                <c:pt idx="1">
                  <c:v>Male</c:v>
                </c:pt>
              </c:strCache>
            </c:strRef>
          </c:cat>
          <c:val>
            <c:numRef>
              <c:f>'Chart Data'!$B$2:$B$3</c:f>
              <c:numCache>
                <c:formatCode>0</c:formatCode>
                <c:ptCount val="2"/>
                <c:pt idx="0">
                  <c:v>55.5667</c:v>
                </c:pt>
                <c:pt idx="1">
                  <c:v>44.4333</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a:latin typeface="Arial"/>
                  <a:ea typeface="Arial"/>
                  <a:cs typeface="Arial"/>
                </a:defRPr>
              </a:pPr>
            </a:p>
          </c:txPr>
          <c:dLblPos val="bestFit"/>
          <c:showLegendKey val="0"/>
          <c:showVal val="0"/>
          <c:showCatName val="0"/>
          <c:showSerName val="0"/>
          <c:showPercent val="1"/>
          <c:showBubbleSize val="0"/>
          <c:showLeaderLines val="0"/>
        </c:dLbls>
      </c:pieChart>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c:v>
          </c:tx>
          <c:spPr>
            <a:solidFill xmlns:a="http://schemas.openxmlformats.org/drawingml/2006/main">
              <a:srgbClr val="176D8C"/>
            </a:solidFill>
            <a:ln xmlns:a="http://schemas.openxmlformats.org/drawingml/2006/main" w="19050">
              <a:solidFill>
                <a:srgbClr val="176D8C"/>
              </a:solidFill>
            </a:ln>
          </c:spPr>
          <c:cat>
            <c:strRef>
              <c:f>'Chart Data'!$A$2:$A$7</c:f>
              <c:strCache>
                <c:ptCount val="6"/>
                <c:pt idx="0">
                  <c:v>0</c:v>
                </c:pt>
                <c:pt idx="1">
                  <c:v>1</c:v>
                </c:pt>
                <c:pt idx="2">
                  <c:v>2</c:v>
                </c:pt>
                <c:pt idx="3">
                  <c:v>3</c:v>
                </c:pt>
                <c:pt idx="4">
                  <c:v>4</c:v>
                </c:pt>
                <c:pt idx="5">
                  <c:v>5+</c:v>
                </c:pt>
              </c:strCache>
            </c:strRef>
          </c:cat>
          <c:val>
            <c:numRef>
              <c:f>'Chart Data'!$B$2:$B$7</c:f>
              <c:numCache>
                <c:formatCode>0</c:formatCode>
                <c:ptCount val="6"/>
                <c:pt idx="0">
                  <c:v>58</c:v>
                </c:pt>
                <c:pt idx="1">
                  <c:v>100</c:v>
                </c:pt>
                <c:pt idx="2">
                  <c:v>82</c:v>
                </c:pt>
                <c:pt idx="3">
                  <c:v>43</c:v>
                </c:pt>
                <c:pt idx="4">
                  <c:v>10</c:v>
                </c:pt>
                <c:pt idx="5">
                  <c:v>7</c:v>
                </c:pt>
              </c:numCache>
            </c:numRef>
          </c:val>
        </c:ser>
        <c:ser>
          <c:idx val="1"/>
          <c:order val="1"/>
          <c:tx>
            <c:v>Expected</c:v>
          </c:tx>
          <c:spPr>
            <a:solidFill xmlns:a="http://schemas.openxmlformats.org/drawingml/2006/main">
              <a:srgbClr val="D87945"/>
            </a:solidFill>
            <a:ln xmlns:a="http://schemas.openxmlformats.org/drawingml/2006/main" w="19050">
              <a:solidFill>
                <a:srgbClr val="D87945"/>
              </a:solidFill>
            </a:ln>
          </c:spPr>
          <c:cat>
            <c:strRef>
              <c:f>'Chart Data'!$C$2:$C$7</c:f>
              <c:strCache>
                <c:ptCount val="6"/>
                <c:pt idx="0">
                  <c:v>0</c:v>
                </c:pt>
                <c:pt idx="1">
                  <c:v>1</c:v>
                </c:pt>
                <c:pt idx="2">
                  <c:v>2</c:v>
                </c:pt>
                <c:pt idx="3">
                  <c:v>3</c:v>
                </c:pt>
                <c:pt idx="4">
                  <c:v>4</c:v>
                </c:pt>
                <c:pt idx="5">
                  <c:v>5+</c:v>
                </c:pt>
              </c:strCache>
            </c:strRef>
          </c:cat>
          <c:val>
            <c:numRef>
              <c:f>'Chart Data'!$D$2:$D$7</c:f>
              <c:numCache>
                <c:formatCode>0</c:formatCode>
                <c:ptCount val="6"/>
                <c:pt idx="0">
                  <c:v>54.8063</c:v>
                </c:pt>
                <c:pt idx="1">
                  <c:v>101.5572</c:v>
                </c:pt>
                <c:pt idx="2">
                  <c:v>84.6845</c:v>
                </c:pt>
                <c:pt idx="3">
                  <c:v>41.846</c:v>
                </c:pt>
                <c:pt idx="4">
                  <c:v>13.5698</c:v>
                </c:pt>
                <c:pt idx="5">
                  <c:v>3.5363</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DFE7EB"/>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c:v>
          </c:tx>
          <c:spPr>
            <a:solidFill xmlns:a="http://schemas.openxmlformats.org/drawingml/2006/main">
              <a:srgbClr val="176D8C"/>
            </a:solidFill>
            <a:ln xmlns:a="http://schemas.openxmlformats.org/drawingml/2006/main" w="19050">
              <a:solidFill>
                <a:srgbClr val="176D8C"/>
              </a:solidFill>
            </a:ln>
          </c:spPr>
          <c:cat>
            <c:strRef>
              <c:f>'Chart Data'!$A$2:$A$8</c:f>
              <c:strCache>
                <c:ptCount val="7"/>
                <c:pt idx="0">
                  <c:v>0</c:v>
                </c:pt>
                <c:pt idx="1">
                  <c:v>1–2</c:v>
                </c:pt>
                <c:pt idx="2">
                  <c:v>3–5</c:v>
                </c:pt>
                <c:pt idx="3">
                  <c:v>6–10</c:v>
                </c:pt>
                <c:pt idx="4">
                  <c:v>11–20</c:v>
                </c:pt>
                <c:pt idx="5">
                  <c:v>21–30</c:v>
                </c:pt>
                <c:pt idx="6">
                  <c:v>&gt;30</c:v>
                </c:pt>
              </c:strCache>
            </c:strRef>
          </c:cat>
          <c:val>
            <c:numRef>
              <c:f>'Chart Data'!$B$2:$B$8</c:f>
              <c:numCache>
                <c:formatCode>0</c:formatCode>
                <c:ptCount val="7"/>
                <c:pt idx="0">
                  <c:v>1887</c:v>
                </c:pt>
                <c:pt idx="1">
                  <c:v>340</c:v>
                </c:pt>
                <c:pt idx="2">
                  <c:v>226</c:v>
                </c:pt>
                <c:pt idx="3">
                  <c:v>151</c:v>
                </c:pt>
                <c:pt idx="4">
                  <c:v>138</c:v>
                </c:pt>
                <c:pt idx="5">
                  <c:v>258</c:v>
                </c:pt>
                <c:pt idx="6">
                  <c:v>0</c:v>
                </c:pt>
              </c:numCache>
            </c:numRef>
          </c:val>
        </c:ser>
        <c:ser>
          <c:idx val="1"/>
          <c:order val="1"/>
          <c:tx>
            <c:v>Expected</c:v>
          </c:tx>
          <c:spPr>
            <a:solidFill xmlns:a="http://schemas.openxmlformats.org/drawingml/2006/main">
              <a:srgbClr val="D87945"/>
            </a:solidFill>
            <a:ln xmlns:a="http://schemas.openxmlformats.org/drawingml/2006/main" w="19050">
              <a:solidFill>
                <a:srgbClr val="D87945"/>
              </a:solidFill>
            </a:ln>
          </c:spPr>
          <c:cat>
            <c:strRef>
              <c:f>'Chart Data'!$C$2:$C$8</c:f>
              <c:strCache>
                <c:ptCount val="7"/>
                <c:pt idx="0">
                  <c:v>0</c:v>
                </c:pt>
                <c:pt idx="1">
                  <c:v>1–2</c:v>
                </c:pt>
                <c:pt idx="2">
                  <c:v>3–5</c:v>
                </c:pt>
                <c:pt idx="3">
                  <c:v>6–10</c:v>
                </c:pt>
                <c:pt idx="4">
                  <c:v>11–20</c:v>
                </c:pt>
                <c:pt idx="5">
                  <c:v>21–30</c:v>
                </c:pt>
                <c:pt idx="6">
                  <c:v>&gt;30</c:v>
                </c:pt>
              </c:strCache>
            </c:strRef>
          </c:cat>
          <c:val>
            <c:numRef>
              <c:f>'Chart Data'!$D$2:$D$8</c:f>
              <c:numCache>
                <c:formatCode>0</c:formatCode>
                <c:ptCount val="7"/>
                <c:pt idx="0">
                  <c:v>47.2145</c:v>
                </c:pt>
                <c:pt idx="1">
                  <c:v>602.9213</c:v>
                </c:pt>
                <c:pt idx="2">
                  <c:v>1632.8624</c:v>
                </c:pt>
                <c:pt idx="3">
                  <c:v>705.7852</c:v>
                </c:pt>
                <c:pt idx="4">
                  <c:v>11.2166</c:v>
                </c:pt>
                <c:pt idx="5">
                  <c:v>0</c:v>
                </c:pt>
                <c:pt idx="6">
                  <c:v>0</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666666"/>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DFE7EB"/>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lineChart>
        <c:grouping val="standard"/>
        <c:varyColors val="0"/>
        <c:ser>
          <c:idx val="0"/>
          <c:order val="0"/>
          <c:tx>
            <c:v>Patient 1</c:v>
          </c:tx>
          <c:spPr>
            <a:ln xmlns:a="http://schemas.openxmlformats.org/drawingml/2006/main" w="9525">
              <a:solidFill>
                <a:srgbClr val="A0C7D6"/>
              </a:solidFill>
            </a:ln>
          </c:spPr>
          <c:marker>
            <c:symbol val="none"/>
          </c:marker>
          <c:cat>
            <c:strRef>
              <c:f>'Chart Data'!$A$2:$A$3</c:f>
              <c:strCache>
                <c:ptCount val="2"/>
                <c:pt idx="0">
                  <c:v>Before</c:v>
                </c:pt>
                <c:pt idx="1">
                  <c:v>After</c:v>
                </c:pt>
              </c:strCache>
            </c:strRef>
          </c:cat>
          <c:val>
            <c:numRef>
              <c:f>'Chart Data'!$B$2:$B$3</c:f>
              <c:numCache>
                <c:formatCode>General</c:formatCode>
                <c:ptCount val="2"/>
                <c:pt idx="0">
                  <c:v>80.5</c:v>
                </c:pt>
                <c:pt idx="1">
                  <c:v>82.2</c:v>
                </c:pt>
              </c:numCache>
            </c:numRef>
          </c:val>
        </c:ser>
        <c:ser>
          <c:idx val="1"/>
          <c:order val="1"/>
          <c:tx>
            <c:v>Patient 2</c:v>
          </c:tx>
          <c:spPr>
            <a:ln xmlns:a="http://schemas.openxmlformats.org/drawingml/2006/main" w="9525">
              <a:solidFill>
                <a:srgbClr val="A0C7D6"/>
              </a:solidFill>
            </a:ln>
          </c:spPr>
          <c:marker>
            <c:symbol val="none"/>
          </c:marker>
          <c:cat>
            <c:strRef>
              <c:f>'Chart Data'!$C$2:$C$3</c:f>
              <c:strCache>
                <c:ptCount val="2"/>
                <c:pt idx="0">
                  <c:v>Before</c:v>
                </c:pt>
                <c:pt idx="1">
                  <c:v>After</c:v>
                </c:pt>
              </c:strCache>
            </c:strRef>
          </c:cat>
          <c:val>
            <c:numRef>
              <c:f>'Chart Data'!$D$2:$D$3</c:f>
              <c:numCache>
                <c:formatCode>General</c:formatCode>
                <c:ptCount val="2"/>
                <c:pt idx="0">
                  <c:v>84.9</c:v>
                </c:pt>
                <c:pt idx="1">
                  <c:v>85.6</c:v>
                </c:pt>
              </c:numCache>
            </c:numRef>
          </c:val>
        </c:ser>
        <c:ser>
          <c:idx val="2"/>
          <c:order val="2"/>
          <c:tx>
            <c:v>Patient 3</c:v>
          </c:tx>
          <c:spPr>
            <a:ln xmlns:a="http://schemas.openxmlformats.org/drawingml/2006/main" w="9525">
              <a:solidFill>
                <a:srgbClr val="A0C7D6"/>
              </a:solidFill>
            </a:ln>
          </c:spPr>
          <c:marker>
            <c:symbol val="none"/>
          </c:marker>
          <c:cat>
            <c:strRef>
              <c:f>'Chart Data'!$E$2:$E$3</c:f>
              <c:strCache>
                <c:ptCount val="2"/>
                <c:pt idx="0">
                  <c:v>Before</c:v>
                </c:pt>
                <c:pt idx="1">
                  <c:v>After</c:v>
                </c:pt>
              </c:strCache>
            </c:strRef>
          </c:cat>
          <c:val>
            <c:numRef>
              <c:f>'Chart Data'!$F$2:$F$3</c:f>
              <c:numCache>
                <c:formatCode>General</c:formatCode>
                <c:ptCount val="2"/>
                <c:pt idx="0">
                  <c:v>81.5</c:v>
                </c:pt>
                <c:pt idx="1">
                  <c:v>81.4</c:v>
                </c:pt>
              </c:numCache>
            </c:numRef>
          </c:val>
        </c:ser>
        <c:ser>
          <c:idx val="3"/>
          <c:order val="3"/>
          <c:tx>
            <c:v>Patient 4</c:v>
          </c:tx>
          <c:spPr>
            <a:ln xmlns:a="http://schemas.openxmlformats.org/drawingml/2006/main" w="9525">
              <a:solidFill>
                <a:srgbClr val="A0C7D6"/>
              </a:solidFill>
            </a:ln>
          </c:spPr>
          <c:marker>
            <c:symbol val="none"/>
          </c:marker>
          <c:cat>
            <c:strRef>
              <c:f>'Chart Data'!$G$2:$G$3</c:f>
              <c:strCache>
                <c:ptCount val="2"/>
                <c:pt idx="0">
                  <c:v>Before</c:v>
                </c:pt>
                <c:pt idx="1">
                  <c:v>After</c:v>
                </c:pt>
              </c:strCache>
            </c:strRef>
          </c:cat>
          <c:val>
            <c:numRef>
              <c:f>'Chart Data'!$H$2:$H$3</c:f>
              <c:numCache>
                <c:formatCode>General</c:formatCode>
                <c:ptCount val="2"/>
                <c:pt idx="0">
                  <c:v>82.6</c:v>
                </c:pt>
                <c:pt idx="1">
                  <c:v>81.9</c:v>
                </c:pt>
              </c:numCache>
            </c:numRef>
          </c:val>
        </c:ser>
        <c:ser>
          <c:idx val="4"/>
          <c:order val="4"/>
          <c:tx>
            <c:v>Patient 5</c:v>
          </c:tx>
          <c:spPr>
            <a:ln xmlns:a="http://schemas.openxmlformats.org/drawingml/2006/main" w="9525">
              <a:solidFill>
                <a:srgbClr val="A0C7D6"/>
              </a:solidFill>
            </a:ln>
          </c:spPr>
          <c:marker>
            <c:symbol val="none"/>
          </c:marker>
          <c:cat>
            <c:strRef>
              <c:f>'Chart Data'!$I$2:$I$3</c:f>
              <c:strCache>
                <c:ptCount val="2"/>
                <c:pt idx="0">
                  <c:v>Before</c:v>
                </c:pt>
                <c:pt idx="1">
                  <c:v>After</c:v>
                </c:pt>
              </c:strCache>
            </c:strRef>
          </c:cat>
          <c:val>
            <c:numRef>
              <c:f>'Chart Data'!$J$2:$J$3</c:f>
              <c:numCache>
                <c:formatCode>General</c:formatCode>
                <c:ptCount val="2"/>
                <c:pt idx="0">
                  <c:v>79.9</c:v>
                </c:pt>
                <c:pt idx="1">
                  <c:v>76.4</c:v>
                </c:pt>
              </c:numCache>
            </c:numRef>
          </c:val>
        </c:ser>
        <c:ser>
          <c:idx val="5"/>
          <c:order val="5"/>
          <c:tx>
            <c:v>Patient 6</c:v>
          </c:tx>
          <c:spPr>
            <a:ln xmlns:a="http://schemas.openxmlformats.org/drawingml/2006/main" w="9525">
              <a:solidFill>
                <a:srgbClr val="A0C7D6"/>
              </a:solidFill>
            </a:ln>
          </c:spPr>
          <c:marker>
            <c:symbol val="none"/>
          </c:marker>
          <c:cat>
            <c:strRef>
              <c:f>'Chart Data'!$K$2:$K$3</c:f>
              <c:strCache>
                <c:ptCount val="2"/>
                <c:pt idx="0">
                  <c:v>Before</c:v>
                </c:pt>
                <c:pt idx="1">
                  <c:v>After</c:v>
                </c:pt>
              </c:strCache>
            </c:strRef>
          </c:cat>
          <c:val>
            <c:numRef>
              <c:f>'Chart Data'!$L$2:$L$3</c:f>
              <c:numCache>
                <c:formatCode>General</c:formatCode>
                <c:ptCount val="2"/>
                <c:pt idx="0">
                  <c:v>88.7</c:v>
                </c:pt>
                <c:pt idx="1">
                  <c:v>103.6</c:v>
                </c:pt>
              </c:numCache>
            </c:numRef>
          </c:val>
        </c:ser>
        <c:ser>
          <c:idx val="6"/>
          <c:order val="6"/>
          <c:tx>
            <c:v>Patient 7</c:v>
          </c:tx>
          <c:spPr>
            <a:ln xmlns:a="http://schemas.openxmlformats.org/drawingml/2006/main" w="9525">
              <a:solidFill>
                <a:srgbClr val="A0C7D6"/>
              </a:solidFill>
            </a:ln>
          </c:spPr>
          <c:marker>
            <c:symbol val="none"/>
          </c:marker>
          <c:cat>
            <c:strRef>
              <c:f>'Chart Data'!$M$2:$M$3</c:f>
              <c:strCache>
                <c:ptCount val="2"/>
                <c:pt idx="0">
                  <c:v>Before</c:v>
                </c:pt>
                <c:pt idx="1">
                  <c:v>After</c:v>
                </c:pt>
              </c:strCache>
            </c:strRef>
          </c:cat>
          <c:val>
            <c:numRef>
              <c:f>'Chart Data'!$N$2:$N$3</c:f>
              <c:numCache>
                <c:formatCode>General</c:formatCode>
                <c:ptCount val="2"/>
                <c:pt idx="0">
                  <c:v>94.9</c:v>
                </c:pt>
                <c:pt idx="1">
                  <c:v>98.4</c:v>
                </c:pt>
              </c:numCache>
            </c:numRef>
          </c:val>
        </c:ser>
        <c:ser>
          <c:idx val="7"/>
          <c:order val="7"/>
          <c:tx>
            <c:v>Patient 8</c:v>
          </c:tx>
          <c:spPr>
            <a:ln xmlns:a="http://schemas.openxmlformats.org/drawingml/2006/main" w="9525">
              <a:solidFill>
                <a:srgbClr val="A0C7D6"/>
              </a:solidFill>
            </a:ln>
          </c:spPr>
          <c:marker>
            <c:symbol val="none"/>
          </c:marker>
          <c:cat>
            <c:strRef>
              <c:f>'Chart Data'!$O$2:$O$3</c:f>
              <c:strCache>
                <c:ptCount val="2"/>
                <c:pt idx="0">
                  <c:v>Before</c:v>
                </c:pt>
                <c:pt idx="1">
                  <c:v>After</c:v>
                </c:pt>
              </c:strCache>
            </c:strRef>
          </c:cat>
          <c:val>
            <c:numRef>
              <c:f>'Chart Data'!$P$2:$P$3</c:f>
              <c:numCache>
                <c:formatCode>General</c:formatCode>
                <c:ptCount val="2"/>
                <c:pt idx="0">
                  <c:v>76.3</c:v>
                </c:pt>
                <c:pt idx="1">
                  <c:v>93.4</c:v>
                </c:pt>
              </c:numCache>
            </c:numRef>
          </c:val>
        </c:ser>
        <c:ser>
          <c:idx val="8"/>
          <c:order val="8"/>
          <c:tx>
            <c:v>Patient 9</c:v>
          </c:tx>
          <c:spPr>
            <a:ln xmlns:a="http://schemas.openxmlformats.org/drawingml/2006/main" w="9525">
              <a:solidFill>
                <a:srgbClr val="A0C7D6"/>
              </a:solidFill>
            </a:ln>
          </c:spPr>
          <c:marker>
            <c:symbol val="none"/>
          </c:marker>
          <c:cat>
            <c:strRef>
              <c:f>'Chart Data'!$Q$2:$Q$3</c:f>
              <c:strCache>
                <c:ptCount val="2"/>
                <c:pt idx="0">
                  <c:v>Before</c:v>
                </c:pt>
                <c:pt idx="1">
                  <c:v>After</c:v>
                </c:pt>
              </c:strCache>
            </c:strRef>
          </c:cat>
          <c:val>
            <c:numRef>
              <c:f>'Chart Data'!$R$2:$R$3</c:f>
              <c:numCache>
                <c:formatCode>General</c:formatCode>
                <c:ptCount val="2"/>
                <c:pt idx="0">
                  <c:v>81</c:v>
                </c:pt>
                <c:pt idx="1">
                  <c:v>73.4</c:v>
                </c:pt>
              </c:numCache>
            </c:numRef>
          </c:val>
        </c:ser>
        <c:ser>
          <c:idx val="9"/>
          <c:order val="9"/>
          <c:tx>
            <c:v>Patient 10</c:v>
          </c:tx>
          <c:spPr>
            <a:ln xmlns:a="http://schemas.openxmlformats.org/drawingml/2006/main" w="9525">
              <a:solidFill>
                <a:srgbClr val="A0C7D6"/>
              </a:solidFill>
            </a:ln>
          </c:spPr>
          <c:marker>
            <c:symbol val="none"/>
          </c:marker>
          <c:cat>
            <c:strRef>
              <c:f>'Chart Data'!$S$2:$S$3</c:f>
              <c:strCache>
                <c:ptCount val="2"/>
                <c:pt idx="0">
                  <c:v>Before</c:v>
                </c:pt>
                <c:pt idx="1">
                  <c:v>After</c:v>
                </c:pt>
              </c:strCache>
            </c:strRef>
          </c:cat>
          <c:val>
            <c:numRef>
              <c:f>'Chart Data'!$T$2:$T$3</c:f>
              <c:numCache>
                <c:formatCode>General</c:formatCode>
                <c:ptCount val="2"/>
                <c:pt idx="0">
                  <c:v>80.5</c:v>
                </c:pt>
                <c:pt idx="1">
                  <c:v>82.1</c:v>
                </c:pt>
              </c:numCache>
            </c:numRef>
          </c:val>
        </c:ser>
        <c:ser>
          <c:idx val="10"/>
          <c:order val="10"/>
          <c:tx>
            <c:v>Patient 11</c:v>
          </c:tx>
          <c:spPr>
            <a:ln xmlns:a="http://schemas.openxmlformats.org/drawingml/2006/main" w="9525">
              <a:solidFill>
                <a:srgbClr val="A0C7D6"/>
              </a:solidFill>
            </a:ln>
          </c:spPr>
          <c:marker>
            <c:symbol val="none"/>
          </c:marker>
          <c:cat>
            <c:strRef>
              <c:f>'Chart Data'!$U$2:$U$3</c:f>
              <c:strCache>
                <c:ptCount val="2"/>
                <c:pt idx="0">
                  <c:v>Before</c:v>
                </c:pt>
                <c:pt idx="1">
                  <c:v>After</c:v>
                </c:pt>
              </c:strCache>
            </c:strRef>
          </c:cat>
          <c:val>
            <c:numRef>
              <c:f>'Chart Data'!$V$2:$V$3</c:f>
              <c:numCache>
                <c:formatCode>General</c:formatCode>
                <c:ptCount val="2"/>
                <c:pt idx="0">
                  <c:v>85</c:v>
                </c:pt>
                <c:pt idx="1">
                  <c:v>96.7</c:v>
                </c:pt>
              </c:numCache>
            </c:numRef>
          </c:val>
        </c:ser>
        <c:ser>
          <c:idx val="11"/>
          <c:order val="11"/>
          <c:tx>
            <c:v>Patient 12</c:v>
          </c:tx>
          <c:spPr>
            <a:ln xmlns:a="http://schemas.openxmlformats.org/drawingml/2006/main" w="9525">
              <a:solidFill>
                <a:srgbClr val="A0C7D6"/>
              </a:solidFill>
            </a:ln>
          </c:spPr>
          <c:marker>
            <c:symbol val="none"/>
          </c:marker>
          <c:cat>
            <c:strRef>
              <c:f>'Chart Data'!$W$2:$W$3</c:f>
              <c:strCache>
                <c:ptCount val="2"/>
                <c:pt idx="0">
                  <c:v>Before</c:v>
                </c:pt>
                <c:pt idx="1">
                  <c:v>After</c:v>
                </c:pt>
              </c:strCache>
            </c:strRef>
          </c:cat>
          <c:val>
            <c:numRef>
              <c:f>'Chart Data'!$X$2:$X$3</c:f>
              <c:numCache>
                <c:formatCode>General</c:formatCode>
                <c:ptCount val="2"/>
                <c:pt idx="0">
                  <c:v>89.2</c:v>
                </c:pt>
                <c:pt idx="1">
                  <c:v>95.3</c:v>
                </c:pt>
              </c:numCache>
            </c:numRef>
          </c:val>
        </c:ser>
        <c:ser>
          <c:idx val="12"/>
          <c:order val="12"/>
          <c:tx>
            <c:v>Patient 13</c:v>
          </c:tx>
          <c:spPr>
            <a:ln xmlns:a="http://schemas.openxmlformats.org/drawingml/2006/main" w="9525">
              <a:solidFill>
                <a:srgbClr val="A0C7D6"/>
              </a:solidFill>
            </a:ln>
          </c:spPr>
          <c:marker>
            <c:symbol val="none"/>
          </c:marker>
          <c:cat>
            <c:strRef>
              <c:f>'Chart Data'!$Y$2:$Y$3</c:f>
              <c:strCache>
                <c:ptCount val="2"/>
                <c:pt idx="0">
                  <c:v>Before</c:v>
                </c:pt>
                <c:pt idx="1">
                  <c:v>After</c:v>
                </c:pt>
              </c:strCache>
            </c:strRef>
          </c:cat>
          <c:val>
            <c:numRef>
              <c:f>'Chart Data'!$Z$2:$Z$3</c:f>
              <c:numCache>
                <c:formatCode>General</c:formatCode>
                <c:ptCount val="2"/>
                <c:pt idx="0">
                  <c:v>81.3</c:v>
                </c:pt>
                <c:pt idx="1">
                  <c:v>82.4</c:v>
                </c:pt>
              </c:numCache>
            </c:numRef>
          </c:val>
        </c:ser>
        <c:ser>
          <c:idx val="13"/>
          <c:order val="13"/>
          <c:tx>
            <c:v>Patient 14</c:v>
          </c:tx>
          <c:spPr>
            <a:ln xmlns:a="http://schemas.openxmlformats.org/drawingml/2006/main" w="9525">
              <a:solidFill>
                <a:srgbClr val="A0C7D6"/>
              </a:solidFill>
            </a:ln>
          </c:spPr>
          <c:marker>
            <c:symbol val="none"/>
          </c:marker>
          <c:cat>
            <c:strRef>
              <c:f>'Chart Data'!$AA$2:$AA$3</c:f>
              <c:strCache>
                <c:ptCount val="2"/>
                <c:pt idx="0">
                  <c:v>Before</c:v>
                </c:pt>
                <c:pt idx="1">
                  <c:v>After</c:v>
                </c:pt>
              </c:strCache>
            </c:strRef>
          </c:cat>
          <c:val>
            <c:numRef>
              <c:f>'Chart Data'!$AB$2:$AB$3</c:f>
              <c:numCache>
                <c:formatCode>General</c:formatCode>
                <c:ptCount val="2"/>
                <c:pt idx="0">
                  <c:v>76.5</c:v>
                </c:pt>
                <c:pt idx="1">
                  <c:v>72.5</c:v>
                </c:pt>
              </c:numCache>
            </c:numRef>
          </c:val>
        </c:ser>
        <c:ser>
          <c:idx val="14"/>
          <c:order val="14"/>
          <c:tx>
            <c:v>Patient 15</c:v>
          </c:tx>
          <c:spPr>
            <a:ln xmlns:a="http://schemas.openxmlformats.org/drawingml/2006/main" w="9525">
              <a:solidFill>
                <a:srgbClr val="A0C7D6"/>
              </a:solidFill>
            </a:ln>
          </c:spPr>
          <c:marker>
            <c:symbol val="none"/>
          </c:marker>
          <c:cat>
            <c:strRef>
              <c:f>'Chart Data'!$AC$2:$AC$3</c:f>
              <c:strCache>
                <c:ptCount val="2"/>
                <c:pt idx="0">
                  <c:v>Before</c:v>
                </c:pt>
                <c:pt idx="1">
                  <c:v>After</c:v>
                </c:pt>
              </c:strCache>
            </c:strRef>
          </c:cat>
          <c:val>
            <c:numRef>
              <c:f>'Chart Data'!$AD$2:$AD$3</c:f>
              <c:numCache>
                <c:formatCode>General</c:formatCode>
                <c:ptCount val="2"/>
                <c:pt idx="0">
                  <c:v>70</c:v>
                </c:pt>
                <c:pt idx="1">
                  <c:v>90.9</c:v>
                </c:pt>
              </c:numCache>
            </c:numRef>
          </c:val>
        </c:ser>
        <c:ser>
          <c:idx val="15"/>
          <c:order val="15"/>
          <c:tx>
            <c:v>Patient 16</c:v>
          </c:tx>
          <c:spPr>
            <a:ln xmlns:a="http://schemas.openxmlformats.org/drawingml/2006/main" w="9525">
              <a:solidFill>
                <a:srgbClr val="A0C7D6"/>
              </a:solidFill>
            </a:ln>
          </c:spPr>
          <c:marker>
            <c:symbol val="none"/>
          </c:marker>
          <c:cat>
            <c:strRef>
              <c:f>'Chart Data'!$AE$2:$AE$3</c:f>
              <c:strCache>
                <c:ptCount val="2"/>
                <c:pt idx="0">
                  <c:v>Before</c:v>
                </c:pt>
                <c:pt idx="1">
                  <c:v>After</c:v>
                </c:pt>
              </c:strCache>
            </c:strRef>
          </c:cat>
          <c:val>
            <c:numRef>
              <c:f>'Chart Data'!$AF$2:$AF$3</c:f>
              <c:numCache>
                <c:formatCode>General</c:formatCode>
                <c:ptCount val="2"/>
                <c:pt idx="0">
                  <c:v>80.4</c:v>
                </c:pt>
                <c:pt idx="1">
                  <c:v>71.3</c:v>
                </c:pt>
              </c:numCache>
            </c:numRef>
          </c:val>
        </c:ser>
        <c:ser>
          <c:idx val="16"/>
          <c:order val="16"/>
          <c:tx>
            <c:v>Patient 17</c:v>
          </c:tx>
          <c:spPr>
            <a:ln xmlns:a="http://schemas.openxmlformats.org/drawingml/2006/main" w="9525">
              <a:solidFill>
                <a:srgbClr val="A0C7D6"/>
              </a:solidFill>
            </a:ln>
          </c:spPr>
          <c:marker>
            <c:symbol val="none"/>
          </c:marker>
          <c:cat>
            <c:strRef>
              <c:f>'Chart Data'!$AG$2:$AG$3</c:f>
              <c:strCache>
                <c:ptCount val="2"/>
                <c:pt idx="0">
                  <c:v>Before</c:v>
                </c:pt>
                <c:pt idx="1">
                  <c:v>After</c:v>
                </c:pt>
              </c:strCache>
            </c:strRef>
          </c:cat>
          <c:val>
            <c:numRef>
              <c:f>'Chart Data'!$AH$2:$AH$3</c:f>
              <c:numCache>
                <c:formatCode>General</c:formatCode>
                <c:ptCount val="2"/>
                <c:pt idx="0">
                  <c:v>83.3</c:v>
                </c:pt>
                <c:pt idx="1">
                  <c:v>85.4</c:v>
                </c:pt>
              </c:numCache>
            </c:numRef>
          </c:val>
        </c:ser>
        <c:ser>
          <c:idx val="17"/>
          <c:order val="17"/>
          <c:tx>
            <c:v>Patient 18</c:v>
          </c:tx>
          <c:spPr>
            <a:ln xmlns:a="http://schemas.openxmlformats.org/drawingml/2006/main" w="9525">
              <a:solidFill>
                <a:srgbClr val="A0C7D6"/>
              </a:solidFill>
            </a:ln>
          </c:spPr>
          <c:marker>
            <c:symbol val="none"/>
          </c:marker>
          <c:cat>
            <c:strRef>
              <c:f>'Chart Data'!$AI$2:$AI$3</c:f>
              <c:strCache>
                <c:ptCount val="2"/>
                <c:pt idx="0">
                  <c:v>Before</c:v>
                </c:pt>
                <c:pt idx="1">
                  <c:v>After</c:v>
                </c:pt>
              </c:strCache>
            </c:strRef>
          </c:cat>
          <c:val>
            <c:numRef>
              <c:f>'Chart Data'!$AJ$2:$AJ$3</c:f>
              <c:numCache>
                <c:formatCode>General</c:formatCode>
                <c:ptCount val="2"/>
                <c:pt idx="0">
                  <c:v>83</c:v>
                </c:pt>
                <c:pt idx="1">
                  <c:v>81.6</c:v>
                </c:pt>
              </c:numCache>
            </c:numRef>
          </c:val>
        </c:ser>
        <c:ser>
          <c:idx val="18"/>
          <c:order val="18"/>
          <c:tx>
            <c:v>Patient 19</c:v>
          </c:tx>
          <c:spPr>
            <a:ln xmlns:a="http://schemas.openxmlformats.org/drawingml/2006/main" w="9525">
              <a:solidFill>
                <a:srgbClr val="A0C7D6"/>
              </a:solidFill>
            </a:ln>
          </c:spPr>
          <c:marker>
            <c:symbol val="none"/>
          </c:marker>
          <c:cat>
            <c:strRef>
              <c:f>'Chart Data'!$AK$2:$AK$3</c:f>
              <c:strCache>
                <c:ptCount val="2"/>
                <c:pt idx="0">
                  <c:v>Before</c:v>
                </c:pt>
                <c:pt idx="1">
                  <c:v>After</c:v>
                </c:pt>
              </c:strCache>
            </c:strRef>
          </c:cat>
          <c:val>
            <c:numRef>
              <c:f>'Chart Data'!$AL$2:$AL$3</c:f>
              <c:numCache>
                <c:formatCode>General</c:formatCode>
                <c:ptCount val="2"/>
                <c:pt idx="0">
                  <c:v>87.7</c:v>
                </c:pt>
                <c:pt idx="1">
                  <c:v>89.1</c:v>
                </c:pt>
              </c:numCache>
            </c:numRef>
          </c:val>
        </c:ser>
        <c:ser>
          <c:idx val="19"/>
          <c:order val="19"/>
          <c:tx>
            <c:v>Patient 20</c:v>
          </c:tx>
          <c:spPr>
            <a:ln xmlns:a="http://schemas.openxmlformats.org/drawingml/2006/main" w="9525">
              <a:solidFill>
                <a:srgbClr val="A0C7D6"/>
              </a:solidFill>
            </a:ln>
          </c:spPr>
          <c:marker>
            <c:symbol val="none"/>
          </c:marker>
          <c:cat>
            <c:strRef>
              <c:f>'Chart Data'!$AM$2:$AM$3</c:f>
              <c:strCache>
                <c:ptCount val="2"/>
                <c:pt idx="0">
                  <c:v>Before</c:v>
                </c:pt>
                <c:pt idx="1">
                  <c:v>After</c:v>
                </c:pt>
              </c:strCache>
            </c:strRef>
          </c:cat>
          <c:val>
            <c:numRef>
              <c:f>'Chart Data'!$AN$2:$AN$3</c:f>
              <c:numCache>
                <c:formatCode>General</c:formatCode>
                <c:ptCount val="2"/>
                <c:pt idx="0">
                  <c:v>84.2</c:v>
                </c:pt>
                <c:pt idx="1">
                  <c:v>83.9</c:v>
                </c:pt>
              </c:numCache>
            </c:numRef>
          </c:val>
        </c:ser>
        <c:ser>
          <c:idx val="20"/>
          <c:order val="20"/>
          <c:tx>
            <c:v>Patient 21</c:v>
          </c:tx>
          <c:spPr>
            <a:ln xmlns:a="http://schemas.openxmlformats.org/drawingml/2006/main" w="9525">
              <a:solidFill>
                <a:srgbClr val="A0C7D6"/>
              </a:solidFill>
            </a:ln>
          </c:spPr>
          <c:marker>
            <c:symbol val="none"/>
          </c:marker>
          <c:cat>
            <c:strRef>
              <c:f>'Chart Data'!$AO$2:$AO$3</c:f>
              <c:strCache>
                <c:ptCount val="2"/>
                <c:pt idx="0">
                  <c:v>Before</c:v>
                </c:pt>
                <c:pt idx="1">
                  <c:v>After</c:v>
                </c:pt>
              </c:strCache>
            </c:strRef>
          </c:cat>
          <c:val>
            <c:numRef>
              <c:f>'Chart Data'!$AP$2:$AP$3</c:f>
              <c:numCache>
                <c:formatCode>General</c:formatCode>
                <c:ptCount val="2"/>
                <c:pt idx="0">
                  <c:v>86.4</c:v>
                </c:pt>
                <c:pt idx="1">
                  <c:v>82.7</c:v>
                </c:pt>
              </c:numCache>
            </c:numRef>
          </c:val>
        </c:ser>
        <c:ser>
          <c:idx val="21"/>
          <c:order val="21"/>
          <c:tx>
            <c:v>Patient 22</c:v>
          </c:tx>
          <c:spPr>
            <a:ln xmlns:a="http://schemas.openxmlformats.org/drawingml/2006/main" w="9525">
              <a:solidFill>
                <a:srgbClr val="A0C7D6"/>
              </a:solidFill>
            </a:ln>
          </c:spPr>
          <c:marker>
            <c:symbol val="none"/>
          </c:marker>
          <c:cat>
            <c:strRef>
              <c:f>'Chart Data'!$AQ$2:$AQ$3</c:f>
              <c:strCache>
                <c:ptCount val="2"/>
                <c:pt idx="0">
                  <c:v>Before</c:v>
                </c:pt>
                <c:pt idx="1">
                  <c:v>After</c:v>
                </c:pt>
              </c:strCache>
            </c:strRef>
          </c:cat>
          <c:val>
            <c:numRef>
              <c:f>'Chart Data'!$AR$2:$AR$3</c:f>
              <c:numCache>
                <c:formatCode>General</c:formatCode>
                <c:ptCount val="2"/>
                <c:pt idx="0">
                  <c:v>76.5</c:v>
                </c:pt>
                <c:pt idx="1">
                  <c:v>75.7</c:v>
                </c:pt>
              </c:numCache>
            </c:numRef>
          </c:val>
        </c:ser>
        <c:ser>
          <c:idx val="22"/>
          <c:order val="22"/>
          <c:tx>
            <c:v>Patient 23</c:v>
          </c:tx>
          <c:spPr>
            <a:ln xmlns:a="http://schemas.openxmlformats.org/drawingml/2006/main" w="9525">
              <a:solidFill>
                <a:srgbClr val="A0C7D6"/>
              </a:solidFill>
            </a:ln>
          </c:spPr>
          <c:marker>
            <c:symbol val="none"/>
          </c:marker>
          <c:cat>
            <c:strRef>
              <c:f>'Chart Data'!$AS$2:$AS$3</c:f>
              <c:strCache>
                <c:ptCount val="2"/>
                <c:pt idx="0">
                  <c:v>Before</c:v>
                </c:pt>
                <c:pt idx="1">
                  <c:v>After</c:v>
                </c:pt>
              </c:strCache>
            </c:strRef>
          </c:cat>
          <c:val>
            <c:numRef>
              <c:f>'Chart Data'!$AT$2:$AT$3</c:f>
              <c:numCache>
                <c:formatCode>General</c:formatCode>
                <c:ptCount val="2"/>
                <c:pt idx="0">
                  <c:v>80.2</c:v>
                </c:pt>
                <c:pt idx="1">
                  <c:v>82.6</c:v>
                </c:pt>
              </c:numCache>
            </c:numRef>
          </c:val>
        </c:ser>
        <c:ser>
          <c:idx val="23"/>
          <c:order val="23"/>
          <c:tx>
            <c:v>Patient 24</c:v>
          </c:tx>
          <c:spPr>
            <a:ln xmlns:a="http://schemas.openxmlformats.org/drawingml/2006/main" w="9525">
              <a:solidFill>
                <a:srgbClr val="A0C7D6"/>
              </a:solidFill>
            </a:ln>
          </c:spPr>
          <c:marker>
            <c:symbol val="none"/>
          </c:marker>
          <c:cat>
            <c:strRef>
              <c:f>'Chart Data'!$AU$2:$AU$3</c:f>
              <c:strCache>
                <c:ptCount val="2"/>
                <c:pt idx="0">
                  <c:v>Before</c:v>
                </c:pt>
                <c:pt idx="1">
                  <c:v>After</c:v>
                </c:pt>
              </c:strCache>
            </c:strRef>
          </c:cat>
          <c:val>
            <c:numRef>
              <c:f>'Chart Data'!$AV$2:$AV$3</c:f>
              <c:numCache>
                <c:formatCode>General</c:formatCode>
                <c:ptCount val="2"/>
                <c:pt idx="0">
                  <c:v>87.8</c:v>
                </c:pt>
                <c:pt idx="1">
                  <c:v>100.4</c:v>
                </c:pt>
              </c:numCache>
            </c:numRef>
          </c:val>
        </c:ser>
        <c:ser>
          <c:idx val="24"/>
          <c:order val="24"/>
          <c:tx>
            <c:v>Patient 25</c:v>
          </c:tx>
          <c:spPr>
            <a:ln xmlns:a="http://schemas.openxmlformats.org/drawingml/2006/main" w="9525">
              <a:solidFill>
                <a:srgbClr val="A0C7D6"/>
              </a:solidFill>
            </a:ln>
          </c:spPr>
          <c:marker>
            <c:symbol val="none"/>
          </c:marker>
          <c:cat>
            <c:strRef>
              <c:f>'Chart Data'!$AW$2:$AW$3</c:f>
              <c:strCache>
                <c:ptCount val="2"/>
                <c:pt idx="0">
                  <c:v>Before</c:v>
                </c:pt>
                <c:pt idx="1">
                  <c:v>After</c:v>
                </c:pt>
              </c:strCache>
            </c:strRef>
          </c:cat>
          <c:val>
            <c:numRef>
              <c:f>'Chart Data'!$AX$2:$AX$3</c:f>
              <c:numCache>
                <c:formatCode>General</c:formatCode>
                <c:ptCount val="2"/>
                <c:pt idx="0">
                  <c:v>83.3</c:v>
                </c:pt>
                <c:pt idx="1">
                  <c:v>85.2</c:v>
                </c:pt>
              </c:numCache>
            </c:numRef>
          </c:val>
        </c:ser>
        <c:ser>
          <c:idx val="25"/>
          <c:order val="25"/>
          <c:tx>
            <c:v>Patient 26</c:v>
          </c:tx>
          <c:spPr>
            <a:ln xmlns:a="http://schemas.openxmlformats.org/drawingml/2006/main" w="9525">
              <a:solidFill>
                <a:srgbClr val="A0C7D6"/>
              </a:solidFill>
            </a:ln>
          </c:spPr>
          <c:marker>
            <c:symbol val="none"/>
          </c:marker>
          <c:cat>
            <c:strRef>
              <c:f>'Chart Data'!$AY$2:$AY$3</c:f>
              <c:strCache>
                <c:ptCount val="2"/>
                <c:pt idx="0">
                  <c:v>Before</c:v>
                </c:pt>
                <c:pt idx="1">
                  <c:v>After</c:v>
                </c:pt>
              </c:strCache>
            </c:strRef>
          </c:cat>
          <c:val>
            <c:numRef>
              <c:f>'Chart Data'!$AZ$2:$AZ$3</c:f>
              <c:numCache>
                <c:formatCode>General</c:formatCode>
                <c:ptCount val="2"/>
                <c:pt idx="0">
                  <c:v>79.7</c:v>
                </c:pt>
                <c:pt idx="1">
                  <c:v>83.6</c:v>
                </c:pt>
              </c:numCache>
            </c:numRef>
          </c:val>
        </c:ser>
        <c:ser>
          <c:idx val="26"/>
          <c:order val="26"/>
          <c:tx>
            <c:v>Patient 27</c:v>
          </c:tx>
          <c:spPr>
            <a:ln xmlns:a="http://schemas.openxmlformats.org/drawingml/2006/main" w="9525">
              <a:solidFill>
                <a:srgbClr val="A0C7D6"/>
              </a:solidFill>
            </a:ln>
          </c:spPr>
          <c:marker>
            <c:symbol val="none"/>
          </c:marker>
          <c:cat>
            <c:strRef>
              <c:f>'Chart Data'!$BA$2:$BA$3</c:f>
              <c:strCache>
                <c:ptCount val="2"/>
                <c:pt idx="0">
                  <c:v>Before</c:v>
                </c:pt>
                <c:pt idx="1">
                  <c:v>After</c:v>
                </c:pt>
              </c:strCache>
            </c:strRef>
          </c:cat>
          <c:val>
            <c:numRef>
              <c:f>'Chart Data'!$BB$2:$BB$3</c:f>
              <c:numCache>
                <c:formatCode>General</c:formatCode>
                <c:ptCount val="2"/>
                <c:pt idx="0">
                  <c:v>84.5</c:v>
                </c:pt>
                <c:pt idx="1">
                  <c:v>84.6</c:v>
                </c:pt>
              </c:numCache>
            </c:numRef>
          </c:val>
        </c:ser>
        <c:ser>
          <c:idx val="27"/>
          <c:order val="27"/>
          <c:tx>
            <c:v>Patient 28</c:v>
          </c:tx>
          <c:spPr>
            <a:ln xmlns:a="http://schemas.openxmlformats.org/drawingml/2006/main" w="9525">
              <a:solidFill>
                <a:srgbClr val="A0C7D6"/>
              </a:solidFill>
            </a:ln>
          </c:spPr>
          <c:marker>
            <c:symbol val="none"/>
          </c:marker>
          <c:cat>
            <c:strRef>
              <c:f>'Chart Data'!$BC$2:$BC$3</c:f>
              <c:strCache>
                <c:ptCount val="2"/>
                <c:pt idx="0">
                  <c:v>Before</c:v>
                </c:pt>
                <c:pt idx="1">
                  <c:v>After</c:v>
                </c:pt>
              </c:strCache>
            </c:strRef>
          </c:cat>
          <c:val>
            <c:numRef>
              <c:f>'Chart Data'!$BD$2:$BD$3</c:f>
              <c:numCache>
                <c:formatCode>General</c:formatCode>
                <c:ptCount val="2"/>
                <c:pt idx="0">
                  <c:v>80.8</c:v>
                </c:pt>
                <c:pt idx="1">
                  <c:v>96.2</c:v>
                </c:pt>
              </c:numCache>
            </c:numRef>
          </c:val>
        </c:ser>
        <c:ser>
          <c:idx val="28"/>
          <c:order val="28"/>
          <c:tx>
            <c:v>Patient 29</c:v>
          </c:tx>
          <c:spPr>
            <a:ln xmlns:a="http://schemas.openxmlformats.org/drawingml/2006/main" w="9525">
              <a:solidFill>
                <a:srgbClr val="A0C7D6"/>
              </a:solidFill>
            </a:ln>
          </c:spPr>
          <c:marker>
            <c:symbol val="none"/>
          </c:marker>
          <c:cat>
            <c:strRef>
              <c:f>'Chart Data'!$BE$2:$BE$3</c:f>
              <c:strCache>
                <c:ptCount val="2"/>
                <c:pt idx="0">
                  <c:v>Before</c:v>
                </c:pt>
                <c:pt idx="1">
                  <c:v>After</c:v>
                </c:pt>
              </c:strCache>
            </c:strRef>
          </c:cat>
          <c:val>
            <c:numRef>
              <c:f>'Chart Data'!$BF$2:$BF$3</c:f>
              <c:numCache>
                <c:formatCode>General</c:formatCode>
                <c:ptCount val="2"/>
                <c:pt idx="0">
                  <c:v>87.4</c:v>
                </c:pt>
                <c:pt idx="1">
                  <c:v>86.7</c:v>
                </c:pt>
              </c:numCache>
            </c:numRef>
          </c:val>
        </c:ser>
        <c:ser>
          <c:idx val="29"/>
          <c:order val="29"/>
          <c:tx>
            <c:v>Mean</c:v>
          </c:tx>
          <c:spPr>
            <a:ln xmlns:a="http://schemas.openxmlformats.org/drawingml/2006/main" w="28575">
              <a:solidFill>
                <a:srgbClr val="D87945"/>
              </a:solidFill>
            </a:ln>
          </c:spPr>
          <c:marker>
            <c:symbol val="none"/>
          </c:marker>
          <c:cat>
            <c:strRef>
              <c:f>'Chart Data'!$BG$2:$BG$3</c:f>
              <c:strCache>
                <c:ptCount val="2"/>
                <c:pt idx="0">
                  <c:v>Before</c:v>
                </c:pt>
                <c:pt idx="1">
                  <c:v>After</c:v>
                </c:pt>
              </c:strCache>
            </c:strRef>
          </c:cat>
          <c:val>
            <c:numRef>
              <c:f>'Chart Data'!$BH$2:$BH$3</c:f>
              <c:numCache>
                <c:formatCode>General</c:formatCode>
                <c:ptCount val="2"/>
                <c:pt idx="0">
                  <c:v>82.6897</c:v>
                </c:pt>
                <c:pt idx="1">
                  <c:v>85.6966</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110"/>
          <c:min val="65"/>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00">
                    <a:latin typeface="Arial"/>
                    <a:ea typeface="Arial"/>
                    <a:cs typeface="Arial"/>
                  </a:rPr>
                  <a:t>Weight (lb)</a:t>
                </a:r>
              </a:p>
            </c:rich>
          </c:tx>
          <c:overlay val="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50112"/>
        <c:crossBetween val="between"/>
        <c:majorUnit val="15"/>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lineChart>
        <c:grouping val="standard"/>
        <c:varyColors val="0"/>
        <c:ser>
          <c:idx val="0"/>
          <c:order val="0"/>
          <c:tx>
            <c:v>R1</c:v>
          </c:tx>
          <c:spPr>
            <a:solidFill xmlns:a="http://schemas.openxmlformats.org/drawingml/2006/main">
              <a:srgbClr val="176D8C"/>
            </a:solidFill>
            <a:ln xmlns:a="http://schemas.openxmlformats.org/drawingml/2006/main" w="19050">
              <a:solidFill>
                <a:srgbClr val="176D8C"/>
              </a:solidFill>
            </a:ln>
          </c:spPr>
          <c:marker>
            <c:symbol val="circle"/>
            <c:size val="4"/>
          </c:marker>
          <c:cat>
            <c:numRef>
              <c:f>'Chart Data'!$A$2:$A$7</c:f>
              <c:numCache>
                <c:formatCode>General</c:formatCode>
                <c:ptCount val="6"/>
                <c:pt idx="0">
                  <c:v>25</c:v>
                </c:pt>
                <c:pt idx="1">
                  <c:v>50</c:v>
                </c:pt>
                <c:pt idx="2">
                  <c:v>75</c:v>
                </c:pt>
                <c:pt idx="3">
                  <c:v>100</c:v>
                </c:pt>
                <c:pt idx="4">
                  <c:v>125</c:v>
                </c:pt>
                <c:pt idx="5">
                  <c:v>150</c:v>
                </c:pt>
              </c:numCache>
            </c:numRef>
          </c:cat>
          <c:val>
            <c:numRef>
              <c:f>'Chart Data'!$B$2:$B$7</c:f>
              <c:numCache>
                <c:formatCode>General</c:formatCode>
                <c:ptCount val="6"/>
                <c:pt idx="0">
                  <c:v>5113</c:v>
                </c:pt>
                <c:pt idx="1">
                  <c:v>5346</c:v>
                </c:pt>
                <c:pt idx="2">
                  <c:v>5272</c:v>
                </c:pt>
                <c:pt idx="3">
                  <c:v>5164</c:v>
                </c:pt>
                <c:pt idx="4">
                  <c:v>4804</c:v>
                </c:pt>
                <c:pt idx="5">
                  <c:v>5254</c:v>
                </c:pt>
              </c:numCache>
            </c:numRef>
          </c:val>
        </c:ser>
        <c:ser>
          <c:idx val="1"/>
          <c:order val="1"/>
          <c:tx>
            <c:v>R2</c:v>
          </c:tx>
          <c:spPr>
            <a:solidFill xmlns:a="http://schemas.openxmlformats.org/drawingml/2006/main">
              <a:srgbClr val="D87945"/>
            </a:solidFill>
            <a:ln xmlns:a="http://schemas.openxmlformats.org/drawingml/2006/main" w="19050">
              <a:solidFill>
                <a:srgbClr val="D87945"/>
              </a:solidFill>
            </a:ln>
          </c:spPr>
          <c:marker>
            <c:symbol val="circle"/>
            <c:size val="4"/>
          </c:marker>
          <c:cat>
            <c:numRef>
              <c:f>'Chart Data'!$C$2:$C$7</c:f>
              <c:numCache>
                <c:formatCode>General</c:formatCode>
                <c:ptCount val="6"/>
                <c:pt idx="0">
                  <c:v>25</c:v>
                </c:pt>
                <c:pt idx="1">
                  <c:v>50</c:v>
                </c:pt>
                <c:pt idx="2">
                  <c:v>75</c:v>
                </c:pt>
                <c:pt idx="3">
                  <c:v>100</c:v>
                </c:pt>
                <c:pt idx="4">
                  <c:v>125</c:v>
                </c:pt>
                <c:pt idx="5">
                  <c:v>150</c:v>
                </c:pt>
              </c:numCache>
            </c:numRef>
          </c:cat>
          <c:val>
            <c:numRef>
              <c:f>'Chart Data'!$D$2:$D$7</c:f>
              <c:numCache>
                <c:formatCode>General</c:formatCode>
                <c:ptCount val="6"/>
                <c:pt idx="0">
                  <c:v>5398</c:v>
                </c:pt>
                <c:pt idx="1">
                  <c:v>5952</c:v>
                </c:pt>
                <c:pt idx="2">
                  <c:v>5713</c:v>
                </c:pt>
                <c:pt idx="3">
                  <c:v>4831</c:v>
                </c:pt>
                <c:pt idx="4">
                  <c:v>4848</c:v>
                </c:pt>
                <c:pt idx="5">
                  <c:v>4542</c:v>
                </c:pt>
              </c:numCache>
            </c:numRef>
          </c:val>
        </c:ser>
        <c:ser>
          <c:idx val="2"/>
          <c:order val="2"/>
          <c:tx>
            <c:v>R3</c:v>
          </c:tx>
          <c:spPr>
            <a:solidFill xmlns:a="http://schemas.openxmlformats.org/drawingml/2006/main">
              <a:srgbClr val="269E91"/>
            </a:solidFill>
            <a:ln xmlns:a="http://schemas.openxmlformats.org/drawingml/2006/main" w="19050">
              <a:solidFill>
                <a:srgbClr val="269E91"/>
              </a:solidFill>
            </a:ln>
          </c:spPr>
          <c:marker>
            <c:symbol val="circle"/>
            <c:size val="4"/>
          </c:marker>
          <c:cat>
            <c:numRef>
              <c:f>'Chart Data'!$E$2:$E$7</c:f>
              <c:numCache>
                <c:formatCode>General</c:formatCode>
                <c:ptCount val="6"/>
                <c:pt idx="0">
                  <c:v>25</c:v>
                </c:pt>
                <c:pt idx="1">
                  <c:v>50</c:v>
                </c:pt>
                <c:pt idx="2">
                  <c:v>75</c:v>
                </c:pt>
                <c:pt idx="3">
                  <c:v>100</c:v>
                </c:pt>
                <c:pt idx="4">
                  <c:v>125</c:v>
                </c:pt>
                <c:pt idx="5">
                  <c:v>150</c:v>
                </c:pt>
              </c:numCache>
            </c:numRef>
          </c:cat>
          <c:val>
            <c:numRef>
              <c:f>'Chart Data'!$F$2:$F$7</c:f>
              <c:numCache>
                <c:formatCode>General</c:formatCode>
                <c:ptCount val="6"/>
                <c:pt idx="0">
                  <c:v>5307</c:v>
                </c:pt>
                <c:pt idx="1">
                  <c:v>4719</c:v>
                </c:pt>
                <c:pt idx="2">
                  <c:v>5483</c:v>
                </c:pt>
                <c:pt idx="3">
                  <c:v>4986</c:v>
                </c:pt>
                <c:pt idx="4">
                  <c:v>4432</c:v>
                </c:pt>
                <c:pt idx="5">
                  <c:v>4919</c:v>
                </c:pt>
              </c:numCache>
            </c:numRef>
          </c:val>
        </c:ser>
        <c:ser>
          <c:idx val="3"/>
          <c:order val="3"/>
          <c:tx>
            <c:v>R4</c:v>
          </c:tx>
          <c:spPr>
            <a:solidFill xmlns:a="http://schemas.openxmlformats.org/drawingml/2006/main">
              <a:srgbClr val="7660A7"/>
            </a:solidFill>
            <a:ln xmlns:a="http://schemas.openxmlformats.org/drawingml/2006/main" w="19050">
              <a:solidFill>
                <a:srgbClr val="7660A7"/>
              </a:solidFill>
            </a:ln>
          </c:spPr>
          <c:marker>
            <c:symbol val="circle"/>
            <c:size val="4"/>
          </c:marker>
          <c:cat>
            <c:numRef>
              <c:f>'Chart Data'!$G$2:$G$7</c:f>
              <c:numCache>
                <c:formatCode>General</c:formatCode>
                <c:ptCount val="6"/>
                <c:pt idx="0">
                  <c:v>25</c:v>
                </c:pt>
                <c:pt idx="1">
                  <c:v>50</c:v>
                </c:pt>
                <c:pt idx="2">
                  <c:v>75</c:v>
                </c:pt>
                <c:pt idx="3">
                  <c:v>100</c:v>
                </c:pt>
                <c:pt idx="4">
                  <c:v>125</c:v>
                </c:pt>
                <c:pt idx="5">
                  <c:v>150</c:v>
                </c:pt>
              </c:numCache>
            </c:numRef>
          </c:cat>
          <c:val>
            <c:numRef>
              <c:f>'Chart Data'!$H$2:$H$7</c:f>
              <c:numCache>
                <c:formatCode>General</c:formatCode>
                <c:ptCount val="6"/>
                <c:pt idx="0">
                  <c:v>4678</c:v>
                </c:pt>
                <c:pt idx="1">
                  <c:v>4264</c:v>
                </c:pt>
                <c:pt idx="2">
                  <c:v>4749</c:v>
                </c:pt>
                <c:pt idx="3">
                  <c:v>4410</c:v>
                </c:pt>
                <c:pt idx="4">
                  <c:v>4748</c:v>
                </c:pt>
                <c:pt idx="5">
                  <c:v>4098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latin typeface="Arial"/>
                <a:ea typeface="Arial"/>
                <a:cs typeface="Arial"/>
              </a:defRPr>
            </a:pPr>
          </a:p>
        </c:txPr>
        <c:crossAx val="48672768"/>
      </c:catAx>
      <c:valAx>
        <c:axId val="48672768"/>
        <c:scaling>
          <c:orientation val="minMax"/>
          <c:max val="6000"/>
          <c:min val="4000"/>
        </c:scaling>
        <c:delete val="0"/>
        <c:axPos val="l"/>
        <c:majorGridlines>
          <c:spPr>
            <a:ln xmlns:a="http://schemas.openxmlformats.org/drawingml/2006/main" w="9525">
              <a:solidFill>
                <a:srgbClr val="DF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latin typeface="Arial"/>
                <a:ea typeface="Arial"/>
                <a:cs typeface="Arial"/>
              </a:defRPr>
            </a:pPr>
          </a:p>
        </c:txPr>
        <c:crossAx val="48650112"/>
        <c:crossBetween val="between"/>
        <c:majorUnit val="1000"/>
      </c:valAx>
      <c:spPr>
        <a:solidFill xmlns:a="http://schemas.openxmlformats.org/drawingml/2006/main">
          <a:srgbClr val="FFFFFF"/>
        </a:solidFill>
      </c:spPr>
    </c:plotArea>
    <c:legend>
      <c:legendPos val="r"/>
      <c:overlay val="0"/>
      <c:txPr>
        <a:bodyPr xmlns:a="http://schemas.openxmlformats.org/drawingml/2006/main" anchorCtr="1"/>
        <a:lstStyle xmlns:a="http://schemas.openxmlformats.org/drawingml/2006/main"/>
        <a:p xmlns:a="http://schemas.openxmlformats.org/drawingml/2006/main">
          <a:pPr>
            <a:defRPr sz="10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CF40B27-3383-48B8-814A-E154F0C35FC5}"/>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 name="text">
            <a:extLst xmlns:a="http://schemas.openxmlformats.org/drawingml/2006/main">
              <a:ext uri="{FF2B5EF4-FFF2-40B4-BE49-F238E27FC236}">
                <a16:creationId xmlns:a16="http://schemas.microsoft.com/office/drawing/2014/main" id="{446893FC-2350-43EF-B6FB-886137649CF0}"/>
              </a:ext>
            </a:extLst>
          </p:cNvPr>
          <p:cNvSpPr>
            <a:spLocks xmlns:a="http://schemas.openxmlformats.org/drawingml/2006/main" noGrp="1"/>
          </p:cNvSpPr>
          <p:nvPr/>
        </p:nvSpPr>
        <p:spPr>
          <a:xfrm xmlns:a="http://schemas.openxmlformats.org/drawingml/2006/main">
            <a:off x="552450" y="790575"/>
            <a:ext cx="1095375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4800" b="1">
                <a:solidFill>
                  <a:srgbClr val="183044"/>
                </a:solidFill>
                <a:latin typeface="Arial"/>
                <a:ea typeface="Arial"/>
                <a:cs typeface="Arial"/>
              </a:defRPr>
            </a:defPPr>
          </a:lstStyle>
          <a:p xmlns:a="http://schemas.openxmlformats.org/drawingml/2006/main">
            <a:pPr>
              <a:defRPr sz="4800" b="1">
                <a:solidFill>
                  <a:srgbClr val="183044"/>
                </a:solidFill>
                <a:latin typeface="Arial"/>
                <a:ea typeface="Arial"/>
                <a:cs typeface="Arial"/>
              </a:defRPr>
            </a:pPr>
            <a:r>
              <a:rPr sz="4800" b="1">
                <a:solidFill>
                  <a:srgbClr val="183044"/>
                </a:solidFill>
                <a:latin typeface="Arial"/>
                <a:ea typeface="Arial"/>
                <a:cs typeface="Arial"/>
              </a:rPr>
              <a:t>Diabetes and</a:t>
            </a:r>
          </a:p>
          <a:p xmlns:a="http://schemas.openxmlformats.org/drawingml/2006/main">
            <a:pPr>
              <a:defRPr sz="4800" b="1">
                <a:solidFill>
                  <a:srgbClr val="183044"/>
                </a:solidFill>
                <a:latin typeface="Arial"/>
                <a:ea typeface="Arial"/>
                <a:cs typeface="Arial"/>
              </a:defRPr>
            </a:pPr>
            <a:r>
              <a:rPr sz="4800" b="1">
                <a:solidFill>
                  <a:srgbClr val="183044"/>
                </a:solidFill>
                <a:latin typeface="Arial"/>
                <a:ea typeface="Arial"/>
                <a:cs typeface="Arial"/>
              </a:rPr>
              <a:t>lifestyle indicators</a:t>
            </a:r>
          </a:p>
        </p:txBody>
      </p:sp>
      <p:sp>
        <p:nvSpPr>
          <p:cNvPr id="3" name="text">
            <a:extLst xmlns:a="http://schemas.openxmlformats.org/drawingml/2006/main">
              <a:ext uri="{FF2B5EF4-FFF2-40B4-BE49-F238E27FC236}">
                <a16:creationId xmlns:a16="http://schemas.microsoft.com/office/drawing/2014/main" id="{F426AD00-9A18-44EA-9C24-20C204DE8A61}"/>
              </a:ext>
            </a:extLst>
          </p:cNvPr>
          <p:cNvSpPr>
            <a:spLocks xmlns:a="http://schemas.openxmlformats.org/drawingml/2006/main" noGrp="1"/>
          </p:cNvSpPr>
          <p:nvPr/>
        </p:nvSpPr>
        <p:spPr>
          <a:xfrm xmlns:a="http://schemas.openxmlformats.org/drawingml/2006/main">
            <a:off x="590550" y="25717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76D8C"/>
                </a:solidFill>
                <a:latin typeface="Arial"/>
                <a:ea typeface="Arial"/>
                <a:cs typeface="Arial"/>
              </a:defRPr>
            </a:defPPr>
          </a:lstStyle>
          <a:p xmlns:a="http://schemas.openxmlformats.org/drawingml/2006/main">
            <a:pPr>
              <a:defRPr sz="2325" b="0">
                <a:solidFill>
                  <a:srgbClr val="176D8C"/>
                </a:solidFill>
                <a:latin typeface="Arial"/>
                <a:ea typeface="Arial"/>
                <a:cs typeface="Arial"/>
              </a:defRPr>
            </a:pPr>
            <a:r>
              <a:rPr sz="2325" b="0">
                <a:solidFill>
                  <a:srgbClr val="176D8C"/>
                </a:solidFill>
                <a:latin typeface="Arial"/>
                <a:ea typeface="Arial"/>
                <a:cs typeface="Arial"/>
              </a:rPr>
              <a:t>Statistical analysis with R</a:t>
            </a:r>
          </a:p>
          <a:p xmlns:a="http://schemas.openxmlformats.org/drawingml/2006/main">
            <a:pPr>
              <a:defRPr sz="2325" b="0">
                <a:solidFill>
                  <a:srgbClr val="176D8C"/>
                </a:solidFill>
                <a:latin typeface="Arial"/>
                <a:ea typeface="Arial"/>
                <a:cs typeface="Arial"/>
              </a:defRPr>
            </a:pPr>
            <a:r>
              <a:rPr sz="2325" b="0">
                <a:solidFill>
                  <a:srgbClr val="176D8C"/>
                </a:solidFill>
                <a:latin typeface="Arial"/>
                <a:ea typeface="Arial"/>
                <a:cs typeface="Arial"/>
              </a:rPr>
              <a:t>BMAT202P Probability and Statistics Lab</a:t>
            </a:r>
          </a:p>
        </p:txBody>
      </p:sp>
      <p:sp>
        <p:nvSpPr>
          <p:cNvPr id="4" name="">
            <a:extLst xmlns:a="http://schemas.openxmlformats.org/drawingml/2006/main">
              <a:ext uri="{FF2B5EF4-FFF2-40B4-BE49-F238E27FC236}">
                <a16:creationId xmlns:a16="http://schemas.microsoft.com/office/drawing/2014/main" id="{DB393086-CEF8-434D-8EE8-65A14055B88A}"/>
              </a:ext>
            </a:extLst>
          </p:cNvPr>
          <p:cNvSpPr>
            <a:spLocks xmlns:a="http://schemas.openxmlformats.org/drawingml/2006/main" noGrp="1"/>
          </p:cNvSpPr>
          <p:nvPr/>
        </p:nvSpPr>
        <p:spPr>
          <a:xfrm xmlns:a="http://schemas.openxmlformats.org/drawingml/2006/main">
            <a:off x="590550" y="3686175"/>
            <a:ext cx="1095375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5" name="text">
            <a:extLst xmlns:a="http://schemas.openxmlformats.org/drawingml/2006/main">
              <a:ext uri="{FF2B5EF4-FFF2-40B4-BE49-F238E27FC236}">
                <a16:creationId xmlns:a16="http://schemas.microsoft.com/office/drawing/2014/main" id="{DFC2637C-0434-4DB3-88FC-B6254AE35EED}"/>
              </a:ext>
            </a:extLst>
          </p:cNvPr>
          <p:cNvSpPr>
            <a:spLocks xmlns:a="http://schemas.openxmlformats.org/drawingml/2006/main" noGrp="1"/>
          </p:cNvSpPr>
          <p:nvPr/>
        </p:nvSpPr>
        <p:spPr>
          <a:xfrm xmlns:a="http://schemas.openxmlformats.org/drawingml/2006/main">
            <a:off x="590550" y="3990975"/>
            <a:ext cx="109537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83044"/>
                </a:solidFill>
                <a:latin typeface="Arial"/>
                <a:ea typeface="Arial"/>
                <a:cs typeface="Arial"/>
              </a:defRPr>
            </a:defPPr>
          </a:lstStyle>
          <a:p xmlns:a="http://schemas.openxmlformats.org/drawingml/2006/main">
            <a:pPr>
              <a:defRPr sz="2025" b="0">
                <a:solidFill>
                  <a:srgbClr val="183044"/>
                </a:solidFill>
                <a:latin typeface="Arial"/>
                <a:ea typeface="Arial"/>
                <a:cs typeface="Arial"/>
              </a:defRPr>
            </a:pPr>
            <a:r>
              <a:rPr sz="2025" b="0">
                <a:solidFill>
                  <a:srgbClr val="183044"/>
                </a:solidFill>
                <a:latin typeface="Arial"/>
                <a:ea typeface="Arial"/>
                <a:cs typeface="Arial"/>
              </a:rPr>
              <a:t>YASH RAJ - 24BDS1209</a:t>
            </a:r>
          </a:p>
          <a:p xmlns:a="http://schemas.openxmlformats.org/drawingml/2006/main">
            <a:pPr>
              <a:defRPr sz="2025" b="0">
                <a:solidFill>
                  <a:srgbClr val="183044"/>
                </a:solidFill>
                <a:latin typeface="Arial"/>
                <a:ea typeface="Arial"/>
                <a:cs typeface="Arial"/>
              </a:defRPr>
            </a:pPr>
            <a:r>
              <a:rPr sz="2025" b="0">
                <a:solidFill>
                  <a:srgbClr val="183044"/>
                </a:solidFill>
                <a:latin typeface="Arial"/>
                <a:ea typeface="Arial"/>
                <a:cs typeface="Arial"/>
              </a:rPr>
              <a:t>HRISHIKESH DAMODAR NAYAK - 24BDS1007</a:t>
            </a:r>
          </a:p>
          <a:p xmlns:a="http://schemas.openxmlformats.org/drawingml/2006/main">
            <a:pPr>
              <a:defRPr sz="2025" b="0">
                <a:solidFill>
                  <a:srgbClr val="183044"/>
                </a:solidFill>
                <a:latin typeface="Arial"/>
                <a:ea typeface="Arial"/>
                <a:cs typeface="Arial"/>
              </a:defRPr>
            </a:pPr>
            <a:r>
              <a:rPr sz="2025" b="0">
                <a:solidFill>
                  <a:srgbClr val="183044"/>
                </a:solidFill>
                <a:latin typeface="Arial"/>
                <a:ea typeface="Arial"/>
                <a:cs typeface="Arial"/>
              </a:rPr>
              <a:t>HARDIK LALLA - 24BDS1010</a:t>
            </a:r>
          </a:p>
          <a:p xmlns:a="http://schemas.openxmlformats.org/drawingml/2006/main">
            <a:pPr>
              <a:defRPr sz="2025" b="0">
                <a:solidFill>
                  <a:srgbClr val="183044"/>
                </a:solidFill>
                <a:latin typeface="Arial"/>
                <a:ea typeface="Arial"/>
                <a:cs typeface="Arial"/>
              </a:defRPr>
            </a:pPr>
            <a:r>
              <a:rPr sz="2025" b="0">
                <a:solidFill>
                  <a:srgbClr val="183044"/>
                </a:solidFill>
                <a:latin typeface="Arial"/>
                <a:ea typeface="Arial"/>
                <a:cs typeface="Arial"/>
              </a:rPr>
              <a:t>ARYAN RAJ - 24BDS1094</a:t>
            </a:r>
          </a:p>
        </p:txBody>
      </p:sp>
      <p:sp>
        <p:nvSpPr>
          <p:cNvPr id="6" name="text">
            <a:extLst xmlns:a="http://schemas.openxmlformats.org/drawingml/2006/main">
              <a:ext uri="{FF2B5EF4-FFF2-40B4-BE49-F238E27FC236}">
                <a16:creationId xmlns:a16="http://schemas.microsoft.com/office/drawing/2014/main" id="{3A9CA284-0B2D-48A5-A4CA-801491E80349}"/>
              </a:ext>
            </a:extLst>
          </p:cNvPr>
          <p:cNvSpPr>
            <a:spLocks xmlns:a="http://schemas.openxmlformats.org/drawingml/2006/main" noGrp="1"/>
          </p:cNvSpPr>
          <p:nvPr/>
        </p:nvSpPr>
        <p:spPr>
          <a:xfrm xmlns:a="http://schemas.openxmlformats.org/drawingml/2006/main">
            <a:off x="590550" y="600075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Data  →  graphs  →  models  →  statistical tests</a:t>
            </a:r>
          </a:p>
        </p:txBody>
      </p:sp>
    </p:spTree>
    <p:extLst>
      <p:ext uri="{BB962C8B-B14F-4D97-AF65-F5344CB8AC3E}">
        <p14:creationId xmlns:p14="http://schemas.microsoft.com/office/powerpoint/2010/main" val="164051114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9C02C9D-88B7-462A-978D-AE5549965C10}"/>
              </a:ext>
            </a:extLst>
          </p:cNvPr>
          <p:cNvSpPr>
            <a:spLocks xmlns:a="http://schemas.openxmlformats.org/drawingml/2006/main" noGrp="1"/>
          </p:cNvSpPr>
          <p:nvPr/>
        </p:nvSpPr>
        <p:spPr>
          <a:xfrm xmlns:a="http://schemas.openxmlformats.org/drawingml/2006/main">
            <a:off x="381000" y="32385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 name="text">
            <a:extLst xmlns:a="http://schemas.openxmlformats.org/drawingml/2006/main">
              <a:ext uri="{FF2B5EF4-FFF2-40B4-BE49-F238E27FC236}">
                <a16:creationId xmlns:a16="http://schemas.microsoft.com/office/drawing/2014/main" id="{5B0D9A13-0497-4431-85F9-2918F3DF6898}"/>
              </a:ext>
            </a:extLst>
          </p:cNvPr>
          <p:cNvSpPr>
            <a:spLocks xmlns:a="http://schemas.openxmlformats.org/drawingml/2006/main" noGrp="1"/>
          </p:cNvSpPr>
          <p:nvPr/>
        </p:nvSpPr>
        <p:spPr>
          <a:xfrm xmlns:a="http://schemas.openxmlformats.org/drawingml/2006/main">
            <a:off x="590550" y="28575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83044"/>
                </a:solidFill>
                <a:latin typeface="Arial"/>
                <a:ea typeface="Arial"/>
                <a:cs typeface="Arial"/>
              </a:defRPr>
            </a:defPPr>
          </a:lstStyle>
          <a:p xmlns:a="http://schemas.openxmlformats.org/drawingml/2006/main">
            <a:pPr>
              <a:defRPr sz="3000" b="1">
                <a:solidFill>
                  <a:srgbClr val="183044"/>
                </a:solidFill>
                <a:latin typeface="Arial"/>
                <a:ea typeface="Arial"/>
                <a:cs typeface="Arial"/>
              </a:defRPr>
            </a:pPr>
            <a:r>
              <a:rPr sz="3000" b="1">
                <a:solidFill>
                  <a:srgbClr val="183044"/>
                </a:solidFill>
                <a:latin typeface="Arial"/>
                <a:ea typeface="Arial"/>
                <a:cs typeface="Arial"/>
              </a:rPr>
              <a:t>Dataset and aim</a:t>
            </a:r>
          </a:p>
        </p:txBody>
      </p:sp>
      <p:sp>
        <p:nvSpPr>
          <p:cNvPr id="3" name="text">
            <a:extLst xmlns:a="http://schemas.openxmlformats.org/drawingml/2006/main">
              <a:ext uri="{FF2B5EF4-FFF2-40B4-BE49-F238E27FC236}">
                <a16:creationId xmlns:a16="http://schemas.microsoft.com/office/drawing/2014/main" id="{1E22119A-ED39-4AFE-85A1-CE50294471E4}"/>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Aim: describe health patterns, study BMI relationships and apply the course statistical methods.</a:t>
            </a:r>
          </a:p>
        </p:txBody>
      </p:sp>
      <p:sp>
        <p:nvSpPr>
          <p:cNvPr id="4" name="text">
            <a:extLst xmlns:a="http://schemas.openxmlformats.org/drawingml/2006/main">
              <a:ext uri="{FF2B5EF4-FFF2-40B4-BE49-F238E27FC236}">
                <a16:creationId xmlns:a16="http://schemas.microsoft.com/office/drawing/2014/main" id="{294BF60B-C6BF-4153-BAF9-080800369527}"/>
              </a:ext>
            </a:extLst>
          </p:cNvPr>
          <p:cNvSpPr>
            <a:spLocks xmlns:a="http://schemas.openxmlformats.org/drawingml/2006/main" noGrp="1"/>
          </p:cNvSpPr>
          <p:nvPr/>
        </p:nvSpPr>
        <p:spPr>
          <a:xfrm xmlns:a="http://schemas.openxmlformats.org/drawingml/2006/main">
            <a:off x="400050" y="1533525"/>
            <a:ext cx="3571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253,680</a:t>
            </a:r>
          </a:p>
        </p:txBody>
      </p:sp>
      <p:sp>
        <p:nvSpPr>
          <p:cNvPr id="5" name="text">
            <a:extLst xmlns:a="http://schemas.openxmlformats.org/drawingml/2006/main">
              <a:ext uri="{FF2B5EF4-FFF2-40B4-BE49-F238E27FC236}">
                <a16:creationId xmlns:a16="http://schemas.microsoft.com/office/drawing/2014/main" id="{52BB3C91-4486-4C15-BAE8-59FA06AC4E41}"/>
              </a:ext>
            </a:extLst>
          </p:cNvPr>
          <p:cNvSpPr>
            <a:spLocks xmlns:a="http://schemas.openxmlformats.org/drawingml/2006/main" noGrp="1"/>
          </p:cNvSpPr>
          <p:nvPr/>
        </p:nvSpPr>
        <p:spPr>
          <a:xfrm xmlns:a="http://schemas.openxmlformats.org/drawingml/2006/main">
            <a:off x="400050" y="2047875"/>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source records</a:t>
            </a:r>
          </a:p>
        </p:txBody>
      </p:sp>
      <p:sp>
        <p:nvSpPr>
          <p:cNvPr id="6" name="text">
            <a:extLst xmlns:a="http://schemas.openxmlformats.org/drawingml/2006/main">
              <a:ext uri="{FF2B5EF4-FFF2-40B4-BE49-F238E27FC236}">
                <a16:creationId xmlns:a16="http://schemas.microsoft.com/office/drawing/2014/main" id="{AA709D2A-A86A-4FBB-BC1E-6EC881DCE1A8}"/>
              </a:ext>
            </a:extLst>
          </p:cNvPr>
          <p:cNvSpPr>
            <a:spLocks xmlns:a="http://schemas.openxmlformats.org/drawingml/2006/main" noGrp="1"/>
          </p:cNvSpPr>
          <p:nvPr/>
        </p:nvSpPr>
        <p:spPr>
          <a:xfrm xmlns:a="http://schemas.openxmlformats.org/drawingml/2006/main">
            <a:off x="4229100" y="1533525"/>
            <a:ext cx="3571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3,000</a:t>
            </a:r>
          </a:p>
        </p:txBody>
      </p:sp>
      <p:sp>
        <p:nvSpPr>
          <p:cNvPr id="7" name="text">
            <a:extLst xmlns:a="http://schemas.openxmlformats.org/drawingml/2006/main">
              <a:ext uri="{FF2B5EF4-FFF2-40B4-BE49-F238E27FC236}">
                <a16:creationId xmlns:a16="http://schemas.microsoft.com/office/drawing/2014/main" id="{0452C83B-F755-4C3E-A34F-5FC9BA47D5D3}"/>
              </a:ext>
            </a:extLst>
          </p:cNvPr>
          <p:cNvSpPr>
            <a:spLocks xmlns:a="http://schemas.openxmlformats.org/drawingml/2006/main" noGrp="1"/>
          </p:cNvSpPr>
          <p:nvPr/>
        </p:nvSpPr>
        <p:spPr>
          <a:xfrm xmlns:a="http://schemas.openxmlformats.org/drawingml/2006/main">
            <a:off x="4229100" y="2047875"/>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sampled people</a:t>
            </a:r>
          </a:p>
        </p:txBody>
      </p:sp>
      <p:sp>
        <p:nvSpPr>
          <p:cNvPr id="8" name="text">
            <a:extLst xmlns:a="http://schemas.openxmlformats.org/drawingml/2006/main">
              <a:ext uri="{FF2B5EF4-FFF2-40B4-BE49-F238E27FC236}">
                <a16:creationId xmlns:a16="http://schemas.microsoft.com/office/drawing/2014/main" id="{C701F8DB-1702-4E63-B3F9-5F64B4271089}"/>
              </a:ext>
            </a:extLst>
          </p:cNvPr>
          <p:cNvSpPr>
            <a:spLocks xmlns:a="http://schemas.openxmlformats.org/drawingml/2006/main" noGrp="1"/>
          </p:cNvSpPr>
          <p:nvPr/>
        </p:nvSpPr>
        <p:spPr>
          <a:xfrm xmlns:a="http://schemas.openxmlformats.org/drawingml/2006/main">
            <a:off x="8058150" y="1533525"/>
            <a:ext cx="3571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21</a:t>
            </a:r>
          </a:p>
        </p:txBody>
      </p:sp>
      <p:sp>
        <p:nvSpPr>
          <p:cNvPr id="9" name="text">
            <a:extLst xmlns:a="http://schemas.openxmlformats.org/drawingml/2006/main">
              <a:ext uri="{FF2B5EF4-FFF2-40B4-BE49-F238E27FC236}">
                <a16:creationId xmlns:a16="http://schemas.microsoft.com/office/drawing/2014/main" id="{3F8EE980-6F89-44FE-8678-8FFB09E51C82}"/>
              </a:ext>
            </a:extLst>
          </p:cNvPr>
          <p:cNvSpPr>
            <a:spLocks xmlns:a="http://schemas.openxmlformats.org/drawingml/2006/main" noGrp="1"/>
          </p:cNvSpPr>
          <p:nvPr/>
        </p:nvSpPr>
        <p:spPr>
          <a:xfrm xmlns:a="http://schemas.openxmlformats.org/drawingml/2006/main">
            <a:off x="8058150" y="2047875"/>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health predictors</a:t>
            </a:r>
          </a:p>
        </p:txBody>
      </p:sp>
      <p:sp>
        <p:nvSpPr>
          <p:cNvPr id="10" name="">
            <a:extLst xmlns:a="http://schemas.openxmlformats.org/drawingml/2006/main">
              <a:ext uri="{FF2B5EF4-FFF2-40B4-BE49-F238E27FC236}">
                <a16:creationId xmlns:a16="http://schemas.microsoft.com/office/drawing/2014/main" id="{02E38C55-5B2A-44F5-A736-6C5EBC666B54}"/>
              </a:ext>
            </a:extLst>
          </p:cNvPr>
          <p:cNvSpPr>
            <a:spLocks xmlns:a="http://schemas.openxmlformats.org/drawingml/2006/main" noGrp="1"/>
          </p:cNvSpPr>
          <p:nvPr/>
        </p:nvSpPr>
        <p:spPr>
          <a:xfrm xmlns:a="http://schemas.openxmlformats.org/drawingml/2006/main">
            <a:off x="400050" y="2381250"/>
            <a:ext cx="113919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11" name="text">
            <a:extLst xmlns:a="http://schemas.openxmlformats.org/drawingml/2006/main">
              <a:ext uri="{FF2B5EF4-FFF2-40B4-BE49-F238E27FC236}">
                <a16:creationId xmlns:a16="http://schemas.microsoft.com/office/drawing/2014/main" id="{2025DBF2-99EB-4811-863C-2414B97C9551}"/>
              </a:ext>
            </a:extLst>
          </p:cNvPr>
          <p:cNvSpPr>
            <a:spLocks xmlns:a="http://schemas.openxmlformats.org/drawingml/2006/main" noGrp="1"/>
          </p:cNvSpPr>
          <p:nvPr/>
        </p:nvSpPr>
        <p:spPr>
          <a:xfrm xmlns:a="http://schemas.openxmlformats.org/drawingml/2006/main">
            <a:off x="400050" y="256222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Health status in the sample</a:t>
            </a:r>
          </a:p>
        </p:txBody>
      </p:sp>
      <p:graphicFrame>
        <p:nvGraphicFramePr>
          <p:cNvPr id="12" name="Chart">
            <a:extLst xmlns:a="http://schemas.openxmlformats.org/drawingml/2006/main">
              <a:ext uri="{FF2B5EF4-FFF2-40B4-BE49-F238E27FC236}">
                <a16:creationId xmlns:a16="http://schemas.microsoft.com/office/drawing/2014/main" id="{BB4C8260-9361-4CA0-B9BC-3CC4153C11DA}"/>
              </a:ext>
            </a:extLst>
          </p:cNvPr>
          <p:cNvGraphicFramePr/>
          <p:nvPr/>
        </p:nvGraphicFramePr>
        <p:xfrm>
          <a:off xmlns:a="http://schemas.openxmlformats.org/drawingml/2006/main" x="333375" y="2914650"/>
          <a:ext xmlns:a="http://schemas.openxmlformats.org/drawingml/2006/main" cx="5724525" cy="2905125"/>
        </p:xfrm>
        <a:graphic xmlns:a="http://schemas.openxmlformats.org/drawingml/2006/main">
          <a:graphicData uri="http://schemas.openxmlformats.org/drawingml/2006/chart">
            <c:chart xmlns:r="http://schemas.openxmlformats.org/officeDocument/2006/relationships" xmlns:c="http://schemas.openxmlformats.org/drawingml/2006/chart" r:id="Rb3b6a378ee2c43d8"/>
          </a:graphicData>
        </a:graphic>
      </p:graphicFrame>
      <p:sp>
        <p:nvSpPr>
          <p:cNvPr id="13" name="text">
            <a:extLst xmlns:a="http://schemas.openxmlformats.org/drawingml/2006/main">
              <a:ext uri="{FF2B5EF4-FFF2-40B4-BE49-F238E27FC236}">
                <a16:creationId xmlns:a16="http://schemas.microsoft.com/office/drawing/2014/main" id="{E4043A35-92A3-4D53-9B9D-94FC3928532F}"/>
              </a:ext>
            </a:extLst>
          </p:cNvPr>
          <p:cNvSpPr>
            <a:spLocks xmlns:a="http://schemas.openxmlformats.org/drawingml/2006/main" noGrp="1"/>
          </p:cNvSpPr>
          <p:nvPr/>
        </p:nvSpPr>
        <p:spPr>
          <a:xfrm xmlns:a="http://schemas.openxmlformats.org/drawingml/2006/main">
            <a:off x="6305550" y="2562225"/>
            <a:ext cx="5476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Key variables</a:t>
            </a:r>
          </a:p>
        </p:txBody>
      </p:sp>
      <p:graphicFrame>
        <p:nvGraphicFramePr>
          <p:cNvPr id="14" name="">
            <a:extLst xmlns:a="http://schemas.openxmlformats.org/drawingml/2006/main">
              <a:ext uri="{FF2B5EF4-FFF2-40B4-BE49-F238E27FC236}">
                <a16:creationId xmlns:a16="http://schemas.microsoft.com/office/drawing/2014/main" id="{A4797CA1-A739-408E-8879-FB635A813135}"/>
              </a:ext>
            </a:extLst>
          </p:cNvPr>
          <p:cNvGraphicFramePr/>
          <p:nvPr/>
        </p:nvGraphicFramePr>
        <p:xfrm>
          <a:off xmlns:a="http://schemas.openxmlformats.org/drawingml/2006/main" x="6305550" y="2933700"/>
          <a:ext xmlns:a="http://schemas.openxmlformats.org/drawingml/2006/main" cx="5505450" cy="2667000"/>
        </p:xfrm>
        <a:graphic xmlns:a="http://schemas.openxmlformats.org/drawingml/2006/main">
          <a:graphicData uri="http://schemas.openxmlformats.org/drawingml/2006/table">
            <a:tbl>
              <a:tblPr/>
              <a:tblGrid>
                <a:gridCol w="2333625"/>
                <a:gridCol w="3171825"/>
              </a:tblGrid>
              <a:tr h="533400">
                <a:tc>
                  <a:txBody>
                    <a:bodyPr>
                      <a:noAutofit/>
                    </a:bodyPr>
                    <a:lstStyle/>
                    <a:p>
                      <a:pPr algn="l"/>
                      <a:r>
                        <a:rPr sz="1575" b="1">
                          <a:solidFill>
                            <a:srgbClr val="FFFFFF"/>
                          </a:solidFill>
                          <a:latin typeface="Arial"/>
                          <a:ea typeface="Arial"/>
                          <a:cs typeface="Arial"/>
                        </a:rPr>
                        <a:t>Variable</a:t>
                      </a:r>
                    </a:p>
                  </a:txBody>
                  <a:tcPr marL="91440" marR="91440" marT="45720" marB="45720">
                    <a:solidFill>
                      <a:srgbClr val="176D8C"/>
                    </a:solidFill>
                  </a:tcPr>
                </a:tc>
                <a:tc>
                  <a:txBody>
                    <a:bodyPr>
                      <a:noAutofit/>
                    </a:bodyPr>
                    <a:lstStyle/>
                    <a:p>
                      <a:pPr algn="ctr"/>
                      <a:r>
                        <a:rPr sz="1575" b="1">
                          <a:solidFill>
                            <a:srgbClr val="FFFFFF"/>
                          </a:solidFill>
                          <a:latin typeface="Arial"/>
                          <a:ea typeface="Arial"/>
                          <a:cs typeface="Arial"/>
                        </a:rPr>
                        <a:t>What it measures</a:t>
                      </a:r>
                    </a:p>
                  </a:txBody>
                  <a:tcPr marL="91440" marR="91440" marT="45720" marB="45720">
                    <a:solidFill>
                      <a:srgbClr val="176D8C"/>
                    </a:solidFill>
                  </a:tcPr>
                </a:tc>
              </a:tr>
              <a:tr h="533400">
                <a:tc>
                  <a:txBody>
                    <a:bodyPr>
                      <a:noAutofit/>
                    </a:bodyPr>
                    <a:lstStyle/>
                    <a:p>
                      <a:pPr algn="l"/>
                      <a:r>
                        <a:rPr sz="1575" b="0">
                          <a:solidFill>
                            <a:srgbClr val="183044"/>
                          </a:solidFill>
                          <a:latin typeface="Arial"/>
                          <a:ea typeface="Arial"/>
                          <a:cs typeface="Arial"/>
                        </a:rPr>
                        <a:t>BMI</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Body mass index (kg/m²)</a:t>
                      </a:r>
                    </a:p>
                  </a:txBody>
                  <a:tcPr marL="91440" marR="91440" marT="45720" marB="45720">
                    <a:solidFill>
                      <a:srgbClr val="FFFFFF"/>
                    </a:solidFill>
                  </a:tcPr>
                </a:tc>
              </a:tr>
              <a:tr h="533400">
                <a:tc>
                  <a:txBody>
                    <a:bodyPr>
                      <a:noAutofit/>
                    </a:bodyPr>
                    <a:lstStyle/>
                    <a:p>
                      <a:pPr algn="l"/>
                      <a:r>
                        <a:rPr sz="1575" b="0">
                          <a:solidFill>
                            <a:srgbClr val="183044"/>
                          </a:solidFill>
                          <a:latin typeface="Arial"/>
                          <a:ea typeface="Arial"/>
                          <a:cs typeface="Arial"/>
                        </a:rPr>
                        <a:t>Mental / physical health</a:t>
                      </a:r>
                    </a:p>
                  </a:txBody>
                  <a:tcPr marL="91440" marR="91440" marT="45720" marB="45720">
                    <a:solidFill>
                      <a:srgbClr val="EAF2F5"/>
                    </a:solidFill>
                  </a:tcPr>
                </a:tc>
                <a:tc>
                  <a:txBody>
                    <a:bodyPr>
                      <a:noAutofit/>
                    </a:bodyPr>
                    <a:lstStyle/>
                    <a:p>
                      <a:pPr algn="ctr"/>
                      <a:r>
                        <a:rPr sz="1575" b="0">
                          <a:solidFill>
                            <a:srgbClr val="183044"/>
                          </a:solidFill>
                          <a:latin typeface="Arial"/>
                          <a:ea typeface="Arial"/>
                          <a:cs typeface="Arial"/>
                        </a:rPr>
                        <a:t>Poor-health days, 0–30</a:t>
                      </a:r>
                    </a:p>
                  </a:txBody>
                  <a:tcPr marL="91440" marR="91440" marT="45720" marB="45720">
                    <a:solidFill>
                      <a:srgbClr val="EAF2F5"/>
                    </a:solidFill>
                  </a:tcPr>
                </a:tc>
              </a:tr>
              <a:tr h="533400">
                <a:tc>
                  <a:txBody>
                    <a:bodyPr>
                      <a:noAutofit/>
                    </a:bodyPr>
                    <a:lstStyle/>
                    <a:p>
                      <a:pPr algn="l"/>
                      <a:r>
                        <a:rPr sz="1575" b="0">
                          <a:solidFill>
                            <a:srgbClr val="183044"/>
                          </a:solidFill>
                          <a:latin typeface="Arial"/>
                          <a:ea typeface="Arial"/>
                          <a:cs typeface="Arial"/>
                        </a:rPr>
                        <a:t>Age / income / education</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Grouped categories</a:t>
                      </a:r>
                    </a:p>
                  </a:txBody>
                  <a:tcPr marL="91440" marR="91440" marT="45720" marB="45720">
                    <a:solidFill>
                      <a:srgbClr val="FFFFFF"/>
                    </a:solidFill>
                  </a:tcPr>
                </a:tc>
              </a:tr>
              <a:tr h="533400">
                <a:tc>
                  <a:txBody>
                    <a:bodyPr>
                      <a:noAutofit/>
                    </a:bodyPr>
                    <a:lstStyle/>
                    <a:p>
                      <a:pPr algn="l"/>
                      <a:r>
                        <a:rPr sz="1575" b="0">
                          <a:solidFill>
                            <a:srgbClr val="183044"/>
                          </a:solidFill>
                          <a:latin typeface="Arial"/>
                          <a:ea typeface="Arial"/>
                          <a:cs typeface="Arial"/>
                        </a:rPr>
                        <a:t>Activity / smoking</a:t>
                      </a:r>
                    </a:p>
                  </a:txBody>
                  <a:tcPr marL="91440" marR="91440" marT="45720" marB="45720">
                    <a:solidFill>
                      <a:srgbClr val="EAF2F5"/>
                    </a:solidFill>
                  </a:tcPr>
                </a:tc>
                <a:tc>
                  <a:txBody>
                    <a:bodyPr>
                      <a:noAutofit/>
                    </a:bodyPr>
                    <a:lstStyle/>
                    <a:p>
                      <a:pPr algn="ctr"/>
                      <a:r>
                        <a:rPr sz="1575" b="0">
                          <a:solidFill>
                            <a:srgbClr val="183044"/>
                          </a:solidFill>
                          <a:latin typeface="Arial"/>
                          <a:ea typeface="Arial"/>
                          <a:cs typeface="Arial"/>
                        </a:rPr>
                        <a:t>Yes / No indicators</a:t>
                      </a:r>
                    </a:p>
                  </a:txBody>
                  <a:tcPr marL="91440" marR="91440" marT="45720" marB="45720">
                    <a:solidFill>
                      <a:srgbClr val="EAF2F5"/>
                    </a:solidFill>
                  </a:tcPr>
                </a:tc>
              </a:tr>
            </a:tbl>
          </a:graphicData>
        </a:graphic>
      </p:graphicFrame>
      <p:sp>
        <p:nvSpPr>
          <p:cNvPr id="15" name="text">
            <a:extLst xmlns:a="http://schemas.openxmlformats.org/drawingml/2006/main">
              <a:ext uri="{FF2B5EF4-FFF2-40B4-BE49-F238E27FC236}">
                <a16:creationId xmlns:a16="http://schemas.microsoft.com/office/drawing/2014/main" id="{69E7ED7C-6E6E-46ED-976F-AA0436EA90D3}"/>
              </a:ext>
            </a:extLst>
          </p:cNvPr>
          <p:cNvSpPr>
            <a:spLocks xmlns:a="http://schemas.openxmlformats.org/drawingml/2006/main" noGrp="1"/>
          </p:cNvSpPr>
          <p:nvPr/>
        </p:nvSpPr>
        <p:spPr>
          <a:xfrm xmlns:a="http://schemas.openxmlformats.org/drawingml/2006/main">
            <a:off x="6305550" y="5724525"/>
            <a:ext cx="54673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415566"/>
                </a:solidFill>
                <a:latin typeface="Arial"/>
                <a:ea typeface="Arial"/>
                <a:cs typeface="Arial"/>
              </a:defRPr>
            </a:defPPr>
          </a:lstStyle>
          <a:p xmlns:a="http://schemas.openxmlformats.org/drawingml/2006/main">
            <a:pPr>
              <a:defRPr sz="1200" b="0">
                <a:solidFill>
                  <a:srgbClr val="415566"/>
                </a:solidFill>
                <a:latin typeface="Arial"/>
                <a:ea typeface="Arial"/>
                <a:cs typeface="Arial"/>
              </a:defRPr>
            </a:pPr>
            <a:r>
              <a:rPr sz="1200" b="0">
                <a:solidFill>
                  <a:srgbClr val="415566"/>
                </a:solidFill>
                <a:latin typeface="Arial"/>
                <a:ea typeface="Arial"/>
                <a:cs typeface="Arial"/>
              </a:rPr>
              <a:t>Source: CDC BRFSS 2015, processed by Alex Teboul on Kaggle.</a:t>
            </a:r>
          </a:p>
        </p:txBody>
      </p:sp>
      <p:sp>
        <p:nvSpPr>
          <p:cNvPr id="16" name="">
            <a:extLst xmlns:a="http://schemas.openxmlformats.org/drawingml/2006/main">
              <a:ext uri="{FF2B5EF4-FFF2-40B4-BE49-F238E27FC236}">
                <a16:creationId xmlns:a16="http://schemas.microsoft.com/office/drawing/2014/main" id="{823FB821-6C9D-4B9F-B361-9E5282192629}"/>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7" name="text">
            <a:extLst xmlns:a="http://schemas.openxmlformats.org/drawingml/2006/main">
              <a:ext uri="{FF2B5EF4-FFF2-40B4-BE49-F238E27FC236}">
                <a16:creationId xmlns:a16="http://schemas.microsoft.com/office/drawing/2014/main" id="{06C30EB9-3CCC-45BE-B545-AFC030155801}"/>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469 people (15.63%) report prediabetes or diabetes.</a:t>
            </a:r>
          </a:p>
        </p:txBody>
      </p:sp>
      <p:sp>
        <p:nvSpPr>
          <p:cNvPr id="18" name="text">
            <a:extLst xmlns:a="http://schemas.openxmlformats.org/drawingml/2006/main">
              <a:ext uri="{FF2B5EF4-FFF2-40B4-BE49-F238E27FC236}">
                <a16:creationId xmlns:a16="http://schemas.microsoft.com/office/drawing/2014/main" id="{8C26D78E-B7C9-42C2-8BA9-F780D12158DF}"/>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1 / 10</a:t>
            </a:r>
          </a:p>
        </p:txBody>
      </p:sp>
    </p:spTree>
    <p:extLst>
      <p:ext uri="{BB962C8B-B14F-4D97-AF65-F5344CB8AC3E}">
        <p14:creationId xmlns:p14="http://schemas.microsoft.com/office/powerpoint/2010/main" val="59787924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9F5FACC2-FAC2-4307-AA1C-7B456512A9A4}"/>
              </a:ext>
            </a:extLst>
          </p:cNvPr>
          <p:cNvSpPr>
            <a:spLocks xmlns:a="http://schemas.openxmlformats.org/drawingml/2006/main" noGrp="1"/>
          </p:cNvSpPr>
          <p:nvPr/>
        </p:nvSpPr>
        <p:spPr>
          <a:xfrm xmlns:a="http://schemas.openxmlformats.org/drawingml/2006/main">
            <a:off x="381000" y="32385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 name="text">
            <a:extLst xmlns:a="http://schemas.openxmlformats.org/drawingml/2006/main">
              <a:ext uri="{FF2B5EF4-FFF2-40B4-BE49-F238E27FC236}">
                <a16:creationId xmlns:a16="http://schemas.microsoft.com/office/drawing/2014/main" id="{44C31C85-49E3-4E83-9AD6-C720B82FC9BA}"/>
              </a:ext>
            </a:extLst>
          </p:cNvPr>
          <p:cNvSpPr>
            <a:spLocks xmlns:a="http://schemas.openxmlformats.org/drawingml/2006/main" noGrp="1"/>
          </p:cNvSpPr>
          <p:nvPr/>
        </p:nvSpPr>
        <p:spPr>
          <a:xfrm xmlns:a="http://schemas.openxmlformats.org/drawingml/2006/main">
            <a:off x="590550" y="28575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83044"/>
                </a:solidFill>
                <a:latin typeface="Arial"/>
                <a:ea typeface="Arial"/>
                <a:cs typeface="Arial"/>
              </a:defRPr>
            </a:defPPr>
          </a:lstStyle>
          <a:p xmlns:a="http://schemas.openxmlformats.org/drawingml/2006/main">
            <a:pPr>
              <a:defRPr sz="3000" b="1">
                <a:solidFill>
                  <a:srgbClr val="183044"/>
                </a:solidFill>
                <a:latin typeface="Arial"/>
                <a:ea typeface="Arial"/>
                <a:cs typeface="Arial"/>
              </a:defRPr>
            </a:pPr>
            <a:r>
              <a:rPr sz="3000" b="1">
                <a:solidFill>
                  <a:srgbClr val="183044"/>
                </a:solidFill>
                <a:latin typeface="Arial"/>
                <a:ea typeface="Arial"/>
                <a:cs typeface="Arial"/>
              </a:rPr>
              <a:t>Data preparation</a:t>
            </a:r>
          </a:p>
        </p:txBody>
      </p:sp>
      <p:sp>
        <p:nvSpPr>
          <p:cNvPr id="3" name="text">
            <a:extLst xmlns:a="http://schemas.openxmlformats.org/drawingml/2006/main">
              <a:ext uri="{FF2B5EF4-FFF2-40B4-BE49-F238E27FC236}">
                <a16:creationId xmlns:a16="http://schemas.microsoft.com/office/drawing/2014/main" id="{6948D710-2A93-4635-A237-CEF2B6212047}"/>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Import → sample → validate → prepare for analysis</a:t>
            </a:r>
          </a:p>
        </p:txBody>
      </p:sp>
      <p:sp>
        <p:nvSpPr>
          <p:cNvPr id="4" name="">
            <a:extLst xmlns:a="http://schemas.openxmlformats.org/drawingml/2006/main">
              <a:ext uri="{FF2B5EF4-FFF2-40B4-BE49-F238E27FC236}">
                <a16:creationId xmlns:a16="http://schemas.microsoft.com/office/drawing/2014/main" id="{FE2E6B7F-820A-42F5-A6C9-D3ECC69A732E}"/>
              </a:ext>
            </a:extLst>
          </p:cNvPr>
          <p:cNvSpPr>
            <a:spLocks xmlns:a="http://schemas.openxmlformats.org/drawingml/2006/main" noGrp="1"/>
          </p:cNvSpPr>
          <p:nvPr/>
        </p:nvSpPr>
        <p:spPr>
          <a:xfrm xmlns:a="http://schemas.openxmlformats.org/drawingml/2006/main">
            <a:off x="400050" y="1552575"/>
            <a:ext cx="2571750" cy="1123950"/>
          </a:xfrm>
          <a:prstGeom xmlns:a="http://schemas.openxmlformats.org/drawingml/2006/main" prst="rect">
            <a:avLst/>
          </a:prstGeom>
          <a:solidFill xmlns:a="http://schemas.openxmlformats.org/drawingml/2006/main">
            <a:srgbClr val="EAF2F5"/>
          </a:solidFill>
          <a:ln xmlns:a="http://schemas.openxmlformats.org/drawingml/2006/main" w="9525">
            <a:solidFill>
              <a:srgbClr val="176D8C"/>
            </a:solidFill>
          </a:ln>
        </p:spPr>
      </p:sp>
      <p:sp>
        <p:nvSpPr>
          <p:cNvPr id="5" name="text">
            <a:extLst xmlns:a="http://schemas.openxmlformats.org/drawingml/2006/main">
              <a:ext uri="{FF2B5EF4-FFF2-40B4-BE49-F238E27FC236}">
                <a16:creationId xmlns:a16="http://schemas.microsoft.com/office/drawing/2014/main" id="{97A6611D-586F-4707-889A-139D98E28C9F}"/>
              </a:ext>
            </a:extLst>
          </p:cNvPr>
          <p:cNvSpPr>
            <a:spLocks xmlns:a="http://schemas.openxmlformats.org/drawingml/2006/main" noGrp="1"/>
          </p:cNvSpPr>
          <p:nvPr/>
        </p:nvSpPr>
        <p:spPr>
          <a:xfrm xmlns:a="http://schemas.openxmlformats.org/drawingml/2006/main">
            <a:off x="533400" y="1666875"/>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Import</a:t>
            </a:r>
          </a:p>
        </p:txBody>
      </p:sp>
      <p:sp>
        <p:nvSpPr>
          <p:cNvPr id="6" name="text">
            <a:extLst xmlns:a="http://schemas.openxmlformats.org/drawingml/2006/main">
              <a:ext uri="{FF2B5EF4-FFF2-40B4-BE49-F238E27FC236}">
                <a16:creationId xmlns:a16="http://schemas.microsoft.com/office/drawing/2014/main" id="{2E502AB1-1C67-40D4-8B6D-1C19234B95E1}"/>
              </a:ext>
            </a:extLst>
          </p:cNvPr>
          <p:cNvSpPr>
            <a:spLocks xmlns:a="http://schemas.openxmlformats.org/drawingml/2006/main" noGrp="1"/>
          </p:cNvSpPr>
          <p:nvPr/>
        </p:nvSpPr>
        <p:spPr>
          <a:xfrm xmlns:a="http://schemas.openxmlformats.org/drawingml/2006/main">
            <a:off x="533400" y="2143125"/>
            <a:ext cx="2324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83044"/>
                </a:solidFill>
                <a:latin typeface="Arial"/>
                <a:ea typeface="Arial"/>
                <a:cs typeface="Arial"/>
              </a:defRPr>
            </a:defPPr>
          </a:lstStyle>
          <a:p xmlns:a="http://schemas.openxmlformats.org/drawingml/2006/main">
            <a:pPr>
              <a:defRPr sz="1725" b="0">
                <a:solidFill>
                  <a:srgbClr val="183044"/>
                </a:solidFill>
                <a:latin typeface="Arial"/>
                <a:ea typeface="Arial"/>
                <a:cs typeface="Arial"/>
              </a:defRPr>
            </a:pPr>
            <a:r>
              <a:rPr sz="1725" b="0">
                <a:solidFill>
                  <a:srgbClr val="183044"/>
                </a:solidFill>
                <a:latin typeface="Arial"/>
                <a:ea typeface="Arial"/>
                <a:cs typeface="Arial"/>
              </a:rPr>
              <a:t>CSV source</a:t>
            </a:r>
          </a:p>
        </p:txBody>
      </p:sp>
      <p:sp>
        <p:nvSpPr>
          <p:cNvPr id="7" name="">
            <a:extLst xmlns:a="http://schemas.openxmlformats.org/drawingml/2006/main">
              <a:ext uri="{FF2B5EF4-FFF2-40B4-BE49-F238E27FC236}">
                <a16:creationId xmlns:a16="http://schemas.microsoft.com/office/drawing/2014/main" id="{DF477183-BC59-4E5F-A342-8993606BFACC}"/>
              </a:ext>
            </a:extLst>
          </p:cNvPr>
          <p:cNvSpPr>
            <a:spLocks xmlns:a="http://schemas.openxmlformats.org/drawingml/2006/main" noGrp="1"/>
          </p:cNvSpPr>
          <p:nvPr/>
        </p:nvSpPr>
        <p:spPr>
          <a:xfrm xmlns:a="http://schemas.openxmlformats.org/drawingml/2006/main">
            <a:off x="3048000" y="2000250"/>
            <a:ext cx="180975" cy="190500"/>
          </a:xfrm>
          <a:prstGeom xmlns:a="http://schemas.openxmlformats.org/drawingml/2006/main" prst="rightArrow">
            <a:avLst/>
          </a:prstGeom>
          <a:solidFill xmlns:a="http://schemas.openxmlformats.org/drawingml/2006/main">
            <a:srgbClr val="176D8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F71A905-4F03-432B-80A2-9C7369139030}"/>
              </a:ext>
            </a:extLst>
          </p:cNvPr>
          <p:cNvSpPr>
            <a:spLocks xmlns:a="http://schemas.openxmlformats.org/drawingml/2006/main" noGrp="1"/>
          </p:cNvSpPr>
          <p:nvPr/>
        </p:nvSpPr>
        <p:spPr>
          <a:xfrm xmlns:a="http://schemas.openxmlformats.org/drawingml/2006/main">
            <a:off x="3295650" y="1552575"/>
            <a:ext cx="2571750" cy="1123950"/>
          </a:xfrm>
          <a:prstGeom xmlns:a="http://schemas.openxmlformats.org/drawingml/2006/main" prst="rect">
            <a:avLst/>
          </a:prstGeom>
          <a:solidFill xmlns:a="http://schemas.openxmlformats.org/drawingml/2006/main">
            <a:srgbClr val="EAF2F5"/>
          </a:solidFill>
          <a:ln xmlns:a="http://schemas.openxmlformats.org/drawingml/2006/main" w="9525">
            <a:solidFill>
              <a:srgbClr val="176D8C"/>
            </a:solidFill>
          </a:ln>
        </p:spPr>
      </p:sp>
      <p:sp>
        <p:nvSpPr>
          <p:cNvPr id="9" name="text">
            <a:extLst xmlns:a="http://schemas.openxmlformats.org/drawingml/2006/main">
              <a:ext uri="{FF2B5EF4-FFF2-40B4-BE49-F238E27FC236}">
                <a16:creationId xmlns:a16="http://schemas.microsoft.com/office/drawing/2014/main" id="{95CDD1E1-A1BE-4A58-983D-D917DD62A9DD}"/>
              </a:ext>
            </a:extLst>
          </p:cNvPr>
          <p:cNvSpPr>
            <a:spLocks xmlns:a="http://schemas.openxmlformats.org/drawingml/2006/main" noGrp="1"/>
          </p:cNvSpPr>
          <p:nvPr/>
        </p:nvSpPr>
        <p:spPr>
          <a:xfrm xmlns:a="http://schemas.openxmlformats.org/drawingml/2006/main">
            <a:off x="3429000" y="1666875"/>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Sample</a:t>
            </a:r>
          </a:p>
        </p:txBody>
      </p:sp>
      <p:sp>
        <p:nvSpPr>
          <p:cNvPr id="10" name="text">
            <a:extLst xmlns:a="http://schemas.openxmlformats.org/drawingml/2006/main">
              <a:ext uri="{FF2B5EF4-FFF2-40B4-BE49-F238E27FC236}">
                <a16:creationId xmlns:a16="http://schemas.microsoft.com/office/drawing/2014/main" id="{AA8FCA0E-28D0-4FC9-9518-847ABA6B1D22}"/>
              </a:ext>
            </a:extLst>
          </p:cNvPr>
          <p:cNvSpPr>
            <a:spLocks xmlns:a="http://schemas.openxmlformats.org/drawingml/2006/main" noGrp="1"/>
          </p:cNvSpPr>
          <p:nvPr/>
        </p:nvSpPr>
        <p:spPr>
          <a:xfrm xmlns:a="http://schemas.openxmlformats.org/drawingml/2006/main">
            <a:off x="3429000" y="2143125"/>
            <a:ext cx="2324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83044"/>
                </a:solidFill>
                <a:latin typeface="Arial"/>
                <a:ea typeface="Arial"/>
                <a:cs typeface="Arial"/>
              </a:defRPr>
            </a:defPPr>
          </a:lstStyle>
          <a:p xmlns:a="http://schemas.openxmlformats.org/drawingml/2006/main">
            <a:pPr>
              <a:defRPr sz="1725" b="0">
                <a:solidFill>
                  <a:srgbClr val="183044"/>
                </a:solidFill>
                <a:latin typeface="Arial"/>
                <a:ea typeface="Arial"/>
                <a:cs typeface="Arial"/>
              </a:defRPr>
            </a:pPr>
            <a:r>
              <a:rPr sz="1725" b="0">
                <a:solidFill>
                  <a:srgbClr val="183044"/>
                </a:solidFill>
                <a:latin typeface="Arial"/>
                <a:ea typeface="Arial"/>
                <a:cs typeface="Arial"/>
              </a:rPr>
              <a:t>3,000 random rows</a:t>
            </a:r>
          </a:p>
        </p:txBody>
      </p:sp>
      <p:sp>
        <p:nvSpPr>
          <p:cNvPr id="11" name="">
            <a:extLst xmlns:a="http://schemas.openxmlformats.org/drawingml/2006/main">
              <a:ext uri="{FF2B5EF4-FFF2-40B4-BE49-F238E27FC236}">
                <a16:creationId xmlns:a16="http://schemas.microsoft.com/office/drawing/2014/main" id="{6C1677B3-9FA6-4411-8844-5C3D7EE327E5}"/>
              </a:ext>
            </a:extLst>
          </p:cNvPr>
          <p:cNvSpPr>
            <a:spLocks xmlns:a="http://schemas.openxmlformats.org/drawingml/2006/main" noGrp="1"/>
          </p:cNvSpPr>
          <p:nvPr/>
        </p:nvSpPr>
        <p:spPr>
          <a:xfrm xmlns:a="http://schemas.openxmlformats.org/drawingml/2006/main">
            <a:off x="5943600" y="2000250"/>
            <a:ext cx="180975" cy="190500"/>
          </a:xfrm>
          <a:prstGeom xmlns:a="http://schemas.openxmlformats.org/drawingml/2006/main" prst="rightArrow">
            <a:avLst/>
          </a:prstGeom>
          <a:solidFill xmlns:a="http://schemas.openxmlformats.org/drawingml/2006/main">
            <a:srgbClr val="176D8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7A6D1AA-A13A-4817-AEE2-6A71D9F4FB90}"/>
              </a:ext>
            </a:extLst>
          </p:cNvPr>
          <p:cNvSpPr>
            <a:spLocks xmlns:a="http://schemas.openxmlformats.org/drawingml/2006/main" noGrp="1"/>
          </p:cNvSpPr>
          <p:nvPr/>
        </p:nvSpPr>
        <p:spPr>
          <a:xfrm xmlns:a="http://schemas.openxmlformats.org/drawingml/2006/main">
            <a:off x="6191250" y="1552575"/>
            <a:ext cx="2571750" cy="1123950"/>
          </a:xfrm>
          <a:prstGeom xmlns:a="http://schemas.openxmlformats.org/drawingml/2006/main" prst="rect">
            <a:avLst/>
          </a:prstGeom>
          <a:solidFill xmlns:a="http://schemas.openxmlformats.org/drawingml/2006/main">
            <a:srgbClr val="EAF2F5"/>
          </a:solidFill>
          <a:ln xmlns:a="http://schemas.openxmlformats.org/drawingml/2006/main" w="9525">
            <a:solidFill>
              <a:srgbClr val="176D8C"/>
            </a:solidFill>
          </a:ln>
        </p:spPr>
      </p:sp>
      <p:sp>
        <p:nvSpPr>
          <p:cNvPr id="13" name="text">
            <a:extLst xmlns:a="http://schemas.openxmlformats.org/drawingml/2006/main">
              <a:ext uri="{FF2B5EF4-FFF2-40B4-BE49-F238E27FC236}">
                <a16:creationId xmlns:a16="http://schemas.microsoft.com/office/drawing/2014/main" id="{8DB30C3B-4410-481D-8860-0B8D5B153A5C}"/>
              </a:ext>
            </a:extLst>
          </p:cNvPr>
          <p:cNvSpPr>
            <a:spLocks xmlns:a="http://schemas.openxmlformats.org/drawingml/2006/main" noGrp="1"/>
          </p:cNvSpPr>
          <p:nvPr/>
        </p:nvSpPr>
        <p:spPr>
          <a:xfrm xmlns:a="http://schemas.openxmlformats.org/drawingml/2006/main">
            <a:off x="6324600" y="1666875"/>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Validate</a:t>
            </a:r>
          </a:p>
        </p:txBody>
      </p:sp>
      <p:sp>
        <p:nvSpPr>
          <p:cNvPr id="14" name="text">
            <a:extLst xmlns:a="http://schemas.openxmlformats.org/drawingml/2006/main">
              <a:ext uri="{FF2B5EF4-FFF2-40B4-BE49-F238E27FC236}">
                <a16:creationId xmlns:a16="http://schemas.microsoft.com/office/drawing/2014/main" id="{3E56BE8B-1A67-487E-ACB1-9E6B4594EDE0}"/>
              </a:ext>
            </a:extLst>
          </p:cNvPr>
          <p:cNvSpPr>
            <a:spLocks xmlns:a="http://schemas.openxmlformats.org/drawingml/2006/main" noGrp="1"/>
          </p:cNvSpPr>
          <p:nvPr/>
        </p:nvSpPr>
        <p:spPr>
          <a:xfrm xmlns:a="http://schemas.openxmlformats.org/drawingml/2006/main">
            <a:off x="6324600" y="2143125"/>
            <a:ext cx="2324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83044"/>
                </a:solidFill>
                <a:latin typeface="Arial"/>
                <a:ea typeface="Arial"/>
                <a:cs typeface="Arial"/>
              </a:defRPr>
            </a:defPPr>
          </a:lstStyle>
          <a:p xmlns:a="http://schemas.openxmlformats.org/drawingml/2006/main">
            <a:pPr>
              <a:defRPr sz="1725" b="0">
                <a:solidFill>
                  <a:srgbClr val="183044"/>
                </a:solidFill>
                <a:latin typeface="Arial"/>
                <a:ea typeface="Arial"/>
                <a:cs typeface="Arial"/>
              </a:defRPr>
            </a:pPr>
            <a:r>
              <a:rPr sz="1725" b="0">
                <a:solidFill>
                  <a:srgbClr val="183044"/>
                </a:solidFill>
                <a:latin typeface="Arial"/>
                <a:ea typeface="Arial"/>
                <a:cs typeface="Arial"/>
              </a:rPr>
              <a:t>Codes and ranges</a:t>
            </a:r>
          </a:p>
        </p:txBody>
      </p:sp>
      <p:sp>
        <p:nvSpPr>
          <p:cNvPr id="15" name="">
            <a:extLst xmlns:a="http://schemas.openxmlformats.org/drawingml/2006/main">
              <a:ext uri="{FF2B5EF4-FFF2-40B4-BE49-F238E27FC236}">
                <a16:creationId xmlns:a16="http://schemas.microsoft.com/office/drawing/2014/main" id="{0DD5998D-BDE0-4848-818D-EE216C5B5DEB}"/>
              </a:ext>
            </a:extLst>
          </p:cNvPr>
          <p:cNvSpPr>
            <a:spLocks xmlns:a="http://schemas.openxmlformats.org/drawingml/2006/main" noGrp="1"/>
          </p:cNvSpPr>
          <p:nvPr/>
        </p:nvSpPr>
        <p:spPr>
          <a:xfrm xmlns:a="http://schemas.openxmlformats.org/drawingml/2006/main">
            <a:off x="8839200" y="2000250"/>
            <a:ext cx="180975" cy="190500"/>
          </a:xfrm>
          <a:prstGeom xmlns:a="http://schemas.openxmlformats.org/drawingml/2006/main" prst="rightArrow">
            <a:avLst/>
          </a:prstGeom>
          <a:solidFill xmlns:a="http://schemas.openxmlformats.org/drawingml/2006/main">
            <a:srgbClr val="176D8C"/>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DEBEA33-16BD-4D85-B9C3-CF32B8B6F561}"/>
              </a:ext>
            </a:extLst>
          </p:cNvPr>
          <p:cNvSpPr>
            <a:spLocks xmlns:a="http://schemas.openxmlformats.org/drawingml/2006/main" noGrp="1"/>
          </p:cNvSpPr>
          <p:nvPr/>
        </p:nvSpPr>
        <p:spPr>
          <a:xfrm xmlns:a="http://schemas.openxmlformats.org/drawingml/2006/main">
            <a:off x="9086850" y="1552575"/>
            <a:ext cx="2571750" cy="1123950"/>
          </a:xfrm>
          <a:prstGeom xmlns:a="http://schemas.openxmlformats.org/drawingml/2006/main" prst="rect">
            <a:avLst/>
          </a:prstGeom>
          <a:solidFill xmlns:a="http://schemas.openxmlformats.org/drawingml/2006/main">
            <a:srgbClr val="EAF2F5"/>
          </a:solidFill>
          <a:ln xmlns:a="http://schemas.openxmlformats.org/drawingml/2006/main" w="9525">
            <a:solidFill>
              <a:srgbClr val="176D8C"/>
            </a:solidFill>
          </a:ln>
        </p:spPr>
      </p:sp>
      <p:sp>
        <p:nvSpPr>
          <p:cNvPr id="17" name="text">
            <a:extLst xmlns:a="http://schemas.openxmlformats.org/drawingml/2006/main">
              <a:ext uri="{FF2B5EF4-FFF2-40B4-BE49-F238E27FC236}">
                <a16:creationId xmlns:a16="http://schemas.microsoft.com/office/drawing/2014/main" id="{F2F53B32-16B0-4E23-A91F-C8BECCBFB163}"/>
              </a:ext>
            </a:extLst>
          </p:cNvPr>
          <p:cNvSpPr>
            <a:spLocks xmlns:a="http://schemas.openxmlformats.org/drawingml/2006/main" noGrp="1"/>
          </p:cNvSpPr>
          <p:nvPr/>
        </p:nvSpPr>
        <p:spPr>
          <a:xfrm xmlns:a="http://schemas.openxmlformats.org/drawingml/2006/main">
            <a:off x="9220200" y="1666875"/>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Prepare</a:t>
            </a:r>
          </a:p>
        </p:txBody>
      </p:sp>
      <p:sp>
        <p:nvSpPr>
          <p:cNvPr id="18" name="text">
            <a:extLst xmlns:a="http://schemas.openxmlformats.org/drawingml/2006/main">
              <a:ext uri="{FF2B5EF4-FFF2-40B4-BE49-F238E27FC236}">
                <a16:creationId xmlns:a16="http://schemas.microsoft.com/office/drawing/2014/main" id="{C43E5A51-4D12-4F36-8823-B8DB64DF22D0}"/>
              </a:ext>
            </a:extLst>
          </p:cNvPr>
          <p:cNvSpPr>
            <a:spLocks xmlns:a="http://schemas.openxmlformats.org/drawingml/2006/main" noGrp="1"/>
          </p:cNvSpPr>
          <p:nvPr/>
        </p:nvSpPr>
        <p:spPr>
          <a:xfrm xmlns:a="http://schemas.openxmlformats.org/drawingml/2006/main">
            <a:off x="9220200" y="2143125"/>
            <a:ext cx="2324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83044"/>
                </a:solidFill>
                <a:latin typeface="Arial"/>
                <a:ea typeface="Arial"/>
                <a:cs typeface="Arial"/>
              </a:defRPr>
            </a:defPPr>
          </a:lstStyle>
          <a:p xmlns:a="http://schemas.openxmlformats.org/drawingml/2006/main">
            <a:pPr>
              <a:defRPr sz="1725" b="0">
                <a:solidFill>
                  <a:srgbClr val="183044"/>
                </a:solidFill>
                <a:latin typeface="Arial"/>
                <a:ea typeface="Arial"/>
                <a:cs typeface="Arial"/>
              </a:defRPr>
            </a:pPr>
            <a:r>
              <a:rPr sz="1725" b="0">
                <a:solidFill>
                  <a:srgbClr val="183044"/>
                </a:solidFill>
                <a:latin typeface="Arial"/>
                <a:ea typeface="Arial"/>
                <a:cs typeface="Arial"/>
              </a:rPr>
              <a:t>Labels and types</a:t>
            </a:r>
          </a:p>
        </p:txBody>
      </p:sp>
      <p:sp>
        <p:nvSpPr>
          <p:cNvPr id="19" name="text">
            <a:extLst xmlns:a="http://schemas.openxmlformats.org/drawingml/2006/main">
              <a:ext uri="{FF2B5EF4-FFF2-40B4-BE49-F238E27FC236}">
                <a16:creationId xmlns:a16="http://schemas.microsoft.com/office/drawing/2014/main" id="{8488EF95-54E3-4A69-8266-193762AD9E53}"/>
              </a:ext>
            </a:extLst>
          </p:cNvPr>
          <p:cNvSpPr>
            <a:spLocks xmlns:a="http://schemas.openxmlformats.org/drawingml/2006/main" noGrp="1"/>
          </p:cNvSpPr>
          <p:nvPr/>
        </p:nvSpPr>
        <p:spPr>
          <a:xfrm xmlns:a="http://schemas.openxmlformats.org/drawingml/2006/main">
            <a:off x="400050" y="2981325"/>
            <a:ext cx="581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Types used in R</a:t>
            </a:r>
          </a:p>
        </p:txBody>
      </p:sp>
      <p:sp>
        <p:nvSpPr>
          <p:cNvPr id="20" name="text">
            <a:extLst xmlns:a="http://schemas.openxmlformats.org/drawingml/2006/main">
              <a:ext uri="{FF2B5EF4-FFF2-40B4-BE49-F238E27FC236}">
                <a16:creationId xmlns:a16="http://schemas.microsoft.com/office/drawing/2014/main" id="{D2212023-2B52-4367-9CC6-8421BD3CCCBC}"/>
              </a:ext>
            </a:extLst>
          </p:cNvPr>
          <p:cNvSpPr>
            <a:spLocks xmlns:a="http://schemas.openxmlformats.org/drawingml/2006/main" noGrp="1"/>
          </p:cNvSpPr>
          <p:nvPr/>
        </p:nvSpPr>
        <p:spPr>
          <a:xfrm xmlns:a="http://schemas.openxmlformats.org/drawingml/2006/main">
            <a:off x="6572250" y="2981325"/>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Quality checks</a:t>
            </a:r>
          </a:p>
        </p:txBody>
      </p:sp>
      <p:graphicFrame>
        <p:nvGraphicFramePr>
          <p:cNvPr id="21" name="">
            <a:extLst xmlns:a="http://schemas.openxmlformats.org/drawingml/2006/main">
              <a:ext uri="{FF2B5EF4-FFF2-40B4-BE49-F238E27FC236}">
                <a16:creationId xmlns:a16="http://schemas.microsoft.com/office/drawing/2014/main" id="{27878382-D3BE-4DCB-AC98-C5635FB50A2B}"/>
              </a:ext>
            </a:extLst>
          </p:cNvPr>
          <p:cNvGraphicFramePr/>
          <p:nvPr/>
        </p:nvGraphicFramePr>
        <p:xfrm>
          <a:off xmlns:a="http://schemas.openxmlformats.org/drawingml/2006/main" x="400050" y="3448050"/>
          <a:ext xmlns:a="http://schemas.openxmlformats.org/drawingml/2006/main" cx="5791200" cy="1790700"/>
        </p:xfrm>
        <a:graphic xmlns:a="http://schemas.openxmlformats.org/drawingml/2006/main">
          <a:graphicData uri="http://schemas.openxmlformats.org/drawingml/2006/table">
            <a:tbl>
              <a:tblPr/>
              <a:tblGrid>
                <a:gridCol w="2181225"/>
                <a:gridCol w="3609975"/>
              </a:tblGrid>
              <a:tr h="447675">
                <a:tc>
                  <a:txBody>
                    <a:bodyPr>
                      <a:noAutofit/>
                    </a:bodyPr>
                    <a:lstStyle/>
                    <a:p>
                      <a:pPr algn="l"/>
                      <a:r>
                        <a:rPr sz="1650" b="1">
                          <a:solidFill>
                            <a:srgbClr val="FFFFFF"/>
                          </a:solidFill>
                          <a:latin typeface="Arial"/>
                          <a:ea typeface="Arial"/>
                          <a:cs typeface="Arial"/>
                        </a:rPr>
                        <a:t>Type</a:t>
                      </a:r>
                    </a:p>
                  </a:txBody>
                  <a:tcPr marL="91440" marR="91440" marT="45720" marB="45720">
                    <a:solidFill>
                      <a:srgbClr val="176D8C"/>
                    </a:solidFill>
                  </a:tcPr>
                </a:tc>
                <a:tc>
                  <a:txBody>
                    <a:bodyPr>
                      <a:noAutofit/>
                    </a:bodyPr>
                    <a:lstStyle/>
                    <a:p>
                      <a:pPr algn="ctr"/>
                      <a:r>
                        <a:rPr sz="1650" b="1">
                          <a:solidFill>
                            <a:srgbClr val="FFFFFF"/>
                          </a:solidFill>
                          <a:latin typeface="Arial"/>
                          <a:ea typeface="Arial"/>
                          <a:cs typeface="Arial"/>
                        </a:rPr>
                        <a:t>Examples</a:t>
                      </a:r>
                    </a:p>
                  </a:txBody>
                  <a:tcPr marL="91440" marR="91440" marT="45720" marB="45720">
                    <a:solidFill>
                      <a:srgbClr val="176D8C"/>
                    </a:solidFill>
                  </a:tcPr>
                </a:tc>
              </a:tr>
              <a:tr h="447675">
                <a:tc>
                  <a:txBody>
                    <a:bodyPr>
                      <a:noAutofit/>
                    </a:bodyPr>
                    <a:lstStyle/>
                    <a:p>
                      <a:pPr algn="l"/>
                      <a:r>
                        <a:rPr sz="1650" b="0">
                          <a:solidFill>
                            <a:srgbClr val="183044"/>
                          </a:solidFill>
                          <a:latin typeface="Arial"/>
                          <a:ea typeface="Arial"/>
                          <a:cs typeface="Arial"/>
                        </a:rPr>
                        <a:t>Numeric</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BMI and poor-health days</a:t>
                      </a:r>
                    </a:p>
                  </a:txBody>
                  <a:tcPr marL="91440" marR="91440" marT="45720" marB="45720">
                    <a:solidFill>
                      <a:srgbClr val="FFFFFF"/>
                    </a:solidFill>
                  </a:tcPr>
                </a:tc>
              </a:tr>
              <a:tr h="447675">
                <a:tc>
                  <a:txBody>
                    <a:bodyPr>
                      <a:noAutofit/>
                    </a:bodyPr>
                    <a:lstStyle/>
                    <a:p>
                      <a:pPr algn="l"/>
                      <a:r>
                        <a:rPr sz="1650" b="0">
                          <a:solidFill>
                            <a:srgbClr val="183044"/>
                          </a:solidFill>
                          <a:latin typeface="Arial"/>
                          <a:ea typeface="Arial"/>
                          <a:cs typeface="Arial"/>
                        </a:rPr>
                        <a:t>Categorical</a:t>
                      </a:r>
                    </a:p>
                  </a:txBody>
                  <a:tcPr marL="91440" marR="91440" marT="45720" marB="45720">
                    <a:solidFill>
                      <a:srgbClr val="EAF2F5"/>
                    </a:solidFill>
                  </a:tcPr>
                </a:tc>
                <a:tc>
                  <a:txBody>
                    <a:bodyPr>
                      <a:noAutofit/>
                    </a:bodyPr>
                    <a:lstStyle/>
                    <a:p>
                      <a:pPr algn="ctr"/>
                      <a:r>
                        <a:rPr sz="1650" b="0">
                          <a:solidFill>
                            <a:srgbClr val="183044"/>
                          </a:solidFill>
                          <a:latin typeface="Arial"/>
                          <a:ea typeface="Arial"/>
                          <a:cs typeface="Arial"/>
                        </a:rPr>
                        <a:t>Health status, sex and smoking</a:t>
                      </a:r>
                    </a:p>
                  </a:txBody>
                  <a:tcPr marL="91440" marR="91440" marT="45720" marB="45720">
                    <a:solidFill>
                      <a:srgbClr val="EAF2F5"/>
                    </a:solidFill>
                  </a:tcPr>
                </a:tc>
              </a:tr>
              <a:tr h="447675">
                <a:tc>
                  <a:txBody>
                    <a:bodyPr>
                      <a:noAutofit/>
                    </a:bodyPr>
                    <a:lstStyle/>
                    <a:p>
                      <a:pPr algn="l"/>
                      <a:r>
                        <a:rPr sz="1650" b="0">
                          <a:solidFill>
                            <a:srgbClr val="183044"/>
                          </a:solidFill>
                          <a:latin typeface="Arial"/>
                          <a:ea typeface="Arial"/>
                          <a:cs typeface="Arial"/>
                        </a:rPr>
                        <a:t>Grouped categories</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Age, income and education</a:t>
                      </a:r>
                    </a:p>
                  </a:txBody>
                  <a:tcPr marL="91440" marR="91440" marT="45720" marB="45720">
                    <a:solidFill>
                      <a:srgbClr val="FFFFFF"/>
                    </a:solidFill>
                  </a:tcPr>
                </a:tc>
              </a:tr>
            </a:tbl>
          </a:graphicData>
        </a:graphic>
      </p:graphicFrame>
      <p:graphicFrame>
        <p:nvGraphicFramePr>
          <p:cNvPr id="22" name="">
            <a:extLst xmlns:a="http://schemas.openxmlformats.org/drawingml/2006/main">
              <a:ext uri="{FF2B5EF4-FFF2-40B4-BE49-F238E27FC236}">
                <a16:creationId xmlns:a16="http://schemas.microsoft.com/office/drawing/2014/main" id="{757F415B-F04D-4D79-972B-DD728E71C367}"/>
              </a:ext>
            </a:extLst>
          </p:cNvPr>
          <p:cNvGraphicFramePr/>
          <p:nvPr/>
        </p:nvGraphicFramePr>
        <p:xfrm>
          <a:off xmlns:a="http://schemas.openxmlformats.org/drawingml/2006/main" x="6572250" y="3448050"/>
          <a:ext xmlns:a="http://schemas.openxmlformats.org/drawingml/2006/main" cx="5238750" cy="1790700"/>
        </p:xfrm>
        <a:graphic xmlns:a="http://schemas.openxmlformats.org/drawingml/2006/main">
          <a:graphicData uri="http://schemas.openxmlformats.org/drawingml/2006/table">
            <a:tbl>
              <a:tblPr/>
              <a:tblGrid>
                <a:gridCol w="3495675"/>
                <a:gridCol w="1743075"/>
              </a:tblGrid>
              <a:tr h="358140">
                <a:tc>
                  <a:txBody>
                    <a:bodyPr>
                      <a:noAutofit/>
                    </a:bodyPr>
                    <a:lstStyle/>
                    <a:p>
                      <a:pPr algn="l"/>
                      <a:r>
                        <a:rPr sz="1575" b="1">
                          <a:solidFill>
                            <a:srgbClr val="FFFFFF"/>
                          </a:solidFill>
                          <a:latin typeface="Arial"/>
                          <a:ea typeface="Arial"/>
                          <a:cs typeface="Arial"/>
                        </a:rPr>
                        <a:t>Check</a:t>
                      </a:r>
                    </a:p>
                  </a:txBody>
                  <a:tcPr marL="91440" marR="91440" marT="45720" marB="45720">
                    <a:solidFill>
                      <a:srgbClr val="176D8C"/>
                    </a:solidFill>
                  </a:tcPr>
                </a:tc>
                <a:tc>
                  <a:txBody>
                    <a:bodyPr>
                      <a:noAutofit/>
                    </a:bodyPr>
                    <a:lstStyle/>
                    <a:p>
                      <a:pPr algn="ctr"/>
                      <a:r>
                        <a:rPr sz="1575" b="1">
                          <a:solidFill>
                            <a:srgbClr val="FFFFFF"/>
                          </a:solidFill>
                          <a:latin typeface="Arial"/>
                          <a:ea typeface="Arial"/>
                          <a:cs typeface="Arial"/>
                        </a:rPr>
                        <a:t>Result</a:t>
                      </a:r>
                    </a:p>
                  </a:txBody>
                  <a:tcPr marL="91440" marR="91440" marT="45720" marB="45720">
                    <a:solidFill>
                      <a:srgbClr val="176D8C"/>
                    </a:solidFill>
                  </a:tcPr>
                </a:tc>
              </a:tr>
              <a:tr h="358140">
                <a:tc>
                  <a:txBody>
                    <a:bodyPr>
                      <a:noAutofit/>
                    </a:bodyPr>
                    <a:lstStyle/>
                    <a:p>
                      <a:pPr algn="l"/>
                      <a:r>
                        <a:rPr sz="1575" b="0">
                          <a:solidFill>
                            <a:srgbClr val="183044"/>
                          </a:solidFill>
                          <a:latin typeface="Arial"/>
                          <a:ea typeface="Arial"/>
                          <a:cs typeface="Arial"/>
                        </a:rPr>
                        <a:t>Missing entries</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0</a:t>
                      </a:r>
                    </a:p>
                  </a:txBody>
                  <a:tcPr marL="91440" marR="91440" marT="45720" marB="45720">
                    <a:solidFill>
                      <a:srgbClr val="FFFFFF"/>
                    </a:solidFill>
                  </a:tcPr>
                </a:tc>
              </a:tr>
              <a:tr h="358140">
                <a:tc>
                  <a:txBody>
                    <a:bodyPr>
                      <a:noAutofit/>
                    </a:bodyPr>
                    <a:lstStyle/>
                    <a:p>
                      <a:pPr algn="l"/>
                      <a:r>
                        <a:rPr sz="1575" b="0">
                          <a:solidFill>
                            <a:srgbClr val="183044"/>
                          </a:solidFill>
                          <a:latin typeface="Arial"/>
                          <a:ea typeface="Arial"/>
                          <a:cs typeface="Arial"/>
                        </a:rPr>
                        <a:t>Invalid codes / ranges</a:t>
                      </a:r>
                    </a:p>
                  </a:txBody>
                  <a:tcPr marL="91440" marR="91440" marT="45720" marB="45720">
                    <a:solidFill>
                      <a:srgbClr val="EAF2F5"/>
                    </a:solidFill>
                  </a:tcPr>
                </a:tc>
                <a:tc>
                  <a:txBody>
                    <a:bodyPr>
                      <a:noAutofit/>
                    </a:bodyPr>
                    <a:lstStyle/>
                    <a:p>
                      <a:pPr algn="ctr"/>
                      <a:r>
                        <a:rPr sz="1575" b="0">
                          <a:solidFill>
                            <a:srgbClr val="183044"/>
                          </a:solidFill>
                          <a:latin typeface="Arial"/>
                          <a:ea typeface="Arial"/>
                          <a:cs typeface="Arial"/>
                        </a:rPr>
                        <a:t>0</a:t>
                      </a:r>
                    </a:p>
                  </a:txBody>
                  <a:tcPr marL="91440" marR="91440" marT="45720" marB="45720">
                    <a:solidFill>
                      <a:srgbClr val="EAF2F5"/>
                    </a:solidFill>
                  </a:tcPr>
                </a:tc>
              </a:tr>
              <a:tr h="358140">
                <a:tc>
                  <a:txBody>
                    <a:bodyPr>
                      <a:noAutofit/>
                    </a:bodyPr>
                    <a:lstStyle/>
                    <a:p>
                      <a:pPr algn="l"/>
                      <a:r>
                        <a:rPr sz="1575" b="0">
                          <a:solidFill>
                            <a:srgbClr val="183044"/>
                          </a:solidFill>
                          <a:latin typeface="Arial"/>
                          <a:ea typeface="Arial"/>
                          <a:cs typeface="Arial"/>
                        </a:rPr>
                        <a:t>Health-day range</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0–30 days</a:t>
                      </a:r>
                    </a:p>
                  </a:txBody>
                  <a:tcPr marL="91440" marR="91440" marT="45720" marB="45720">
                    <a:solidFill>
                      <a:srgbClr val="FFFFFF"/>
                    </a:solidFill>
                  </a:tcPr>
                </a:tc>
              </a:tr>
              <a:tr h="358140">
                <a:tc>
                  <a:txBody>
                    <a:bodyPr>
                      <a:noAutofit/>
                    </a:bodyPr>
                    <a:lstStyle/>
                    <a:p>
                      <a:pPr algn="l"/>
                      <a:r>
                        <a:rPr sz="1575" b="0">
                          <a:solidFill>
                            <a:srgbClr val="183044"/>
                          </a:solidFill>
                          <a:latin typeface="Arial"/>
                          <a:ea typeface="Arial"/>
                          <a:cs typeface="Arial"/>
                        </a:rPr>
                        <a:t>Sample selection</a:t>
                      </a:r>
                    </a:p>
                  </a:txBody>
                  <a:tcPr marL="91440" marR="91440" marT="45720" marB="45720">
                    <a:solidFill>
                      <a:srgbClr val="EAF2F5"/>
                    </a:solidFill>
                  </a:tcPr>
                </a:tc>
                <a:tc>
                  <a:txBody>
                    <a:bodyPr>
                      <a:noAutofit/>
                    </a:bodyPr>
                    <a:lstStyle/>
                    <a:p>
                      <a:pPr algn="ctr"/>
                      <a:r>
                        <a:rPr sz="1575" b="0">
                          <a:solidFill>
                            <a:srgbClr val="183044"/>
                          </a:solidFill>
                          <a:latin typeface="Arial"/>
                          <a:ea typeface="Arial"/>
                          <a:cs typeface="Arial"/>
                        </a:rPr>
                        <a:t>Seed 101</a:t>
                      </a:r>
                    </a:p>
                  </a:txBody>
                  <a:tcPr marL="91440" marR="91440" marT="45720" marB="45720">
                    <a:solidFill>
                      <a:srgbClr val="EAF2F5"/>
                    </a:solidFill>
                  </a:tcPr>
                </a:tc>
              </a:tr>
            </a:tbl>
          </a:graphicData>
        </a:graphic>
      </p:graphicFrame>
      <p:sp>
        <p:nvSpPr>
          <p:cNvPr id="23" name="">
            <a:extLst xmlns:a="http://schemas.openxmlformats.org/drawingml/2006/main">
              <a:ext uri="{FF2B5EF4-FFF2-40B4-BE49-F238E27FC236}">
                <a16:creationId xmlns:a16="http://schemas.microsoft.com/office/drawing/2014/main" id="{0AFCB17C-41A0-4B69-9E84-98B1E9E87854}"/>
              </a:ext>
            </a:extLst>
          </p:cNvPr>
          <p:cNvSpPr>
            <a:spLocks xmlns:a="http://schemas.openxmlformats.org/drawingml/2006/main" noGrp="1"/>
          </p:cNvSpPr>
          <p:nvPr/>
        </p:nvSpPr>
        <p:spPr>
          <a:xfrm xmlns:a="http://schemas.openxmlformats.org/drawingml/2006/main">
            <a:off x="400050" y="5505450"/>
            <a:ext cx="113919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24" name="text">
            <a:extLst xmlns:a="http://schemas.openxmlformats.org/drawingml/2006/main">
              <a:ext uri="{FF2B5EF4-FFF2-40B4-BE49-F238E27FC236}">
                <a16:creationId xmlns:a16="http://schemas.microsoft.com/office/drawing/2014/main" id="{A653ABF3-F550-4031-AEE6-E0443BC5A916}"/>
              </a:ext>
            </a:extLst>
          </p:cNvPr>
          <p:cNvSpPr>
            <a:spLocks xmlns:a="http://schemas.openxmlformats.org/drawingml/2006/main" noGrp="1"/>
          </p:cNvSpPr>
          <p:nvPr/>
        </p:nvSpPr>
        <p:spPr>
          <a:xfrm xmlns:a="http://schemas.openxmlformats.org/drawingml/2006/main">
            <a:off x="400050" y="5676900"/>
            <a:ext cx="1133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6D8C"/>
                </a:solidFill>
                <a:latin typeface="Arial"/>
                <a:ea typeface="Arial"/>
                <a:cs typeface="Arial"/>
              </a:defRPr>
            </a:defPPr>
          </a:lstStyle>
          <a:p xmlns:a="http://schemas.openxmlformats.org/drawingml/2006/main">
            <a:pPr>
              <a:defRPr sz="1875" b="1">
                <a:solidFill>
                  <a:srgbClr val="176D8C"/>
                </a:solidFill>
                <a:latin typeface="Arial"/>
                <a:ea typeface="Arial"/>
                <a:cs typeface="Arial"/>
              </a:defRPr>
            </a:pPr>
            <a:r>
              <a:rPr sz="1875" b="1">
                <a:solidFill>
                  <a:srgbClr val="176D8C"/>
                </a:solidFill>
                <a:latin typeface="Arial"/>
                <a:ea typeface="Arial"/>
                <a:cs typeface="Arial"/>
              </a:rPr>
              <a:t>Import CSV  →  label categories  →  export clean data for the exercises</a:t>
            </a:r>
          </a:p>
        </p:txBody>
      </p:sp>
      <p:sp>
        <p:nvSpPr>
          <p:cNvPr id="25" name="">
            <a:extLst xmlns:a="http://schemas.openxmlformats.org/drawingml/2006/main">
              <a:ext uri="{FF2B5EF4-FFF2-40B4-BE49-F238E27FC236}">
                <a16:creationId xmlns:a16="http://schemas.microsoft.com/office/drawing/2014/main" id="{FA72A848-AD3D-47F9-ABB9-B02AC136716D}"/>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6" name="text">
            <a:extLst xmlns:a="http://schemas.openxmlformats.org/drawingml/2006/main">
              <a:ext uri="{FF2B5EF4-FFF2-40B4-BE49-F238E27FC236}">
                <a16:creationId xmlns:a16="http://schemas.microsoft.com/office/drawing/2014/main" id="{A1525335-8888-4B77-953E-63B3A0E86F51}"/>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Readable labels and correct data types make every later analysis easier.</a:t>
            </a:r>
          </a:p>
        </p:txBody>
      </p:sp>
      <p:sp>
        <p:nvSpPr>
          <p:cNvPr id="27" name="text">
            <a:extLst xmlns:a="http://schemas.openxmlformats.org/drawingml/2006/main">
              <a:ext uri="{FF2B5EF4-FFF2-40B4-BE49-F238E27FC236}">
                <a16:creationId xmlns:a16="http://schemas.microsoft.com/office/drawing/2014/main" id="{54677819-B8CB-462C-9498-031C61D06EDC}"/>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2 / 10</a:t>
            </a:r>
          </a:p>
        </p:txBody>
      </p:sp>
    </p:spTree>
    <p:extLst>
      <p:ext uri="{BB962C8B-B14F-4D97-AF65-F5344CB8AC3E}">
        <p14:creationId xmlns:p14="http://schemas.microsoft.com/office/powerpoint/2010/main" val="158357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5D92AFE-EB80-47B8-BCA6-C84728638DFE}"/>
              </a:ext>
            </a:extLst>
          </p:cNvPr>
          <p:cNvSpPr>
            <a:spLocks xmlns:a="http://schemas.openxmlformats.org/drawingml/2006/main" noGrp="1"/>
          </p:cNvSpPr>
          <p:nvPr/>
        </p:nvSpPr>
        <p:spPr>
          <a:xfrm xmlns:a="http://schemas.openxmlformats.org/drawingml/2006/main">
            <a:off x="381000" y="32385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 name="text">
            <a:extLst xmlns:a="http://schemas.openxmlformats.org/drawingml/2006/main">
              <a:ext uri="{FF2B5EF4-FFF2-40B4-BE49-F238E27FC236}">
                <a16:creationId xmlns:a16="http://schemas.microsoft.com/office/drawing/2014/main" id="{23198925-88BA-4E68-A493-FE498912A48F}"/>
              </a:ext>
            </a:extLst>
          </p:cNvPr>
          <p:cNvSpPr>
            <a:spLocks xmlns:a="http://schemas.openxmlformats.org/drawingml/2006/main" noGrp="1"/>
          </p:cNvSpPr>
          <p:nvPr/>
        </p:nvSpPr>
        <p:spPr>
          <a:xfrm xmlns:a="http://schemas.openxmlformats.org/drawingml/2006/main">
            <a:off x="590550" y="28575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83044"/>
                </a:solidFill>
                <a:latin typeface="Arial"/>
                <a:ea typeface="Arial"/>
                <a:cs typeface="Arial"/>
              </a:defRPr>
            </a:defPPr>
          </a:lstStyle>
          <a:p xmlns:a="http://schemas.openxmlformats.org/drawingml/2006/main">
            <a:pPr>
              <a:defRPr sz="3000" b="1">
                <a:solidFill>
                  <a:srgbClr val="183044"/>
                </a:solidFill>
                <a:latin typeface="Arial"/>
                <a:ea typeface="Arial"/>
                <a:cs typeface="Arial"/>
              </a:defRPr>
            </a:pPr>
            <a:r>
              <a:rPr sz="3000" b="1">
                <a:solidFill>
                  <a:srgbClr val="183044"/>
                </a:solidFill>
                <a:latin typeface="Arial"/>
                <a:ea typeface="Arial"/>
                <a:cs typeface="Arial"/>
              </a:rPr>
              <a:t>Outlier analysis and removal</a:t>
            </a:r>
          </a:p>
        </p:txBody>
      </p:sp>
      <p:sp>
        <p:nvSpPr>
          <p:cNvPr id="3" name="text">
            <a:extLst xmlns:a="http://schemas.openxmlformats.org/drawingml/2006/main">
              <a:ext uri="{FF2B5EF4-FFF2-40B4-BE49-F238E27FC236}">
                <a16:creationId xmlns:a16="http://schemas.microsoft.com/office/drawing/2014/main" id="{E61B45E5-924B-4554-895D-933E9CE1801B}"/>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Q1 = 24  •  Q3 = 31  •  IQR = 7  •  Q1 − 1.5×IQR to Q3 + 1.5×IQR → 13.5 to 41.5</a:t>
            </a:r>
          </a:p>
        </p:txBody>
      </p:sp>
      <p:sp>
        <p:nvSpPr>
          <p:cNvPr id="4" name="text">
            <a:extLst xmlns:a="http://schemas.openxmlformats.org/drawingml/2006/main">
              <a:ext uri="{FF2B5EF4-FFF2-40B4-BE49-F238E27FC236}">
                <a16:creationId xmlns:a16="http://schemas.microsoft.com/office/drawing/2014/main" id="{86EF06A2-C560-4BF2-AC9C-EF5F9B9DD095}"/>
              </a:ext>
            </a:extLst>
          </p:cNvPr>
          <p:cNvSpPr>
            <a:spLocks xmlns:a="http://schemas.openxmlformats.org/drawingml/2006/main" noGrp="1"/>
          </p:cNvSpPr>
          <p:nvPr/>
        </p:nvSpPr>
        <p:spPr>
          <a:xfrm xmlns:a="http://schemas.openxmlformats.org/drawingml/2006/main">
            <a:off x="400050" y="1476375"/>
            <a:ext cx="6524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Detect unusual BMI values</a:t>
            </a:r>
          </a:p>
        </p:txBody>
      </p:sp>
      <p:sp>
        <p:nvSpPr>
          <p:cNvPr id="5" name="text">
            <a:extLst xmlns:a="http://schemas.openxmlformats.org/drawingml/2006/main">
              <a:ext uri="{FF2B5EF4-FFF2-40B4-BE49-F238E27FC236}">
                <a16:creationId xmlns:a16="http://schemas.microsoft.com/office/drawing/2014/main" id="{39629913-35EA-4896-A45F-A8E775E82643}"/>
              </a:ext>
            </a:extLst>
          </p:cNvPr>
          <p:cNvSpPr>
            <a:spLocks xmlns:a="http://schemas.openxmlformats.org/drawingml/2006/main" noGrp="1"/>
          </p:cNvSpPr>
          <p:nvPr/>
        </p:nvSpPr>
        <p:spPr>
          <a:xfrm xmlns:a="http://schemas.openxmlformats.org/drawingml/2006/main">
            <a:off x="7086600" y="1476375"/>
            <a:ext cx="4714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Compare before and after</a:t>
            </a:r>
          </a:p>
        </p:txBody>
      </p:sp>
      <p:pic>
        <p:nvPicPr>
          <p:cNvPr id="6" name="">
            <a:extLst xmlns:a="http://schemas.openxmlformats.org/drawingml/2006/main">
              <a:ext uri="{FF2B5EF4-FFF2-40B4-BE49-F238E27FC236}">
                <a16:creationId xmlns:a16="http://schemas.microsoft.com/office/drawing/2014/main" id="{4F5B1CE8-2F4D-4943-B3F1-9825148E1231}"/>
              </a:ext>
            </a:extLst>
          </p:cNvPr>
          <p:cNvPicPr>
            <a:picLocks xmlns:a="http://schemas.openxmlformats.org/drawingml/2006/main" noChangeAspect="1"/>
          </p:cNvPicPr>
          <p:nvPr/>
        </p:nvPicPr>
        <p:blipFill>
          <a:blip xmlns:r="http://schemas.openxmlformats.org/officeDocument/2006/relationships" xmlns:a="http://schemas.openxmlformats.org/drawingml/2006/main" r:embed="R8a76b6c23eed4b8a"/>
          <a:stretch xmlns:a="http://schemas.openxmlformats.org/drawingml/2006/main"/>
        </p:blipFill>
        <p:spPr>
          <a:xfrm xmlns:a="http://schemas.openxmlformats.org/drawingml/2006/main">
            <a:off x="266700" y="1781175"/>
            <a:ext cx="6534150" cy="398145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F436621C-2D7F-4873-A064-8988D7CEB080}"/>
              </a:ext>
            </a:extLst>
          </p:cNvPr>
          <p:cNvPicPr>
            <a:picLocks xmlns:a="http://schemas.openxmlformats.org/drawingml/2006/main" noChangeAspect="1"/>
          </p:cNvPicPr>
          <p:nvPr/>
        </p:nvPicPr>
        <p:blipFill>
          <a:blip xmlns:r="http://schemas.openxmlformats.org/officeDocument/2006/relationships" xmlns:a="http://schemas.openxmlformats.org/drawingml/2006/main" r:embed="R7845295e8d7e485e"/>
          <a:stretch xmlns:a="http://schemas.openxmlformats.org/drawingml/2006/main"/>
        </p:blipFill>
        <p:spPr>
          <a:xfrm xmlns:a="http://schemas.openxmlformats.org/drawingml/2006/main">
            <a:off x="7000875" y="1771650"/>
            <a:ext cx="4762500" cy="2476500"/>
          </a:xfrm>
          <a:prstGeom xmlns:a="http://schemas.openxmlformats.org/drawingml/2006/main" prst="rect">
            <a:avLst/>
          </a:prstGeom>
        </p:spPr>
      </p:pic>
      <p:graphicFrame>
        <p:nvGraphicFramePr>
          <p:cNvPr id="8" name="">
            <a:extLst xmlns:a="http://schemas.openxmlformats.org/drawingml/2006/main">
              <a:ext uri="{FF2B5EF4-FFF2-40B4-BE49-F238E27FC236}">
                <a16:creationId xmlns:a16="http://schemas.microsoft.com/office/drawing/2014/main" id="{13D45570-25F6-4D4C-A9D9-2BD447A2890C}"/>
              </a:ext>
            </a:extLst>
          </p:cNvPr>
          <p:cNvGraphicFramePr/>
          <p:nvPr/>
        </p:nvGraphicFramePr>
        <p:xfrm>
          <a:off xmlns:a="http://schemas.openxmlformats.org/drawingml/2006/main" x="7086600" y="4324350"/>
          <a:ext xmlns:a="http://schemas.openxmlformats.org/drawingml/2006/main" cx="4724400" cy="1657350"/>
        </p:xfrm>
        <a:graphic xmlns:a="http://schemas.openxmlformats.org/drawingml/2006/main">
          <a:graphicData uri="http://schemas.openxmlformats.org/drawingml/2006/table">
            <a:tbl>
              <a:tblPr/>
              <a:tblGrid>
                <a:gridCol w="1809750"/>
                <a:gridCol w="1457325"/>
                <a:gridCol w="1457325"/>
              </a:tblGrid>
              <a:tr h="331470">
                <a:tc>
                  <a:txBody>
                    <a:bodyPr>
                      <a:noAutofit/>
                    </a:bodyPr>
                    <a:lstStyle/>
                    <a:p>
                      <a:pPr algn="l"/>
                      <a:r>
                        <a:rPr sz="1425" b="1">
                          <a:solidFill>
                            <a:srgbClr val="FFFFFF"/>
                          </a:solidFill>
                          <a:latin typeface="Arial"/>
                          <a:ea typeface="Arial"/>
                          <a:cs typeface="Arial"/>
                        </a:rPr>
                        <a:t>Measure</a:t>
                      </a:r>
                    </a:p>
                  </a:txBody>
                  <a:tcPr marL="91440" marR="91440" marT="45720" marB="45720">
                    <a:solidFill>
                      <a:srgbClr val="176D8C"/>
                    </a:solidFill>
                  </a:tcPr>
                </a:tc>
                <a:tc>
                  <a:txBody>
                    <a:bodyPr>
                      <a:noAutofit/>
                    </a:bodyPr>
                    <a:lstStyle/>
                    <a:p>
                      <a:pPr algn="ctr"/>
                      <a:r>
                        <a:rPr sz="1425" b="1">
                          <a:solidFill>
                            <a:srgbClr val="FFFFFF"/>
                          </a:solidFill>
                          <a:latin typeface="Arial"/>
                          <a:ea typeface="Arial"/>
                          <a:cs typeface="Arial"/>
                        </a:rPr>
                        <a:t>Before</a:t>
                      </a:r>
                    </a:p>
                  </a:txBody>
                  <a:tcPr marL="91440" marR="91440" marT="45720" marB="45720">
                    <a:solidFill>
                      <a:srgbClr val="176D8C"/>
                    </a:solidFill>
                  </a:tcPr>
                </a:tc>
                <a:tc>
                  <a:txBody>
                    <a:bodyPr>
                      <a:noAutofit/>
                    </a:bodyPr>
                    <a:lstStyle/>
                    <a:p>
                      <a:pPr algn="ctr"/>
                      <a:r>
                        <a:rPr sz="1425" b="1">
                          <a:solidFill>
                            <a:srgbClr val="FFFFFF"/>
                          </a:solidFill>
                          <a:latin typeface="Arial"/>
                          <a:ea typeface="Arial"/>
                          <a:cs typeface="Arial"/>
                        </a:rPr>
                        <a:t>After</a:t>
                      </a:r>
                    </a:p>
                  </a:txBody>
                  <a:tcPr marL="91440" marR="91440" marT="45720" marB="45720">
                    <a:solidFill>
                      <a:srgbClr val="176D8C"/>
                    </a:solidFill>
                  </a:tcPr>
                </a:tc>
              </a:tr>
              <a:tr h="331470">
                <a:tc>
                  <a:txBody>
                    <a:bodyPr>
                      <a:noAutofit/>
                    </a:bodyPr>
                    <a:lstStyle/>
                    <a:p>
                      <a:pPr algn="l"/>
                      <a:r>
                        <a:rPr sz="1425" b="0">
                          <a:solidFill>
                            <a:srgbClr val="183044"/>
                          </a:solidFill>
                          <a:latin typeface="Arial"/>
                          <a:ea typeface="Arial"/>
                          <a:cs typeface="Arial"/>
                        </a:rPr>
                        <a:t>People</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3,000</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2,886</a:t>
                      </a:r>
                    </a:p>
                  </a:txBody>
                  <a:tcPr marL="91440" marR="91440" marT="45720" marB="45720">
                    <a:solidFill>
                      <a:srgbClr val="FFFFFF"/>
                    </a:solidFill>
                  </a:tcPr>
                </a:tc>
              </a:tr>
              <a:tr h="331470">
                <a:tc>
                  <a:txBody>
                    <a:bodyPr>
                      <a:noAutofit/>
                    </a:bodyPr>
                    <a:lstStyle/>
                    <a:p>
                      <a:pPr algn="l"/>
                      <a:r>
                        <a:rPr sz="1425" b="0">
                          <a:solidFill>
                            <a:srgbClr val="183044"/>
                          </a:solidFill>
                          <a:latin typeface="Arial"/>
                          <a:ea typeface="Arial"/>
                          <a:cs typeface="Arial"/>
                        </a:rPr>
                        <a:t>Mean BMI</a:t>
                      </a:r>
                    </a:p>
                  </a:txBody>
                  <a:tcPr marL="91440" marR="91440" marT="45720" marB="45720">
                    <a:solidFill>
                      <a:srgbClr val="EAF2F5"/>
                    </a:solidFill>
                  </a:tcPr>
                </a:tc>
                <a:tc>
                  <a:txBody>
                    <a:bodyPr>
                      <a:noAutofit/>
                    </a:bodyPr>
                    <a:lstStyle/>
                    <a:p>
                      <a:pPr algn="ctr"/>
                      <a:r>
                        <a:rPr sz="1425" b="0">
                          <a:solidFill>
                            <a:srgbClr val="183044"/>
                          </a:solidFill>
                          <a:latin typeface="Arial"/>
                          <a:ea typeface="Arial"/>
                          <a:cs typeface="Arial"/>
                        </a:rPr>
                        <a:t>28.40</a:t>
                      </a:r>
                    </a:p>
                  </a:txBody>
                  <a:tcPr marL="91440" marR="91440" marT="45720" marB="45720">
                    <a:solidFill>
                      <a:srgbClr val="EAF2F5"/>
                    </a:solidFill>
                  </a:tcPr>
                </a:tc>
                <a:tc>
                  <a:txBody>
                    <a:bodyPr>
                      <a:noAutofit/>
                    </a:bodyPr>
                    <a:lstStyle/>
                    <a:p>
                      <a:pPr algn="ctr"/>
                      <a:r>
                        <a:rPr sz="1425" b="0">
                          <a:solidFill>
                            <a:srgbClr val="183044"/>
                          </a:solidFill>
                          <a:latin typeface="Arial"/>
                          <a:ea typeface="Arial"/>
                          <a:cs typeface="Arial"/>
                        </a:rPr>
                        <a:t>27.65</a:t>
                      </a:r>
                    </a:p>
                  </a:txBody>
                  <a:tcPr marL="91440" marR="91440" marT="45720" marB="45720">
                    <a:solidFill>
                      <a:srgbClr val="EAF2F5"/>
                    </a:solidFill>
                  </a:tcPr>
                </a:tc>
              </a:tr>
              <a:tr h="331470">
                <a:tc>
                  <a:txBody>
                    <a:bodyPr>
                      <a:noAutofit/>
                    </a:bodyPr>
                    <a:lstStyle/>
                    <a:p>
                      <a:pPr algn="l"/>
                      <a:r>
                        <a:rPr sz="1425" b="0">
                          <a:solidFill>
                            <a:srgbClr val="183044"/>
                          </a:solidFill>
                          <a:latin typeface="Arial"/>
                          <a:ea typeface="Arial"/>
                          <a:cs typeface="Arial"/>
                        </a:rPr>
                        <a:t>BMI variance</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40.34</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24.59</a:t>
                      </a:r>
                    </a:p>
                  </a:txBody>
                  <a:tcPr marL="91440" marR="91440" marT="45720" marB="45720">
                    <a:solidFill>
                      <a:srgbClr val="FFFFFF"/>
                    </a:solidFill>
                  </a:tcPr>
                </a:tc>
              </a:tr>
              <a:tr h="331470">
                <a:tc>
                  <a:txBody>
                    <a:bodyPr>
                      <a:noAutofit/>
                    </a:bodyPr>
                    <a:lstStyle/>
                    <a:p>
                      <a:pPr algn="l"/>
                      <a:r>
                        <a:rPr sz="1425" b="0">
                          <a:solidFill>
                            <a:srgbClr val="183044"/>
                          </a:solidFill>
                          <a:latin typeface="Arial"/>
                          <a:ea typeface="Arial"/>
                          <a:cs typeface="Arial"/>
                        </a:rPr>
                        <a:t>Positive status</a:t>
                      </a:r>
                    </a:p>
                  </a:txBody>
                  <a:tcPr marL="91440" marR="91440" marT="45720" marB="45720">
                    <a:solidFill>
                      <a:srgbClr val="EAF2F5"/>
                    </a:solidFill>
                  </a:tcPr>
                </a:tc>
                <a:tc>
                  <a:txBody>
                    <a:bodyPr>
                      <a:noAutofit/>
                    </a:bodyPr>
                    <a:lstStyle/>
                    <a:p>
                      <a:pPr algn="ctr"/>
                      <a:r>
                        <a:rPr sz="1425" b="0">
                          <a:solidFill>
                            <a:srgbClr val="183044"/>
                          </a:solidFill>
                          <a:latin typeface="Arial"/>
                          <a:ea typeface="Arial"/>
                          <a:cs typeface="Arial"/>
                        </a:rPr>
                        <a:t>15.63%</a:t>
                      </a:r>
                    </a:p>
                  </a:txBody>
                  <a:tcPr marL="91440" marR="91440" marT="45720" marB="45720">
                    <a:solidFill>
                      <a:srgbClr val="EAF2F5"/>
                    </a:solidFill>
                  </a:tcPr>
                </a:tc>
                <a:tc>
                  <a:txBody>
                    <a:bodyPr>
                      <a:noAutofit/>
                    </a:bodyPr>
                    <a:lstStyle/>
                    <a:p>
                      <a:pPr algn="ctr"/>
                      <a:r>
                        <a:rPr sz="1425" b="0">
                          <a:solidFill>
                            <a:srgbClr val="183044"/>
                          </a:solidFill>
                          <a:latin typeface="Arial"/>
                          <a:ea typeface="Arial"/>
                          <a:cs typeface="Arial"/>
                        </a:rPr>
                        <a:t>14.62%</a:t>
                      </a:r>
                    </a:p>
                  </a:txBody>
                  <a:tcPr marL="91440" marR="91440" marT="45720" marB="45720">
                    <a:solidFill>
                      <a:srgbClr val="EAF2F5"/>
                    </a:solidFill>
                  </a:tcPr>
                </a:tc>
              </a:tr>
            </a:tbl>
          </a:graphicData>
        </a:graphic>
      </p:graphicFrame>
      <p:sp>
        <p:nvSpPr>
          <p:cNvPr id="9" name="">
            <a:extLst xmlns:a="http://schemas.openxmlformats.org/drawingml/2006/main">
              <a:ext uri="{FF2B5EF4-FFF2-40B4-BE49-F238E27FC236}">
                <a16:creationId xmlns:a16="http://schemas.microsoft.com/office/drawing/2014/main" id="{81AD7633-B492-4988-A8DA-6DA2B1F7A012}"/>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0" name="text">
            <a:extLst xmlns:a="http://schemas.openxmlformats.org/drawingml/2006/main">
              <a:ext uri="{FF2B5EF4-FFF2-40B4-BE49-F238E27FC236}">
                <a16:creationId xmlns:a16="http://schemas.microsoft.com/office/drawing/2014/main" id="{498B904B-FCF2-4DE7-BF48-CEEB4F894FB8}"/>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114 high BMI values (3.8%) were flagged. Removing them lowers the average and spread.</a:t>
            </a:r>
          </a:p>
        </p:txBody>
      </p:sp>
      <p:sp>
        <p:nvSpPr>
          <p:cNvPr id="11" name="text">
            <a:extLst xmlns:a="http://schemas.openxmlformats.org/drawingml/2006/main">
              <a:ext uri="{FF2B5EF4-FFF2-40B4-BE49-F238E27FC236}">
                <a16:creationId xmlns:a16="http://schemas.microsoft.com/office/drawing/2014/main" id="{98C1DD96-D9F9-41B1-AEDE-9B6C0E330D9D}"/>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3 / 10</a:t>
            </a:r>
          </a:p>
        </p:txBody>
      </p:sp>
    </p:spTree>
    <p:extLst>
      <p:ext uri="{BB962C8B-B14F-4D97-AF65-F5344CB8AC3E}">
        <p14:creationId xmlns:p14="http://schemas.microsoft.com/office/powerpoint/2010/main" val="211567992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820179A-C5E5-4A8D-911E-ECB4DA20FD97}"/>
              </a:ext>
            </a:extLst>
          </p:cNvPr>
          <p:cNvSpPr>
            <a:spLocks xmlns:a="http://schemas.openxmlformats.org/drawingml/2006/main" noGrp="1"/>
          </p:cNvSpPr>
          <p:nvPr/>
        </p:nvSpPr>
        <p:spPr>
          <a:xfrm xmlns:a="http://schemas.openxmlformats.org/drawingml/2006/main">
            <a:off x="381000" y="32385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 name="text">
            <a:extLst xmlns:a="http://schemas.openxmlformats.org/drawingml/2006/main">
              <a:ext uri="{FF2B5EF4-FFF2-40B4-BE49-F238E27FC236}">
                <a16:creationId xmlns:a16="http://schemas.microsoft.com/office/drawing/2014/main" id="{7CD5B9F2-D0B5-48F2-B4B8-1C5A8E7829F6}"/>
              </a:ext>
            </a:extLst>
          </p:cNvPr>
          <p:cNvSpPr>
            <a:spLocks xmlns:a="http://schemas.openxmlformats.org/drawingml/2006/main" noGrp="1"/>
          </p:cNvSpPr>
          <p:nvPr/>
        </p:nvSpPr>
        <p:spPr>
          <a:xfrm xmlns:a="http://schemas.openxmlformats.org/drawingml/2006/main">
            <a:off x="590550" y="28575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83044"/>
                </a:solidFill>
                <a:latin typeface="Arial"/>
                <a:ea typeface="Arial"/>
                <a:cs typeface="Arial"/>
              </a:defRPr>
            </a:defPPr>
          </a:lstStyle>
          <a:p xmlns:a="http://schemas.openxmlformats.org/drawingml/2006/main">
            <a:pPr>
              <a:defRPr sz="3000" b="1">
                <a:solidFill>
                  <a:srgbClr val="183044"/>
                </a:solidFill>
                <a:latin typeface="Arial"/>
                <a:ea typeface="Arial"/>
                <a:cs typeface="Arial"/>
              </a:defRPr>
            </a:pPr>
            <a:r>
              <a:rPr sz="3000" b="1">
                <a:solidFill>
                  <a:srgbClr val="183044"/>
                </a:solidFill>
                <a:latin typeface="Arial"/>
                <a:ea typeface="Arial"/>
                <a:cs typeface="Arial"/>
              </a:rPr>
              <a:t>Summary statistics and graphs</a:t>
            </a:r>
          </a:p>
        </p:txBody>
      </p:sp>
      <p:sp>
        <p:nvSpPr>
          <p:cNvPr id="3" name="text">
            <a:extLst xmlns:a="http://schemas.openxmlformats.org/drawingml/2006/main">
              <a:ext uri="{FF2B5EF4-FFF2-40B4-BE49-F238E27FC236}">
                <a16:creationId xmlns:a16="http://schemas.microsoft.com/office/drawing/2014/main" id="{31B1D148-8BBD-422E-9C3C-706C607DD4FA}"/>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Mean = average  •  SD = standard deviation  •  Variance = squared spread</a:t>
            </a:r>
          </a:p>
        </p:txBody>
      </p:sp>
      <p:graphicFrame>
        <p:nvGraphicFramePr>
          <p:cNvPr id="4" name="">
            <a:extLst xmlns:a="http://schemas.openxmlformats.org/drawingml/2006/main">
              <a:ext uri="{FF2B5EF4-FFF2-40B4-BE49-F238E27FC236}">
                <a16:creationId xmlns:a16="http://schemas.microsoft.com/office/drawing/2014/main" id="{39CAA6AC-3C8F-4A58-A274-B4D561DCBA73}"/>
              </a:ext>
            </a:extLst>
          </p:cNvPr>
          <p:cNvGraphicFramePr/>
          <p:nvPr/>
        </p:nvGraphicFramePr>
        <p:xfrm>
          <a:off xmlns:a="http://schemas.openxmlformats.org/drawingml/2006/main" x="400050" y="1524000"/>
          <a:ext xmlns:a="http://schemas.openxmlformats.org/drawingml/2006/main" cx="11391900" cy="1609725"/>
        </p:xfrm>
        <a:graphic xmlns:a="http://schemas.openxmlformats.org/drawingml/2006/main">
          <a:graphicData uri="http://schemas.openxmlformats.org/drawingml/2006/table">
            <a:tbl>
              <a:tblPr/>
              <a:tblGrid>
                <a:gridCol w="3486150"/>
                <a:gridCol w="1981200"/>
                <a:gridCol w="1971675"/>
                <a:gridCol w="1971675"/>
                <a:gridCol w="1981200"/>
              </a:tblGrid>
              <a:tr h="402431">
                <a:tc>
                  <a:txBody>
                    <a:bodyPr>
                      <a:noAutofit/>
                    </a:bodyPr>
                    <a:lstStyle/>
                    <a:p>
                      <a:pPr algn="l"/>
                      <a:r>
                        <a:rPr sz="1650" b="1">
                          <a:solidFill>
                            <a:srgbClr val="FFFFFF"/>
                          </a:solidFill>
                          <a:latin typeface="Arial"/>
                          <a:ea typeface="Arial"/>
                          <a:cs typeface="Arial"/>
                        </a:rPr>
                        <a:t>Variable</a:t>
                      </a:r>
                    </a:p>
                  </a:txBody>
                  <a:tcPr marL="91440" marR="91440" marT="45720" marB="45720">
                    <a:solidFill>
                      <a:srgbClr val="176D8C"/>
                    </a:solidFill>
                  </a:tcPr>
                </a:tc>
                <a:tc>
                  <a:txBody>
                    <a:bodyPr>
                      <a:noAutofit/>
                    </a:bodyPr>
                    <a:lstStyle/>
                    <a:p>
                      <a:pPr algn="ctr"/>
                      <a:r>
                        <a:rPr sz="1650" b="1">
                          <a:solidFill>
                            <a:srgbClr val="FFFFFF"/>
                          </a:solidFill>
                          <a:latin typeface="Arial"/>
                          <a:ea typeface="Arial"/>
                          <a:cs typeface="Arial"/>
                        </a:rPr>
                        <a:t>Mean</a:t>
                      </a:r>
                    </a:p>
                  </a:txBody>
                  <a:tcPr marL="91440" marR="91440" marT="45720" marB="45720">
                    <a:solidFill>
                      <a:srgbClr val="176D8C"/>
                    </a:solidFill>
                  </a:tcPr>
                </a:tc>
                <a:tc>
                  <a:txBody>
                    <a:bodyPr>
                      <a:noAutofit/>
                    </a:bodyPr>
                    <a:lstStyle/>
                    <a:p>
                      <a:pPr algn="ctr"/>
                      <a:r>
                        <a:rPr sz="1650" b="1">
                          <a:solidFill>
                            <a:srgbClr val="FFFFFF"/>
                          </a:solidFill>
                          <a:latin typeface="Arial"/>
                          <a:ea typeface="Arial"/>
                          <a:cs typeface="Arial"/>
                        </a:rPr>
                        <a:t>Median</a:t>
                      </a:r>
                    </a:p>
                  </a:txBody>
                  <a:tcPr marL="91440" marR="91440" marT="45720" marB="45720">
                    <a:solidFill>
                      <a:srgbClr val="176D8C"/>
                    </a:solidFill>
                  </a:tcPr>
                </a:tc>
                <a:tc>
                  <a:txBody>
                    <a:bodyPr>
                      <a:noAutofit/>
                    </a:bodyPr>
                    <a:lstStyle/>
                    <a:p>
                      <a:pPr algn="ctr"/>
                      <a:r>
                        <a:rPr sz="1650" b="1">
                          <a:solidFill>
                            <a:srgbClr val="FFFFFF"/>
                          </a:solidFill>
                          <a:latin typeface="Arial"/>
                          <a:ea typeface="Arial"/>
                          <a:cs typeface="Arial"/>
                        </a:rPr>
                        <a:t>SD</a:t>
                      </a:r>
                    </a:p>
                  </a:txBody>
                  <a:tcPr marL="91440" marR="91440" marT="45720" marB="45720">
                    <a:solidFill>
                      <a:srgbClr val="176D8C"/>
                    </a:solidFill>
                  </a:tcPr>
                </a:tc>
                <a:tc>
                  <a:txBody>
                    <a:bodyPr>
                      <a:noAutofit/>
                    </a:bodyPr>
                    <a:lstStyle/>
                    <a:p>
                      <a:pPr algn="ctr"/>
                      <a:r>
                        <a:rPr sz="1650" b="1">
                          <a:solidFill>
                            <a:srgbClr val="FFFFFF"/>
                          </a:solidFill>
                          <a:latin typeface="Arial"/>
                          <a:ea typeface="Arial"/>
                          <a:cs typeface="Arial"/>
                        </a:rPr>
                        <a:t>Variance</a:t>
                      </a:r>
                    </a:p>
                  </a:txBody>
                  <a:tcPr marL="91440" marR="91440" marT="45720" marB="45720">
                    <a:solidFill>
                      <a:srgbClr val="176D8C"/>
                    </a:solidFill>
                  </a:tcPr>
                </a:tc>
              </a:tr>
              <a:tr h="402431">
                <a:tc>
                  <a:txBody>
                    <a:bodyPr>
                      <a:noAutofit/>
                    </a:bodyPr>
                    <a:lstStyle/>
                    <a:p>
                      <a:pPr algn="l"/>
                      <a:r>
                        <a:rPr sz="1650" b="0">
                          <a:solidFill>
                            <a:srgbClr val="183044"/>
                          </a:solidFill>
                          <a:latin typeface="Arial"/>
                          <a:ea typeface="Arial"/>
                          <a:cs typeface="Arial"/>
                        </a:rPr>
                        <a:t>BMI</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28.40</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27</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6.35</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40.34</a:t>
                      </a:r>
                    </a:p>
                  </a:txBody>
                  <a:tcPr marL="91440" marR="91440" marT="45720" marB="45720">
                    <a:solidFill>
                      <a:srgbClr val="FFFFFF"/>
                    </a:solidFill>
                  </a:tcPr>
                </a:tc>
              </a:tr>
              <a:tr h="402431">
                <a:tc>
                  <a:txBody>
                    <a:bodyPr>
                      <a:noAutofit/>
                    </a:bodyPr>
                    <a:lstStyle/>
                    <a:p>
                      <a:pPr algn="l"/>
                      <a:r>
                        <a:rPr sz="1650" b="0">
                          <a:solidFill>
                            <a:srgbClr val="183044"/>
                          </a:solidFill>
                          <a:latin typeface="Arial"/>
                          <a:ea typeface="Arial"/>
                          <a:cs typeface="Arial"/>
                        </a:rPr>
                        <a:t>Mental-health days</a:t>
                      </a:r>
                    </a:p>
                  </a:txBody>
                  <a:tcPr marL="91440" marR="91440" marT="45720" marB="45720">
                    <a:solidFill>
                      <a:srgbClr val="EAF2F5"/>
                    </a:solidFill>
                  </a:tcPr>
                </a:tc>
                <a:tc>
                  <a:txBody>
                    <a:bodyPr>
                      <a:noAutofit/>
                    </a:bodyPr>
                    <a:lstStyle/>
                    <a:p>
                      <a:pPr algn="ctr"/>
                      <a:r>
                        <a:rPr sz="1650" b="0">
                          <a:solidFill>
                            <a:srgbClr val="183044"/>
                          </a:solidFill>
                          <a:latin typeface="Arial"/>
                          <a:ea typeface="Arial"/>
                          <a:cs typeface="Arial"/>
                        </a:rPr>
                        <a:t>3.26</a:t>
                      </a:r>
                    </a:p>
                  </a:txBody>
                  <a:tcPr marL="91440" marR="91440" marT="45720" marB="45720">
                    <a:solidFill>
                      <a:srgbClr val="EAF2F5"/>
                    </a:solidFill>
                  </a:tcPr>
                </a:tc>
                <a:tc>
                  <a:txBody>
                    <a:bodyPr>
                      <a:noAutofit/>
                    </a:bodyPr>
                    <a:lstStyle/>
                    <a:p>
                      <a:pPr algn="ctr"/>
                      <a:r>
                        <a:rPr sz="1650" b="0">
                          <a:solidFill>
                            <a:srgbClr val="183044"/>
                          </a:solidFill>
                          <a:latin typeface="Arial"/>
                          <a:ea typeface="Arial"/>
                          <a:cs typeface="Arial"/>
                        </a:rPr>
                        <a:t>0</a:t>
                      </a:r>
                    </a:p>
                  </a:txBody>
                  <a:tcPr marL="91440" marR="91440" marT="45720" marB="45720">
                    <a:solidFill>
                      <a:srgbClr val="EAF2F5"/>
                    </a:solidFill>
                  </a:tcPr>
                </a:tc>
                <a:tc>
                  <a:txBody>
                    <a:bodyPr>
                      <a:noAutofit/>
                    </a:bodyPr>
                    <a:lstStyle/>
                    <a:p>
                      <a:pPr algn="ctr"/>
                      <a:r>
                        <a:rPr sz="1650" b="0">
                          <a:solidFill>
                            <a:srgbClr val="183044"/>
                          </a:solidFill>
                          <a:latin typeface="Arial"/>
                          <a:ea typeface="Arial"/>
                          <a:cs typeface="Arial"/>
                        </a:rPr>
                        <a:t>7.39</a:t>
                      </a:r>
                    </a:p>
                  </a:txBody>
                  <a:tcPr marL="91440" marR="91440" marT="45720" marB="45720">
                    <a:solidFill>
                      <a:srgbClr val="EAF2F5"/>
                    </a:solidFill>
                  </a:tcPr>
                </a:tc>
                <a:tc>
                  <a:txBody>
                    <a:bodyPr>
                      <a:noAutofit/>
                    </a:bodyPr>
                    <a:lstStyle/>
                    <a:p>
                      <a:pPr algn="ctr"/>
                      <a:r>
                        <a:rPr sz="1650" b="0">
                          <a:solidFill>
                            <a:srgbClr val="183044"/>
                          </a:solidFill>
                          <a:latin typeface="Arial"/>
                          <a:ea typeface="Arial"/>
                          <a:cs typeface="Arial"/>
                        </a:rPr>
                        <a:t>54.67</a:t>
                      </a:r>
                    </a:p>
                  </a:txBody>
                  <a:tcPr marL="91440" marR="91440" marT="45720" marB="45720">
                    <a:solidFill>
                      <a:srgbClr val="EAF2F5"/>
                    </a:solidFill>
                  </a:tcPr>
                </a:tc>
              </a:tr>
              <a:tr h="402431">
                <a:tc>
                  <a:txBody>
                    <a:bodyPr>
                      <a:noAutofit/>
                    </a:bodyPr>
                    <a:lstStyle/>
                    <a:p>
                      <a:pPr algn="l"/>
                      <a:r>
                        <a:rPr sz="1650" b="0">
                          <a:solidFill>
                            <a:srgbClr val="183044"/>
                          </a:solidFill>
                          <a:latin typeface="Arial"/>
                          <a:ea typeface="Arial"/>
                          <a:cs typeface="Arial"/>
                        </a:rPr>
                        <a:t>Physical-health days</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4.15</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0</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8.62</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74.24</a:t>
                      </a:r>
                    </a:p>
                  </a:txBody>
                  <a:tcPr marL="91440" marR="91440" marT="45720" marB="45720">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CE862D74-18A6-4C80-BCF7-0C0A594A8677}"/>
              </a:ext>
            </a:extLst>
          </p:cNvPr>
          <p:cNvSpPr>
            <a:spLocks xmlns:a="http://schemas.openxmlformats.org/drawingml/2006/main" noGrp="1"/>
          </p:cNvSpPr>
          <p:nvPr/>
        </p:nvSpPr>
        <p:spPr>
          <a:xfrm xmlns:a="http://schemas.openxmlformats.org/drawingml/2006/main">
            <a:off x="400050" y="3400425"/>
            <a:ext cx="3667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Education: group sizes</a:t>
            </a:r>
          </a:p>
        </p:txBody>
      </p:sp>
      <p:sp>
        <p:nvSpPr>
          <p:cNvPr id="6" name="text">
            <a:extLst xmlns:a="http://schemas.openxmlformats.org/drawingml/2006/main">
              <a:ext uri="{FF2B5EF4-FFF2-40B4-BE49-F238E27FC236}">
                <a16:creationId xmlns:a16="http://schemas.microsoft.com/office/drawing/2014/main" id="{DDBD0470-34AB-42E9-BACA-0296EF4EA39D}"/>
              </a:ext>
            </a:extLst>
          </p:cNvPr>
          <p:cNvSpPr>
            <a:spLocks xmlns:a="http://schemas.openxmlformats.org/drawingml/2006/main" noGrp="1"/>
          </p:cNvSpPr>
          <p:nvPr/>
        </p:nvSpPr>
        <p:spPr>
          <a:xfrm xmlns:a="http://schemas.openxmlformats.org/drawingml/2006/main">
            <a:off x="4371975" y="3400425"/>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Sex: sample share</a:t>
            </a:r>
          </a:p>
        </p:txBody>
      </p:sp>
      <p:sp>
        <p:nvSpPr>
          <p:cNvPr id="7" name="text">
            <a:extLst xmlns:a="http://schemas.openxmlformats.org/drawingml/2006/main">
              <a:ext uri="{FF2B5EF4-FFF2-40B4-BE49-F238E27FC236}">
                <a16:creationId xmlns:a16="http://schemas.microsoft.com/office/drawing/2014/main" id="{3C94399D-3B67-4177-A1D8-B7C507F2ECF5}"/>
              </a:ext>
            </a:extLst>
          </p:cNvPr>
          <p:cNvSpPr>
            <a:spLocks xmlns:a="http://schemas.openxmlformats.org/drawingml/2006/main" noGrp="1"/>
          </p:cNvSpPr>
          <p:nvPr/>
        </p:nvSpPr>
        <p:spPr>
          <a:xfrm xmlns:a="http://schemas.openxmlformats.org/drawingml/2006/main">
            <a:off x="8296275" y="3400425"/>
            <a:ext cx="3514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BMI: distribution shape</a:t>
            </a:r>
          </a:p>
        </p:txBody>
      </p:sp>
      <p:graphicFrame>
        <p:nvGraphicFramePr>
          <p:cNvPr id="8" name="Chart">
            <a:extLst xmlns:a="http://schemas.openxmlformats.org/drawingml/2006/main">
              <a:ext uri="{FF2B5EF4-FFF2-40B4-BE49-F238E27FC236}">
                <a16:creationId xmlns:a16="http://schemas.microsoft.com/office/drawing/2014/main" id="{53BD43BE-A507-4482-9B1B-AB9C882C4780}"/>
              </a:ext>
            </a:extLst>
          </p:cNvPr>
          <p:cNvGraphicFramePr/>
          <p:nvPr/>
        </p:nvGraphicFramePr>
        <p:xfrm>
          <a:off xmlns:a="http://schemas.openxmlformats.org/drawingml/2006/main" x="247650" y="3790950"/>
          <a:ext xmlns:a="http://schemas.openxmlformats.org/drawingml/2006/main" cx="3848100" cy="2133600"/>
        </p:xfrm>
        <a:graphic xmlns:a="http://schemas.openxmlformats.org/drawingml/2006/main">
          <a:graphicData uri="http://schemas.openxmlformats.org/drawingml/2006/chart">
            <c:chart xmlns:r="http://schemas.openxmlformats.org/officeDocument/2006/relationships" xmlns:c="http://schemas.openxmlformats.org/drawingml/2006/chart" r:id="R5294c1b443b64383"/>
          </a:graphicData>
        </a:graphic>
      </p:graphicFrame>
      <p:graphicFrame>
        <p:nvGraphicFramePr>
          <p:cNvPr id="9" name="Chart">
            <a:extLst xmlns:a="http://schemas.openxmlformats.org/drawingml/2006/main">
              <a:ext uri="{FF2B5EF4-FFF2-40B4-BE49-F238E27FC236}">
                <a16:creationId xmlns:a16="http://schemas.microsoft.com/office/drawing/2014/main" id="{9CAAC70D-6187-40A7-8DB0-1DECB82928EC}"/>
              </a:ext>
            </a:extLst>
          </p:cNvPr>
          <p:cNvGraphicFramePr/>
          <p:nvPr/>
        </p:nvGraphicFramePr>
        <p:xfrm>
          <a:off xmlns:a="http://schemas.openxmlformats.org/drawingml/2006/main" x="4467225" y="3790950"/>
          <a:ext xmlns:a="http://schemas.openxmlformats.org/drawingml/2006/main" cx="3286125" cy="2133600"/>
        </p:xfrm>
        <a:graphic xmlns:a="http://schemas.openxmlformats.org/drawingml/2006/main">
          <a:graphicData uri="http://schemas.openxmlformats.org/drawingml/2006/chart">
            <c:chart xmlns:r="http://schemas.openxmlformats.org/officeDocument/2006/relationships" xmlns:c="http://schemas.openxmlformats.org/drawingml/2006/chart" r:id="Rf9b3e2d386654650"/>
          </a:graphicData>
        </a:graphic>
      </p:graphicFrame>
      <p:pic>
        <p:nvPicPr>
          <p:cNvPr id="10" name="">
            <a:extLst xmlns:a="http://schemas.openxmlformats.org/drawingml/2006/main">
              <a:ext uri="{FF2B5EF4-FFF2-40B4-BE49-F238E27FC236}">
                <a16:creationId xmlns:a16="http://schemas.microsoft.com/office/drawing/2014/main" id="{D19E5341-72A5-49FC-9716-76F45B554AFC}"/>
              </a:ext>
            </a:extLst>
          </p:cNvPr>
          <p:cNvPicPr>
            <a:picLocks xmlns:a="http://schemas.openxmlformats.org/drawingml/2006/main" noChangeAspect="1"/>
          </p:cNvPicPr>
          <p:nvPr/>
        </p:nvPicPr>
        <p:blipFill>
          <a:blip xmlns:r="http://schemas.openxmlformats.org/officeDocument/2006/relationships" xmlns:a="http://schemas.openxmlformats.org/drawingml/2006/main" r:embed="Rf10a0860f4b84440"/>
          <a:stretch xmlns:a="http://schemas.openxmlformats.org/drawingml/2006/main"/>
        </p:blipFill>
        <p:spPr>
          <a:xfrm xmlns:a="http://schemas.openxmlformats.org/drawingml/2006/main">
            <a:off x="8248650" y="3762375"/>
            <a:ext cx="35242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A2F29E9-DFFF-4679-8B62-47DDB74703B9}"/>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2" name="text">
            <a:extLst xmlns:a="http://schemas.openxmlformats.org/drawingml/2006/main">
              <a:ext uri="{FF2B5EF4-FFF2-40B4-BE49-F238E27FC236}">
                <a16:creationId xmlns:a16="http://schemas.microsoft.com/office/drawing/2014/main" id="{AF7E6E38-CA77-416F-A175-457C5D3012EB}"/>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BMI has a long right tail. Most people report few poor-health days.</a:t>
            </a:r>
          </a:p>
        </p:txBody>
      </p:sp>
      <p:sp>
        <p:nvSpPr>
          <p:cNvPr id="13" name="text">
            <a:extLst xmlns:a="http://schemas.openxmlformats.org/drawingml/2006/main">
              <a:ext uri="{FF2B5EF4-FFF2-40B4-BE49-F238E27FC236}">
                <a16:creationId xmlns:a16="http://schemas.microsoft.com/office/drawing/2014/main" id="{BE8A0C0F-FBA1-47BE-B352-C724300EF590}"/>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4 / 10</a:t>
            </a:r>
          </a:p>
        </p:txBody>
      </p:sp>
    </p:spTree>
    <p:extLst>
      <p:ext uri="{BB962C8B-B14F-4D97-AF65-F5344CB8AC3E}">
        <p14:creationId xmlns:p14="http://schemas.microsoft.com/office/powerpoint/2010/main" val="125153085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DCCF433-880E-45D9-9F86-D9F9DEB72119}"/>
              </a:ext>
            </a:extLst>
          </p:cNvPr>
          <p:cNvSpPr>
            <a:spLocks xmlns:a="http://schemas.openxmlformats.org/drawingml/2006/main" noGrp="1"/>
          </p:cNvSpPr>
          <p:nvPr/>
        </p:nvSpPr>
        <p:spPr>
          <a:xfrm xmlns:a="http://schemas.openxmlformats.org/drawingml/2006/main">
            <a:off x="381000" y="32385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 name="text">
            <a:extLst xmlns:a="http://schemas.openxmlformats.org/drawingml/2006/main">
              <a:ext uri="{FF2B5EF4-FFF2-40B4-BE49-F238E27FC236}">
                <a16:creationId xmlns:a16="http://schemas.microsoft.com/office/drawing/2014/main" id="{8A2DF6D7-565B-432E-9964-418E34428DFA}"/>
              </a:ext>
            </a:extLst>
          </p:cNvPr>
          <p:cNvSpPr>
            <a:spLocks xmlns:a="http://schemas.openxmlformats.org/drawingml/2006/main" noGrp="1"/>
          </p:cNvSpPr>
          <p:nvPr/>
        </p:nvSpPr>
        <p:spPr>
          <a:xfrm xmlns:a="http://schemas.openxmlformats.org/drawingml/2006/main">
            <a:off x="590550" y="28575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83044"/>
                </a:solidFill>
                <a:latin typeface="Arial"/>
                <a:ea typeface="Arial"/>
                <a:cs typeface="Arial"/>
              </a:defRPr>
            </a:defPPr>
          </a:lstStyle>
          <a:p xmlns:a="http://schemas.openxmlformats.org/drawingml/2006/main">
            <a:pPr>
              <a:defRPr sz="3000" b="1">
                <a:solidFill>
                  <a:srgbClr val="183044"/>
                </a:solidFill>
                <a:latin typeface="Arial"/>
                <a:ea typeface="Arial"/>
                <a:cs typeface="Arial"/>
              </a:defRPr>
            </a:pPr>
            <a:r>
              <a:rPr sz="3000" b="1">
                <a:solidFill>
                  <a:srgbClr val="183044"/>
                </a:solidFill>
                <a:latin typeface="Arial"/>
                <a:ea typeface="Arial"/>
                <a:cs typeface="Arial"/>
              </a:rPr>
              <a:t>Correlation and simple regression</a:t>
            </a:r>
          </a:p>
        </p:txBody>
      </p:sp>
      <p:sp>
        <p:nvSpPr>
          <p:cNvPr id="3" name="text">
            <a:extLst xmlns:a="http://schemas.openxmlformats.org/drawingml/2006/main">
              <a:ext uri="{FF2B5EF4-FFF2-40B4-BE49-F238E27FC236}">
                <a16:creationId xmlns:a16="http://schemas.microsoft.com/office/drawing/2014/main" id="{08BB958C-8B2A-488D-90C5-77E8A9DA4D89}"/>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Predicted BMI = 28.09 + 0.0749 × poor physical-health days</a:t>
            </a:r>
          </a:p>
        </p:txBody>
      </p:sp>
      <p:sp>
        <p:nvSpPr>
          <p:cNvPr id="4" name="text">
            <a:extLst xmlns:a="http://schemas.openxmlformats.org/drawingml/2006/main">
              <a:ext uri="{FF2B5EF4-FFF2-40B4-BE49-F238E27FC236}">
                <a16:creationId xmlns:a16="http://schemas.microsoft.com/office/drawing/2014/main" id="{D0C2EC23-CD74-46FC-8907-61A2B05DCD1D}"/>
              </a:ext>
            </a:extLst>
          </p:cNvPr>
          <p:cNvSpPr>
            <a:spLocks xmlns:a="http://schemas.openxmlformats.org/drawingml/2006/main" noGrp="1"/>
          </p:cNvSpPr>
          <p:nvPr/>
        </p:nvSpPr>
        <p:spPr>
          <a:xfrm xmlns:a="http://schemas.openxmlformats.org/drawingml/2006/main">
            <a:off x="400050" y="1495425"/>
            <a:ext cx="666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Poor-health days and BMI</a:t>
            </a:r>
          </a:p>
        </p:txBody>
      </p:sp>
      <p:sp>
        <p:nvSpPr>
          <p:cNvPr id="5" name="text">
            <a:extLst xmlns:a="http://schemas.openxmlformats.org/drawingml/2006/main">
              <a:ext uri="{FF2B5EF4-FFF2-40B4-BE49-F238E27FC236}">
                <a16:creationId xmlns:a16="http://schemas.microsoft.com/office/drawing/2014/main" id="{FBACD047-FDE1-407C-980E-CE68C1FA84BA}"/>
              </a:ext>
            </a:extLst>
          </p:cNvPr>
          <p:cNvSpPr>
            <a:spLocks xmlns:a="http://schemas.openxmlformats.org/drawingml/2006/main" noGrp="1"/>
          </p:cNvSpPr>
          <p:nvPr/>
        </p:nvSpPr>
        <p:spPr>
          <a:xfrm xmlns:a="http://schemas.openxmlformats.org/drawingml/2006/main">
            <a:off x="7524750" y="1495425"/>
            <a:ext cx="4286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BMI by health group</a:t>
            </a:r>
          </a:p>
        </p:txBody>
      </p:sp>
      <p:pic>
        <p:nvPicPr>
          <p:cNvPr id="6" name="">
            <a:extLst xmlns:a="http://schemas.openxmlformats.org/drawingml/2006/main">
              <a:ext uri="{FF2B5EF4-FFF2-40B4-BE49-F238E27FC236}">
                <a16:creationId xmlns:a16="http://schemas.microsoft.com/office/drawing/2014/main" id="{BFC97652-E7A5-4C55-9A8C-841FA2ED304F}"/>
              </a:ext>
            </a:extLst>
          </p:cNvPr>
          <p:cNvPicPr>
            <a:picLocks xmlns:a="http://schemas.openxmlformats.org/drawingml/2006/main" noChangeAspect="1"/>
          </p:cNvPicPr>
          <p:nvPr/>
        </p:nvPicPr>
        <p:blipFill>
          <a:blip xmlns:r="http://schemas.openxmlformats.org/officeDocument/2006/relationships" xmlns:a="http://schemas.openxmlformats.org/drawingml/2006/main" r:embed="R9f79cf62240c4ba7"/>
          <a:stretch xmlns:a="http://schemas.openxmlformats.org/drawingml/2006/main"/>
        </p:blipFill>
        <p:spPr>
          <a:xfrm xmlns:a="http://schemas.openxmlformats.org/drawingml/2006/main">
            <a:off x="228600" y="1876425"/>
            <a:ext cx="6896100" cy="337185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EDB4E70C-2241-47FA-B3B4-D80B5610149A}"/>
              </a:ext>
            </a:extLst>
          </p:cNvPr>
          <p:cNvPicPr>
            <a:picLocks xmlns:a="http://schemas.openxmlformats.org/drawingml/2006/main" noChangeAspect="1"/>
          </p:cNvPicPr>
          <p:nvPr/>
        </p:nvPicPr>
        <p:blipFill>
          <a:blip xmlns:r="http://schemas.openxmlformats.org/officeDocument/2006/relationships" xmlns:a="http://schemas.openxmlformats.org/drawingml/2006/main" r:embed="Ree83f7706167432e"/>
          <a:stretch xmlns:a="http://schemas.openxmlformats.org/drawingml/2006/main"/>
        </p:blipFill>
        <p:spPr>
          <a:xfrm xmlns:a="http://schemas.openxmlformats.org/drawingml/2006/main">
            <a:off x="7486650" y="1876425"/>
            <a:ext cx="4286250" cy="2733675"/>
          </a:xfrm>
          <a:prstGeom xmlns:a="http://schemas.openxmlformats.org/drawingml/2006/main" prst="rect">
            <a:avLst/>
          </a:prstGeom>
        </p:spPr>
      </p:pic>
      <p:graphicFrame>
        <p:nvGraphicFramePr>
          <p:cNvPr id="8" name="">
            <a:extLst xmlns:a="http://schemas.openxmlformats.org/drawingml/2006/main">
              <a:ext uri="{FF2B5EF4-FFF2-40B4-BE49-F238E27FC236}">
                <a16:creationId xmlns:a16="http://schemas.microsoft.com/office/drawing/2014/main" id="{D4198324-1B9F-485F-BD4B-3087467E4DC9}"/>
              </a:ext>
            </a:extLst>
          </p:cNvPr>
          <p:cNvGraphicFramePr/>
          <p:nvPr/>
        </p:nvGraphicFramePr>
        <p:xfrm>
          <a:off xmlns:a="http://schemas.openxmlformats.org/drawingml/2006/main" x="400050" y="5372100"/>
          <a:ext xmlns:a="http://schemas.openxmlformats.org/drawingml/2006/main" cx="6572250" cy="619125"/>
        </p:xfrm>
        <a:graphic xmlns:a="http://schemas.openxmlformats.org/drawingml/2006/main">
          <a:graphicData uri="http://schemas.openxmlformats.org/drawingml/2006/table">
            <a:tbl>
              <a:tblPr/>
              <a:tblGrid>
                <a:gridCol w="1638300"/>
                <a:gridCol w="1638300"/>
                <a:gridCol w="1657350"/>
                <a:gridCol w="1638300"/>
              </a:tblGrid>
              <a:tr h="309563">
                <a:tc>
                  <a:txBody>
                    <a:bodyPr>
                      <a:noAutofit/>
                    </a:bodyPr>
                    <a:lstStyle/>
                    <a:p>
                      <a:pPr algn="l"/>
                      <a:r>
                        <a:rPr sz="1500" b="1">
                          <a:solidFill>
                            <a:srgbClr val="FFFFFF"/>
                          </a:solidFill>
                          <a:latin typeface="Arial"/>
                          <a:ea typeface="Arial"/>
                          <a:cs typeface="Arial"/>
                        </a:rPr>
                        <a:t>Pearson r</a:t>
                      </a:r>
                    </a:p>
                  </a:txBody>
                  <a:tcPr marL="91440" marR="91440" marT="45720" marB="45720">
                    <a:solidFill>
                      <a:srgbClr val="176D8C"/>
                    </a:solidFill>
                  </a:tcPr>
                </a:tc>
                <a:tc>
                  <a:txBody>
                    <a:bodyPr>
                      <a:noAutofit/>
                    </a:bodyPr>
                    <a:lstStyle/>
                    <a:p>
                      <a:pPr algn="ctr"/>
                      <a:r>
                        <a:rPr sz="1500" b="1">
                          <a:solidFill>
                            <a:srgbClr val="FFFFFF"/>
                          </a:solidFill>
                          <a:latin typeface="Arial"/>
                          <a:ea typeface="Arial"/>
                          <a:cs typeface="Arial"/>
                        </a:rPr>
                        <a:t>Spearman r</a:t>
                      </a:r>
                    </a:p>
                  </a:txBody>
                  <a:tcPr marL="91440" marR="91440" marT="45720" marB="45720">
                    <a:solidFill>
                      <a:srgbClr val="176D8C"/>
                    </a:solidFill>
                  </a:tcPr>
                </a:tc>
                <a:tc>
                  <a:txBody>
                    <a:bodyPr>
                      <a:noAutofit/>
                    </a:bodyPr>
                    <a:lstStyle/>
                    <a:p>
                      <a:pPr algn="ctr"/>
                      <a:r>
                        <a:rPr sz="1500" b="1">
                          <a:solidFill>
                            <a:srgbClr val="FFFFFF"/>
                          </a:solidFill>
                          <a:latin typeface="Arial"/>
                          <a:ea typeface="Arial"/>
                          <a:cs typeface="Arial"/>
                        </a:rPr>
                        <a:t>Covariance</a:t>
                      </a:r>
                    </a:p>
                  </a:txBody>
                  <a:tcPr marL="91440" marR="91440" marT="45720" marB="45720">
                    <a:solidFill>
                      <a:srgbClr val="176D8C"/>
                    </a:solidFill>
                  </a:tcPr>
                </a:tc>
                <a:tc>
                  <a:txBody>
                    <a:bodyPr>
                      <a:noAutofit/>
                    </a:bodyPr>
                    <a:lstStyle/>
                    <a:p>
                      <a:pPr algn="ctr"/>
                      <a:r>
                        <a:rPr sz="1500" b="1">
                          <a:solidFill>
                            <a:srgbClr val="FFFFFF"/>
                          </a:solidFill>
                          <a:latin typeface="Arial"/>
                          <a:ea typeface="Arial"/>
                          <a:cs typeface="Arial"/>
                        </a:rPr>
                        <a:t>R²</a:t>
                      </a:r>
                    </a:p>
                  </a:txBody>
                  <a:tcPr marL="91440" marR="91440" marT="45720" marB="45720">
                    <a:solidFill>
                      <a:srgbClr val="176D8C"/>
                    </a:solidFill>
                  </a:tcPr>
                </a:tc>
              </a:tr>
              <a:tr h="309563">
                <a:tc>
                  <a:txBody>
                    <a:bodyPr>
                      <a:noAutofit/>
                    </a:bodyPr>
                    <a:lstStyle/>
                    <a:p>
                      <a:pPr algn="l"/>
                      <a:r>
                        <a:rPr sz="1500" b="0">
                          <a:solidFill>
                            <a:srgbClr val="183044"/>
                          </a:solidFill>
                          <a:latin typeface="Arial"/>
                          <a:ea typeface="Arial"/>
                          <a:cs typeface="Arial"/>
                        </a:rPr>
                        <a:t>0.102</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0.108</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5.56</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1.03%</a:t>
                      </a:r>
                    </a:p>
                  </a:txBody>
                  <a:tcPr marL="91440" marR="91440" marT="45720" marB="45720">
                    <a:solidFill>
                      <a:srgbClr val="FFFFFF"/>
                    </a:solidFill>
                  </a:tcPr>
                </a:tc>
              </a:tr>
            </a:tbl>
          </a:graphicData>
        </a:graphic>
      </p:graphicFrame>
      <p:sp>
        <p:nvSpPr>
          <p:cNvPr id="9" name="text">
            <a:extLst xmlns:a="http://schemas.openxmlformats.org/drawingml/2006/main">
              <a:ext uri="{FF2B5EF4-FFF2-40B4-BE49-F238E27FC236}">
                <a16:creationId xmlns:a16="http://schemas.microsoft.com/office/drawing/2014/main" id="{F5492434-EC1C-403D-97E4-CC985A6C3F73}"/>
              </a:ext>
            </a:extLst>
          </p:cNvPr>
          <p:cNvSpPr>
            <a:spLocks xmlns:a="http://schemas.openxmlformats.org/drawingml/2006/main" noGrp="1"/>
          </p:cNvSpPr>
          <p:nvPr/>
        </p:nvSpPr>
        <p:spPr>
          <a:xfrm xmlns:a="http://schemas.openxmlformats.org/drawingml/2006/main">
            <a:off x="7553325" y="4762500"/>
            <a:ext cx="419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83044"/>
                </a:solidFill>
                <a:latin typeface="Arial"/>
                <a:ea typeface="Arial"/>
                <a:cs typeface="Arial"/>
              </a:defRPr>
            </a:defPPr>
          </a:lstStyle>
          <a:p xmlns:a="http://schemas.openxmlformats.org/drawingml/2006/main">
            <a:pPr>
              <a:defRPr sz="1575" b="1">
                <a:solidFill>
                  <a:srgbClr val="183044"/>
                </a:solidFill>
                <a:latin typeface="Arial"/>
                <a:ea typeface="Arial"/>
                <a:cs typeface="Arial"/>
              </a:defRPr>
            </a:pPr>
            <a:r>
              <a:rPr sz="1575" b="1">
                <a:solidFill>
                  <a:srgbClr val="183044"/>
                </a:solidFill>
                <a:latin typeface="Arial"/>
                <a:ea typeface="Arial"/>
                <a:cs typeface="Arial"/>
              </a:rPr>
              <a:t>Average BMI</a:t>
            </a:r>
          </a:p>
        </p:txBody>
      </p:sp>
      <p:graphicFrame>
        <p:nvGraphicFramePr>
          <p:cNvPr id="10" name="">
            <a:extLst xmlns:a="http://schemas.openxmlformats.org/drawingml/2006/main">
              <a:ext uri="{FF2B5EF4-FFF2-40B4-BE49-F238E27FC236}">
                <a16:creationId xmlns:a16="http://schemas.microsoft.com/office/drawing/2014/main" id="{089359E3-A261-4EAF-907D-DCDE3BCC8CFF}"/>
              </a:ext>
            </a:extLst>
          </p:cNvPr>
          <p:cNvGraphicFramePr/>
          <p:nvPr/>
        </p:nvGraphicFramePr>
        <p:xfrm>
          <a:off xmlns:a="http://schemas.openxmlformats.org/drawingml/2006/main" x="7524750" y="5143500"/>
          <a:ext xmlns:a="http://schemas.openxmlformats.org/drawingml/2006/main" cx="4286250" cy="847725"/>
        </p:xfrm>
        <a:graphic xmlns:a="http://schemas.openxmlformats.org/drawingml/2006/main">
          <a:graphicData uri="http://schemas.openxmlformats.org/drawingml/2006/table">
            <a:tbl>
              <a:tblPr/>
              <a:tblGrid>
                <a:gridCol w="1428750"/>
                <a:gridCol w="1428750"/>
                <a:gridCol w="1428750"/>
              </a:tblGrid>
              <a:tr h="423863">
                <a:tc>
                  <a:txBody>
                    <a:bodyPr>
                      <a:noAutofit/>
                    </a:bodyPr>
                    <a:lstStyle/>
                    <a:p>
                      <a:pPr algn="l"/>
                      <a:r>
                        <a:rPr sz="1425" b="1">
                          <a:solidFill>
                            <a:srgbClr val="FFFFFF"/>
                          </a:solidFill>
                          <a:latin typeface="Arial"/>
                          <a:ea typeface="Arial"/>
                          <a:cs typeface="Arial"/>
                        </a:rPr>
                        <a:t>No diabetes</a:t>
                      </a:r>
                    </a:p>
                  </a:txBody>
                  <a:tcPr marL="91440" marR="91440" marT="45720" marB="45720">
                    <a:solidFill>
                      <a:srgbClr val="176D8C"/>
                    </a:solidFill>
                  </a:tcPr>
                </a:tc>
                <a:tc>
                  <a:txBody>
                    <a:bodyPr>
                      <a:noAutofit/>
                    </a:bodyPr>
                    <a:lstStyle/>
                    <a:p>
                      <a:pPr algn="ctr"/>
                      <a:r>
                        <a:rPr sz="1425" b="1">
                          <a:solidFill>
                            <a:srgbClr val="FFFFFF"/>
                          </a:solidFill>
                          <a:latin typeface="Arial"/>
                          <a:ea typeface="Arial"/>
                          <a:cs typeface="Arial"/>
                        </a:rPr>
                        <a:t>Prediabetes</a:t>
                      </a:r>
                    </a:p>
                  </a:txBody>
                  <a:tcPr marL="91440" marR="91440" marT="45720" marB="45720">
                    <a:solidFill>
                      <a:srgbClr val="176D8C"/>
                    </a:solidFill>
                  </a:tcPr>
                </a:tc>
                <a:tc>
                  <a:txBody>
                    <a:bodyPr>
                      <a:noAutofit/>
                    </a:bodyPr>
                    <a:lstStyle/>
                    <a:p>
                      <a:pPr algn="ctr"/>
                      <a:r>
                        <a:rPr sz="1425" b="1">
                          <a:solidFill>
                            <a:srgbClr val="FFFFFF"/>
                          </a:solidFill>
                          <a:latin typeface="Arial"/>
                          <a:ea typeface="Arial"/>
                          <a:cs typeface="Arial"/>
                        </a:rPr>
                        <a:t>Diabetes</a:t>
                      </a:r>
                    </a:p>
                  </a:txBody>
                  <a:tcPr marL="91440" marR="91440" marT="45720" marB="45720">
                    <a:solidFill>
                      <a:srgbClr val="176D8C"/>
                    </a:solidFill>
                  </a:tcPr>
                </a:tc>
              </a:tr>
              <a:tr h="423863">
                <a:tc>
                  <a:txBody>
                    <a:bodyPr>
                      <a:noAutofit/>
                    </a:bodyPr>
                    <a:lstStyle/>
                    <a:p>
                      <a:pPr algn="l"/>
                      <a:r>
                        <a:rPr sz="1425" b="0">
                          <a:solidFill>
                            <a:srgbClr val="183044"/>
                          </a:solidFill>
                          <a:latin typeface="Arial"/>
                          <a:ea typeface="Arial"/>
                          <a:cs typeface="Arial"/>
                        </a:rPr>
                        <a:t>27.72</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32.85</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31.98</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C654BE20-B076-447C-AF9B-E979C23A8BD0}"/>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2" name="text">
            <a:extLst xmlns:a="http://schemas.openxmlformats.org/drawingml/2006/main">
              <a:ext uri="{FF2B5EF4-FFF2-40B4-BE49-F238E27FC236}">
                <a16:creationId xmlns:a16="http://schemas.microsoft.com/office/drawing/2014/main" id="{5006268C-C2D8-4060-85CC-8A9B0A3E4E88}"/>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r = 0.102: weak positive relation. R² = 1.03%: very little BMI variation is explained.</a:t>
            </a:r>
          </a:p>
        </p:txBody>
      </p:sp>
      <p:sp>
        <p:nvSpPr>
          <p:cNvPr id="13" name="text">
            <a:extLst xmlns:a="http://schemas.openxmlformats.org/drawingml/2006/main">
              <a:ext uri="{FF2B5EF4-FFF2-40B4-BE49-F238E27FC236}">
                <a16:creationId xmlns:a16="http://schemas.microsoft.com/office/drawing/2014/main" id="{04241600-BA06-4382-AB2E-913029930E16}"/>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5 / 10</a:t>
            </a:r>
          </a:p>
        </p:txBody>
      </p:sp>
    </p:spTree>
    <p:extLst>
      <p:ext uri="{BB962C8B-B14F-4D97-AF65-F5344CB8AC3E}">
        <p14:creationId xmlns:p14="http://schemas.microsoft.com/office/powerpoint/2010/main" val="20819600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1706796-EDE8-4DD7-93AD-8AD94D4CC79A}"/>
              </a:ext>
            </a:extLst>
          </p:cNvPr>
          <p:cNvSpPr>
            <a:spLocks xmlns:a="http://schemas.openxmlformats.org/drawingml/2006/main" noGrp="1"/>
          </p:cNvSpPr>
          <p:nvPr/>
        </p:nvSpPr>
        <p:spPr>
          <a:xfrm xmlns:a="http://schemas.openxmlformats.org/drawingml/2006/main">
            <a:off x="381000" y="32385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 name="text">
            <a:extLst xmlns:a="http://schemas.openxmlformats.org/drawingml/2006/main">
              <a:ext uri="{FF2B5EF4-FFF2-40B4-BE49-F238E27FC236}">
                <a16:creationId xmlns:a16="http://schemas.microsoft.com/office/drawing/2014/main" id="{F6031D87-FB5C-4923-B8EB-3218BD8CF448}"/>
              </a:ext>
            </a:extLst>
          </p:cNvPr>
          <p:cNvSpPr>
            <a:spLocks xmlns:a="http://schemas.openxmlformats.org/drawingml/2006/main" noGrp="1"/>
          </p:cNvSpPr>
          <p:nvPr/>
        </p:nvSpPr>
        <p:spPr>
          <a:xfrm xmlns:a="http://schemas.openxmlformats.org/drawingml/2006/main">
            <a:off x="590550" y="28575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83044"/>
                </a:solidFill>
                <a:latin typeface="Arial"/>
                <a:ea typeface="Arial"/>
                <a:cs typeface="Arial"/>
              </a:defRPr>
            </a:defPPr>
          </a:lstStyle>
          <a:p xmlns:a="http://schemas.openxmlformats.org/drawingml/2006/main">
            <a:pPr>
              <a:defRPr sz="3000" b="1">
                <a:solidFill>
                  <a:srgbClr val="183044"/>
                </a:solidFill>
                <a:latin typeface="Arial"/>
                <a:ea typeface="Arial"/>
                <a:cs typeface="Arial"/>
              </a:defRPr>
            </a:pPr>
            <a:r>
              <a:rPr sz="3000" b="1">
                <a:solidFill>
                  <a:srgbClr val="183044"/>
                </a:solidFill>
                <a:latin typeface="Arial"/>
                <a:ea typeface="Arial"/>
                <a:cs typeface="Arial"/>
              </a:rPr>
              <a:t>Multiple regression and model checks</a:t>
            </a:r>
          </a:p>
        </p:txBody>
      </p:sp>
      <p:sp>
        <p:nvSpPr>
          <p:cNvPr id="3" name="text">
            <a:extLst xmlns:a="http://schemas.openxmlformats.org/drawingml/2006/main">
              <a:ext uri="{FF2B5EF4-FFF2-40B4-BE49-F238E27FC236}">
                <a16:creationId xmlns:a16="http://schemas.microsoft.com/office/drawing/2014/main" id="{3C9E6D64-F51E-45CA-8A2D-1E197CECD172}"/>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Predict BMI using age, activity, income, education and smoking. R² = variation explained.</a:t>
            </a:r>
          </a:p>
        </p:txBody>
      </p:sp>
      <p:sp>
        <p:nvSpPr>
          <p:cNvPr id="4" name="text">
            <a:extLst xmlns:a="http://schemas.openxmlformats.org/drawingml/2006/main">
              <a:ext uri="{FF2B5EF4-FFF2-40B4-BE49-F238E27FC236}">
                <a16:creationId xmlns:a16="http://schemas.microsoft.com/office/drawing/2014/main" id="{7F8B55AA-CE15-4E8E-8C0F-2EA43A011B82}"/>
              </a:ext>
            </a:extLst>
          </p:cNvPr>
          <p:cNvSpPr>
            <a:spLocks xmlns:a="http://schemas.openxmlformats.org/drawingml/2006/main" noGrp="1"/>
          </p:cNvSpPr>
          <p:nvPr/>
        </p:nvSpPr>
        <p:spPr>
          <a:xfrm xmlns:a="http://schemas.openxmlformats.org/drawingml/2006/main">
            <a:off x="400050" y="1543050"/>
            <a:ext cx="2238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6.81%</a:t>
            </a:r>
          </a:p>
        </p:txBody>
      </p:sp>
      <p:sp>
        <p:nvSpPr>
          <p:cNvPr id="5" name="text">
            <a:extLst xmlns:a="http://schemas.openxmlformats.org/drawingml/2006/main">
              <a:ext uri="{FF2B5EF4-FFF2-40B4-BE49-F238E27FC236}">
                <a16:creationId xmlns:a16="http://schemas.microsoft.com/office/drawing/2014/main" id="{0F633CB7-1951-4418-A5F8-92FC48DE0F1B}"/>
              </a:ext>
            </a:extLst>
          </p:cNvPr>
          <p:cNvSpPr>
            <a:spLocks xmlns:a="http://schemas.openxmlformats.org/drawingml/2006/main" noGrp="1"/>
          </p:cNvSpPr>
          <p:nvPr/>
        </p:nvSpPr>
        <p:spPr>
          <a:xfrm xmlns:a="http://schemas.openxmlformats.org/drawingml/2006/main">
            <a:off x="400050" y="2057400"/>
            <a:ext cx="2238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R²</a:t>
            </a:r>
          </a:p>
        </p:txBody>
      </p:sp>
      <p:sp>
        <p:nvSpPr>
          <p:cNvPr id="6" name="text">
            <a:extLst xmlns:a="http://schemas.openxmlformats.org/drawingml/2006/main">
              <a:ext uri="{FF2B5EF4-FFF2-40B4-BE49-F238E27FC236}">
                <a16:creationId xmlns:a16="http://schemas.microsoft.com/office/drawing/2014/main" id="{F47FEFEA-0053-4233-9F2F-6B938064B3AA}"/>
              </a:ext>
            </a:extLst>
          </p:cNvPr>
          <p:cNvSpPr>
            <a:spLocks xmlns:a="http://schemas.openxmlformats.org/drawingml/2006/main" noGrp="1"/>
          </p:cNvSpPr>
          <p:nvPr/>
        </p:nvSpPr>
        <p:spPr>
          <a:xfrm xmlns:a="http://schemas.openxmlformats.org/drawingml/2006/main">
            <a:off x="2828925" y="1543050"/>
            <a:ext cx="2238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5.99%</a:t>
            </a:r>
          </a:p>
        </p:txBody>
      </p:sp>
      <p:sp>
        <p:nvSpPr>
          <p:cNvPr id="7" name="text">
            <a:extLst xmlns:a="http://schemas.openxmlformats.org/drawingml/2006/main">
              <a:ext uri="{FF2B5EF4-FFF2-40B4-BE49-F238E27FC236}">
                <a16:creationId xmlns:a16="http://schemas.microsoft.com/office/drawing/2014/main" id="{74CDC9AF-257A-453A-BCA5-EC8FB44B2F38}"/>
              </a:ext>
            </a:extLst>
          </p:cNvPr>
          <p:cNvSpPr>
            <a:spLocks xmlns:a="http://schemas.openxmlformats.org/drawingml/2006/main" noGrp="1"/>
          </p:cNvSpPr>
          <p:nvPr/>
        </p:nvSpPr>
        <p:spPr>
          <a:xfrm xmlns:a="http://schemas.openxmlformats.org/drawingml/2006/main">
            <a:off x="2828925" y="2057400"/>
            <a:ext cx="2238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Adjusted R²</a:t>
            </a:r>
          </a:p>
        </p:txBody>
      </p:sp>
      <p:sp>
        <p:nvSpPr>
          <p:cNvPr id="8" name="text">
            <a:extLst xmlns:a="http://schemas.openxmlformats.org/drawingml/2006/main">
              <a:ext uri="{FF2B5EF4-FFF2-40B4-BE49-F238E27FC236}">
                <a16:creationId xmlns:a16="http://schemas.microsoft.com/office/drawing/2014/main" id="{963B12DC-0B86-4E08-BE44-95F732BDE064}"/>
              </a:ext>
            </a:extLst>
          </p:cNvPr>
          <p:cNvSpPr>
            <a:spLocks xmlns:a="http://schemas.openxmlformats.org/drawingml/2006/main" noGrp="1"/>
          </p:cNvSpPr>
          <p:nvPr/>
        </p:nvSpPr>
        <p:spPr>
          <a:xfrm xmlns:a="http://schemas.openxmlformats.org/drawingml/2006/main">
            <a:off x="400050" y="2609850"/>
            <a:ext cx="4857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Which predictors matter?</a:t>
            </a:r>
          </a:p>
        </p:txBody>
      </p:sp>
      <p:graphicFrame>
        <p:nvGraphicFramePr>
          <p:cNvPr id="9" name="">
            <a:extLst xmlns:a="http://schemas.openxmlformats.org/drawingml/2006/main">
              <a:ext uri="{FF2B5EF4-FFF2-40B4-BE49-F238E27FC236}">
                <a16:creationId xmlns:a16="http://schemas.microsoft.com/office/drawing/2014/main" id="{BDE613C2-F7E7-41E4-910D-9A6C2C84075A}"/>
              </a:ext>
            </a:extLst>
          </p:cNvPr>
          <p:cNvGraphicFramePr/>
          <p:nvPr/>
        </p:nvGraphicFramePr>
        <p:xfrm>
          <a:off xmlns:a="http://schemas.openxmlformats.org/drawingml/2006/main" x="400050" y="3057525"/>
          <a:ext xmlns:a="http://schemas.openxmlformats.org/drawingml/2006/main" cx="4857750" cy="2400300"/>
        </p:xfrm>
        <a:graphic xmlns:a="http://schemas.openxmlformats.org/drawingml/2006/main">
          <a:graphicData uri="http://schemas.openxmlformats.org/drawingml/2006/table">
            <a:tbl>
              <a:tblPr/>
              <a:tblGrid>
                <a:gridCol w="2686050"/>
                <a:gridCol w="1085850"/>
                <a:gridCol w="1085850"/>
              </a:tblGrid>
              <a:tr h="400050">
                <a:tc>
                  <a:txBody>
                    <a:bodyPr>
                      <a:noAutofit/>
                    </a:bodyPr>
                    <a:lstStyle/>
                    <a:p>
                      <a:pPr algn="l"/>
                      <a:r>
                        <a:rPr sz="1650" b="1">
                          <a:solidFill>
                            <a:srgbClr val="FFFFFF"/>
                          </a:solidFill>
                          <a:latin typeface="Arial"/>
                          <a:ea typeface="Arial"/>
                          <a:cs typeface="Arial"/>
                        </a:rPr>
                        <a:t>Predictor</a:t>
                      </a:r>
                    </a:p>
                  </a:txBody>
                  <a:tcPr marL="91440" marR="91440" marT="45720" marB="45720">
                    <a:solidFill>
                      <a:srgbClr val="176D8C"/>
                    </a:solidFill>
                  </a:tcPr>
                </a:tc>
                <a:tc>
                  <a:txBody>
                    <a:bodyPr>
                      <a:noAutofit/>
                    </a:bodyPr>
                    <a:lstStyle/>
                    <a:p>
                      <a:pPr algn="ctr"/>
                      <a:r>
                        <a:rPr sz="1650" b="1">
                          <a:solidFill>
                            <a:srgbClr val="FFFFFF"/>
                          </a:solidFill>
                          <a:latin typeface="Arial"/>
                          <a:ea typeface="Arial"/>
                          <a:cs typeface="Arial"/>
                        </a:rPr>
                        <a:t>F</a:t>
                      </a:r>
                    </a:p>
                  </a:txBody>
                  <a:tcPr marL="91440" marR="91440" marT="45720" marB="45720">
                    <a:solidFill>
                      <a:srgbClr val="176D8C"/>
                    </a:solidFill>
                  </a:tcPr>
                </a:tc>
                <a:tc>
                  <a:txBody>
                    <a:bodyPr>
                      <a:noAutofit/>
                    </a:bodyPr>
                    <a:lstStyle/>
                    <a:p>
                      <a:pPr algn="ctr"/>
                      <a:r>
                        <a:rPr sz="1650" b="1">
                          <a:solidFill>
                            <a:srgbClr val="FFFFFF"/>
                          </a:solidFill>
                          <a:latin typeface="Arial"/>
                          <a:ea typeface="Arial"/>
                          <a:cs typeface="Arial"/>
                        </a:rPr>
                        <a:t>p</a:t>
                      </a:r>
                    </a:p>
                  </a:txBody>
                  <a:tcPr marL="91440" marR="91440" marT="45720" marB="45720">
                    <a:solidFill>
                      <a:srgbClr val="176D8C"/>
                    </a:solidFill>
                  </a:tcPr>
                </a:tc>
              </a:tr>
              <a:tr h="400050">
                <a:tc>
                  <a:txBody>
                    <a:bodyPr>
                      <a:noAutofit/>
                    </a:bodyPr>
                    <a:lstStyle/>
                    <a:p>
                      <a:pPr algn="l"/>
                      <a:r>
                        <a:rPr sz="1650" b="0">
                          <a:solidFill>
                            <a:srgbClr val="183044"/>
                          </a:solidFill>
                          <a:latin typeface="Arial"/>
                          <a:ea typeface="Arial"/>
                          <a:cs typeface="Arial"/>
                        </a:rPr>
                        <a:t>Age</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9.17</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solidFill>
                      <a:srgbClr val="FFFFFF"/>
                    </a:solidFill>
                  </a:tcPr>
                </a:tc>
              </a:tr>
              <a:tr h="400050">
                <a:tc>
                  <a:txBody>
                    <a:bodyPr>
                      <a:noAutofit/>
                    </a:bodyPr>
                    <a:lstStyle/>
                    <a:p>
                      <a:pPr algn="l"/>
                      <a:r>
                        <a:rPr sz="1650" b="0">
                          <a:solidFill>
                            <a:srgbClr val="183044"/>
                          </a:solidFill>
                          <a:latin typeface="Arial"/>
                          <a:ea typeface="Arial"/>
                          <a:cs typeface="Arial"/>
                        </a:rPr>
                        <a:t>Physical activity</a:t>
                      </a:r>
                    </a:p>
                  </a:txBody>
                  <a:tcPr marL="91440" marR="91440" marT="45720" marB="45720">
                    <a:solidFill>
                      <a:srgbClr val="EAF2F5"/>
                    </a:solidFill>
                  </a:tcPr>
                </a:tc>
                <a:tc>
                  <a:txBody>
                    <a:bodyPr>
                      <a:noAutofit/>
                    </a:bodyPr>
                    <a:lstStyle/>
                    <a:p>
                      <a:pPr algn="ctr"/>
                      <a:r>
                        <a:rPr sz="1650" b="0">
                          <a:solidFill>
                            <a:srgbClr val="183044"/>
                          </a:solidFill>
                          <a:latin typeface="Arial"/>
                          <a:ea typeface="Arial"/>
                          <a:cs typeface="Arial"/>
                        </a:rPr>
                        <a:t>13.30</a:t>
                      </a:r>
                    </a:p>
                  </a:txBody>
                  <a:tcPr marL="91440" marR="91440" marT="45720" marB="45720">
                    <a:solidFill>
                      <a:srgbClr val="EAF2F5"/>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solidFill>
                      <a:srgbClr val="EAF2F5"/>
                    </a:solidFill>
                  </a:tcPr>
                </a:tc>
              </a:tr>
              <a:tr h="400050">
                <a:tc>
                  <a:txBody>
                    <a:bodyPr>
                      <a:noAutofit/>
                    </a:bodyPr>
                    <a:lstStyle/>
                    <a:p>
                      <a:pPr algn="l"/>
                      <a:r>
                        <a:rPr sz="1650" b="0">
                          <a:solidFill>
                            <a:srgbClr val="183044"/>
                          </a:solidFill>
                          <a:latin typeface="Arial"/>
                          <a:ea typeface="Arial"/>
                          <a:cs typeface="Arial"/>
                        </a:rPr>
                        <a:t>Income</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4.43</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solidFill>
                      <a:srgbClr val="FFFFFF"/>
                    </a:solidFill>
                  </a:tcPr>
                </a:tc>
              </a:tr>
              <a:tr h="400050">
                <a:tc>
                  <a:txBody>
                    <a:bodyPr>
                      <a:noAutofit/>
                    </a:bodyPr>
                    <a:lstStyle/>
                    <a:p>
                      <a:pPr algn="l"/>
                      <a:r>
                        <a:rPr sz="1650" b="0">
                          <a:solidFill>
                            <a:srgbClr val="183044"/>
                          </a:solidFill>
                          <a:latin typeface="Arial"/>
                          <a:ea typeface="Arial"/>
                          <a:cs typeface="Arial"/>
                        </a:rPr>
                        <a:t>Education</a:t>
                      </a:r>
                    </a:p>
                  </a:txBody>
                  <a:tcPr marL="91440" marR="91440" marT="45720" marB="45720">
                    <a:solidFill>
                      <a:srgbClr val="EAF2F5"/>
                    </a:solidFill>
                  </a:tcPr>
                </a:tc>
                <a:tc>
                  <a:txBody>
                    <a:bodyPr>
                      <a:noAutofit/>
                    </a:bodyPr>
                    <a:lstStyle/>
                    <a:p>
                      <a:pPr algn="ctr"/>
                      <a:r>
                        <a:rPr sz="1650" b="0">
                          <a:solidFill>
                            <a:srgbClr val="183044"/>
                          </a:solidFill>
                          <a:latin typeface="Arial"/>
                          <a:ea typeface="Arial"/>
                          <a:cs typeface="Arial"/>
                        </a:rPr>
                        <a:t>8.03</a:t>
                      </a:r>
                    </a:p>
                  </a:txBody>
                  <a:tcPr marL="91440" marR="91440" marT="45720" marB="45720">
                    <a:solidFill>
                      <a:srgbClr val="EAF2F5"/>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solidFill>
                      <a:srgbClr val="EAF2F5"/>
                    </a:solidFill>
                  </a:tcPr>
                </a:tc>
              </a:tr>
              <a:tr h="400050">
                <a:tc>
                  <a:txBody>
                    <a:bodyPr>
                      <a:noAutofit/>
                    </a:bodyPr>
                    <a:lstStyle/>
                    <a:p>
                      <a:pPr algn="l"/>
                      <a:r>
                        <a:rPr sz="1650" b="0">
                          <a:solidFill>
                            <a:srgbClr val="183044"/>
                          </a:solidFill>
                          <a:latin typeface="Arial"/>
                          <a:ea typeface="Arial"/>
                          <a:cs typeface="Arial"/>
                        </a:rPr>
                        <a:t>Smoking</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0.07</a:t>
                      </a:r>
                    </a:p>
                  </a:txBody>
                  <a:tcPr marL="91440" marR="91440" marT="45720" marB="45720">
                    <a:solidFill>
                      <a:srgbClr val="FFFFFF"/>
                    </a:solidFill>
                  </a:tcPr>
                </a:tc>
                <a:tc>
                  <a:txBody>
                    <a:bodyPr>
                      <a:noAutofit/>
                    </a:bodyPr>
                    <a:lstStyle/>
                    <a:p>
                      <a:pPr algn="ctr"/>
                      <a:r>
                        <a:rPr sz="1650" b="0">
                          <a:solidFill>
                            <a:srgbClr val="183044"/>
                          </a:solidFill>
                          <a:latin typeface="Arial"/>
                          <a:ea typeface="Arial"/>
                          <a:cs typeface="Arial"/>
                        </a:rPr>
                        <a:t>0.786</a:t>
                      </a:r>
                    </a:p>
                  </a:txBody>
                  <a:tcPr marL="91440" marR="91440" marT="45720" marB="45720">
                    <a:solidFill>
                      <a:srgbClr val="FFFFFF"/>
                    </a:solidFill>
                  </a:tcPr>
                </a:tc>
              </a:tr>
            </a:tbl>
          </a:graphicData>
        </a:graphic>
      </p:graphicFrame>
      <p:sp>
        <p:nvSpPr>
          <p:cNvPr id="10" name="text">
            <a:extLst xmlns:a="http://schemas.openxmlformats.org/drawingml/2006/main">
              <a:ext uri="{FF2B5EF4-FFF2-40B4-BE49-F238E27FC236}">
                <a16:creationId xmlns:a16="http://schemas.microsoft.com/office/drawing/2014/main" id="{5C170DA9-FABD-40A0-B40E-752CB02C7DB2}"/>
              </a:ext>
            </a:extLst>
          </p:cNvPr>
          <p:cNvSpPr>
            <a:spLocks xmlns:a="http://schemas.openxmlformats.org/drawingml/2006/main" noGrp="1"/>
          </p:cNvSpPr>
          <p:nvPr/>
        </p:nvSpPr>
        <p:spPr>
          <a:xfrm xmlns:a="http://schemas.openxmlformats.org/drawingml/2006/main">
            <a:off x="5524500" y="1533525"/>
            <a:ext cx="62674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Check the fitted model</a:t>
            </a:r>
          </a:p>
        </p:txBody>
      </p:sp>
      <p:pic>
        <p:nvPicPr>
          <p:cNvPr id="11" name="">
            <a:extLst xmlns:a="http://schemas.openxmlformats.org/drawingml/2006/main">
              <a:ext uri="{FF2B5EF4-FFF2-40B4-BE49-F238E27FC236}">
                <a16:creationId xmlns:a16="http://schemas.microsoft.com/office/drawing/2014/main" id="{0820F794-7808-4462-BBAC-29F7D2A2A666}"/>
              </a:ext>
            </a:extLst>
          </p:cNvPr>
          <p:cNvPicPr>
            <a:picLocks xmlns:a="http://schemas.openxmlformats.org/drawingml/2006/main" noChangeAspect="1"/>
          </p:cNvPicPr>
          <p:nvPr/>
        </p:nvPicPr>
        <p:blipFill>
          <a:blip xmlns:r="http://schemas.openxmlformats.org/officeDocument/2006/relationships" xmlns:a="http://schemas.openxmlformats.org/drawingml/2006/main" r:embed="R1de7caca62984fbd"/>
          <a:stretch xmlns:a="http://schemas.openxmlformats.org/drawingml/2006/main"/>
        </p:blipFill>
        <p:spPr>
          <a:xfrm xmlns:a="http://schemas.openxmlformats.org/drawingml/2006/main">
            <a:off x="5495925" y="1924050"/>
            <a:ext cx="6267450" cy="3848100"/>
          </a:xfrm>
          <a:prstGeom xmlns:a="http://schemas.openxmlformats.org/drawingml/2006/main" prst="rect">
            <a:avLst/>
          </a:prstGeom>
        </p:spPr>
      </p:pic>
      <p:sp>
        <p:nvSpPr>
          <p:cNvPr id="12" name="text">
            <a:extLst xmlns:a="http://schemas.openxmlformats.org/drawingml/2006/main">
              <a:ext uri="{FF2B5EF4-FFF2-40B4-BE49-F238E27FC236}">
                <a16:creationId xmlns:a16="http://schemas.microsoft.com/office/drawing/2014/main" id="{1F07BCEA-223C-4E3A-9EB7-0A3EB3AD3FD1}"/>
              </a:ext>
            </a:extLst>
          </p:cNvPr>
          <p:cNvSpPr>
            <a:spLocks xmlns:a="http://schemas.openxmlformats.org/drawingml/2006/main" noGrp="1"/>
          </p:cNvSpPr>
          <p:nvPr/>
        </p:nvSpPr>
        <p:spPr>
          <a:xfrm xmlns:a="http://schemas.openxmlformats.org/drawingml/2006/main">
            <a:off x="5524500" y="5791200"/>
            <a:ext cx="62674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415566"/>
                </a:solidFill>
                <a:latin typeface="Arial"/>
                <a:ea typeface="Arial"/>
                <a:cs typeface="Arial"/>
              </a:defRPr>
            </a:defPPr>
          </a:lstStyle>
          <a:p xmlns:a="http://schemas.openxmlformats.org/drawingml/2006/main">
            <a:pPr>
              <a:defRPr sz="1425" b="0">
                <a:solidFill>
                  <a:srgbClr val="415566"/>
                </a:solidFill>
                <a:latin typeface="Arial"/>
                <a:ea typeface="Arial"/>
                <a:cs typeface="Arial"/>
              </a:defRPr>
            </a:pPr>
            <a:r>
              <a:rPr sz="1425" b="0">
                <a:solidFill>
                  <a:srgbClr val="415566"/>
                </a:solidFill>
                <a:latin typeface="Arial"/>
                <a:ea typeface="Arial"/>
                <a:cs typeface="Arial"/>
              </a:rPr>
              <a:t>Residuals show uneven spread and a long upper tail.</a:t>
            </a:r>
          </a:p>
        </p:txBody>
      </p:sp>
      <p:sp>
        <p:nvSpPr>
          <p:cNvPr id="13" name="">
            <a:extLst xmlns:a="http://schemas.openxmlformats.org/drawingml/2006/main">
              <a:ext uri="{FF2B5EF4-FFF2-40B4-BE49-F238E27FC236}">
                <a16:creationId xmlns:a16="http://schemas.microsoft.com/office/drawing/2014/main" id="{B234EE16-1838-4A55-8286-D65E47A54F1A}"/>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4" name="text">
            <a:extLst xmlns:a="http://schemas.openxmlformats.org/drawingml/2006/main">
              <a:ext uri="{FF2B5EF4-FFF2-40B4-BE49-F238E27FC236}">
                <a16:creationId xmlns:a16="http://schemas.microsoft.com/office/drawing/2014/main" id="{BDD72085-71C1-427E-A9EE-C9FCD313B5D6}"/>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Age, activity, income and education relate to BMI. The model explains only a small share of variation.</a:t>
            </a:r>
          </a:p>
        </p:txBody>
      </p:sp>
      <p:sp>
        <p:nvSpPr>
          <p:cNvPr id="15" name="text">
            <a:extLst xmlns:a="http://schemas.openxmlformats.org/drawingml/2006/main">
              <a:ext uri="{FF2B5EF4-FFF2-40B4-BE49-F238E27FC236}">
                <a16:creationId xmlns:a16="http://schemas.microsoft.com/office/drawing/2014/main" id="{76AB3F3B-4D0C-406E-ADB2-417317783019}"/>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6 / 10</a:t>
            </a:r>
          </a:p>
        </p:txBody>
      </p:sp>
    </p:spTree>
    <p:extLst>
      <p:ext uri="{BB962C8B-B14F-4D97-AF65-F5344CB8AC3E}">
        <p14:creationId xmlns:p14="http://schemas.microsoft.com/office/powerpoint/2010/main" val="79832145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C768C7D-512C-4CB2-BF35-361B992B152C}"/>
              </a:ext>
            </a:extLst>
          </p:cNvPr>
          <p:cNvSpPr>
            <a:spLocks xmlns:a="http://schemas.openxmlformats.org/drawingml/2006/main" noGrp="1"/>
          </p:cNvSpPr>
          <p:nvPr/>
        </p:nvSpPr>
        <p:spPr>
          <a:xfrm xmlns:a="http://schemas.openxmlformats.org/drawingml/2006/main">
            <a:off x="381000" y="32385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 name="text">
            <a:extLst xmlns:a="http://schemas.openxmlformats.org/drawingml/2006/main">
              <a:ext uri="{FF2B5EF4-FFF2-40B4-BE49-F238E27FC236}">
                <a16:creationId xmlns:a16="http://schemas.microsoft.com/office/drawing/2014/main" id="{BF803647-FCC1-4C04-BCD5-AB67523D67A2}"/>
              </a:ext>
            </a:extLst>
          </p:cNvPr>
          <p:cNvSpPr>
            <a:spLocks xmlns:a="http://schemas.openxmlformats.org/drawingml/2006/main" noGrp="1"/>
          </p:cNvSpPr>
          <p:nvPr/>
        </p:nvSpPr>
        <p:spPr>
          <a:xfrm xmlns:a="http://schemas.openxmlformats.org/drawingml/2006/main">
            <a:off x="590550" y="28575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83044"/>
                </a:solidFill>
                <a:latin typeface="Arial"/>
                <a:ea typeface="Arial"/>
                <a:cs typeface="Arial"/>
              </a:defRPr>
            </a:defPPr>
          </a:lstStyle>
          <a:p xmlns:a="http://schemas.openxmlformats.org/drawingml/2006/main">
            <a:pPr>
              <a:defRPr sz="3000" b="1">
                <a:solidFill>
                  <a:srgbClr val="183044"/>
                </a:solidFill>
                <a:latin typeface="Arial"/>
                <a:ea typeface="Arial"/>
                <a:cs typeface="Arial"/>
              </a:defRPr>
            </a:pPr>
            <a:r>
              <a:rPr sz="3000" b="1">
                <a:solidFill>
                  <a:srgbClr val="183044"/>
                </a:solidFill>
                <a:latin typeface="Arial"/>
                <a:ea typeface="Arial"/>
                <a:cs typeface="Arial"/>
              </a:rPr>
              <a:t>Fitting probability distributions</a:t>
            </a:r>
          </a:p>
        </p:txBody>
      </p:sp>
      <p:sp>
        <p:nvSpPr>
          <p:cNvPr id="3" name="text">
            <a:extLst xmlns:a="http://schemas.openxmlformats.org/drawingml/2006/main">
              <a:ext uri="{FF2B5EF4-FFF2-40B4-BE49-F238E27FC236}">
                <a16:creationId xmlns:a16="http://schemas.microsoft.com/office/drawing/2014/main" id="{82DAB920-D53C-4EAD-AEF0-40FBD6204422}"/>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Compare the observed pattern with the pattern each model expects.</a:t>
            </a:r>
          </a:p>
        </p:txBody>
      </p:sp>
      <p:sp>
        <p:nvSpPr>
          <p:cNvPr id="4" name="text">
            <a:extLst xmlns:a="http://schemas.openxmlformats.org/drawingml/2006/main">
              <a:ext uri="{FF2B5EF4-FFF2-40B4-BE49-F238E27FC236}">
                <a16:creationId xmlns:a16="http://schemas.microsoft.com/office/drawing/2014/main" id="{64633D17-A507-4E1D-8613-9E0D366D528C}"/>
              </a:ext>
            </a:extLst>
          </p:cNvPr>
          <p:cNvSpPr>
            <a:spLocks xmlns:a="http://schemas.openxmlformats.org/drawingml/2006/main" noGrp="1"/>
          </p:cNvSpPr>
          <p:nvPr/>
        </p:nvSpPr>
        <p:spPr>
          <a:xfrm xmlns:a="http://schemas.openxmlformats.org/drawingml/2006/main">
            <a:off x="400050" y="1600200"/>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6D8C"/>
                </a:solidFill>
                <a:latin typeface="Arial"/>
                <a:ea typeface="Arial"/>
                <a:cs typeface="Arial"/>
              </a:defRPr>
            </a:defPPr>
          </a:lstStyle>
          <a:p xmlns:a="http://schemas.openxmlformats.org/drawingml/2006/main">
            <a:pPr>
              <a:defRPr sz="2100" b="1">
                <a:solidFill>
                  <a:srgbClr val="176D8C"/>
                </a:solidFill>
                <a:latin typeface="Arial"/>
                <a:ea typeface="Arial"/>
                <a:cs typeface="Arial"/>
              </a:defRPr>
            </a:pPr>
            <a:r>
              <a:rPr sz="2100" b="1">
                <a:solidFill>
                  <a:srgbClr val="176D8C"/>
                </a:solidFill>
                <a:latin typeface="Arial"/>
                <a:ea typeface="Arial"/>
                <a:cs typeface="Arial"/>
              </a:rPr>
              <a:t>Binomial</a:t>
            </a:r>
          </a:p>
        </p:txBody>
      </p:sp>
      <p:sp>
        <p:nvSpPr>
          <p:cNvPr id="5" name="text">
            <a:extLst xmlns:a="http://schemas.openxmlformats.org/drawingml/2006/main">
              <a:ext uri="{FF2B5EF4-FFF2-40B4-BE49-F238E27FC236}">
                <a16:creationId xmlns:a16="http://schemas.microsoft.com/office/drawing/2014/main" id="{4B8C61EE-2FDA-4F2B-89E8-83ABC95B9D25}"/>
              </a:ext>
            </a:extLst>
          </p:cNvPr>
          <p:cNvSpPr>
            <a:spLocks xmlns:a="http://schemas.openxmlformats.org/drawingml/2006/main" noGrp="1"/>
          </p:cNvSpPr>
          <p:nvPr/>
        </p:nvSpPr>
        <p:spPr>
          <a:xfrm xmlns:a="http://schemas.openxmlformats.org/drawingml/2006/main">
            <a:off x="400050" y="2085975"/>
            <a:ext cx="3581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Positive cases in groups of 10.</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p = 0.156, 300 groups.</a:t>
            </a:r>
          </a:p>
        </p:txBody>
      </p:sp>
      <p:sp>
        <p:nvSpPr>
          <p:cNvPr id="6" name="text">
            <a:extLst xmlns:a="http://schemas.openxmlformats.org/drawingml/2006/main">
              <a:ext uri="{FF2B5EF4-FFF2-40B4-BE49-F238E27FC236}">
                <a16:creationId xmlns:a16="http://schemas.microsoft.com/office/drawing/2014/main" id="{0B73FD39-032B-46D8-8A0E-CD634B91DF7E}"/>
              </a:ext>
            </a:extLst>
          </p:cNvPr>
          <p:cNvSpPr>
            <a:spLocks xmlns:a="http://schemas.openxmlformats.org/drawingml/2006/main" noGrp="1"/>
          </p:cNvSpPr>
          <p:nvPr/>
        </p:nvSpPr>
        <p:spPr>
          <a:xfrm xmlns:a="http://schemas.openxmlformats.org/drawingml/2006/main">
            <a:off x="400050" y="5305425"/>
            <a:ext cx="3581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Test p = 0.962</a:t>
            </a:r>
          </a:p>
        </p:txBody>
      </p:sp>
      <p:sp>
        <p:nvSpPr>
          <p:cNvPr id="7" name="text">
            <a:extLst xmlns:a="http://schemas.openxmlformats.org/drawingml/2006/main">
              <a:ext uri="{FF2B5EF4-FFF2-40B4-BE49-F238E27FC236}">
                <a16:creationId xmlns:a16="http://schemas.microsoft.com/office/drawing/2014/main" id="{78D4EDC9-0A2F-4E42-9A2F-ECD4F8B69A2A}"/>
              </a:ext>
            </a:extLst>
          </p:cNvPr>
          <p:cNvSpPr>
            <a:spLocks xmlns:a="http://schemas.openxmlformats.org/drawingml/2006/main" noGrp="1"/>
          </p:cNvSpPr>
          <p:nvPr/>
        </p:nvSpPr>
        <p:spPr>
          <a:xfrm xmlns:a="http://schemas.openxmlformats.org/drawingml/2006/main">
            <a:off x="400050" y="5648325"/>
            <a:ext cx="3581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Fits the grouped counts reasonably.</a:t>
            </a:r>
          </a:p>
        </p:txBody>
      </p:sp>
      <p:sp>
        <p:nvSpPr>
          <p:cNvPr id="8" name="text">
            <a:extLst xmlns:a="http://schemas.openxmlformats.org/drawingml/2006/main">
              <a:ext uri="{FF2B5EF4-FFF2-40B4-BE49-F238E27FC236}">
                <a16:creationId xmlns:a16="http://schemas.microsoft.com/office/drawing/2014/main" id="{EF870161-5676-4CE4-BEF4-BF06A2339A9D}"/>
              </a:ext>
            </a:extLst>
          </p:cNvPr>
          <p:cNvSpPr>
            <a:spLocks xmlns:a="http://schemas.openxmlformats.org/drawingml/2006/main" noGrp="1"/>
          </p:cNvSpPr>
          <p:nvPr/>
        </p:nvSpPr>
        <p:spPr>
          <a:xfrm xmlns:a="http://schemas.openxmlformats.org/drawingml/2006/main">
            <a:off x="4276725" y="1600200"/>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6D8C"/>
                </a:solidFill>
                <a:latin typeface="Arial"/>
                <a:ea typeface="Arial"/>
                <a:cs typeface="Arial"/>
              </a:defRPr>
            </a:defPPr>
          </a:lstStyle>
          <a:p xmlns:a="http://schemas.openxmlformats.org/drawingml/2006/main">
            <a:pPr>
              <a:defRPr sz="2100" b="1">
                <a:solidFill>
                  <a:srgbClr val="176D8C"/>
                </a:solidFill>
                <a:latin typeface="Arial"/>
                <a:ea typeface="Arial"/>
                <a:cs typeface="Arial"/>
              </a:defRPr>
            </a:pPr>
            <a:r>
              <a:rPr sz="2100" b="1">
                <a:solidFill>
                  <a:srgbClr val="176D8C"/>
                </a:solidFill>
                <a:latin typeface="Arial"/>
                <a:ea typeface="Arial"/>
                <a:cs typeface="Arial"/>
              </a:rPr>
              <a:t>Normal</a:t>
            </a:r>
          </a:p>
        </p:txBody>
      </p:sp>
      <p:sp>
        <p:nvSpPr>
          <p:cNvPr id="9" name="text">
            <a:extLst xmlns:a="http://schemas.openxmlformats.org/drawingml/2006/main">
              <a:ext uri="{FF2B5EF4-FFF2-40B4-BE49-F238E27FC236}">
                <a16:creationId xmlns:a16="http://schemas.microsoft.com/office/drawing/2014/main" id="{A95A0BBA-76AC-44B9-941E-D6063F26F09F}"/>
              </a:ext>
            </a:extLst>
          </p:cNvPr>
          <p:cNvSpPr>
            <a:spLocks xmlns:a="http://schemas.openxmlformats.org/drawingml/2006/main" noGrp="1"/>
          </p:cNvSpPr>
          <p:nvPr/>
        </p:nvSpPr>
        <p:spPr>
          <a:xfrm xmlns:a="http://schemas.openxmlformats.org/drawingml/2006/main">
            <a:off x="4276725" y="2085975"/>
            <a:ext cx="3581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BMI: mean 28.40, SD 6.35.</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The curve misses the long tail.</a:t>
            </a:r>
          </a:p>
        </p:txBody>
      </p:sp>
      <p:sp>
        <p:nvSpPr>
          <p:cNvPr id="10" name="text">
            <a:extLst xmlns:a="http://schemas.openxmlformats.org/drawingml/2006/main">
              <a:ext uri="{FF2B5EF4-FFF2-40B4-BE49-F238E27FC236}">
                <a16:creationId xmlns:a16="http://schemas.microsoft.com/office/drawing/2014/main" id="{D4873309-4AEB-4261-994A-5F0A351B7776}"/>
              </a:ext>
            </a:extLst>
          </p:cNvPr>
          <p:cNvSpPr>
            <a:spLocks xmlns:a="http://schemas.openxmlformats.org/drawingml/2006/main" noGrp="1"/>
          </p:cNvSpPr>
          <p:nvPr/>
        </p:nvSpPr>
        <p:spPr>
          <a:xfrm xmlns:a="http://schemas.openxmlformats.org/drawingml/2006/main">
            <a:off x="4276725" y="5305425"/>
            <a:ext cx="3581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Test p &lt; 0.001</a:t>
            </a:r>
          </a:p>
        </p:txBody>
      </p:sp>
      <p:sp>
        <p:nvSpPr>
          <p:cNvPr id="11" name="text">
            <a:extLst xmlns:a="http://schemas.openxmlformats.org/drawingml/2006/main">
              <a:ext uri="{FF2B5EF4-FFF2-40B4-BE49-F238E27FC236}">
                <a16:creationId xmlns:a16="http://schemas.microsoft.com/office/drawing/2014/main" id="{87B3343D-8FD8-4EA0-B397-EFA3E29EAEB3}"/>
              </a:ext>
            </a:extLst>
          </p:cNvPr>
          <p:cNvSpPr>
            <a:spLocks xmlns:a="http://schemas.openxmlformats.org/drawingml/2006/main" noGrp="1"/>
          </p:cNvSpPr>
          <p:nvPr/>
        </p:nvSpPr>
        <p:spPr>
          <a:xfrm xmlns:a="http://schemas.openxmlformats.org/drawingml/2006/main">
            <a:off x="4276725" y="5648325"/>
            <a:ext cx="3581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BMI is not normally distributed.</a:t>
            </a:r>
          </a:p>
        </p:txBody>
      </p:sp>
      <p:sp>
        <p:nvSpPr>
          <p:cNvPr id="12" name="text">
            <a:extLst xmlns:a="http://schemas.openxmlformats.org/drawingml/2006/main">
              <a:ext uri="{FF2B5EF4-FFF2-40B4-BE49-F238E27FC236}">
                <a16:creationId xmlns:a16="http://schemas.microsoft.com/office/drawing/2014/main" id="{9DB8E838-A7F1-4D7F-8EE7-63A00668ED62}"/>
              </a:ext>
            </a:extLst>
          </p:cNvPr>
          <p:cNvSpPr>
            <a:spLocks xmlns:a="http://schemas.openxmlformats.org/drawingml/2006/main" noGrp="1"/>
          </p:cNvSpPr>
          <p:nvPr/>
        </p:nvSpPr>
        <p:spPr>
          <a:xfrm xmlns:a="http://schemas.openxmlformats.org/drawingml/2006/main">
            <a:off x="8153400" y="1600200"/>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6D8C"/>
                </a:solidFill>
                <a:latin typeface="Arial"/>
                <a:ea typeface="Arial"/>
                <a:cs typeface="Arial"/>
              </a:defRPr>
            </a:defPPr>
          </a:lstStyle>
          <a:p xmlns:a="http://schemas.openxmlformats.org/drawingml/2006/main">
            <a:pPr>
              <a:defRPr sz="2100" b="1">
                <a:solidFill>
                  <a:srgbClr val="176D8C"/>
                </a:solidFill>
                <a:latin typeface="Arial"/>
                <a:ea typeface="Arial"/>
                <a:cs typeface="Arial"/>
              </a:defRPr>
            </a:pPr>
            <a:r>
              <a:rPr sz="2100" b="1">
                <a:solidFill>
                  <a:srgbClr val="176D8C"/>
                </a:solidFill>
                <a:latin typeface="Arial"/>
                <a:ea typeface="Arial"/>
                <a:cs typeface="Arial"/>
              </a:rPr>
              <a:t>Poisson</a:t>
            </a:r>
          </a:p>
        </p:txBody>
      </p:sp>
      <p:sp>
        <p:nvSpPr>
          <p:cNvPr id="13" name="text">
            <a:extLst xmlns:a="http://schemas.openxmlformats.org/drawingml/2006/main">
              <a:ext uri="{FF2B5EF4-FFF2-40B4-BE49-F238E27FC236}">
                <a16:creationId xmlns:a16="http://schemas.microsoft.com/office/drawing/2014/main" id="{83F910E1-EA98-4A69-BBC7-621C577785A6}"/>
              </a:ext>
            </a:extLst>
          </p:cNvPr>
          <p:cNvSpPr>
            <a:spLocks xmlns:a="http://schemas.openxmlformats.org/drawingml/2006/main" noGrp="1"/>
          </p:cNvSpPr>
          <p:nvPr/>
        </p:nvSpPr>
        <p:spPr>
          <a:xfrm xmlns:a="http://schemas.openxmlformats.org/drawingml/2006/main">
            <a:off x="8153400" y="2085975"/>
            <a:ext cx="3581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Physical-health days: mean 4.15,</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variance 74.24. Many zeros.</a:t>
            </a:r>
          </a:p>
        </p:txBody>
      </p:sp>
      <p:sp>
        <p:nvSpPr>
          <p:cNvPr id="14" name="text">
            <a:extLst xmlns:a="http://schemas.openxmlformats.org/drawingml/2006/main">
              <a:ext uri="{FF2B5EF4-FFF2-40B4-BE49-F238E27FC236}">
                <a16:creationId xmlns:a16="http://schemas.microsoft.com/office/drawing/2014/main" id="{8A741DA0-9C37-43B9-ABB5-80CFCAC0F754}"/>
              </a:ext>
            </a:extLst>
          </p:cNvPr>
          <p:cNvSpPr>
            <a:spLocks xmlns:a="http://schemas.openxmlformats.org/drawingml/2006/main" noGrp="1"/>
          </p:cNvSpPr>
          <p:nvPr/>
        </p:nvSpPr>
        <p:spPr>
          <a:xfrm xmlns:a="http://schemas.openxmlformats.org/drawingml/2006/main">
            <a:off x="8153400" y="5305425"/>
            <a:ext cx="3581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Test p &lt; 0.001</a:t>
            </a:r>
          </a:p>
        </p:txBody>
      </p:sp>
      <p:sp>
        <p:nvSpPr>
          <p:cNvPr id="15" name="text">
            <a:extLst xmlns:a="http://schemas.openxmlformats.org/drawingml/2006/main">
              <a:ext uri="{FF2B5EF4-FFF2-40B4-BE49-F238E27FC236}">
                <a16:creationId xmlns:a16="http://schemas.microsoft.com/office/drawing/2014/main" id="{16D5EDC2-586B-4F74-BA6A-6389386E3180}"/>
              </a:ext>
            </a:extLst>
          </p:cNvPr>
          <p:cNvSpPr>
            <a:spLocks xmlns:a="http://schemas.openxmlformats.org/drawingml/2006/main" noGrp="1"/>
          </p:cNvSpPr>
          <p:nvPr/>
        </p:nvSpPr>
        <p:spPr>
          <a:xfrm xmlns:a="http://schemas.openxmlformats.org/drawingml/2006/main">
            <a:off x="8153400" y="5648325"/>
            <a:ext cx="3581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Variance is far above the mean.</a:t>
            </a:r>
          </a:p>
        </p:txBody>
      </p:sp>
      <p:graphicFrame>
        <p:nvGraphicFramePr>
          <p:cNvPr id="16" name="Chart">
            <a:extLst xmlns:a="http://schemas.openxmlformats.org/drawingml/2006/main">
              <a:ext uri="{FF2B5EF4-FFF2-40B4-BE49-F238E27FC236}">
                <a16:creationId xmlns:a16="http://schemas.microsoft.com/office/drawing/2014/main" id="{D3C35E77-C3DA-4CB7-AB8F-1B7AA129E1CA}"/>
              </a:ext>
            </a:extLst>
          </p:cNvPr>
          <p:cNvGraphicFramePr/>
          <p:nvPr/>
        </p:nvGraphicFramePr>
        <p:xfrm>
          <a:off xmlns:a="http://schemas.openxmlformats.org/drawingml/2006/main" x="257175" y="2867025"/>
          <a:ext xmlns:a="http://schemas.openxmlformats.org/drawingml/2006/main" cx="3657600" cy="2200275"/>
        </p:xfrm>
        <a:graphic xmlns:a="http://schemas.openxmlformats.org/drawingml/2006/main">
          <a:graphicData uri="http://schemas.openxmlformats.org/drawingml/2006/chart">
            <c:chart xmlns:r="http://schemas.openxmlformats.org/officeDocument/2006/relationships" xmlns:c="http://schemas.openxmlformats.org/drawingml/2006/chart" r:id="Rcdedcb9325e54c2c"/>
          </a:graphicData>
        </a:graphic>
      </p:graphicFrame>
      <p:pic>
        <p:nvPicPr>
          <p:cNvPr id="17" name="">
            <a:extLst xmlns:a="http://schemas.openxmlformats.org/drawingml/2006/main">
              <a:ext uri="{FF2B5EF4-FFF2-40B4-BE49-F238E27FC236}">
                <a16:creationId xmlns:a16="http://schemas.microsoft.com/office/drawing/2014/main" id="{9E10CAD7-E9FD-480F-9C21-8A7167741F33}"/>
              </a:ext>
            </a:extLst>
          </p:cNvPr>
          <p:cNvPicPr>
            <a:picLocks xmlns:a="http://schemas.openxmlformats.org/drawingml/2006/main" noChangeAspect="1"/>
          </p:cNvPicPr>
          <p:nvPr/>
        </p:nvPicPr>
        <p:blipFill>
          <a:blip xmlns:r="http://schemas.openxmlformats.org/officeDocument/2006/relationships" xmlns:a="http://schemas.openxmlformats.org/drawingml/2006/main" r:embed="R2274a93b40d74d56"/>
          <a:stretch xmlns:a="http://schemas.openxmlformats.org/drawingml/2006/main"/>
        </p:blipFill>
        <p:spPr>
          <a:xfrm xmlns:a="http://schemas.openxmlformats.org/drawingml/2006/main">
            <a:off x="4276725" y="2771775"/>
            <a:ext cx="3524250" cy="2457450"/>
          </a:xfrm>
          <a:prstGeom xmlns:a="http://schemas.openxmlformats.org/drawingml/2006/main" prst="rect">
            <a:avLst/>
          </a:prstGeom>
        </p:spPr>
      </p:pic>
      <p:graphicFrame>
        <p:nvGraphicFramePr>
          <p:cNvPr id="18" name="Chart">
            <a:extLst xmlns:a="http://schemas.openxmlformats.org/drawingml/2006/main">
              <a:ext uri="{FF2B5EF4-FFF2-40B4-BE49-F238E27FC236}">
                <a16:creationId xmlns:a16="http://schemas.microsoft.com/office/drawing/2014/main" id="{BBFB6B6F-A2A9-4101-A3A0-7F876DCB910C}"/>
              </a:ext>
            </a:extLst>
          </p:cNvPr>
          <p:cNvGraphicFramePr/>
          <p:nvPr/>
        </p:nvGraphicFramePr>
        <p:xfrm>
          <a:off xmlns:a="http://schemas.openxmlformats.org/drawingml/2006/main" x="8124825" y="2867025"/>
          <a:ext xmlns:a="http://schemas.openxmlformats.org/drawingml/2006/main" cx="3714750" cy="2200275"/>
        </p:xfrm>
        <a:graphic xmlns:a="http://schemas.openxmlformats.org/drawingml/2006/main">
          <a:graphicData uri="http://schemas.openxmlformats.org/drawingml/2006/chart">
            <c:chart xmlns:r="http://schemas.openxmlformats.org/officeDocument/2006/relationships" xmlns:c="http://schemas.openxmlformats.org/drawingml/2006/chart" r:id="R4629f3ac98d14d7f"/>
          </a:graphicData>
        </a:graphic>
      </p:graphicFrame>
      <p:sp>
        <p:nvSpPr>
          <p:cNvPr id="19" name="">
            <a:extLst xmlns:a="http://schemas.openxmlformats.org/drawingml/2006/main">
              <a:ext uri="{FF2B5EF4-FFF2-40B4-BE49-F238E27FC236}">
                <a16:creationId xmlns:a16="http://schemas.microsoft.com/office/drawing/2014/main" id="{F184F799-C39C-4F1E-A633-3A000040C564}"/>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0" name="text">
            <a:extLst xmlns:a="http://schemas.openxmlformats.org/drawingml/2006/main">
              <a:ext uri="{FF2B5EF4-FFF2-40B4-BE49-F238E27FC236}">
                <a16:creationId xmlns:a16="http://schemas.microsoft.com/office/drawing/2014/main" id="{F88AD064-ACCB-49B9-9311-0957228D1498}"/>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A useful analysis explains why a model fits or fails.</a:t>
            </a:r>
          </a:p>
        </p:txBody>
      </p:sp>
      <p:sp>
        <p:nvSpPr>
          <p:cNvPr id="21" name="text">
            <a:extLst xmlns:a="http://schemas.openxmlformats.org/drawingml/2006/main">
              <a:ext uri="{FF2B5EF4-FFF2-40B4-BE49-F238E27FC236}">
                <a16:creationId xmlns:a16="http://schemas.microsoft.com/office/drawing/2014/main" id="{35391A8A-3E22-4D24-9B86-45777AACF827}"/>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7 / 10</a:t>
            </a:r>
          </a:p>
        </p:txBody>
      </p:sp>
    </p:spTree>
    <p:extLst>
      <p:ext uri="{BB962C8B-B14F-4D97-AF65-F5344CB8AC3E}">
        <p14:creationId xmlns:p14="http://schemas.microsoft.com/office/powerpoint/2010/main" val="157450857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AD91302-E160-40A9-A45F-FCDA66DDA458}"/>
              </a:ext>
            </a:extLst>
          </p:cNvPr>
          <p:cNvSpPr>
            <a:spLocks xmlns:a="http://schemas.openxmlformats.org/drawingml/2006/main" noGrp="1"/>
          </p:cNvSpPr>
          <p:nvPr/>
        </p:nvSpPr>
        <p:spPr>
          <a:xfrm xmlns:a="http://schemas.openxmlformats.org/drawingml/2006/main">
            <a:off x="381000" y="32385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 name="text">
            <a:extLst xmlns:a="http://schemas.openxmlformats.org/drawingml/2006/main">
              <a:ext uri="{FF2B5EF4-FFF2-40B4-BE49-F238E27FC236}">
                <a16:creationId xmlns:a16="http://schemas.microsoft.com/office/drawing/2014/main" id="{29F69EFD-3A4A-4797-A06C-C8DECBB8B924}"/>
              </a:ext>
            </a:extLst>
          </p:cNvPr>
          <p:cNvSpPr>
            <a:spLocks xmlns:a="http://schemas.openxmlformats.org/drawingml/2006/main" noGrp="1"/>
          </p:cNvSpPr>
          <p:nvPr/>
        </p:nvSpPr>
        <p:spPr>
          <a:xfrm xmlns:a="http://schemas.openxmlformats.org/drawingml/2006/main">
            <a:off x="590550" y="28575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83044"/>
                </a:solidFill>
                <a:latin typeface="Arial"/>
                <a:ea typeface="Arial"/>
                <a:cs typeface="Arial"/>
              </a:defRPr>
            </a:defPPr>
          </a:lstStyle>
          <a:p xmlns:a="http://schemas.openxmlformats.org/drawingml/2006/main">
            <a:pPr>
              <a:defRPr sz="3000" b="1">
                <a:solidFill>
                  <a:srgbClr val="183044"/>
                </a:solidFill>
                <a:latin typeface="Arial"/>
                <a:ea typeface="Arial"/>
                <a:cs typeface="Arial"/>
              </a:defRPr>
            </a:pPr>
            <a:r>
              <a:rPr sz="3000" b="1">
                <a:solidFill>
                  <a:srgbClr val="183044"/>
                </a:solidFill>
                <a:latin typeface="Arial"/>
                <a:ea typeface="Arial"/>
                <a:cs typeface="Arial"/>
              </a:rPr>
              <a:t>Hypothesis tests and paired measurements</a:t>
            </a:r>
          </a:p>
        </p:txBody>
      </p:sp>
      <p:sp>
        <p:nvSpPr>
          <p:cNvPr id="3" name="text">
            <a:extLst xmlns:a="http://schemas.openxmlformats.org/drawingml/2006/main">
              <a:ext uri="{FF2B5EF4-FFF2-40B4-BE49-F238E27FC236}">
                <a16:creationId xmlns:a16="http://schemas.microsoft.com/office/drawing/2014/main" id="{A5660DC3-8B48-4F34-B37D-EC1C8DA2CAF3}"/>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At α = 0.05, p &lt; 0.05 supports a difference. Read the size of the change too.</a:t>
            </a:r>
          </a:p>
        </p:txBody>
      </p:sp>
      <p:sp>
        <p:nvSpPr>
          <p:cNvPr id="4" name="text">
            <a:extLst xmlns:a="http://schemas.openxmlformats.org/drawingml/2006/main">
              <a:ext uri="{FF2B5EF4-FFF2-40B4-BE49-F238E27FC236}">
                <a16:creationId xmlns:a16="http://schemas.microsoft.com/office/drawing/2014/main" id="{01696E8F-B3EE-4AAF-B6BD-F53A49ADB51E}"/>
              </a:ext>
            </a:extLst>
          </p:cNvPr>
          <p:cNvSpPr>
            <a:spLocks xmlns:a="http://schemas.openxmlformats.org/drawingml/2006/main" noGrp="1"/>
          </p:cNvSpPr>
          <p:nvPr/>
        </p:nvSpPr>
        <p:spPr>
          <a:xfrm xmlns:a="http://schemas.openxmlformats.org/drawingml/2006/main">
            <a:off x="400050" y="1533525"/>
            <a:ext cx="7753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Six questions, six test results</a:t>
            </a:r>
          </a:p>
        </p:txBody>
      </p:sp>
      <p:graphicFrame>
        <p:nvGraphicFramePr>
          <p:cNvPr id="5" name="">
            <a:extLst xmlns:a="http://schemas.openxmlformats.org/drawingml/2006/main">
              <a:ext uri="{FF2B5EF4-FFF2-40B4-BE49-F238E27FC236}">
                <a16:creationId xmlns:a16="http://schemas.microsoft.com/office/drawing/2014/main" id="{3062D222-3900-44CC-BD49-5EFE985288BB}"/>
              </a:ext>
            </a:extLst>
          </p:cNvPr>
          <p:cNvGraphicFramePr/>
          <p:nvPr/>
        </p:nvGraphicFramePr>
        <p:xfrm>
          <a:off xmlns:a="http://schemas.openxmlformats.org/drawingml/2006/main" x="400050" y="2038350"/>
          <a:ext xmlns:a="http://schemas.openxmlformats.org/drawingml/2006/main" cx="7762875" cy="3171825"/>
        </p:xfrm>
        <a:graphic xmlns:a="http://schemas.openxmlformats.org/drawingml/2006/main">
          <a:graphicData uri="http://schemas.openxmlformats.org/drawingml/2006/table">
            <a:tbl>
              <a:tblPr/>
              <a:tblGrid>
                <a:gridCol w="3238500"/>
                <a:gridCol w="1724025"/>
                <a:gridCol w="1876425"/>
                <a:gridCol w="923925"/>
              </a:tblGrid>
              <a:tr h="453118">
                <a:tc>
                  <a:txBody>
                    <a:bodyPr>
                      <a:noAutofit/>
                    </a:bodyPr>
                    <a:lstStyle/>
                    <a:p>
                      <a:pPr algn="l"/>
                      <a:r>
                        <a:rPr sz="1500" b="1">
                          <a:solidFill>
                            <a:srgbClr val="FFFFFF"/>
                          </a:solidFill>
                          <a:latin typeface="Arial"/>
                          <a:ea typeface="Arial"/>
                          <a:cs typeface="Arial"/>
                        </a:rPr>
                        <a:t>Question / comparison</a:t>
                      </a:r>
                    </a:p>
                  </a:txBody>
                  <a:tcPr marL="91440" marR="91440" marT="45720" marB="45720">
                    <a:solidFill>
                      <a:srgbClr val="176D8C"/>
                    </a:solidFill>
                  </a:tcPr>
                </a:tc>
                <a:tc>
                  <a:txBody>
                    <a:bodyPr>
                      <a:noAutofit/>
                    </a:bodyPr>
                    <a:lstStyle/>
                    <a:p>
                      <a:pPr algn="ctr"/>
                      <a:r>
                        <a:rPr sz="1500" b="1">
                          <a:solidFill>
                            <a:srgbClr val="FFFFFF"/>
                          </a:solidFill>
                          <a:latin typeface="Arial"/>
                          <a:ea typeface="Arial"/>
                          <a:cs typeface="Arial"/>
                        </a:rPr>
                        <a:t>Method</a:t>
                      </a:r>
                    </a:p>
                  </a:txBody>
                  <a:tcPr marL="91440" marR="91440" marT="45720" marB="45720">
                    <a:solidFill>
                      <a:srgbClr val="176D8C"/>
                    </a:solidFill>
                  </a:tcPr>
                </a:tc>
                <a:tc>
                  <a:txBody>
                    <a:bodyPr>
                      <a:noAutofit/>
                    </a:bodyPr>
                    <a:lstStyle/>
                    <a:p>
                      <a:pPr algn="ctr"/>
                      <a:r>
                        <a:rPr sz="1500" b="1">
                          <a:solidFill>
                            <a:srgbClr val="FFFFFF"/>
                          </a:solidFill>
                          <a:latin typeface="Arial"/>
                          <a:ea typeface="Arial"/>
                          <a:cs typeface="Arial"/>
                        </a:rPr>
                        <a:t>Result</a:t>
                      </a:r>
                    </a:p>
                  </a:txBody>
                  <a:tcPr marL="91440" marR="91440" marT="45720" marB="45720">
                    <a:solidFill>
                      <a:srgbClr val="176D8C"/>
                    </a:solidFill>
                  </a:tcPr>
                </a:tc>
                <a:tc>
                  <a:txBody>
                    <a:bodyPr>
                      <a:noAutofit/>
                    </a:bodyPr>
                    <a:lstStyle/>
                    <a:p>
                      <a:pPr algn="ctr"/>
                      <a:r>
                        <a:rPr sz="1500" b="1">
                          <a:solidFill>
                            <a:srgbClr val="FFFFFF"/>
                          </a:solidFill>
                          <a:latin typeface="Arial"/>
                          <a:ea typeface="Arial"/>
                          <a:cs typeface="Arial"/>
                        </a:rPr>
                        <a:t>p</a:t>
                      </a:r>
                    </a:p>
                  </a:txBody>
                  <a:tcPr marL="91440" marR="91440" marT="45720" marB="45720">
                    <a:solidFill>
                      <a:srgbClr val="176D8C"/>
                    </a:solidFill>
                  </a:tcPr>
                </a:tc>
              </a:tr>
              <a:tr h="453118">
                <a:tc>
                  <a:txBody>
                    <a:bodyPr>
                      <a:noAutofit/>
                    </a:bodyPr>
                    <a:lstStyle/>
                    <a:p>
                      <a:pPr algn="l"/>
                      <a:r>
                        <a:rPr sz="1500" b="0">
                          <a:solidFill>
                            <a:srgbClr val="183044"/>
                          </a:solidFill>
                          <a:latin typeface="Arial"/>
                          <a:ea typeface="Arial"/>
                          <a:cs typeface="Arial"/>
                        </a:rPr>
                        <a:t>Mean BMI vs 27</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One-sample t</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28.40</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&lt;0.001</a:t>
                      </a:r>
                    </a:p>
                  </a:txBody>
                  <a:tcPr marL="91440" marR="91440" marT="45720" marB="45720">
                    <a:solidFill>
                      <a:srgbClr val="FFFFFF"/>
                    </a:solidFill>
                  </a:tcPr>
                </a:tc>
              </a:tr>
              <a:tr h="453118">
                <a:tc>
                  <a:txBody>
                    <a:bodyPr>
                      <a:noAutofit/>
                    </a:bodyPr>
                    <a:lstStyle/>
                    <a:p>
                      <a:pPr algn="l"/>
                      <a:r>
                        <a:rPr sz="1500" b="0">
                          <a:solidFill>
                            <a:srgbClr val="183044"/>
                          </a:solidFill>
                          <a:latin typeface="Arial"/>
                          <a:ea typeface="Arial"/>
                          <a:cs typeface="Arial"/>
                        </a:rPr>
                        <a:t>Positive share vs 11%</a:t>
                      </a:r>
                    </a:p>
                  </a:txBody>
                  <a:tcPr marL="91440" marR="91440" marT="45720" marB="45720">
                    <a:solidFill>
                      <a:srgbClr val="EAF2F5"/>
                    </a:solidFill>
                  </a:tcPr>
                </a:tc>
                <a:tc>
                  <a:txBody>
                    <a:bodyPr>
                      <a:noAutofit/>
                    </a:bodyPr>
                    <a:lstStyle/>
                    <a:p>
                      <a:pPr algn="ctr"/>
                      <a:r>
                        <a:rPr sz="1500" b="0">
                          <a:solidFill>
                            <a:srgbClr val="183044"/>
                          </a:solidFill>
                          <a:latin typeface="Arial"/>
                          <a:ea typeface="Arial"/>
                          <a:cs typeface="Arial"/>
                        </a:rPr>
                        <a:t>One proportion</a:t>
                      </a:r>
                    </a:p>
                  </a:txBody>
                  <a:tcPr marL="91440" marR="91440" marT="45720" marB="45720">
                    <a:solidFill>
                      <a:srgbClr val="EAF2F5"/>
                    </a:solidFill>
                  </a:tcPr>
                </a:tc>
                <a:tc>
                  <a:txBody>
                    <a:bodyPr>
                      <a:noAutofit/>
                    </a:bodyPr>
                    <a:lstStyle/>
                    <a:p>
                      <a:pPr algn="ctr"/>
                      <a:r>
                        <a:rPr sz="1500" b="0">
                          <a:solidFill>
                            <a:srgbClr val="183044"/>
                          </a:solidFill>
                          <a:latin typeface="Arial"/>
                          <a:ea typeface="Arial"/>
                          <a:cs typeface="Arial"/>
                        </a:rPr>
                        <a:t>15.63%</a:t>
                      </a:r>
                    </a:p>
                  </a:txBody>
                  <a:tcPr marL="91440" marR="91440" marT="45720" marB="45720">
                    <a:solidFill>
                      <a:srgbClr val="EAF2F5"/>
                    </a:solidFill>
                  </a:tcPr>
                </a:tc>
                <a:tc>
                  <a:txBody>
                    <a:bodyPr>
                      <a:noAutofit/>
                    </a:bodyPr>
                    <a:lstStyle/>
                    <a:p>
                      <a:pPr algn="ctr"/>
                      <a:r>
                        <a:rPr sz="1500" b="0">
                          <a:solidFill>
                            <a:srgbClr val="183044"/>
                          </a:solidFill>
                          <a:latin typeface="Arial"/>
                          <a:ea typeface="Arial"/>
                          <a:cs typeface="Arial"/>
                        </a:rPr>
                        <a:t>&lt;0.001</a:t>
                      </a:r>
                    </a:p>
                  </a:txBody>
                  <a:tcPr marL="91440" marR="91440" marT="45720" marB="45720">
                    <a:solidFill>
                      <a:srgbClr val="EAF2F5"/>
                    </a:solidFill>
                  </a:tcPr>
                </a:tc>
              </a:tr>
              <a:tr h="453118">
                <a:tc>
                  <a:txBody>
                    <a:bodyPr>
                      <a:noAutofit/>
                    </a:bodyPr>
                    <a:lstStyle/>
                    <a:p>
                      <a:pPr algn="l"/>
                      <a:r>
                        <a:rPr sz="1500" b="0">
                          <a:solidFill>
                            <a:srgbClr val="183044"/>
                          </a:solidFill>
                          <a:latin typeface="Arial"/>
                          <a:ea typeface="Arial"/>
                          <a:cs typeface="Arial"/>
                        </a:rPr>
                        <a:t>BMI: female − male</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Welch t</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−0.65</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0.004</a:t>
                      </a:r>
                    </a:p>
                  </a:txBody>
                  <a:tcPr marL="91440" marR="91440" marT="45720" marB="45720">
                    <a:solidFill>
                      <a:srgbClr val="FFFFFF"/>
                    </a:solidFill>
                  </a:tcPr>
                </a:tc>
              </a:tr>
              <a:tr h="453118">
                <a:tc>
                  <a:txBody>
                    <a:bodyPr>
                      <a:noAutofit/>
                    </a:bodyPr>
                    <a:lstStyle/>
                    <a:p>
                      <a:pPr algn="l"/>
                      <a:r>
                        <a:rPr sz="1500" b="0">
                          <a:solidFill>
                            <a:srgbClr val="183044"/>
                          </a:solidFill>
                          <a:latin typeface="Arial"/>
                          <a:ea typeface="Arial"/>
                          <a:cs typeface="Arial"/>
                        </a:rPr>
                        <a:t>Positive share: never / ever smoked</a:t>
                      </a:r>
                    </a:p>
                  </a:txBody>
                  <a:tcPr marL="91440" marR="91440" marT="45720" marB="45720">
                    <a:solidFill>
                      <a:srgbClr val="EAF2F5"/>
                    </a:solidFill>
                  </a:tcPr>
                </a:tc>
                <a:tc>
                  <a:txBody>
                    <a:bodyPr>
                      <a:noAutofit/>
                    </a:bodyPr>
                    <a:lstStyle/>
                    <a:p>
                      <a:pPr algn="ctr"/>
                      <a:r>
                        <a:rPr sz="1500" b="0">
                          <a:solidFill>
                            <a:srgbClr val="183044"/>
                          </a:solidFill>
                          <a:latin typeface="Arial"/>
                          <a:ea typeface="Arial"/>
                          <a:cs typeface="Arial"/>
                        </a:rPr>
                        <a:t>Two proportions</a:t>
                      </a:r>
                    </a:p>
                  </a:txBody>
                  <a:tcPr marL="91440" marR="91440" marT="45720" marB="45720">
                    <a:solidFill>
                      <a:srgbClr val="EAF2F5"/>
                    </a:solidFill>
                  </a:tcPr>
                </a:tc>
                <a:tc>
                  <a:txBody>
                    <a:bodyPr>
                      <a:noAutofit/>
                    </a:bodyPr>
                    <a:lstStyle/>
                    <a:p>
                      <a:pPr algn="ctr"/>
                      <a:r>
                        <a:rPr sz="1500" b="0">
                          <a:solidFill>
                            <a:srgbClr val="183044"/>
                          </a:solidFill>
                          <a:latin typeface="Arial"/>
                          <a:ea typeface="Arial"/>
                          <a:cs typeface="Arial"/>
                        </a:rPr>
                        <a:t>14.09% / 17.36%</a:t>
                      </a:r>
                    </a:p>
                  </a:txBody>
                  <a:tcPr marL="91440" marR="91440" marT="45720" marB="45720">
                    <a:solidFill>
                      <a:srgbClr val="EAF2F5"/>
                    </a:solidFill>
                  </a:tcPr>
                </a:tc>
                <a:tc>
                  <a:txBody>
                    <a:bodyPr>
                      <a:noAutofit/>
                    </a:bodyPr>
                    <a:lstStyle/>
                    <a:p>
                      <a:pPr algn="ctr"/>
                      <a:r>
                        <a:rPr sz="1500" b="0">
                          <a:solidFill>
                            <a:srgbClr val="183044"/>
                          </a:solidFill>
                          <a:latin typeface="Arial"/>
                          <a:ea typeface="Arial"/>
                          <a:cs typeface="Arial"/>
                        </a:rPr>
                        <a:t>0.016</a:t>
                      </a:r>
                    </a:p>
                  </a:txBody>
                  <a:tcPr marL="91440" marR="91440" marT="45720" marB="45720">
                    <a:solidFill>
                      <a:srgbClr val="EAF2F5"/>
                    </a:solidFill>
                  </a:tcPr>
                </a:tc>
              </a:tr>
              <a:tr h="453118">
                <a:tc>
                  <a:txBody>
                    <a:bodyPr>
                      <a:noAutofit/>
                    </a:bodyPr>
                    <a:lstStyle/>
                    <a:p>
                      <a:pPr algn="l"/>
                      <a:r>
                        <a:rPr sz="1500" b="0">
                          <a:solidFill>
                            <a:srgbClr val="183044"/>
                          </a:solidFill>
                          <a:latin typeface="Arial"/>
                          <a:ea typeface="Arial"/>
                          <a:cs typeface="Arial"/>
                        </a:rPr>
                        <a:t>Poor-health days: female − male</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Independent t</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+1.25 days</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&lt;0.001</a:t>
                      </a:r>
                    </a:p>
                  </a:txBody>
                  <a:tcPr marL="91440" marR="91440" marT="45720" marB="45720">
                    <a:solidFill>
                      <a:srgbClr val="FFFFFF"/>
                    </a:solidFill>
                  </a:tcPr>
                </a:tc>
              </a:tr>
              <a:tr h="453118">
                <a:tc>
                  <a:txBody>
                    <a:bodyPr>
                      <a:noAutofit/>
                    </a:bodyPr>
                    <a:lstStyle/>
                    <a:p>
                      <a:pPr algn="l"/>
                      <a:r>
                        <a:rPr sz="1500" b="0">
                          <a:solidFill>
                            <a:srgbClr val="183044"/>
                          </a:solidFill>
                          <a:latin typeface="Arial"/>
                          <a:ea typeface="Arial"/>
                          <a:cs typeface="Arial"/>
                        </a:rPr>
                        <a:t>Weight: after − before</a:t>
                      </a:r>
                    </a:p>
                  </a:txBody>
                  <a:tcPr marL="91440" marR="91440" marT="45720" marB="45720">
                    <a:solidFill>
                      <a:srgbClr val="EAF2F5"/>
                    </a:solidFill>
                  </a:tcPr>
                </a:tc>
                <a:tc>
                  <a:txBody>
                    <a:bodyPr>
                      <a:noAutofit/>
                    </a:bodyPr>
                    <a:lstStyle/>
                    <a:p>
                      <a:pPr algn="ctr"/>
                      <a:r>
                        <a:rPr sz="1500" b="0">
                          <a:solidFill>
                            <a:srgbClr val="183044"/>
                          </a:solidFill>
                          <a:latin typeface="Arial"/>
                          <a:ea typeface="Arial"/>
                          <a:cs typeface="Arial"/>
                        </a:rPr>
                        <a:t>Paired t</a:t>
                      </a:r>
                    </a:p>
                  </a:txBody>
                  <a:tcPr marL="91440" marR="91440" marT="45720" marB="45720">
                    <a:solidFill>
                      <a:srgbClr val="EAF2F5"/>
                    </a:solidFill>
                  </a:tcPr>
                </a:tc>
                <a:tc>
                  <a:txBody>
                    <a:bodyPr>
                      <a:noAutofit/>
                    </a:bodyPr>
                    <a:lstStyle/>
                    <a:p>
                      <a:pPr algn="ctr"/>
                      <a:r>
                        <a:rPr sz="1500" b="0">
                          <a:solidFill>
                            <a:srgbClr val="183044"/>
                          </a:solidFill>
                          <a:latin typeface="Arial"/>
                          <a:ea typeface="Arial"/>
                          <a:cs typeface="Arial"/>
                        </a:rPr>
                        <a:t>+3.01 lb</a:t>
                      </a:r>
                    </a:p>
                  </a:txBody>
                  <a:tcPr marL="91440" marR="91440" marT="45720" marB="45720">
                    <a:solidFill>
                      <a:srgbClr val="EAF2F5"/>
                    </a:solidFill>
                  </a:tcPr>
                </a:tc>
                <a:tc>
                  <a:txBody>
                    <a:bodyPr>
                      <a:noAutofit/>
                    </a:bodyPr>
                    <a:lstStyle/>
                    <a:p>
                      <a:pPr algn="ctr"/>
                      <a:r>
                        <a:rPr sz="1500" b="0">
                          <a:solidFill>
                            <a:srgbClr val="183044"/>
                          </a:solidFill>
                          <a:latin typeface="Arial"/>
                          <a:ea typeface="Arial"/>
                          <a:cs typeface="Arial"/>
                        </a:rPr>
                        <a:t>0.035</a:t>
                      </a:r>
                    </a:p>
                  </a:txBody>
                  <a:tcPr marL="91440" marR="91440" marT="45720" marB="45720">
                    <a:solidFill>
                      <a:srgbClr val="EAF2F5"/>
                    </a:solidFill>
                  </a:tcPr>
                </a:tc>
              </a:tr>
            </a:tbl>
          </a:graphicData>
        </a:graphic>
      </p:graphicFrame>
      <p:sp>
        <p:nvSpPr>
          <p:cNvPr id="6" name="text">
            <a:extLst xmlns:a="http://schemas.openxmlformats.org/drawingml/2006/main">
              <a:ext uri="{FF2B5EF4-FFF2-40B4-BE49-F238E27FC236}">
                <a16:creationId xmlns:a16="http://schemas.microsoft.com/office/drawing/2014/main" id="{45DE9E76-3CDC-4F6B-B255-384914ABF8DF}"/>
              </a:ext>
            </a:extLst>
          </p:cNvPr>
          <p:cNvSpPr>
            <a:spLocks xmlns:a="http://schemas.openxmlformats.org/drawingml/2006/main" noGrp="1"/>
          </p:cNvSpPr>
          <p:nvPr/>
        </p:nvSpPr>
        <p:spPr>
          <a:xfrm xmlns:a="http://schemas.openxmlformats.org/drawingml/2006/main">
            <a:off x="8448675" y="1533525"/>
            <a:ext cx="333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Paired example: same 29 patients</a:t>
            </a:r>
          </a:p>
        </p:txBody>
      </p:sp>
      <p:graphicFrame>
        <p:nvGraphicFramePr>
          <p:cNvPr id="7" name="Chart">
            <a:extLst xmlns:a="http://schemas.openxmlformats.org/drawingml/2006/main">
              <a:ext uri="{FF2B5EF4-FFF2-40B4-BE49-F238E27FC236}">
                <a16:creationId xmlns:a16="http://schemas.microsoft.com/office/drawing/2014/main" id="{716134A4-6AF3-4D49-8B0F-F5B4ED997921}"/>
              </a:ext>
            </a:extLst>
          </p:cNvPr>
          <p:cNvGraphicFramePr/>
          <p:nvPr/>
        </p:nvGraphicFramePr>
        <p:xfrm>
          <a:off xmlns:a="http://schemas.openxmlformats.org/drawingml/2006/main" x="8334375" y="2276475"/>
          <a:ext xmlns:a="http://schemas.openxmlformats.org/drawingml/2006/main" cx="3457575" cy="2714625"/>
        </p:xfrm>
        <a:graphic xmlns:a="http://schemas.openxmlformats.org/drawingml/2006/main">
          <a:graphicData uri="http://schemas.openxmlformats.org/drawingml/2006/chart">
            <c:chart xmlns:r="http://schemas.openxmlformats.org/officeDocument/2006/relationships" xmlns:c="http://schemas.openxmlformats.org/drawingml/2006/chart" r:id="Rb4e6cb58671c4b54"/>
          </a:graphicData>
        </a:graphic>
      </p:graphicFrame>
      <p:sp>
        <p:nvSpPr>
          <p:cNvPr id="8" name="text">
            <a:extLst xmlns:a="http://schemas.openxmlformats.org/drawingml/2006/main">
              <a:ext uri="{FF2B5EF4-FFF2-40B4-BE49-F238E27FC236}">
                <a16:creationId xmlns:a16="http://schemas.microsoft.com/office/drawing/2014/main" id="{2450F0E2-F394-4A24-A96F-02B50AEF8735}"/>
              </a:ext>
            </a:extLst>
          </p:cNvPr>
          <p:cNvSpPr>
            <a:spLocks xmlns:a="http://schemas.openxmlformats.org/drawingml/2006/main" noGrp="1"/>
          </p:cNvSpPr>
          <p:nvPr/>
        </p:nvSpPr>
        <p:spPr>
          <a:xfrm xmlns:a="http://schemas.openxmlformats.org/drawingml/2006/main">
            <a:off x="8448675" y="5181600"/>
            <a:ext cx="333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Mean gain: +3.01 lb</a:t>
            </a:r>
          </a:p>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95% CI: +0.23 to +5.79 lb</a:t>
            </a:r>
          </a:p>
        </p:txBody>
      </p:sp>
      <p:sp>
        <p:nvSpPr>
          <p:cNvPr id="9" name="text">
            <a:extLst xmlns:a="http://schemas.openxmlformats.org/drawingml/2006/main">
              <a:ext uri="{FF2B5EF4-FFF2-40B4-BE49-F238E27FC236}">
                <a16:creationId xmlns:a16="http://schemas.microsoft.com/office/drawing/2014/main" id="{35FCC4A8-6ACB-40CB-85B7-850A18A9472C}"/>
              </a:ext>
            </a:extLst>
          </p:cNvPr>
          <p:cNvSpPr>
            <a:spLocks xmlns:a="http://schemas.openxmlformats.org/drawingml/2006/main" noGrp="1"/>
          </p:cNvSpPr>
          <p:nvPr/>
        </p:nvSpPr>
        <p:spPr>
          <a:xfrm xmlns:a="http://schemas.openxmlformats.org/drawingml/2006/main">
            <a:off x="400050" y="5486400"/>
            <a:ext cx="77247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Reference values 27 and 11% are classroom assumptions.</a:t>
            </a:r>
          </a:p>
        </p:txBody>
      </p:sp>
      <p:sp>
        <p:nvSpPr>
          <p:cNvPr id="10" name="">
            <a:extLst xmlns:a="http://schemas.openxmlformats.org/drawingml/2006/main">
              <a:ext uri="{FF2B5EF4-FFF2-40B4-BE49-F238E27FC236}">
                <a16:creationId xmlns:a16="http://schemas.microsoft.com/office/drawing/2014/main" id="{FD15D9DB-DEF1-4413-B759-71CA597A1F44}"/>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1" name="text">
            <a:extLst xmlns:a="http://schemas.openxmlformats.org/drawingml/2006/main">
              <a:ext uri="{FF2B5EF4-FFF2-40B4-BE49-F238E27FC236}">
                <a16:creationId xmlns:a16="http://schemas.microsoft.com/office/drawing/2014/main" id="{9F00DAC1-57C5-4B41-B47A-8B0D9BE73E47}"/>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Paired tests compare the same people twice. Independent tests compare different groups.</a:t>
            </a:r>
          </a:p>
        </p:txBody>
      </p:sp>
      <p:sp>
        <p:nvSpPr>
          <p:cNvPr id="12" name="text">
            <a:extLst xmlns:a="http://schemas.openxmlformats.org/drawingml/2006/main">
              <a:ext uri="{FF2B5EF4-FFF2-40B4-BE49-F238E27FC236}">
                <a16:creationId xmlns:a16="http://schemas.microsoft.com/office/drawing/2014/main" id="{F79E765A-F9BD-4D99-AED5-38F28E95E403}"/>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8 / 10</a:t>
            </a:r>
          </a:p>
        </p:txBody>
      </p:sp>
    </p:spTree>
    <p:extLst>
      <p:ext uri="{BB962C8B-B14F-4D97-AF65-F5344CB8AC3E}">
        <p14:creationId xmlns:p14="http://schemas.microsoft.com/office/powerpoint/2010/main" val="196800410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6F5E6C1-37D9-4B1F-8AA9-92F892D98EC6}"/>
              </a:ext>
            </a:extLst>
          </p:cNvPr>
          <p:cNvSpPr>
            <a:spLocks xmlns:a="http://schemas.openxmlformats.org/drawingml/2006/main" noGrp="1"/>
          </p:cNvSpPr>
          <p:nvPr/>
        </p:nvSpPr>
        <p:spPr>
          <a:xfrm xmlns:a="http://schemas.openxmlformats.org/drawingml/2006/main">
            <a:off x="381000" y="32385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 name="text">
            <a:extLst xmlns:a="http://schemas.openxmlformats.org/drawingml/2006/main">
              <a:ext uri="{FF2B5EF4-FFF2-40B4-BE49-F238E27FC236}">
                <a16:creationId xmlns:a16="http://schemas.microsoft.com/office/drawing/2014/main" id="{7B710D54-4765-47D9-98EC-C54F40363E2B}"/>
              </a:ext>
            </a:extLst>
          </p:cNvPr>
          <p:cNvSpPr>
            <a:spLocks xmlns:a="http://schemas.openxmlformats.org/drawingml/2006/main" noGrp="1"/>
          </p:cNvSpPr>
          <p:nvPr/>
        </p:nvSpPr>
        <p:spPr>
          <a:xfrm xmlns:a="http://schemas.openxmlformats.org/drawingml/2006/main">
            <a:off x="590550" y="28575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83044"/>
                </a:solidFill>
                <a:latin typeface="Arial"/>
                <a:ea typeface="Arial"/>
                <a:cs typeface="Arial"/>
              </a:defRPr>
            </a:defPPr>
          </a:lstStyle>
          <a:p xmlns:a="http://schemas.openxmlformats.org/drawingml/2006/main">
            <a:pPr>
              <a:defRPr sz="3000" b="1">
                <a:solidFill>
                  <a:srgbClr val="183044"/>
                </a:solidFill>
                <a:latin typeface="Arial"/>
                <a:ea typeface="Arial"/>
                <a:cs typeface="Arial"/>
              </a:defRPr>
            </a:pPr>
            <a:r>
              <a:rPr sz="3000" b="1">
                <a:solidFill>
                  <a:srgbClr val="183044"/>
                </a:solidFill>
                <a:latin typeface="Arial"/>
                <a:ea typeface="Arial"/>
                <a:cs typeface="Arial"/>
              </a:rPr>
              <a:t>Findings and conclusion</a:t>
            </a:r>
          </a:p>
        </p:txBody>
      </p:sp>
      <p:sp>
        <p:nvSpPr>
          <p:cNvPr id="3" name="text">
            <a:extLst xmlns:a="http://schemas.openxmlformats.org/drawingml/2006/main">
              <a:ext uri="{FF2B5EF4-FFF2-40B4-BE49-F238E27FC236}">
                <a16:creationId xmlns:a16="http://schemas.microsoft.com/office/drawing/2014/main" id="{754F7272-812F-4917-A977-6D8043E16524}"/>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BMI differs across health groups, but the fitted lifestyle model explains little of its variation.</a:t>
            </a:r>
          </a:p>
        </p:txBody>
      </p:sp>
      <p:sp>
        <p:nvSpPr>
          <p:cNvPr id="4" name="text">
            <a:extLst xmlns:a="http://schemas.openxmlformats.org/drawingml/2006/main">
              <a:ext uri="{FF2B5EF4-FFF2-40B4-BE49-F238E27FC236}">
                <a16:creationId xmlns:a16="http://schemas.microsoft.com/office/drawing/2014/main" id="{6541C7CE-0573-4648-B0B9-285B73B208CD}"/>
              </a:ext>
            </a:extLst>
          </p:cNvPr>
          <p:cNvSpPr>
            <a:spLocks xmlns:a="http://schemas.openxmlformats.org/drawingml/2006/main" noGrp="1"/>
          </p:cNvSpPr>
          <p:nvPr/>
        </p:nvSpPr>
        <p:spPr>
          <a:xfrm xmlns:a="http://schemas.openxmlformats.org/drawingml/2006/main">
            <a:off x="400050" y="1600200"/>
            <a:ext cx="32099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BMI by health group</a:t>
            </a:r>
          </a:p>
        </p:txBody>
      </p:sp>
      <p:sp>
        <p:nvSpPr>
          <p:cNvPr id="5" name="text">
            <a:extLst xmlns:a="http://schemas.openxmlformats.org/drawingml/2006/main">
              <a:ext uri="{FF2B5EF4-FFF2-40B4-BE49-F238E27FC236}">
                <a16:creationId xmlns:a16="http://schemas.microsoft.com/office/drawing/2014/main" id="{639C488F-AF57-49FE-A690-2F3FF590902F}"/>
              </a:ext>
            </a:extLst>
          </p:cNvPr>
          <p:cNvSpPr>
            <a:spLocks xmlns:a="http://schemas.openxmlformats.org/drawingml/2006/main" noGrp="1"/>
          </p:cNvSpPr>
          <p:nvPr/>
        </p:nvSpPr>
        <p:spPr>
          <a:xfrm xmlns:a="http://schemas.openxmlformats.org/drawingml/2006/main">
            <a:off x="3838575" y="1600200"/>
            <a:ext cx="78200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176D8C"/>
                </a:solidFill>
                <a:latin typeface="Arial"/>
                <a:ea typeface="Arial"/>
                <a:cs typeface="Arial"/>
              </a:defRPr>
            </a:defPPr>
          </a:lstStyle>
          <a:p xmlns:a="http://schemas.openxmlformats.org/drawingml/2006/main">
            <a:pPr>
              <a:defRPr sz="2625" b="1">
                <a:solidFill>
                  <a:srgbClr val="176D8C"/>
                </a:solidFill>
                <a:latin typeface="Arial"/>
                <a:ea typeface="Arial"/>
                <a:cs typeface="Arial"/>
              </a:defRPr>
            </a:pPr>
            <a:r>
              <a:rPr sz="2625" b="1">
                <a:solidFill>
                  <a:srgbClr val="176D8C"/>
                </a:solidFill>
                <a:latin typeface="Arial"/>
                <a:ea typeface="Arial"/>
                <a:cs typeface="Arial"/>
              </a:rPr>
              <a:t>27.72 → 32.85 / 31.98</a:t>
            </a:r>
          </a:p>
        </p:txBody>
      </p:sp>
      <p:sp>
        <p:nvSpPr>
          <p:cNvPr id="6" name="text">
            <a:extLst xmlns:a="http://schemas.openxmlformats.org/drawingml/2006/main">
              <a:ext uri="{FF2B5EF4-FFF2-40B4-BE49-F238E27FC236}">
                <a16:creationId xmlns:a16="http://schemas.microsoft.com/office/drawing/2014/main" id="{A839BD25-6CED-42FA-A789-67568568062F}"/>
              </a:ext>
            </a:extLst>
          </p:cNvPr>
          <p:cNvSpPr>
            <a:spLocks xmlns:a="http://schemas.openxmlformats.org/drawingml/2006/main" noGrp="1"/>
          </p:cNvSpPr>
          <p:nvPr/>
        </p:nvSpPr>
        <p:spPr>
          <a:xfrm xmlns:a="http://schemas.openxmlformats.org/drawingml/2006/main">
            <a:off x="3838575" y="2124075"/>
            <a:ext cx="78200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Average BMI is higher in the prediabetes and diabetes groups.</a:t>
            </a:r>
          </a:p>
        </p:txBody>
      </p:sp>
      <p:sp>
        <p:nvSpPr>
          <p:cNvPr id="7" name="">
            <a:extLst xmlns:a="http://schemas.openxmlformats.org/drawingml/2006/main">
              <a:ext uri="{FF2B5EF4-FFF2-40B4-BE49-F238E27FC236}">
                <a16:creationId xmlns:a16="http://schemas.microsoft.com/office/drawing/2014/main" id="{7B03A34E-6D98-40F4-BD24-D5C14271C0D3}"/>
              </a:ext>
            </a:extLst>
          </p:cNvPr>
          <p:cNvSpPr>
            <a:spLocks xmlns:a="http://schemas.openxmlformats.org/drawingml/2006/main" noGrp="1"/>
          </p:cNvSpPr>
          <p:nvPr/>
        </p:nvSpPr>
        <p:spPr>
          <a:xfrm xmlns:a="http://schemas.openxmlformats.org/drawingml/2006/main">
            <a:off x="400050" y="2676525"/>
            <a:ext cx="113919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8" name="text">
            <a:extLst xmlns:a="http://schemas.openxmlformats.org/drawingml/2006/main">
              <a:ext uri="{FF2B5EF4-FFF2-40B4-BE49-F238E27FC236}">
                <a16:creationId xmlns:a16="http://schemas.microsoft.com/office/drawing/2014/main" id="{939889DE-113C-4213-B5F8-1EE425FA413D}"/>
              </a:ext>
            </a:extLst>
          </p:cNvPr>
          <p:cNvSpPr>
            <a:spLocks xmlns:a="http://schemas.openxmlformats.org/drawingml/2006/main" noGrp="1"/>
          </p:cNvSpPr>
          <p:nvPr/>
        </p:nvSpPr>
        <p:spPr>
          <a:xfrm xmlns:a="http://schemas.openxmlformats.org/drawingml/2006/main">
            <a:off x="400050" y="2819400"/>
            <a:ext cx="32099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Regression strength</a:t>
            </a:r>
          </a:p>
        </p:txBody>
      </p:sp>
      <p:sp>
        <p:nvSpPr>
          <p:cNvPr id="9" name="text">
            <a:extLst xmlns:a="http://schemas.openxmlformats.org/drawingml/2006/main">
              <a:ext uri="{FF2B5EF4-FFF2-40B4-BE49-F238E27FC236}">
                <a16:creationId xmlns:a16="http://schemas.microsoft.com/office/drawing/2014/main" id="{63635EBA-0990-4E82-8B9D-9763F2AD30B1}"/>
              </a:ext>
            </a:extLst>
          </p:cNvPr>
          <p:cNvSpPr>
            <a:spLocks xmlns:a="http://schemas.openxmlformats.org/drawingml/2006/main" noGrp="1"/>
          </p:cNvSpPr>
          <p:nvPr/>
        </p:nvSpPr>
        <p:spPr>
          <a:xfrm xmlns:a="http://schemas.openxmlformats.org/drawingml/2006/main">
            <a:off x="3838575" y="2819400"/>
            <a:ext cx="78200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176D8C"/>
                </a:solidFill>
                <a:latin typeface="Arial"/>
                <a:ea typeface="Arial"/>
                <a:cs typeface="Arial"/>
              </a:defRPr>
            </a:defPPr>
          </a:lstStyle>
          <a:p xmlns:a="http://schemas.openxmlformats.org/drawingml/2006/main">
            <a:pPr>
              <a:defRPr sz="2625" b="1">
                <a:solidFill>
                  <a:srgbClr val="176D8C"/>
                </a:solidFill>
                <a:latin typeface="Arial"/>
                <a:ea typeface="Arial"/>
                <a:cs typeface="Arial"/>
              </a:defRPr>
            </a:pPr>
            <a:r>
              <a:rPr sz="2625" b="1">
                <a:solidFill>
                  <a:srgbClr val="176D8C"/>
                </a:solidFill>
                <a:latin typeface="Arial"/>
                <a:ea typeface="Arial"/>
                <a:cs typeface="Arial"/>
              </a:rPr>
              <a:t>1.03% → 6.81% R²</a:t>
            </a:r>
          </a:p>
        </p:txBody>
      </p:sp>
      <p:sp>
        <p:nvSpPr>
          <p:cNvPr id="10" name="text">
            <a:extLst xmlns:a="http://schemas.openxmlformats.org/drawingml/2006/main">
              <a:ext uri="{FF2B5EF4-FFF2-40B4-BE49-F238E27FC236}">
                <a16:creationId xmlns:a16="http://schemas.microsoft.com/office/drawing/2014/main" id="{26481FDD-5D3C-4ABD-8CFD-CB6FCFF7DFF9}"/>
              </a:ext>
            </a:extLst>
          </p:cNvPr>
          <p:cNvSpPr>
            <a:spLocks xmlns:a="http://schemas.openxmlformats.org/drawingml/2006/main" noGrp="1"/>
          </p:cNvSpPr>
          <p:nvPr/>
        </p:nvSpPr>
        <p:spPr>
          <a:xfrm xmlns:a="http://schemas.openxmlformats.org/drawingml/2006/main">
            <a:off x="3838575" y="3343275"/>
            <a:ext cx="78200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Using more predictors helps, but most BMI variation is unexplained.</a:t>
            </a:r>
          </a:p>
        </p:txBody>
      </p:sp>
      <p:sp>
        <p:nvSpPr>
          <p:cNvPr id="11" name="">
            <a:extLst xmlns:a="http://schemas.openxmlformats.org/drawingml/2006/main">
              <a:ext uri="{FF2B5EF4-FFF2-40B4-BE49-F238E27FC236}">
                <a16:creationId xmlns:a16="http://schemas.microsoft.com/office/drawing/2014/main" id="{799C81C2-5520-4B1F-86FF-5041A1BB3C5D}"/>
              </a:ext>
            </a:extLst>
          </p:cNvPr>
          <p:cNvSpPr>
            <a:spLocks xmlns:a="http://schemas.openxmlformats.org/drawingml/2006/main" noGrp="1"/>
          </p:cNvSpPr>
          <p:nvPr/>
        </p:nvSpPr>
        <p:spPr>
          <a:xfrm xmlns:a="http://schemas.openxmlformats.org/drawingml/2006/main">
            <a:off x="400050" y="3895725"/>
            <a:ext cx="113919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12" name="text">
            <a:extLst xmlns:a="http://schemas.openxmlformats.org/drawingml/2006/main">
              <a:ext uri="{FF2B5EF4-FFF2-40B4-BE49-F238E27FC236}">
                <a16:creationId xmlns:a16="http://schemas.microsoft.com/office/drawing/2014/main" id="{0E7EA1AE-7893-422A-8CCC-4265529436AB}"/>
              </a:ext>
            </a:extLst>
          </p:cNvPr>
          <p:cNvSpPr>
            <a:spLocks xmlns:a="http://schemas.openxmlformats.org/drawingml/2006/main" noGrp="1"/>
          </p:cNvSpPr>
          <p:nvPr/>
        </p:nvSpPr>
        <p:spPr>
          <a:xfrm xmlns:a="http://schemas.openxmlformats.org/drawingml/2006/main">
            <a:off x="400050" y="4038600"/>
            <a:ext cx="32099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Outlier removal</a:t>
            </a:r>
          </a:p>
        </p:txBody>
      </p:sp>
      <p:sp>
        <p:nvSpPr>
          <p:cNvPr id="13" name="text">
            <a:extLst xmlns:a="http://schemas.openxmlformats.org/drawingml/2006/main">
              <a:ext uri="{FF2B5EF4-FFF2-40B4-BE49-F238E27FC236}">
                <a16:creationId xmlns:a16="http://schemas.microsoft.com/office/drawing/2014/main" id="{9520269E-2C37-4A92-B007-F6BD139FACD8}"/>
              </a:ext>
            </a:extLst>
          </p:cNvPr>
          <p:cNvSpPr>
            <a:spLocks xmlns:a="http://schemas.openxmlformats.org/drawingml/2006/main" noGrp="1"/>
          </p:cNvSpPr>
          <p:nvPr/>
        </p:nvSpPr>
        <p:spPr>
          <a:xfrm xmlns:a="http://schemas.openxmlformats.org/drawingml/2006/main">
            <a:off x="3838575" y="4038600"/>
            <a:ext cx="78200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176D8C"/>
                </a:solidFill>
                <a:latin typeface="Arial"/>
                <a:ea typeface="Arial"/>
                <a:cs typeface="Arial"/>
              </a:defRPr>
            </a:defPPr>
          </a:lstStyle>
          <a:p xmlns:a="http://schemas.openxmlformats.org/drawingml/2006/main">
            <a:pPr>
              <a:defRPr sz="2625" b="1">
                <a:solidFill>
                  <a:srgbClr val="176D8C"/>
                </a:solidFill>
                <a:latin typeface="Arial"/>
                <a:ea typeface="Arial"/>
                <a:cs typeface="Arial"/>
              </a:defRPr>
            </a:pPr>
            <a:r>
              <a:rPr sz="2625" b="1">
                <a:solidFill>
                  <a:srgbClr val="176D8C"/>
                </a:solidFill>
                <a:latin typeface="Arial"/>
                <a:ea typeface="Arial"/>
                <a:cs typeface="Arial"/>
              </a:rPr>
              <a:t>Mean 28.40 → 27.65</a:t>
            </a:r>
          </a:p>
        </p:txBody>
      </p:sp>
      <p:sp>
        <p:nvSpPr>
          <p:cNvPr id="14" name="text">
            <a:extLst xmlns:a="http://schemas.openxmlformats.org/drawingml/2006/main">
              <a:ext uri="{FF2B5EF4-FFF2-40B4-BE49-F238E27FC236}">
                <a16:creationId xmlns:a16="http://schemas.microsoft.com/office/drawing/2014/main" id="{6B738D0E-64F2-4042-824C-759E83B2F700}"/>
              </a:ext>
            </a:extLst>
          </p:cNvPr>
          <p:cNvSpPr>
            <a:spLocks xmlns:a="http://schemas.openxmlformats.org/drawingml/2006/main" noGrp="1"/>
          </p:cNvSpPr>
          <p:nvPr/>
        </p:nvSpPr>
        <p:spPr>
          <a:xfrm xmlns:a="http://schemas.openxmlformats.org/drawingml/2006/main">
            <a:off x="3838575" y="4562475"/>
            <a:ext cx="78200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Extreme values noticeably affect the average and spread.</a:t>
            </a:r>
          </a:p>
        </p:txBody>
      </p:sp>
      <p:sp>
        <p:nvSpPr>
          <p:cNvPr id="15" name="">
            <a:extLst xmlns:a="http://schemas.openxmlformats.org/drawingml/2006/main">
              <a:ext uri="{FF2B5EF4-FFF2-40B4-BE49-F238E27FC236}">
                <a16:creationId xmlns:a16="http://schemas.microsoft.com/office/drawing/2014/main" id="{B73A116F-9C48-4652-9A25-E1B3EB958CB2}"/>
              </a:ext>
            </a:extLst>
          </p:cNvPr>
          <p:cNvSpPr>
            <a:spLocks xmlns:a="http://schemas.openxmlformats.org/drawingml/2006/main" noGrp="1"/>
          </p:cNvSpPr>
          <p:nvPr/>
        </p:nvSpPr>
        <p:spPr>
          <a:xfrm xmlns:a="http://schemas.openxmlformats.org/drawingml/2006/main">
            <a:off x="400050" y="5114925"/>
            <a:ext cx="113919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16" name="text">
            <a:extLst xmlns:a="http://schemas.openxmlformats.org/drawingml/2006/main">
              <a:ext uri="{FF2B5EF4-FFF2-40B4-BE49-F238E27FC236}">
                <a16:creationId xmlns:a16="http://schemas.microsoft.com/office/drawing/2014/main" id="{0F9BDBB0-241B-4764-90A6-EF28B4E82DD6}"/>
              </a:ext>
            </a:extLst>
          </p:cNvPr>
          <p:cNvSpPr>
            <a:spLocks xmlns:a="http://schemas.openxmlformats.org/drawingml/2006/main" noGrp="1"/>
          </p:cNvSpPr>
          <p:nvPr/>
        </p:nvSpPr>
        <p:spPr>
          <a:xfrm xmlns:a="http://schemas.openxmlformats.org/drawingml/2006/main">
            <a:off x="400050" y="5410200"/>
            <a:ext cx="31718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Limits to keep in mind</a:t>
            </a:r>
          </a:p>
        </p:txBody>
      </p:sp>
      <p:sp>
        <p:nvSpPr>
          <p:cNvPr id="17" name="text">
            <a:extLst xmlns:a="http://schemas.openxmlformats.org/drawingml/2006/main">
              <a:ext uri="{FF2B5EF4-FFF2-40B4-BE49-F238E27FC236}">
                <a16:creationId xmlns:a16="http://schemas.microsoft.com/office/drawing/2014/main" id="{018D589B-E1F6-49BD-9701-C863289ED11B}"/>
              </a:ext>
            </a:extLst>
          </p:cNvPr>
          <p:cNvSpPr>
            <a:spLocks xmlns:a="http://schemas.openxmlformats.org/drawingml/2006/main" noGrp="1"/>
          </p:cNvSpPr>
          <p:nvPr/>
        </p:nvSpPr>
        <p:spPr>
          <a:xfrm xmlns:a="http://schemas.openxmlformats.org/drawingml/2006/main">
            <a:off x="3838575" y="5410200"/>
            <a:ext cx="78295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83044"/>
                </a:solidFill>
                <a:latin typeface="Arial"/>
                <a:ea typeface="Arial"/>
                <a:cs typeface="Arial"/>
              </a:defRPr>
            </a:defPPr>
          </a:lstStyle>
          <a:p xmlns:a="http://schemas.openxmlformats.org/drawingml/2006/main">
            <a:pPr>
              <a:defRPr sz="1725" b="0">
                <a:solidFill>
                  <a:srgbClr val="183044"/>
                </a:solidFill>
                <a:latin typeface="Arial"/>
                <a:ea typeface="Arial"/>
                <a:cs typeface="Arial"/>
              </a:defRPr>
            </a:pPr>
            <a:r>
              <a:rPr sz="1725" b="0">
                <a:solidFill>
                  <a:srgbClr val="183044"/>
                </a:solidFill>
                <a:latin typeface="Arial"/>
                <a:ea typeface="Arial"/>
                <a:cs typeface="Arial"/>
              </a:rPr>
              <a:t>Self-reported health  •  Small groups  •  Association does not prove a cause</a:t>
            </a:r>
          </a:p>
        </p:txBody>
      </p:sp>
      <p:sp>
        <p:nvSpPr>
          <p:cNvPr id="18" name="">
            <a:extLst xmlns:a="http://schemas.openxmlformats.org/drawingml/2006/main">
              <a:ext uri="{FF2B5EF4-FFF2-40B4-BE49-F238E27FC236}">
                <a16:creationId xmlns:a16="http://schemas.microsoft.com/office/drawing/2014/main" id="{431E9B09-7D05-46A4-A701-C2F7716D8DDF}"/>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9" name="text">
            <a:extLst xmlns:a="http://schemas.openxmlformats.org/drawingml/2006/main">
              <a:ext uri="{FF2B5EF4-FFF2-40B4-BE49-F238E27FC236}">
                <a16:creationId xmlns:a16="http://schemas.microsoft.com/office/drawing/2014/main" id="{71A81C46-3308-4D84-9D89-22841A3C9E6B}"/>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The graphs, effect sizes and model checks together give the most useful conclusion.</a:t>
            </a:r>
          </a:p>
        </p:txBody>
      </p:sp>
      <p:sp>
        <p:nvSpPr>
          <p:cNvPr id="20" name="text">
            <a:extLst xmlns:a="http://schemas.openxmlformats.org/drawingml/2006/main">
              <a:ext uri="{FF2B5EF4-FFF2-40B4-BE49-F238E27FC236}">
                <a16:creationId xmlns:a16="http://schemas.microsoft.com/office/drawing/2014/main" id="{3542F03E-17E8-45DF-A973-CA16F35E6895}"/>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9 / 10</a:t>
            </a:r>
          </a:p>
        </p:txBody>
      </p:sp>
    </p:spTree>
    <p:extLst>
      <p:ext uri="{BB962C8B-B14F-4D97-AF65-F5344CB8AC3E}">
        <p14:creationId xmlns:p14="http://schemas.microsoft.com/office/powerpoint/2010/main" val="109378529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69B8702-FDED-460E-A25D-C1E3D06EC953}"/>
              </a:ext>
            </a:extLst>
          </p:cNvPr>
          <p:cNvSpPr>
            <a:spLocks xmlns:a="http://schemas.openxmlformats.org/drawingml/2006/main" noGrp="1"/>
          </p:cNvSpPr>
          <p:nvPr/>
        </p:nvSpPr>
        <p:spPr>
          <a:xfrm xmlns:a="http://schemas.openxmlformats.org/drawingml/2006/main">
            <a:off x="381000" y="32385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 name="text">
            <a:extLst xmlns:a="http://schemas.openxmlformats.org/drawingml/2006/main">
              <a:ext uri="{FF2B5EF4-FFF2-40B4-BE49-F238E27FC236}">
                <a16:creationId xmlns:a16="http://schemas.microsoft.com/office/drawing/2014/main" id="{D82261ED-AE35-4A8D-B131-0F34EF3114E0}"/>
              </a:ext>
            </a:extLst>
          </p:cNvPr>
          <p:cNvSpPr>
            <a:spLocks xmlns:a="http://schemas.openxmlformats.org/drawingml/2006/main" noGrp="1"/>
          </p:cNvSpPr>
          <p:nvPr/>
        </p:nvSpPr>
        <p:spPr>
          <a:xfrm xmlns:a="http://schemas.openxmlformats.org/drawingml/2006/main">
            <a:off x="590550" y="28575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83044"/>
                </a:solidFill>
                <a:latin typeface="Arial"/>
                <a:ea typeface="Arial"/>
                <a:cs typeface="Arial"/>
              </a:defRPr>
            </a:defPPr>
          </a:lstStyle>
          <a:p xmlns:a="http://schemas.openxmlformats.org/drawingml/2006/main">
            <a:pPr>
              <a:defRPr sz="3000" b="1">
                <a:solidFill>
                  <a:srgbClr val="183044"/>
                </a:solidFill>
                <a:latin typeface="Arial"/>
                <a:ea typeface="Arial"/>
                <a:cs typeface="Arial"/>
              </a:defRPr>
            </a:pPr>
            <a:r>
              <a:rPr sz="3000" b="1">
                <a:solidFill>
                  <a:srgbClr val="183044"/>
                </a:solidFill>
                <a:latin typeface="Arial"/>
                <a:ea typeface="Arial"/>
                <a:cs typeface="Arial"/>
              </a:rPr>
              <a:t>Chi-square and ANOVA</a:t>
            </a:r>
          </a:p>
        </p:txBody>
      </p:sp>
      <p:sp>
        <p:nvSpPr>
          <p:cNvPr id="3" name="text">
            <a:extLst xmlns:a="http://schemas.openxmlformats.org/drawingml/2006/main">
              <a:ext uri="{FF2B5EF4-FFF2-40B4-BE49-F238E27FC236}">
                <a16:creationId xmlns:a16="http://schemas.microsoft.com/office/drawing/2014/main" id="{1C5804B7-45B3-4DD8-8731-E2E8806D16AD}"/>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Experiments 10 and 11: category relationships, group means and experimental designs.</a:t>
            </a:r>
          </a:p>
        </p:txBody>
      </p:sp>
      <p:sp>
        <p:nvSpPr>
          <p:cNvPr id="4" name="text">
            <a:extLst xmlns:a="http://schemas.openxmlformats.org/drawingml/2006/main">
              <a:ext uri="{FF2B5EF4-FFF2-40B4-BE49-F238E27FC236}">
                <a16:creationId xmlns:a16="http://schemas.microsoft.com/office/drawing/2014/main" id="{A22D4B5C-A1D3-4C33-AFCE-E6475B6C45E1}"/>
              </a:ext>
            </a:extLst>
          </p:cNvPr>
          <p:cNvSpPr>
            <a:spLocks xmlns:a="http://schemas.openxmlformats.org/drawingml/2006/main" noGrp="1"/>
          </p:cNvSpPr>
          <p:nvPr/>
        </p:nvSpPr>
        <p:spPr>
          <a:xfrm xmlns:a="http://schemas.openxmlformats.org/drawingml/2006/main">
            <a:off x="400050" y="1590675"/>
            <a:ext cx="5438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6D8C"/>
                </a:solidFill>
                <a:latin typeface="Arial"/>
                <a:ea typeface="Arial"/>
                <a:cs typeface="Arial"/>
              </a:defRPr>
            </a:defPPr>
          </a:lstStyle>
          <a:p xmlns:a="http://schemas.openxmlformats.org/drawingml/2006/main">
            <a:pPr>
              <a:defRPr sz="1875" b="1">
                <a:solidFill>
                  <a:srgbClr val="176D8C"/>
                </a:solidFill>
                <a:latin typeface="Arial"/>
                <a:ea typeface="Arial"/>
                <a:cs typeface="Arial"/>
              </a:defRPr>
            </a:pPr>
            <a:r>
              <a:rPr sz="1875" b="1">
                <a:solidFill>
                  <a:srgbClr val="176D8C"/>
                </a:solidFill>
                <a:latin typeface="Arial"/>
                <a:ea typeface="Arial"/>
                <a:cs typeface="Arial"/>
              </a:rPr>
              <a:t>10  Chi-square: test category patterns</a:t>
            </a:r>
          </a:p>
        </p:txBody>
      </p:sp>
      <p:sp>
        <p:nvSpPr>
          <p:cNvPr id="5" name="text">
            <a:extLst xmlns:a="http://schemas.openxmlformats.org/drawingml/2006/main">
              <a:ext uri="{FF2B5EF4-FFF2-40B4-BE49-F238E27FC236}">
                <a16:creationId xmlns:a16="http://schemas.microsoft.com/office/drawing/2014/main" id="{1F9ADEFF-9EF1-48C3-9DF1-B26C7F3BEA08}"/>
              </a:ext>
            </a:extLst>
          </p:cNvPr>
          <p:cNvSpPr>
            <a:spLocks xmlns:a="http://schemas.openxmlformats.org/drawingml/2006/main" noGrp="1"/>
          </p:cNvSpPr>
          <p:nvPr/>
        </p:nvSpPr>
        <p:spPr>
          <a:xfrm xmlns:a="http://schemas.openxmlformats.org/drawingml/2006/main">
            <a:off x="6362700" y="1590675"/>
            <a:ext cx="5429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6D8C"/>
                </a:solidFill>
                <a:latin typeface="Arial"/>
                <a:ea typeface="Arial"/>
                <a:cs typeface="Arial"/>
              </a:defRPr>
            </a:defPPr>
          </a:lstStyle>
          <a:p xmlns:a="http://schemas.openxmlformats.org/drawingml/2006/main">
            <a:pPr>
              <a:defRPr sz="1875" b="1">
                <a:solidFill>
                  <a:srgbClr val="176D8C"/>
                </a:solidFill>
                <a:latin typeface="Arial"/>
                <a:ea typeface="Arial"/>
                <a:cs typeface="Arial"/>
              </a:defRPr>
            </a:pPr>
            <a:r>
              <a:rPr sz="1875" b="1">
                <a:solidFill>
                  <a:srgbClr val="176D8C"/>
                </a:solidFill>
                <a:latin typeface="Arial"/>
                <a:ea typeface="Arial"/>
                <a:cs typeface="Arial"/>
              </a:rPr>
              <a:t>11  ANOVA / CRD: compare group means</a:t>
            </a:r>
          </a:p>
        </p:txBody>
      </p:sp>
      <p:graphicFrame>
        <p:nvGraphicFramePr>
          <p:cNvPr id="6" name="">
            <a:extLst xmlns:a="http://schemas.openxmlformats.org/drawingml/2006/main">
              <a:ext uri="{FF2B5EF4-FFF2-40B4-BE49-F238E27FC236}">
                <a16:creationId xmlns:a16="http://schemas.microsoft.com/office/drawing/2014/main" id="{2E04819F-7188-4CE2-9567-3F39340E7963}"/>
              </a:ext>
            </a:extLst>
          </p:cNvPr>
          <p:cNvGraphicFramePr/>
          <p:nvPr/>
        </p:nvGraphicFramePr>
        <p:xfrm>
          <a:off xmlns:a="http://schemas.openxmlformats.org/drawingml/2006/main" x="400050" y="2047875"/>
          <a:ext xmlns:a="http://schemas.openxmlformats.org/drawingml/2006/main" cx="5429250" cy="1514475"/>
        </p:xfrm>
        <a:graphic xmlns:a="http://schemas.openxmlformats.org/drawingml/2006/main">
          <a:graphicData uri="http://schemas.openxmlformats.org/drawingml/2006/table">
            <a:tbl>
              <a:tblPr/>
              <a:tblGrid>
                <a:gridCol w="3352800"/>
                <a:gridCol w="1057275"/>
                <a:gridCol w="1019175"/>
              </a:tblGrid>
              <a:tr h="378619">
                <a:tc>
                  <a:txBody>
                    <a:bodyPr>
                      <a:noAutofit/>
                    </a:bodyPr>
                    <a:lstStyle/>
                    <a:p>
                      <a:pPr algn="l"/>
                      <a:r>
                        <a:rPr sz="1500" b="1">
                          <a:solidFill>
                            <a:srgbClr val="FFFFFF"/>
                          </a:solidFill>
                          <a:latin typeface="Arial"/>
                          <a:ea typeface="Arial"/>
                          <a:cs typeface="Arial"/>
                        </a:rPr>
                        <a:t>Test</a:t>
                      </a:r>
                    </a:p>
                  </a:txBody>
                  <a:tcPr marL="91440" marR="91440" marT="45720" marB="45720">
                    <a:solidFill>
                      <a:srgbClr val="176D8C"/>
                    </a:solidFill>
                  </a:tcPr>
                </a:tc>
                <a:tc>
                  <a:txBody>
                    <a:bodyPr>
                      <a:noAutofit/>
                    </a:bodyPr>
                    <a:lstStyle/>
                    <a:p>
                      <a:pPr algn="ctr"/>
                      <a:r>
                        <a:rPr sz="1500" b="1">
                          <a:solidFill>
                            <a:srgbClr val="FFFFFF"/>
                          </a:solidFill>
                          <a:latin typeface="Arial"/>
                          <a:ea typeface="Arial"/>
                          <a:cs typeface="Arial"/>
                        </a:rPr>
                        <a:t>χ²</a:t>
                      </a:r>
                    </a:p>
                  </a:txBody>
                  <a:tcPr marL="91440" marR="91440" marT="45720" marB="45720">
                    <a:solidFill>
                      <a:srgbClr val="176D8C"/>
                    </a:solidFill>
                  </a:tcPr>
                </a:tc>
                <a:tc>
                  <a:txBody>
                    <a:bodyPr>
                      <a:noAutofit/>
                    </a:bodyPr>
                    <a:lstStyle/>
                    <a:p>
                      <a:pPr algn="ctr"/>
                      <a:r>
                        <a:rPr sz="1500" b="1">
                          <a:solidFill>
                            <a:srgbClr val="FFFFFF"/>
                          </a:solidFill>
                          <a:latin typeface="Arial"/>
                          <a:ea typeface="Arial"/>
                          <a:cs typeface="Arial"/>
                        </a:rPr>
                        <a:t>p</a:t>
                      </a:r>
                    </a:p>
                  </a:txBody>
                  <a:tcPr marL="91440" marR="91440" marT="45720" marB="45720">
                    <a:solidFill>
                      <a:srgbClr val="176D8C"/>
                    </a:solidFill>
                  </a:tcPr>
                </a:tc>
              </a:tr>
              <a:tr h="378619">
                <a:tc>
                  <a:txBody>
                    <a:bodyPr>
                      <a:noAutofit/>
                    </a:bodyPr>
                    <a:lstStyle/>
                    <a:p>
                      <a:pPr algn="l"/>
                      <a:r>
                        <a:rPr sz="1500" b="0">
                          <a:solidFill>
                            <a:srgbClr val="183044"/>
                          </a:solidFill>
                          <a:latin typeface="Arial"/>
                          <a:ea typeface="Arial"/>
                          <a:cs typeface="Arial"/>
                        </a:rPr>
                        <a:t>Age groups: equal frequency (GOF)</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678.12</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&lt;0.001</a:t>
                      </a:r>
                    </a:p>
                  </a:txBody>
                  <a:tcPr marL="91440" marR="91440" marT="45720" marB="45720">
                    <a:solidFill>
                      <a:srgbClr val="FFFFFF"/>
                    </a:solidFill>
                  </a:tcPr>
                </a:tc>
              </a:tr>
              <a:tr h="378619">
                <a:tc>
                  <a:txBody>
                    <a:bodyPr>
                      <a:noAutofit/>
                    </a:bodyPr>
                    <a:lstStyle/>
                    <a:p>
                      <a:pPr algn="l"/>
                      <a:r>
                        <a:rPr sz="1500" b="0">
                          <a:solidFill>
                            <a:srgbClr val="183044"/>
                          </a:solidFill>
                          <a:latin typeface="Arial"/>
                          <a:ea typeface="Arial"/>
                          <a:cs typeface="Arial"/>
                        </a:rPr>
                        <a:t>Status × high BP</a:t>
                      </a:r>
                    </a:p>
                  </a:txBody>
                  <a:tcPr marL="91440" marR="91440" marT="45720" marB="45720">
                    <a:solidFill>
                      <a:srgbClr val="EAF2F5"/>
                    </a:solidFill>
                  </a:tcPr>
                </a:tc>
                <a:tc>
                  <a:txBody>
                    <a:bodyPr>
                      <a:noAutofit/>
                    </a:bodyPr>
                    <a:lstStyle/>
                    <a:p>
                      <a:pPr algn="ctr"/>
                      <a:r>
                        <a:rPr sz="1500" b="0">
                          <a:solidFill>
                            <a:srgbClr val="183044"/>
                          </a:solidFill>
                          <a:latin typeface="Arial"/>
                          <a:ea typeface="Arial"/>
                          <a:cs typeface="Arial"/>
                        </a:rPr>
                        <a:t>226.28</a:t>
                      </a:r>
                    </a:p>
                  </a:txBody>
                  <a:tcPr marL="91440" marR="91440" marT="45720" marB="45720">
                    <a:solidFill>
                      <a:srgbClr val="EAF2F5"/>
                    </a:solidFill>
                  </a:tcPr>
                </a:tc>
                <a:tc>
                  <a:txBody>
                    <a:bodyPr>
                      <a:noAutofit/>
                    </a:bodyPr>
                    <a:lstStyle/>
                    <a:p>
                      <a:pPr algn="ctr"/>
                      <a:r>
                        <a:rPr sz="1500" b="0">
                          <a:solidFill>
                            <a:srgbClr val="183044"/>
                          </a:solidFill>
                          <a:latin typeface="Arial"/>
                          <a:ea typeface="Arial"/>
                          <a:cs typeface="Arial"/>
                        </a:rPr>
                        <a:t>&lt;0.001</a:t>
                      </a:r>
                    </a:p>
                  </a:txBody>
                  <a:tcPr marL="91440" marR="91440" marT="45720" marB="45720">
                    <a:solidFill>
                      <a:srgbClr val="EAF2F5"/>
                    </a:solidFill>
                  </a:tcPr>
                </a:tc>
              </a:tr>
              <a:tr h="378619">
                <a:tc>
                  <a:txBody>
                    <a:bodyPr>
                      <a:noAutofit/>
                    </a:bodyPr>
                    <a:lstStyle/>
                    <a:p>
                      <a:pPr algn="l"/>
                      <a:r>
                        <a:rPr sz="1500" b="0">
                          <a:solidFill>
                            <a:srgbClr val="183044"/>
                          </a:solidFill>
                          <a:latin typeface="Arial"/>
                          <a:ea typeface="Arial"/>
                          <a:cs typeface="Arial"/>
                        </a:rPr>
                        <a:t>Status × smoking</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6.07</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0.014</a:t>
                      </a:r>
                    </a:p>
                  </a:txBody>
                  <a:tcPr marL="91440" marR="91440" marT="45720" marB="45720">
                    <a:solidFill>
                      <a:srgbClr val="FFFFFF"/>
                    </a:solidFill>
                  </a:tcPr>
                </a:tc>
              </a:tr>
            </a:tbl>
          </a:graphicData>
        </a:graphic>
      </p:graphicFrame>
      <p:graphicFrame>
        <p:nvGraphicFramePr>
          <p:cNvPr id="7" name="">
            <a:extLst xmlns:a="http://schemas.openxmlformats.org/drawingml/2006/main">
              <a:ext uri="{FF2B5EF4-FFF2-40B4-BE49-F238E27FC236}">
                <a16:creationId xmlns:a16="http://schemas.microsoft.com/office/drawing/2014/main" id="{4DC98A4D-F637-4C8E-B2C1-699A4E8BE357}"/>
              </a:ext>
            </a:extLst>
          </p:cNvPr>
          <p:cNvGraphicFramePr/>
          <p:nvPr/>
        </p:nvGraphicFramePr>
        <p:xfrm>
          <a:off xmlns:a="http://schemas.openxmlformats.org/drawingml/2006/main" x="6362700" y="2047875"/>
          <a:ext xmlns:a="http://schemas.openxmlformats.org/drawingml/2006/main" cx="5438775" cy="1200150"/>
        </p:xfrm>
        <a:graphic xmlns:a="http://schemas.openxmlformats.org/drawingml/2006/main">
          <a:graphicData uri="http://schemas.openxmlformats.org/drawingml/2006/table">
            <a:tbl>
              <a:tblPr/>
              <a:tblGrid>
                <a:gridCol w="3438525"/>
                <a:gridCol w="1000125"/>
                <a:gridCol w="1000125"/>
              </a:tblGrid>
              <a:tr h="400050">
                <a:tc>
                  <a:txBody>
                    <a:bodyPr>
                      <a:noAutofit/>
                    </a:bodyPr>
                    <a:lstStyle/>
                    <a:p>
                      <a:pPr algn="l"/>
                      <a:r>
                        <a:rPr sz="1500" b="1">
                          <a:solidFill>
                            <a:srgbClr val="FFFFFF"/>
                          </a:solidFill>
                          <a:latin typeface="Arial"/>
                          <a:ea typeface="Arial"/>
                          <a:cs typeface="Arial"/>
                        </a:rPr>
                        <a:t>Comparison</a:t>
                      </a:r>
                    </a:p>
                  </a:txBody>
                  <a:tcPr marL="91440" marR="91440" marT="45720" marB="45720">
                    <a:solidFill>
                      <a:srgbClr val="176D8C"/>
                    </a:solidFill>
                  </a:tcPr>
                </a:tc>
                <a:tc>
                  <a:txBody>
                    <a:bodyPr>
                      <a:noAutofit/>
                    </a:bodyPr>
                    <a:lstStyle/>
                    <a:p>
                      <a:pPr algn="ctr"/>
                      <a:r>
                        <a:rPr sz="1500" b="1">
                          <a:solidFill>
                            <a:srgbClr val="FFFFFF"/>
                          </a:solidFill>
                          <a:latin typeface="Arial"/>
                          <a:ea typeface="Arial"/>
                          <a:cs typeface="Arial"/>
                        </a:rPr>
                        <a:t>F</a:t>
                      </a:r>
                    </a:p>
                  </a:txBody>
                  <a:tcPr marL="91440" marR="91440" marT="45720" marB="45720">
                    <a:solidFill>
                      <a:srgbClr val="176D8C"/>
                    </a:solidFill>
                  </a:tcPr>
                </a:tc>
                <a:tc>
                  <a:txBody>
                    <a:bodyPr>
                      <a:noAutofit/>
                    </a:bodyPr>
                    <a:lstStyle/>
                    <a:p>
                      <a:pPr algn="ctr"/>
                      <a:r>
                        <a:rPr sz="1500" b="1">
                          <a:solidFill>
                            <a:srgbClr val="FFFFFF"/>
                          </a:solidFill>
                          <a:latin typeface="Arial"/>
                          <a:ea typeface="Arial"/>
                          <a:cs typeface="Arial"/>
                        </a:rPr>
                        <a:t>p</a:t>
                      </a:r>
                    </a:p>
                  </a:txBody>
                  <a:tcPr marL="91440" marR="91440" marT="45720" marB="45720">
                    <a:solidFill>
                      <a:srgbClr val="176D8C"/>
                    </a:solidFill>
                  </a:tcPr>
                </a:tc>
              </a:tr>
              <a:tr h="400050">
                <a:tc>
                  <a:txBody>
                    <a:bodyPr>
                      <a:noAutofit/>
                    </a:bodyPr>
                    <a:lstStyle/>
                    <a:p>
                      <a:pPr algn="l"/>
                      <a:r>
                        <a:rPr sz="1500" b="0">
                          <a:solidFill>
                            <a:srgbClr val="183044"/>
                          </a:solidFill>
                          <a:latin typeface="Arial"/>
                          <a:ea typeface="Arial"/>
                          <a:cs typeface="Arial"/>
                        </a:rPr>
                        <a:t>BMI by education (survey)</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14.41</a:t>
                      </a:r>
                    </a:p>
                  </a:txBody>
                  <a:tcPr marL="91440" marR="91440" marT="45720" marB="45720">
                    <a:solidFill>
                      <a:srgbClr val="FFFFFF"/>
                    </a:solidFill>
                  </a:tcPr>
                </a:tc>
                <a:tc>
                  <a:txBody>
                    <a:bodyPr>
                      <a:noAutofit/>
                    </a:bodyPr>
                    <a:lstStyle/>
                    <a:p>
                      <a:pPr algn="ctr"/>
                      <a:r>
                        <a:rPr sz="1500" b="0">
                          <a:solidFill>
                            <a:srgbClr val="183044"/>
                          </a:solidFill>
                          <a:latin typeface="Arial"/>
                          <a:ea typeface="Arial"/>
                          <a:cs typeface="Arial"/>
                        </a:rPr>
                        <a:t>&lt;0.001</a:t>
                      </a:r>
                    </a:p>
                  </a:txBody>
                  <a:tcPr marL="91440" marR="91440" marT="45720" marB="45720">
                    <a:solidFill>
                      <a:srgbClr val="FFFFFF"/>
                    </a:solidFill>
                  </a:tcPr>
                </a:tc>
              </a:tr>
              <a:tr h="400050">
                <a:tc>
                  <a:txBody>
                    <a:bodyPr>
                      <a:noAutofit/>
                    </a:bodyPr>
                    <a:lstStyle/>
                    <a:p>
                      <a:pPr algn="l"/>
                      <a:r>
                        <a:rPr sz="1500" b="0">
                          <a:solidFill>
                            <a:srgbClr val="183044"/>
                          </a:solidFill>
                          <a:latin typeface="Arial"/>
                          <a:ea typeface="Arial"/>
                          <a:cs typeface="Arial"/>
                        </a:rPr>
                        <a:t>Potato CRD: 32 plots, 7 groups</a:t>
                      </a:r>
                    </a:p>
                  </a:txBody>
                  <a:tcPr marL="91440" marR="91440" marT="45720" marB="45720">
                    <a:solidFill>
                      <a:srgbClr val="EAF2F5"/>
                    </a:solidFill>
                  </a:tcPr>
                </a:tc>
                <a:tc>
                  <a:txBody>
                    <a:bodyPr>
                      <a:noAutofit/>
                    </a:bodyPr>
                    <a:lstStyle/>
                    <a:p>
                      <a:pPr algn="ctr"/>
                      <a:r>
                        <a:rPr sz="1500" b="0">
                          <a:solidFill>
                            <a:srgbClr val="183044"/>
                          </a:solidFill>
                          <a:latin typeface="Arial"/>
                          <a:ea typeface="Arial"/>
                          <a:cs typeface="Arial"/>
                        </a:rPr>
                        <a:t>3.61</a:t>
                      </a:r>
                    </a:p>
                  </a:txBody>
                  <a:tcPr marL="91440" marR="91440" marT="45720" marB="45720">
                    <a:solidFill>
                      <a:srgbClr val="EAF2F5"/>
                    </a:solidFill>
                  </a:tcPr>
                </a:tc>
                <a:tc>
                  <a:txBody>
                    <a:bodyPr>
                      <a:noAutofit/>
                    </a:bodyPr>
                    <a:lstStyle/>
                    <a:p>
                      <a:pPr algn="ctr"/>
                      <a:r>
                        <a:rPr sz="1500" b="0">
                          <a:solidFill>
                            <a:srgbClr val="183044"/>
                          </a:solidFill>
                          <a:latin typeface="Arial"/>
                          <a:ea typeface="Arial"/>
                          <a:cs typeface="Arial"/>
                        </a:rPr>
                        <a:t>0.010</a:t>
                      </a:r>
                    </a:p>
                  </a:txBody>
                  <a:tcPr marL="91440" marR="91440" marT="45720" marB="45720">
                    <a:solidFill>
                      <a:srgbClr val="EAF2F5"/>
                    </a:solidFill>
                  </a:tcPr>
                </a:tc>
              </a:tr>
            </a:tbl>
          </a:graphicData>
        </a:graphic>
      </p:graphicFrame>
      <p:sp>
        <p:nvSpPr>
          <p:cNvPr id="8" name="text">
            <a:extLst xmlns:a="http://schemas.openxmlformats.org/drawingml/2006/main">
              <a:ext uri="{FF2B5EF4-FFF2-40B4-BE49-F238E27FC236}">
                <a16:creationId xmlns:a16="http://schemas.microsoft.com/office/drawing/2014/main" id="{59A8E3EB-19C9-420E-BA41-69F442AE1E2C}"/>
              </a:ext>
            </a:extLst>
          </p:cNvPr>
          <p:cNvSpPr>
            <a:spLocks xmlns:a="http://schemas.openxmlformats.org/drawingml/2006/main" noGrp="1"/>
          </p:cNvSpPr>
          <p:nvPr/>
        </p:nvSpPr>
        <p:spPr>
          <a:xfrm xmlns:a="http://schemas.openxmlformats.org/drawingml/2006/main">
            <a:off x="400050" y="3609975"/>
            <a:ext cx="54006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83044"/>
                </a:solidFill>
                <a:latin typeface="Arial"/>
                <a:ea typeface="Arial"/>
                <a:cs typeface="Arial"/>
              </a:defRPr>
            </a:defPPr>
          </a:lstStyle>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BP has the stronger link: V = 0.275</a:t>
            </a:r>
          </a:p>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Smoking has a smaller link: V = 0.045</a:t>
            </a:r>
          </a:p>
        </p:txBody>
      </p:sp>
      <p:sp>
        <p:nvSpPr>
          <p:cNvPr id="9" name="text">
            <a:extLst xmlns:a="http://schemas.openxmlformats.org/drawingml/2006/main">
              <a:ext uri="{FF2B5EF4-FFF2-40B4-BE49-F238E27FC236}">
                <a16:creationId xmlns:a16="http://schemas.microsoft.com/office/drawing/2014/main" id="{3D73AE8A-2C1C-4D12-8791-A8D40B276724}"/>
              </a:ext>
            </a:extLst>
          </p:cNvPr>
          <p:cNvSpPr>
            <a:spLocks xmlns:a="http://schemas.openxmlformats.org/drawingml/2006/main" noGrp="1"/>
          </p:cNvSpPr>
          <p:nvPr/>
        </p:nvSpPr>
        <p:spPr>
          <a:xfrm xmlns:a="http://schemas.openxmlformats.org/drawingml/2006/main">
            <a:off x="6362700" y="3324225"/>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83044"/>
                </a:solidFill>
                <a:latin typeface="Arial"/>
                <a:ea typeface="Arial"/>
                <a:cs typeface="Arial"/>
              </a:defRPr>
            </a:defPPr>
          </a:lstStyle>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CRD randomly assigns sulfur to plots.</a:t>
            </a:r>
          </a:p>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Mean infection differs across treatments.</a:t>
            </a:r>
          </a:p>
        </p:txBody>
      </p:sp>
      <p:sp>
        <p:nvSpPr>
          <p:cNvPr id="10" name="">
            <a:extLst xmlns:a="http://schemas.openxmlformats.org/drawingml/2006/main">
              <a:ext uri="{FF2B5EF4-FFF2-40B4-BE49-F238E27FC236}">
                <a16:creationId xmlns:a16="http://schemas.microsoft.com/office/drawing/2014/main" id="{DE99E108-5209-44D5-8B8C-0BB44B8B0D54}"/>
              </a:ext>
            </a:extLst>
          </p:cNvPr>
          <p:cNvSpPr>
            <a:spLocks xmlns:a="http://schemas.openxmlformats.org/drawingml/2006/main" noGrp="1"/>
          </p:cNvSpPr>
          <p:nvPr/>
        </p:nvSpPr>
        <p:spPr>
          <a:xfrm xmlns:a="http://schemas.openxmlformats.org/drawingml/2006/main">
            <a:off x="400050" y="4219575"/>
            <a:ext cx="113919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11" name="text">
            <a:extLst xmlns:a="http://schemas.openxmlformats.org/drawingml/2006/main">
              <a:ext uri="{FF2B5EF4-FFF2-40B4-BE49-F238E27FC236}">
                <a16:creationId xmlns:a16="http://schemas.microsoft.com/office/drawing/2014/main" id="{F9185B26-41C4-4E62-AC61-D199993429A6}"/>
              </a:ext>
            </a:extLst>
          </p:cNvPr>
          <p:cNvSpPr>
            <a:spLocks xmlns:a="http://schemas.openxmlformats.org/drawingml/2006/main" noGrp="1"/>
          </p:cNvSpPr>
          <p:nvPr/>
        </p:nvSpPr>
        <p:spPr>
          <a:xfrm xmlns:a="http://schemas.openxmlformats.org/drawingml/2006/main">
            <a:off x="400050" y="43815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6D8C"/>
                </a:solidFill>
                <a:latin typeface="Arial"/>
                <a:ea typeface="Arial"/>
                <a:cs typeface="Arial"/>
              </a:defRPr>
            </a:defPPr>
          </a:lstStyle>
          <a:p xmlns:a="http://schemas.openxmlformats.org/drawingml/2006/main">
            <a:pPr>
              <a:defRPr sz="1875" b="1">
                <a:solidFill>
                  <a:srgbClr val="176D8C"/>
                </a:solidFill>
                <a:latin typeface="Arial"/>
                <a:ea typeface="Arial"/>
                <a:cs typeface="Arial"/>
              </a:defRPr>
            </a:pPr>
            <a:r>
              <a:rPr sz="1875" b="1">
                <a:solidFill>
                  <a:srgbClr val="176D8C"/>
                </a:solidFill>
                <a:latin typeface="Arial"/>
                <a:ea typeface="Arial"/>
                <a:cs typeface="Arial"/>
              </a:rPr>
              <a:t>RBD: randomized blocks (rice)</a:t>
            </a:r>
          </a:p>
        </p:txBody>
      </p:sp>
      <p:sp>
        <p:nvSpPr>
          <p:cNvPr id="12" name="text">
            <a:extLst xmlns:a="http://schemas.openxmlformats.org/drawingml/2006/main">
              <a:ext uri="{FF2B5EF4-FFF2-40B4-BE49-F238E27FC236}">
                <a16:creationId xmlns:a16="http://schemas.microsoft.com/office/drawing/2014/main" id="{BBF6C7C7-F83F-44C9-BE3B-0BDE05365D34}"/>
              </a:ext>
            </a:extLst>
          </p:cNvPr>
          <p:cNvSpPr>
            <a:spLocks xmlns:a="http://schemas.openxmlformats.org/drawingml/2006/main" noGrp="1"/>
          </p:cNvSpPr>
          <p:nvPr/>
        </p:nvSpPr>
        <p:spPr>
          <a:xfrm xmlns:a="http://schemas.openxmlformats.org/drawingml/2006/main">
            <a:off x="6362700" y="43815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6D8C"/>
                </a:solidFill>
                <a:latin typeface="Arial"/>
                <a:ea typeface="Arial"/>
                <a:cs typeface="Arial"/>
              </a:defRPr>
            </a:defPPr>
          </a:lstStyle>
          <a:p xmlns:a="http://schemas.openxmlformats.org/drawingml/2006/main">
            <a:pPr>
              <a:defRPr sz="1875" b="1">
                <a:solidFill>
                  <a:srgbClr val="176D8C"/>
                </a:solidFill>
                <a:latin typeface="Arial"/>
                <a:ea typeface="Arial"/>
                <a:cs typeface="Arial"/>
              </a:defRPr>
            </a:pPr>
            <a:r>
              <a:rPr sz="1875" b="1">
                <a:solidFill>
                  <a:srgbClr val="176D8C"/>
                </a:solidFill>
                <a:latin typeface="Arial"/>
                <a:ea typeface="Arial"/>
                <a:cs typeface="Arial"/>
              </a:rPr>
              <a:t>Latin Square: rows and columns</a:t>
            </a:r>
          </a:p>
        </p:txBody>
      </p:sp>
      <p:graphicFrame>
        <p:nvGraphicFramePr>
          <p:cNvPr id="13" name="Chart">
            <a:extLst xmlns:a="http://schemas.openxmlformats.org/drawingml/2006/main">
              <a:ext uri="{FF2B5EF4-FFF2-40B4-BE49-F238E27FC236}">
                <a16:creationId xmlns:a16="http://schemas.microsoft.com/office/drawing/2014/main" id="{BBABBA7D-60A1-4751-9B5D-769B1A7E8C23}"/>
              </a:ext>
            </a:extLst>
          </p:cNvPr>
          <p:cNvGraphicFramePr/>
          <p:nvPr/>
        </p:nvGraphicFramePr>
        <p:xfrm>
          <a:off xmlns:a="http://schemas.openxmlformats.org/drawingml/2006/main" x="257175" y="4829175"/>
          <a:ext xmlns:a="http://schemas.openxmlformats.org/drawingml/2006/main" cx="3381375" cy="1562100"/>
        </p:xfrm>
        <a:graphic xmlns:a="http://schemas.openxmlformats.org/drawingml/2006/main">
          <a:graphicData uri="http://schemas.openxmlformats.org/drawingml/2006/chart">
            <c:chart xmlns:r="http://schemas.openxmlformats.org/officeDocument/2006/relationships" xmlns:c="http://schemas.openxmlformats.org/drawingml/2006/chart" r:id="R5a3b5d67c3234545"/>
          </a:graphicData>
        </a:graphic>
      </p:graphicFrame>
      <p:graphicFrame>
        <p:nvGraphicFramePr>
          <p:cNvPr id="14" name="">
            <a:extLst xmlns:a="http://schemas.openxmlformats.org/drawingml/2006/main">
              <a:ext uri="{FF2B5EF4-FFF2-40B4-BE49-F238E27FC236}">
                <a16:creationId xmlns:a16="http://schemas.microsoft.com/office/drawing/2014/main" id="{62BFC3A5-F3CF-4592-9E14-CAB66AC5FCAB}"/>
              </a:ext>
            </a:extLst>
          </p:cNvPr>
          <p:cNvGraphicFramePr/>
          <p:nvPr/>
        </p:nvGraphicFramePr>
        <p:xfrm>
          <a:off xmlns:a="http://schemas.openxmlformats.org/drawingml/2006/main" x="3829050" y="4829175"/>
          <a:ext xmlns:a="http://schemas.openxmlformats.org/drawingml/2006/main" cx="2000250" cy="1057275"/>
        </p:xfrm>
        <a:graphic xmlns:a="http://schemas.openxmlformats.org/drawingml/2006/main">
          <a:graphicData uri="http://schemas.openxmlformats.org/drawingml/2006/table">
            <a:tbl>
              <a:tblPr/>
              <a:tblGrid>
                <a:gridCol w="666750"/>
                <a:gridCol w="571500"/>
                <a:gridCol w="762000"/>
              </a:tblGrid>
              <a:tr h="352425">
                <a:tc>
                  <a:txBody>
                    <a:bodyPr>
                      <a:noAutofit/>
                    </a:bodyPr>
                    <a:lstStyle/>
                    <a:p>
                      <a:pPr algn="l"/>
                      <a:r>
                        <a:rPr sz="1350" b="1">
                          <a:solidFill>
                            <a:srgbClr val="FFFFFF"/>
                          </a:solidFill>
                          <a:latin typeface="Arial"/>
                          <a:ea typeface="Arial"/>
                          <a:cs typeface="Arial"/>
                        </a:rPr>
                        <a:t>Term</a:t>
                      </a:r>
                    </a:p>
                  </a:txBody>
                  <a:tcPr marL="91440" marR="91440" marT="45720" marB="45720">
                    <a:solidFill>
                      <a:srgbClr val="176D8C"/>
                    </a:solidFill>
                  </a:tcPr>
                </a:tc>
                <a:tc>
                  <a:txBody>
                    <a:bodyPr>
                      <a:noAutofit/>
                    </a:bodyPr>
                    <a:lstStyle/>
                    <a:p>
                      <a:pPr algn="ctr"/>
                      <a:r>
                        <a:rPr sz="1350" b="1">
                          <a:solidFill>
                            <a:srgbClr val="FFFFFF"/>
                          </a:solidFill>
                          <a:latin typeface="Arial"/>
                          <a:ea typeface="Arial"/>
                          <a:cs typeface="Arial"/>
                        </a:rPr>
                        <a:t>F</a:t>
                      </a:r>
                    </a:p>
                  </a:txBody>
                  <a:tcPr marL="91440" marR="91440" marT="45720" marB="45720">
                    <a:solidFill>
                      <a:srgbClr val="176D8C"/>
                    </a:solidFill>
                  </a:tcPr>
                </a:tc>
                <a:tc>
                  <a:txBody>
                    <a:bodyPr>
                      <a:noAutofit/>
                    </a:bodyPr>
                    <a:lstStyle/>
                    <a:p>
                      <a:pPr algn="ctr"/>
                      <a:r>
                        <a:rPr sz="1350" b="1">
                          <a:solidFill>
                            <a:srgbClr val="FFFFFF"/>
                          </a:solidFill>
                          <a:latin typeface="Arial"/>
                          <a:ea typeface="Arial"/>
                          <a:cs typeface="Arial"/>
                        </a:rPr>
                        <a:t>p</a:t>
                      </a:r>
                    </a:p>
                  </a:txBody>
                  <a:tcPr marL="91440" marR="91440" marT="45720" marB="45720">
                    <a:solidFill>
                      <a:srgbClr val="176D8C"/>
                    </a:solidFill>
                  </a:tcPr>
                </a:tc>
              </a:tr>
              <a:tr h="352425">
                <a:tc>
                  <a:txBody>
                    <a:bodyPr>
                      <a:noAutofit/>
                    </a:bodyPr>
                    <a:lstStyle/>
                    <a:p>
                      <a:pPr algn="l"/>
                      <a:r>
                        <a:rPr sz="1350" b="0">
                          <a:solidFill>
                            <a:srgbClr val="183044"/>
                          </a:solidFill>
                          <a:latin typeface="Arial"/>
                          <a:ea typeface="Arial"/>
                          <a:cs typeface="Arial"/>
                        </a:rPr>
                        <a:t>Block</a:t>
                      </a:r>
                    </a:p>
                  </a:txBody>
                  <a:tcPr marL="91440" marR="91440" marT="45720" marB="45720">
                    <a:solidFill>
                      <a:srgbClr val="FFFFFF"/>
                    </a:solidFill>
                  </a:tcPr>
                </a:tc>
                <a:tc>
                  <a:txBody>
                    <a:bodyPr>
                      <a:noAutofit/>
                    </a:bodyPr>
                    <a:lstStyle/>
                    <a:p>
                      <a:pPr algn="ctr"/>
                      <a:r>
                        <a:rPr sz="1350" b="0">
                          <a:solidFill>
                            <a:srgbClr val="183044"/>
                          </a:solidFill>
                          <a:latin typeface="Arial"/>
                          <a:ea typeface="Arial"/>
                          <a:cs typeface="Arial"/>
                        </a:rPr>
                        <a:t>5.86</a:t>
                      </a:r>
                    </a:p>
                  </a:txBody>
                  <a:tcPr marL="91440" marR="91440" marT="45720" marB="45720">
                    <a:solidFill>
                      <a:srgbClr val="FFFFFF"/>
                    </a:solidFill>
                  </a:tcPr>
                </a:tc>
                <a:tc>
                  <a:txBody>
                    <a:bodyPr>
                      <a:noAutofit/>
                    </a:bodyPr>
                    <a:lstStyle/>
                    <a:p>
                      <a:pPr algn="ctr"/>
                      <a:r>
                        <a:rPr sz="1350" b="0">
                          <a:solidFill>
                            <a:srgbClr val="183044"/>
                          </a:solidFill>
                          <a:latin typeface="Arial"/>
                          <a:ea typeface="Arial"/>
                          <a:cs typeface="Arial"/>
                        </a:rPr>
                        <a:t>0.007</a:t>
                      </a:r>
                    </a:p>
                  </a:txBody>
                  <a:tcPr marL="91440" marR="91440" marT="45720" marB="45720">
                    <a:solidFill>
                      <a:srgbClr val="FFFFFF"/>
                    </a:solidFill>
                  </a:tcPr>
                </a:tc>
              </a:tr>
              <a:tr h="352425">
                <a:tc>
                  <a:txBody>
                    <a:bodyPr>
                      <a:noAutofit/>
                    </a:bodyPr>
                    <a:lstStyle/>
                    <a:p>
                      <a:pPr algn="l"/>
                      <a:r>
                        <a:rPr sz="1350" b="0">
                          <a:solidFill>
                            <a:srgbClr val="183044"/>
                          </a:solidFill>
                          <a:latin typeface="Arial"/>
                          <a:ea typeface="Arial"/>
                          <a:cs typeface="Arial"/>
                        </a:rPr>
                        <a:t>Rate</a:t>
                      </a:r>
                    </a:p>
                  </a:txBody>
                  <a:tcPr marL="91440" marR="91440" marT="45720" marB="45720">
                    <a:solidFill>
                      <a:srgbClr val="EAF2F5"/>
                    </a:solidFill>
                  </a:tcPr>
                </a:tc>
                <a:tc>
                  <a:txBody>
                    <a:bodyPr>
                      <a:noAutofit/>
                    </a:bodyPr>
                    <a:lstStyle/>
                    <a:p>
                      <a:pPr algn="ctr"/>
                      <a:r>
                        <a:rPr sz="1350" b="0">
                          <a:solidFill>
                            <a:srgbClr val="183044"/>
                          </a:solidFill>
                          <a:latin typeface="Arial"/>
                          <a:ea typeface="Arial"/>
                          <a:cs typeface="Arial"/>
                        </a:rPr>
                        <a:t>2.17</a:t>
                      </a:r>
                    </a:p>
                  </a:txBody>
                  <a:tcPr marL="91440" marR="91440" marT="45720" marB="45720">
                    <a:solidFill>
                      <a:srgbClr val="EAF2F5"/>
                    </a:solidFill>
                  </a:tcPr>
                </a:tc>
                <a:tc>
                  <a:txBody>
                    <a:bodyPr>
                      <a:noAutofit/>
                    </a:bodyPr>
                    <a:lstStyle/>
                    <a:p>
                      <a:pPr algn="ctr"/>
                      <a:r>
                        <a:rPr sz="1350" b="0">
                          <a:solidFill>
                            <a:srgbClr val="183044"/>
                          </a:solidFill>
                          <a:latin typeface="Arial"/>
                          <a:ea typeface="Arial"/>
                          <a:cs typeface="Arial"/>
                        </a:rPr>
                        <a:t>0.113</a:t>
                      </a:r>
                    </a:p>
                  </a:txBody>
                  <a:tcPr marL="91440" marR="91440" marT="45720" marB="45720">
                    <a:solidFill>
                      <a:srgbClr val="EAF2F5"/>
                    </a:solidFill>
                  </a:tcPr>
                </a:tc>
              </a:tr>
            </a:tbl>
          </a:graphicData>
        </a:graphic>
      </p:graphicFrame>
      <p:sp>
        <p:nvSpPr>
          <p:cNvPr id="15" name="text">
            <a:extLst xmlns:a="http://schemas.openxmlformats.org/drawingml/2006/main">
              <a:ext uri="{FF2B5EF4-FFF2-40B4-BE49-F238E27FC236}">
                <a16:creationId xmlns:a16="http://schemas.microsoft.com/office/drawing/2014/main" id="{3F4A749A-FF5A-4DB9-85DF-467FED4AE52B}"/>
              </a:ext>
            </a:extLst>
          </p:cNvPr>
          <p:cNvSpPr>
            <a:spLocks xmlns:a="http://schemas.openxmlformats.org/drawingml/2006/main" noGrp="1"/>
          </p:cNvSpPr>
          <p:nvPr/>
        </p:nvSpPr>
        <p:spPr>
          <a:xfrm xmlns:a="http://schemas.openxmlformats.org/drawingml/2006/main">
            <a:off x="3848100" y="6019800"/>
            <a:ext cx="1981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83044"/>
                </a:solidFill>
                <a:latin typeface="Arial"/>
                <a:ea typeface="Arial"/>
                <a:cs typeface="Arial"/>
              </a:defRPr>
            </a:defPPr>
          </a:lstStyle>
          <a:p xmlns:a="http://schemas.openxmlformats.org/drawingml/2006/main">
            <a:pPr>
              <a:defRPr sz="1350" b="1">
                <a:solidFill>
                  <a:srgbClr val="183044"/>
                </a:solidFill>
                <a:latin typeface="Arial"/>
                <a:ea typeface="Arial"/>
                <a:cs typeface="Arial"/>
              </a:defRPr>
            </a:pPr>
            <a:r>
              <a:rPr sz="1350" b="1">
                <a:solidFill>
                  <a:srgbClr val="183044"/>
                </a:solidFill>
                <a:latin typeface="Arial"/>
                <a:ea typeface="Arial"/>
                <a:cs typeface="Arial"/>
              </a:rPr>
              <a:t>6 rates × 4 blocks</a:t>
            </a:r>
          </a:p>
          <a:p xmlns:a="http://schemas.openxmlformats.org/drawingml/2006/main">
            <a:pPr>
              <a:defRPr sz="1350" b="1">
                <a:solidFill>
                  <a:srgbClr val="183044"/>
                </a:solidFill>
                <a:latin typeface="Arial"/>
                <a:ea typeface="Arial"/>
                <a:cs typeface="Arial"/>
              </a:defRPr>
            </a:pPr>
            <a:r>
              <a:rPr sz="1350" b="1">
                <a:solidFill>
                  <a:srgbClr val="183044"/>
                </a:solidFill>
                <a:latin typeface="Arial"/>
                <a:ea typeface="Arial"/>
                <a:cs typeface="Arial"/>
              </a:rPr>
              <a:t>44.8% lower error</a:t>
            </a:r>
          </a:p>
        </p:txBody>
      </p:sp>
      <p:sp>
        <p:nvSpPr>
          <p:cNvPr id="16" name="text">
            <a:extLst xmlns:a="http://schemas.openxmlformats.org/drawingml/2006/main">
              <a:ext uri="{FF2B5EF4-FFF2-40B4-BE49-F238E27FC236}">
                <a16:creationId xmlns:a16="http://schemas.microsoft.com/office/drawing/2014/main" id="{546C6B26-650B-4545-8016-3C9FB9514945}"/>
              </a:ext>
            </a:extLst>
          </p:cNvPr>
          <p:cNvSpPr>
            <a:spLocks xmlns:a="http://schemas.openxmlformats.org/drawingml/2006/main" noGrp="1"/>
          </p:cNvSpPr>
          <p:nvPr/>
        </p:nvSpPr>
        <p:spPr>
          <a:xfrm xmlns:a="http://schemas.openxmlformats.org/drawingml/2006/main">
            <a:off x="400050" y="6477000"/>
            <a:ext cx="5410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415566"/>
                </a:solidFill>
                <a:latin typeface="Arial"/>
                <a:ea typeface="Arial"/>
                <a:cs typeface="Arial"/>
              </a:defRPr>
            </a:defPPr>
          </a:lstStyle>
          <a:p xmlns:a="http://schemas.openxmlformats.org/drawingml/2006/main">
            <a:pPr>
              <a:defRPr sz="1125" b="0">
                <a:solidFill>
                  <a:srgbClr val="415566"/>
                </a:solidFill>
                <a:latin typeface="Arial"/>
                <a:ea typeface="Arial"/>
                <a:cs typeface="Arial"/>
              </a:defRPr>
            </a:pPr>
            <a:r>
              <a:rPr sz="1125" b="0">
                <a:solidFill>
                  <a:srgbClr val="415566"/>
                </a:solidFill>
                <a:latin typeface="Arial"/>
                <a:ea typeface="Arial"/>
                <a:cs typeface="Arial"/>
              </a:rPr>
              <a:t>Rates do not differ significantly. X: seeding rate (kg/ha), Y: yield (kg/ha).</a:t>
            </a:r>
          </a:p>
        </p:txBody>
      </p:sp>
      <p:graphicFrame>
        <p:nvGraphicFramePr>
          <p:cNvPr id="17" name="">
            <a:extLst xmlns:a="http://schemas.openxmlformats.org/drawingml/2006/main">
              <a:ext uri="{FF2B5EF4-FFF2-40B4-BE49-F238E27FC236}">
                <a16:creationId xmlns:a16="http://schemas.microsoft.com/office/drawing/2014/main" id="{3E1E28C6-54DC-4472-BD83-BAC8CE75E21F}"/>
              </a:ext>
            </a:extLst>
          </p:cNvPr>
          <p:cNvGraphicFramePr/>
          <p:nvPr/>
        </p:nvGraphicFramePr>
        <p:xfrm>
          <a:off xmlns:a="http://schemas.openxmlformats.org/drawingml/2006/main" x="6372225" y="4838700"/>
          <a:ext xmlns:a="http://schemas.openxmlformats.org/drawingml/2006/main" cx="2590800" cy="1552575"/>
        </p:xfrm>
        <a:graphic xmlns:a="http://schemas.openxmlformats.org/drawingml/2006/main">
          <a:graphicData uri="http://schemas.openxmlformats.org/drawingml/2006/table">
            <a:tbl>
              <a:tblPr/>
              <a:tblGrid>
                <a:gridCol w="518160"/>
                <a:gridCol w="518160"/>
                <a:gridCol w="518160"/>
                <a:gridCol w="518160"/>
                <a:gridCol w="518160"/>
              </a:tblGrid>
              <a:tr h="310515">
                <a:tc>
                  <a:txBody>
                    <a:bodyPr>
                      <a:noAutofit/>
                    </a:bodyPr>
                    <a:lstStyle/>
                    <a:p>
                      <a:pPr algn="ctr"/>
                      <a:r>
                        <a:rPr sz="1500" b="1">
                          <a:solidFill>
                            <a:srgbClr val="183044"/>
                          </a:solidFill>
                          <a:latin typeface="Arial"/>
                          <a:ea typeface="Arial"/>
                          <a:cs typeface="Arial"/>
                        </a:rPr>
                        <a:t>B</a:t>
                      </a:r>
                    </a:p>
                  </a:txBody>
                  <a:tcPr marL="91440" marR="91440" marT="45720" marB="45720">
                    <a:solidFill>
                      <a:srgbClr val="D0E4ED"/>
                    </a:solidFill>
                  </a:tcPr>
                </a:tc>
                <a:tc>
                  <a:txBody>
                    <a:bodyPr>
                      <a:noAutofit/>
                    </a:bodyPr>
                    <a:lstStyle/>
                    <a:p>
                      <a:pPr algn="ctr"/>
                      <a:r>
                        <a:rPr sz="1500" b="1">
                          <a:solidFill>
                            <a:srgbClr val="183044"/>
                          </a:solidFill>
                          <a:latin typeface="Arial"/>
                          <a:ea typeface="Arial"/>
                          <a:cs typeface="Arial"/>
                        </a:rPr>
                        <a:t>D</a:t>
                      </a:r>
                    </a:p>
                  </a:txBody>
                  <a:tcPr marL="91440" marR="91440" marT="45720" marB="45720">
                    <a:solidFill>
                      <a:srgbClr val="B9D6E2"/>
                    </a:solidFill>
                  </a:tcPr>
                </a:tc>
                <a:tc>
                  <a:txBody>
                    <a:bodyPr>
                      <a:noAutofit/>
                    </a:bodyPr>
                    <a:lstStyle/>
                    <a:p>
                      <a:pPr algn="ctr"/>
                      <a:r>
                        <a:rPr sz="1500" b="1">
                          <a:solidFill>
                            <a:srgbClr val="183044"/>
                          </a:solidFill>
                          <a:latin typeface="Arial"/>
                          <a:ea typeface="Arial"/>
                          <a:cs typeface="Arial"/>
                        </a:rPr>
                        <a:t>E</a:t>
                      </a:r>
                    </a:p>
                  </a:txBody>
                  <a:tcPr marL="91440" marR="91440" marT="45720" marB="45720">
                    <a:solidFill>
                      <a:srgbClr val="EFF5F8"/>
                    </a:solidFill>
                  </a:tcPr>
                </a:tc>
                <a:tc>
                  <a:txBody>
                    <a:bodyPr>
                      <a:noAutofit/>
                    </a:bodyPr>
                    <a:lstStyle/>
                    <a:p>
                      <a:pPr algn="ctr"/>
                      <a:r>
                        <a:rPr sz="1500" b="1">
                          <a:solidFill>
                            <a:srgbClr val="183044"/>
                          </a:solidFill>
                          <a:latin typeface="Arial"/>
                          <a:ea typeface="Arial"/>
                          <a:cs typeface="Arial"/>
                        </a:rPr>
                        <a:t>A</a:t>
                      </a:r>
                    </a:p>
                  </a:txBody>
                  <a:tcPr marL="91440" marR="91440" marT="45720" marB="45720">
                    <a:solidFill>
                      <a:srgbClr val="E4F0F5"/>
                    </a:solidFill>
                  </a:tcPr>
                </a:tc>
                <a:tc>
                  <a:txBody>
                    <a:bodyPr>
                      <a:noAutofit/>
                    </a:bodyPr>
                    <a:lstStyle/>
                    <a:p>
                      <a:pPr algn="ctr"/>
                      <a:r>
                        <a:rPr sz="1500" b="1">
                          <a:solidFill>
                            <a:srgbClr val="FFFFFF"/>
                          </a:solidFill>
                          <a:latin typeface="Arial"/>
                          <a:ea typeface="Arial"/>
                          <a:cs typeface="Arial"/>
                        </a:rPr>
                        <a:t>C</a:t>
                      </a:r>
                    </a:p>
                  </a:txBody>
                  <a:tcPr marL="91440" marR="91440" marT="45720" marB="45720">
                    <a:solidFill>
                      <a:srgbClr val="176D8C"/>
                    </a:solidFill>
                  </a:tcPr>
                </a:tc>
              </a:tr>
              <a:tr h="310515">
                <a:tc>
                  <a:txBody>
                    <a:bodyPr>
                      <a:noAutofit/>
                    </a:bodyPr>
                    <a:lstStyle/>
                    <a:p>
                      <a:pPr algn="ctr"/>
                      <a:r>
                        <a:rPr sz="1500" b="1">
                          <a:solidFill>
                            <a:srgbClr val="FFFFFF"/>
                          </a:solidFill>
                          <a:latin typeface="Arial"/>
                          <a:ea typeface="Arial"/>
                          <a:cs typeface="Arial"/>
                        </a:rPr>
                        <a:t>C</a:t>
                      </a:r>
                    </a:p>
                  </a:txBody>
                  <a:tcPr marL="91440" marR="91440" marT="45720" marB="45720">
                    <a:solidFill>
                      <a:srgbClr val="176D8C"/>
                    </a:solidFill>
                  </a:tcPr>
                </a:tc>
                <a:tc>
                  <a:txBody>
                    <a:bodyPr>
                      <a:noAutofit/>
                    </a:bodyPr>
                    <a:lstStyle/>
                    <a:p>
                      <a:pPr algn="ctr"/>
                      <a:r>
                        <a:rPr sz="1500" b="1">
                          <a:solidFill>
                            <a:srgbClr val="183044"/>
                          </a:solidFill>
                          <a:latin typeface="Arial"/>
                          <a:ea typeface="Arial"/>
                          <a:cs typeface="Arial"/>
                        </a:rPr>
                        <a:t>A</a:t>
                      </a:r>
                    </a:p>
                  </a:txBody>
                  <a:tcPr marL="91440" marR="91440" marT="45720" marB="45720">
                    <a:solidFill>
                      <a:srgbClr val="E4F0F5"/>
                    </a:solidFill>
                  </a:tcPr>
                </a:tc>
                <a:tc>
                  <a:txBody>
                    <a:bodyPr>
                      <a:noAutofit/>
                    </a:bodyPr>
                    <a:lstStyle/>
                    <a:p>
                      <a:pPr algn="ctr"/>
                      <a:r>
                        <a:rPr sz="1500" b="1">
                          <a:solidFill>
                            <a:srgbClr val="183044"/>
                          </a:solidFill>
                          <a:latin typeface="Arial"/>
                          <a:ea typeface="Arial"/>
                          <a:cs typeface="Arial"/>
                        </a:rPr>
                        <a:t>B</a:t>
                      </a:r>
                    </a:p>
                  </a:txBody>
                  <a:tcPr marL="91440" marR="91440" marT="45720" marB="45720">
                    <a:solidFill>
                      <a:srgbClr val="D0E4ED"/>
                    </a:solidFill>
                  </a:tcPr>
                </a:tc>
                <a:tc>
                  <a:txBody>
                    <a:bodyPr>
                      <a:noAutofit/>
                    </a:bodyPr>
                    <a:lstStyle/>
                    <a:p>
                      <a:pPr algn="ctr"/>
                      <a:r>
                        <a:rPr sz="1500" b="1">
                          <a:solidFill>
                            <a:srgbClr val="183044"/>
                          </a:solidFill>
                          <a:latin typeface="Arial"/>
                          <a:ea typeface="Arial"/>
                          <a:cs typeface="Arial"/>
                        </a:rPr>
                        <a:t>E</a:t>
                      </a:r>
                    </a:p>
                  </a:txBody>
                  <a:tcPr marL="91440" marR="91440" marT="45720" marB="45720">
                    <a:solidFill>
                      <a:srgbClr val="EFF5F8"/>
                    </a:solidFill>
                  </a:tcPr>
                </a:tc>
                <a:tc>
                  <a:txBody>
                    <a:bodyPr>
                      <a:noAutofit/>
                    </a:bodyPr>
                    <a:lstStyle/>
                    <a:p>
                      <a:pPr algn="ctr"/>
                      <a:r>
                        <a:rPr sz="1500" b="1">
                          <a:solidFill>
                            <a:srgbClr val="183044"/>
                          </a:solidFill>
                          <a:latin typeface="Arial"/>
                          <a:ea typeface="Arial"/>
                          <a:cs typeface="Arial"/>
                        </a:rPr>
                        <a:t>D</a:t>
                      </a:r>
                    </a:p>
                  </a:txBody>
                  <a:tcPr marL="91440" marR="91440" marT="45720" marB="45720">
                    <a:solidFill>
                      <a:srgbClr val="B9D6E2"/>
                    </a:solidFill>
                  </a:tcPr>
                </a:tc>
              </a:tr>
              <a:tr h="310515">
                <a:tc>
                  <a:txBody>
                    <a:bodyPr>
                      <a:noAutofit/>
                    </a:bodyPr>
                    <a:lstStyle/>
                    <a:p>
                      <a:pPr algn="ctr"/>
                      <a:r>
                        <a:rPr sz="1500" b="1">
                          <a:solidFill>
                            <a:srgbClr val="183044"/>
                          </a:solidFill>
                          <a:latin typeface="Arial"/>
                          <a:ea typeface="Arial"/>
                          <a:cs typeface="Arial"/>
                        </a:rPr>
                        <a:t>D</a:t>
                      </a:r>
                    </a:p>
                  </a:txBody>
                  <a:tcPr marL="91440" marR="91440" marT="45720" marB="45720">
                    <a:solidFill>
                      <a:srgbClr val="B9D6E2"/>
                    </a:solidFill>
                  </a:tcPr>
                </a:tc>
                <a:tc>
                  <a:txBody>
                    <a:bodyPr>
                      <a:noAutofit/>
                    </a:bodyPr>
                    <a:lstStyle/>
                    <a:p>
                      <a:pPr algn="ctr"/>
                      <a:r>
                        <a:rPr sz="1500" b="1">
                          <a:solidFill>
                            <a:srgbClr val="FFFFFF"/>
                          </a:solidFill>
                          <a:latin typeface="Arial"/>
                          <a:ea typeface="Arial"/>
                          <a:cs typeface="Arial"/>
                        </a:rPr>
                        <a:t>C</a:t>
                      </a:r>
                    </a:p>
                  </a:txBody>
                  <a:tcPr marL="91440" marR="91440" marT="45720" marB="45720">
                    <a:solidFill>
                      <a:srgbClr val="176D8C"/>
                    </a:solidFill>
                  </a:tcPr>
                </a:tc>
                <a:tc>
                  <a:txBody>
                    <a:bodyPr>
                      <a:noAutofit/>
                    </a:bodyPr>
                    <a:lstStyle/>
                    <a:p>
                      <a:pPr algn="ctr"/>
                      <a:r>
                        <a:rPr sz="1500" b="1">
                          <a:solidFill>
                            <a:srgbClr val="183044"/>
                          </a:solidFill>
                          <a:latin typeface="Arial"/>
                          <a:ea typeface="Arial"/>
                          <a:cs typeface="Arial"/>
                        </a:rPr>
                        <a:t>A</a:t>
                      </a:r>
                    </a:p>
                  </a:txBody>
                  <a:tcPr marL="91440" marR="91440" marT="45720" marB="45720">
                    <a:solidFill>
                      <a:srgbClr val="E4F0F5"/>
                    </a:solidFill>
                  </a:tcPr>
                </a:tc>
                <a:tc>
                  <a:txBody>
                    <a:bodyPr>
                      <a:noAutofit/>
                    </a:bodyPr>
                    <a:lstStyle/>
                    <a:p>
                      <a:pPr algn="ctr"/>
                      <a:r>
                        <a:rPr sz="1500" b="1">
                          <a:solidFill>
                            <a:srgbClr val="183044"/>
                          </a:solidFill>
                          <a:latin typeface="Arial"/>
                          <a:ea typeface="Arial"/>
                          <a:cs typeface="Arial"/>
                        </a:rPr>
                        <a:t>B</a:t>
                      </a:r>
                    </a:p>
                  </a:txBody>
                  <a:tcPr marL="91440" marR="91440" marT="45720" marB="45720">
                    <a:solidFill>
                      <a:srgbClr val="D0E4ED"/>
                    </a:solidFill>
                  </a:tcPr>
                </a:tc>
                <a:tc>
                  <a:txBody>
                    <a:bodyPr>
                      <a:noAutofit/>
                    </a:bodyPr>
                    <a:lstStyle/>
                    <a:p>
                      <a:pPr algn="ctr"/>
                      <a:r>
                        <a:rPr sz="1500" b="1">
                          <a:solidFill>
                            <a:srgbClr val="183044"/>
                          </a:solidFill>
                          <a:latin typeface="Arial"/>
                          <a:ea typeface="Arial"/>
                          <a:cs typeface="Arial"/>
                        </a:rPr>
                        <a:t>E</a:t>
                      </a:r>
                    </a:p>
                  </a:txBody>
                  <a:tcPr marL="91440" marR="91440" marT="45720" marB="45720">
                    <a:solidFill>
                      <a:srgbClr val="EFF5F8"/>
                    </a:solidFill>
                  </a:tcPr>
                </a:tc>
              </a:tr>
              <a:tr h="310515">
                <a:tc>
                  <a:txBody>
                    <a:bodyPr>
                      <a:noAutofit/>
                    </a:bodyPr>
                    <a:lstStyle/>
                    <a:p>
                      <a:pPr algn="ctr"/>
                      <a:r>
                        <a:rPr sz="1500" b="1">
                          <a:solidFill>
                            <a:srgbClr val="183044"/>
                          </a:solidFill>
                          <a:latin typeface="Arial"/>
                          <a:ea typeface="Arial"/>
                          <a:cs typeface="Arial"/>
                        </a:rPr>
                        <a:t>E</a:t>
                      </a:r>
                    </a:p>
                  </a:txBody>
                  <a:tcPr marL="91440" marR="91440" marT="45720" marB="45720">
                    <a:solidFill>
                      <a:srgbClr val="EFF5F8"/>
                    </a:solidFill>
                  </a:tcPr>
                </a:tc>
                <a:tc>
                  <a:txBody>
                    <a:bodyPr>
                      <a:noAutofit/>
                    </a:bodyPr>
                    <a:lstStyle/>
                    <a:p>
                      <a:pPr algn="ctr"/>
                      <a:r>
                        <a:rPr sz="1500" b="1">
                          <a:solidFill>
                            <a:srgbClr val="183044"/>
                          </a:solidFill>
                          <a:latin typeface="Arial"/>
                          <a:ea typeface="Arial"/>
                          <a:cs typeface="Arial"/>
                        </a:rPr>
                        <a:t>B</a:t>
                      </a:r>
                    </a:p>
                  </a:txBody>
                  <a:tcPr marL="91440" marR="91440" marT="45720" marB="45720">
                    <a:solidFill>
                      <a:srgbClr val="D0E4ED"/>
                    </a:solidFill>
                  </a:tcPr>
                </a:tc>
                <a:tc>
                  <a:txBody>
                    <a:bodyPr>
                      <a:noAutofit/>
                    </a:bodyPr>
                    <a:lstStyle/>
                    <a:p>
                      <a:pPr algn="ctr"/>
                      <a:r>
                        <a:rPr sz="1500" b="1">
                          <a:solidFill>
                            <a:srgbClr val="FFFFFF"/>
                          </a:solidFill>
                          <a:latin typeface="Arial"/>
                          <a:ea typeface="Arial"/>
                          <a:cs typeface="Arial"/>
                        </a:rPr>
                        <a:t>C</a:t>
                      </a:r>
                    </a:p>
                  </a:txBody>
                  <a:tcPr marL="91440" marR="91440" marT="45720" marB="45720">
                    <a:solidFill>
                      <a:srgbClr val="176D8C"/>
                    </a:solidFill>
                  </a:tcPr>
                </a:tc>
                <a:tc>
                  <a:txBody>
                    <a:bodyPr>
                      <a:noAutofit/>
                    </a:bodyPr>
                    <a:lstStyle/>
                    <a:p>
                      <a:pPr algn="ctr"/>
                      <a:r>
                        <a:rPr sz="1500" b="1">
                          <a:solidFill>
                            <a:srgbClr val="183044"/>
                          </a:solidFill>
                          <a:latin typeface="Arial"/>
                          <a:ea typeface="Arial"/>
                          <a:cs typeface="Arial"/>
                        </a:rPr>
                        <a:t>D</a:t>
                      </a:r>
                    </a:p>
                  </a:txBody>
                  <a:tcPr marL="91440" marR="91440" marT="45720" marB="45720">
                    <a:solidFill>
                      <a:srgbClr val="B9D6E2"/>
                    </a:solidFill>
                  </a:tcPr>
                </a:tc>
                <a:tc>
                  <a:txBody>
                    <a:bodyPr>
                      <a:noAutofit/>
                    </a:bodyPr>
                    <a:lstStyle/>
                    <a:p>
                      <a:pPr algn="ctr"/>
                      <a:r>
                        <a:rPr sz="1500" b="1">
                          <a:solidFill>
                            <a:srgbClr val="183044"/>
                          </a:solidFill>
                          <a:latin typeface="Arial"/>
                          <a:ea typeface="Arial"/>
                          <a:cs typeface="Arial"/>
                        </a:rPr>
                        <a:t>A</a:t>
                      </a:r>
                    </a:p>
                  </a:txBody>
                  <a:tcPr marL="91440" marR="91440" marT="45720" marB="45720">
                    <a:solidFill>
                      <a:srgbClr val="E4F0F5"/>
                    </a:solidFill>
                  </a:tcPr>
                </a:tc>
              </a:tr>
              <a:tr h="310515">
                <a:tc>
                  <a:txBody>
                    <a:bodyPr>
                      <a:noAutofit/>
                    </a:bodyPr>
                    <a:lstStyle/>
                    <a:p>
                      <a:pPr algn="ctr"/>
                      <a:r>
                        <a:rPr sz="1500" b="1">
                          <a:solidFill>
                            <a:srgbClr val="183044"/>
                          </a:solidFill>
                          <a:latin typeface="Arial"/>
                          <a:ea typeface="Arial"/>
                          <a:cs typeface="Arial"/>
                        </a:rPr>
                        <a:t>A</a:t>
                      </a:r>
                    </a:p>
                  </a:txBody>
                  <a:tcPr marL="91440" marR="91440" marT="45720" marB="45720">
                    <a:solidFill>
                      <a:srgbClr val="E4F0F5"/>
                    </a:solidFill>
                  </a:tcPr>
                </a:tc>
                <a:tc>
                  <a:txBody>
                    <a:bodyPr>
                      <a:noAutofit/>
                    </a:bodyPr>
                    <a:lstStyle/>
                    <a:p>
                      <a:pPr algn="ctr"/>
                      <a:r>
                        <a:rPr sz="1500" b="1">
                          <a:solidFill>
                            <a:srgbClr val="183044"/>
                          </a:solidFill>
                          <a:latin typeface="Arial"/>
                          <a:ea typeface="Arial"/>
                          <a:cs typeface="Arial"/>
                        </a:rPr>
                        <a:t>E</a:t>
                      </a:r>
                    </a:p>
                  </a:txBody>
                  <a:tcPr marL="91440" marR="91440" marT="45720" marB="45720">
                    <a:solidFill>
                      <a:srgbClr val="EFF5F8"/>
                    </a:solidFill>
                  </a:tcPr>
                </a:tc>
                <a:tc>
                  <a:txBody>
                    <a:bodyPr>
                      <a:noAutofit/>
                    </a:bodyPr>
                    <a:lstStyle/>
                    <a:p>
                      <a:pPr algn="ctr"/>
                      <a:r>
                        <a:rPr sz="1500" b="1">
                          <a:solidFill>
                            <a:srgbClr val="183044"/>
                          </a:solidFill>
                          <a:latin typeface="Arial"/>
                          <a:ea typeface="Arial"/>
                          <a:cs typeface="Arial"/>
                        </a:rPr>
                        <a:t>D</a:t>
                      </a:r>
                    </a:p>
                  </a:txBody>
                  <a:tcPr marL="91440" marR="91440" marT="45720" marB="45720">
                    <a:solidFill>
                      <a:srgbClr val="B9D6E2"/>
                    </a:solidFill>
                  </a:tcPr>
                </a:tc>
                <a:tc>
                  <a:txBody>
                    <a:bodyPr>
                      <a:noAutofit/>
                    </a:bodyPr>
                    <a:lstStyle/>
                    <a:p>
                      <a:pPr algn="ctr"/>
                      <a:r>
                        <a:rPr sz="1500" b="1">
                          <a:solidFill>
                            <a:srgbClr val="FFFFFF"/>
                          </a:solidFill>
                          <a:latin typeface="Arial"/>
                          <a:ea typeface="Arial"/>
                          <a:cs typeface="Arial"/>
                        </a:rPr>
                        <a:t>C</a:t>
                      </a:r>
                    </a:p>
                  </a:txBody>
                  <a:tcPr marL="91440" marR="91440" marT="45720" marB="45720">
                    <a:solidFill>
                      <a:srgbClr val="176D8C"/>
                    </a:solidFill>
                  </a:tcPr>
                </a:tc>
                <a:tc>
                  <a:txBody>
                    <a:bodyPr>
                      <a:noAutofit/>
                    </a:bodyPr>
                    <a:lstStyle/>
                    <a:p>
                      <a:pPr algn="ctr"/>
                      <a:r>
                        <a:rPr sz="1500" b="1">
                          <a:solidFill>
                            <a:srgbClr val="183044"/>
                          </a:solidFill>
                          <a:latin typeface="Arial"/>
                          <a:ea typeface="Arial"/>
                          <a:cs typeface="Arial"/>
                        </a:rPr>
                        <a:t>B</a:t>
                      </a:r>
                    </a:p>
                  </a:txBody>
                  <a:tcPr marL="91440" marR="91440" marT="45720" marB="45720">
                    <a:solidFill>
                      <a:srgbClr val="D0E4ED"/>
                    </a:solidFill>
                  </a:tcPr>
                </a:tc>
              </a:tr>
            </a:tbl>
          </a:graphicData>
        </a:graphic>
      </p:graphicFrame>
      <p:sp>
        <p:nvSpPr>
          <p:cNvPr id="18" name="text">
            <a:extLst xmlns:a="http://schemas.openxmlformats.org/drawingml/2006/main">
              <a:ext uri="{FF2B5EF4-FFF2-40B4-BE49-F238E27FC236}">
                <a16:creationId xmlns:a16="http://schemas.microsoft.com/office/drawing/2014/main" id="{CAF8DAA0-C94D-4724-8F56-011A85EE490F}"/>
              </a:ext>
            </a:extLst>
          </p:cNvPr>
          <p:cNvSpPr>
            <a:spLocks xmlns:a="http://schemas.openxmlformats.org/drawingml/2006/main" noGrp="1"/>
          </p:cNvSpPr>
          <p:nvPr/>
        </p:nvSpPr>
        <p:spPr>
          <a:xfrm xmlns:a="http://schemas.openxmlformats.org/drawingml/2006/main">
            <a:off x="9220200" y="4838700"/>
            <a:ext cx="2590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83044"/>
                </a:solidFill>
                <a:latin typeface="Arial"/>
                <a:ea typeface="Arial"/>
                <a:cs typeface="Arial"/>
              </a:defRPr>
            </a:defPPr>
          </a:lstStyle>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Wheat: 5 × 5 layout.</a:t>
            </a:r>
          </a:p>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5 treatments.</a:t>
            </a:r>
          </a:p>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Once per row and column.</a:t>
            </a:r>
          </a:p>
        </p:txBody>
      </p:sp>
      <p:sp>
        <p:nvSpPr>
          <p:cNvPr id="19" name="text">
            <a:extLst xmlns:a="http://schemas.openxmlformats.org/drawingml/2006/main">
              <a:ext uri="{FF2B5EF4-FFF2-40B4-BE49-F238E27FC236}">
                <a16:creationId xmlns:a16="http://schemas.microsoft.com/office/drawing/2014/main" id="{42BEF208-7588-41EB-AFBA-A6CC6A3EE5B6}"/>
              </a:ext>
            </a:extLst>
          </p:cNvPr>
          <p:cNvSpPr>
            <a:spLocks xmlns:a="http://schemas.openxmlformats.org/drawingml/2006/main" noGrp="1"/>
          </p:cNvSpPr>
          <p:nvPr/>
        </p:nvSpPr>
        <p:spPr>
          <a:xfrm xmlns:a="http://schemas.openxmlformats.org/drawingml/2006/main">
            <a:off x="9220200" y="5772150"/>
            <a:ext cx="25908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176D8C"/>
                </a:solidFill>
                <a:latin typeface="Arial"/>
                <a:ea typeface="Arial"/>
                <a:cs typeface="Arial"/>
              </a:defRPr>
            </a:defPPr>
          </a:lstStyle>
          <a:p xmlns:a="http://schemas.openxmlformats.org/drawingml/2006/main">
            <a:pPr>
              <a:defRPr sz="1500" b="1">
                <a:solidFill>
                  <a:srgbClr val="176D8C"/>
                </a:solidFill>
                <a:latin typeface="Arial"/>
                <a:ea typeface="Arial"/>
                <a:cs typeface="Arial"/>
              </a:defRPr>
            </a:pPr>
            <a:r>
              <a:rPr sz="1500" b="1">
                <a:solidFill>
                  <a:srgbClr val="176D8C"/>
                </a:solidFill>
                <a:latin typeface="Arial"/>
                <a:ea typeface="Arial"/>
                <a:cs typeface="Arial"/>
              </a:rPr>
              <a:t>F = 21.03 • p &lt; 0.001</a:t>
            </a:r>
          </a:p>
          <a:p xmlns:a="http://schemas.openxmlformats.org/drawingml/2006/main">
            <a:pPr>
              <a:defRPr sz="1500" b="1">
                <a:solidFill>
                  <a:srgbClr val="176D8C"/>
                </a:solidFill>
                <a:latin typeface="Arial"/>
                <a:ea typeface="Arial"/>
                <a:cs typeface="Arial"/>
              </a:defRPr>
            </a:pPr>
            <a:r>
              <a:rPr sz="1500" b="1">
                <a:solidFill>
                  <a:srgbClr val="176D8C"/>
                </a:solidFill>
                <a:latin typeface="Arial"/>
                <a:ea typeface="Arial"/>
                <a:cs typeface="Arial"/>
              </a:rPr>
              <a:t>C has highest mean yield.</a:t>
            </a:r>
          </a:p>
        </p:txBody>
      </p:sp>
      <p:sp>
        <p:nvSpPr>
          <p:cNvPr id="20" name="text">
            <a:extLst xmlns:a="http://schemas.openxmlformats.org/drawingml/2006/main">
              <a:ext uri="{FF2B5EF4-FFF2-40B4-BE49-F238E27FC236}">
                <a16:creationId xmlns:a16="http://schemas.microsoft.com/office/drawing/2014/main" id="{B69BD967-2652-455E-BF95-AA3A4ADC385A}"/>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10 / 10</a:t>
            </a:r>
          </a:p>
        </p:txBody>
      </p:sp>
    </p:spTree>
    <p:extLst>
      <p:ext uri="{BB962C8B-B14F-4D97-AF65-F5344CB8AC3E}">
        <p14:creationId xmlns:p14="http://schemas.microsoft.com/office/powerpoint/2010/main" val="1834369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2026-10-05T08:26:18.7930000Z</dcterms:created>
  <dcterms:modified xsi:type="dcterms:W3CDTF">2026-10-05T08:26:18.7930000Z</dcterms:modified>
</coreProperties>
</file>